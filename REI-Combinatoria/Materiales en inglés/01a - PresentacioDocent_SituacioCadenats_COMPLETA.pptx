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5"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6858000" type="screen4x3"/>
  <p:notesSz cx="7099300" cy="10234613"/>
  <p:embeddedFontLst>
    <p:embeddedFont>
      <p:font typeface="Century Gothic" panose="020B050202020202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756ACF-7C53-478C-91A6-7A96F21F7E9A}" v="3" dt="2025-10-16T17:37:28.6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1836" y="108"/>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ana Vasquez Elias" userId="e776416f-e583-4d77-b224-146689d50a03" providerId="ADAL" clId="{3C100498-C411-419B-B5E6-C2EF21CD595F}"/>
    <pc:docChg chg="undo custSel modSld">
      <pc:chgData name="Susana Vasquez Elias" userId="e776416f-e583-4d77-b224-146689d50a03" providerId="ADAL" clId="{3C100498-C411-419B-B5E6-C2EF21CD595F}" dt="2025-10-16T17:37:35.650" v="11" actId="1076"/>
      <pc:docMkLst>
        <pc:docMk/>
      </pc:docMkLst>
      <pc:sldChg chg="addSp delSp modSp mod">
        <pc:chgData name="Susana Vasquez Elias" userId="e776416f-e583-4d77-b224-146689d50a03" providerId="ADAL" clId="{3C100498-C411-419B-B5E6-C2EF21CD595F}" dt="2025-10-16T17:37:35.650" v="11" actId="1076"/>
        <pc:sldMkLst>
          <pc:docMk/>
          <pc:sldMk cId="0" sldId="256"/>
        </pc:sldMkLst>
        <pc:spChg chg="add del">
          <ac:chgData name="Susana Vasquez Elias" userId="e776416f-e583-4d77-b224-146689d50a03" providerId="ADAL" clId="{3C100498-C411-419B-B5E6-C2EF21CD595F}" dt="2025-10-16T17:37:25.046" v="6" actId="22"/>
          <ac:spMkLst>
            <pc:docMk/>
            <pc:sldMk cId="0" sldId="256"/>
            <ac:spMk id="5" creationId="{C3FDFD16-51C3-54A5-977C-CC79FA8E3BDB}"/>
          </ac:spMkLst>
        </pc:spChg>
        <pc:spChg chg="mod">
          <ac:chgData name="Susana Vasquez Elias" userId="e776416f-e583-4d77-b224-146689d50a03" providerId="ADAL" clId="{3C100498-C411-419B-B5E6-C2EF21CD595F}" dt="2025-10-16T17:37:19.765" v="4" actId="27636"/>
          <ac:spMkLst>
            <pc:docMk/>
            <pc:sldMk cId="0" sldId="256"/>
            <ac:spMk id="81" creationId="{00000000-0000-0000-0000-000000000000}"/>
          </ac:spMkLst>
        </pc:spChg>
        <pc:picChg chg="add mod">
          <ac:chgData name="Susana Vasquez Elias" userId="e776416f-e583-4d77-b224-146689d50a03" providerId="ADAL" clId="{3C100498-C411-419B-B5E6-C2EF21CD595F}" dt="2025-10-16T17:37:19.754" v="3"/>
          <ac:picMkLst>
            <pc:docMk/>
            <pc:sldMk cId="0" sldId="256"/>
            <ac:picMk id="2" creationId="{2ADF4236-C311-988C-1EAF-F33444BF8989}"/>
          </ac:picMkLst>
        </pc:picChg>
        <pc:picChg chg="add mod">
          <ac:chgData name="Susana Vasquez Elias" userId="e776416f-e583-4d77-b224-146689d50a03" providerId="ADAL" clId="{3C100498-C411-419B-B5E6-C2EF21CD595F}" dt="2025-10-16T17:37:19.754" v="3"/>
          <ac:picMkLst>
            <pc:docMk/>
            <pc:sldMk cId="0" sldId="256"/>
            <ac:picMk id="3" creationId="{263F8B1E-470C-14FB-24A7-AC16C2397729}"/>
          </ac:picMkLst>
        </pc:picChg>
        <pc:picChg chg="add mod">
          <ac:chgData name="Susana Vasquez Elias" userId="e776416f-e583-4d77-b224-146689d50a03" providerId="ADAL" clId="{3C100498-C411-419B-B5E6-C2EF21CD595F}" dt="2025-10-16T17:37:35.650" v="11" actId="1076"/>
          <ac:picMkLst>
            <pc:docMk/>
            <pc:sldMk cId="0" sldId="256"/>
            <ac:picMk id="6" creationId="{2ADF4236-C311-988C-1EAF-F33444BF8989}"/>
          </ac:picMkLst>
        </pc:picChg>
        <pc:picChg chg="add mod">
          <ac:chgData name="Susana Vasquez Elias" userId="e776416f-e583-4d77-b224-146689d50a03" providerId="ADAL" clId="{3C100498-C411-419B-B5E6-C2EF21CD595F}" dt="2025-10-16T17:37:35.650" v="11" actId="1076"/>
          <ac:picMkLst>
            <pc:docMk/>
            <pc:sldMk cId="0" sldId="256"/>
            <ac:picMk id="7" creationId="{03961BC4-891E-92F0-9C1C-E8D0807A30B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076363" cy="511731"/>
          </a:xfrm>
          <a:prstGeom prst="rect">
            <a:avLst/>
          </a:prstGeom>
          <a:noFill/>
          <a:ln>
            <a:noFill/>
          </a:ln>
        </p:spPr>
        <p:txBody>
          <a:bodyPr spcFirstLastPara="1" wrap="square" lIns="94750" tIns="47375" rIns="94750" bIns="4737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021295" y="0"/>
            <a:ext cx="3076363" cy="511731"/>
          </a:xfrm>
          <a:prstGeom prst="rect">
            <a:avLst/>
          </a:prstGeom>
          <a:noFill/>
          <a:ln>
            <a:noFill/>
          </a:ln>
        </p:spPr>
        <p:txBody>
          <a:bodyPr spcFirstLastPara="1" wrap="square" lIns="94750" tIns="47375" rIns="94750" bIns="4737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721106"/>
            <a:ext cx="3076363" cy="511731"/>
          </a:xfrm>
          <a:prstGeom prst="rect">
            <a:avLst/>
          </a:prstGeom>
          <a:noFill/>
          <a:ln>
            <a:noFill/>
          </a:ln>
        </p:spPr>
        <p:txBody>
          <a:bodyPr spcFirstLastPara="1" wrap="square" lIns="94750" tIns="47375" rIns="94750" bIns="4737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ca-E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 name="Google Shape;78;p1: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79" name="Google Shape;79;p1: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Google Shape;85;p2: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n" b="0">
                <a:solidFill>
                  <a:srgbClr val="7030A0"/>
                </a:solidFill>
                <a:latin typeface="Arial"/>
                <a:ea typeface="Arial"/>
                <a:cs typeface="Arial"/>
                <a:sym typeface="Arial"/>
              </a:rPr>
              <a:t>Security depends on the “variants” of each padlock? For example, whether they have letters, symbols, numbers, dates, etc.?</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en" b="0">
                <a:solidFill>
                  <a:srgbClr val="7030A0"/>
                </a:solidFill>
                <a:latin typeface="Arial"/>
                <a:ea typeface="Arial"/>
                <a:cs typeface="Arial"/>
                <a:sym typeface="Arial"/>
              </a:rPr>
              <a:t>Will the one with the most codes be safer?</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en" b="0">
                <a:solidFill>
                  <a:srgbClr val="7030A0"/>
                </a:solidFill>
                <a:latin typeface="Arial"/>
                <a:ea typeface="Arial"/>
                <a:cs typeface="Arial"/>
                <a:sym typeface="Arial"/>
              </a:rPr>
              <a:t>Will it depend on the skill of the “thief”?</a:t>
            </a:r>
            <a:endParaRPr/>
          </a:p>
          <a:p>
            <a:pPr marL="0" lvl="0" indent="0" algn="l" rtl="0">
              <a:lnSpc>
                <a:spcPct val="100000"/>
              </a:lnSpc>
              <a:spcBef>
                <a:spcPts val="0"/>
              </a:spcBef>
              <a:spcAft>
                <a:spcPts val="0"/>
              </a:spcAft>
              <a:buSzPts val="1400"/>
              <a:buNone/>
            </a:pPr>
            <a:endParaRPr/>
          </a:p>
        </p:txBody>
      </p:sp>
      <p:sp>
        <p:nvSpPr>
          <p:cNvPr id="86" name="Google Shape;86;p2: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e28721b6b2_0_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e28721b6b2_0_0:notes"/>
          <p:cNvSpPr txBox="1">
            <a:spLocks noGrp="1"/>
          </p:cNvSpPr>
          <p:nvPr>
            <p:ph type="body" idx="1"/>
          </p:nvPr>
        </p:nvSpPr>
        <p:spPr>
          <a:xfrm>
            <a:off x="709931" y="4861442"/>
            <a:ext cx="5679300" cy="4605600"/>
          </a:xfrm>
          <a:prstGeom prst="rect">
            <a:avLst/>
          </a:prstGeom>
        </p:spPr>
        <p:txBody>
          <a:bodyPr spcFirstLastPara="1" wrap="square" lIns="94750" tIns="47375" rIns="94750" bIns="47375" anchor="t" anchorCtr="0">
            <a:noAutofit/>
          </a:bodyPr>
          <a:lstStyle/>
          <a:p>
            <a:pPr marL="0" lvl="0" indent="0" algn="l" rtl="0">
              <a:spcBef>
                <a:spcPts val="0"/>
              </a:spcBef>
              <a:spcAft>
                <a:spcPts val="0"/>
              </a:spcAft>
              <a:buNone/>
            </a:pPr>
            <a:endParaRPr/>
          </a:p>
        </p:txBody>
      </p:sp>
      <p:sp>
        <p:nvSpPr>
          <p:cNvPr id="99" name="Google Shape;99;g2e28721b6b2_0_0:notes"/>
          <p:cNvSpPr txBox="1">
            <a:spLocks noGrp="1"/>
          </p:cNvSpPr>
          <p:nvPr>
            <p:ph type="sldNum" idx="12"/>
          </p:nvPr>
        </p:nvSpPr>
        <p:spPr>
          <a:xfrm>
            <a:off x="4021295" y="9721106"/>
            <a:ext cx="3076500" cy="511800"/>
          </a:xfrm>
          <a:prstGeom prst="rect">
            <a:avLst/>
          </a:prstGeom>
        </p:spPr>
        <p:txBody>
          <a:bodyPr spcFirstLastPara="1" wrap="square" lIns="94750" tIns="47375" rIns="94750" bIns="47375"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ca-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3: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n" b="0">
                <a:solidFill>
                  <a:srgbClr val="7030A0"/>
                </a:solidFill>
                <a:latin typeface="Arial"/>
                <a:ea typeface="Arial"/>
                <a:cs typeface="Arial"/>
                <a:sym typeface="Arial"/>
              </a:rPr>
              <a:t>Security depends on the “variants” of each padlock? For example, whether they have letters, symbols, numbers, dates, etc.?</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en" b="0">
                <a:solidFill>
                  <a:srgbClr val="7030A0"/>
                </a:solidFill>
                <a:latin typeface="Arial"/>
                <a:ea typeface="Arial"/>
                <a:cs typeface="Arial"/>
                <a:sym typeface="Arial"/>
              </a:rPr>
              <a:t>Will the one with the most codes be safer?</a:t>
            </a:r>
            <a:endParaRPr/>
          </a:p>
          <a:p>
            <a:pPr marL="0" lvl="0" indent="0" algn="l" rtl="0">
              <a:lnSpc>
                <a:spcPct val="100000"/>
              </a:lnSpc>
              <a:spcBef>
                <a:spcPts val="0"/>
              </a:spcBef>
              <a:spcAft>
                <a:spcPts val="0"/>
              </a:spcAft>
              <a:buSzPts val="1400"/>
              <a:buNone/>
            </a:pPr>
            <a:endParaRPr b="0">
              <a:solidFill>
                <a:srgbClr val="7030A0"/>
              </a:solidFill>
              <a:latin typeface="Arial"/>
              <a:ea typeface="Arial"/>
              <a:cs typeface="Arial"/>
              <a:sym typeface="Arial"/>
            </a:endParaRPr>
          </a:p>
          <a:p>
            <a:pPr marL="0" lvl="0" indent="0" algn="l" rtl="0">
              <a:lnSpc>
                <a:spcPct val="100000"/>
              </a:lnSpc>
              <a:spcBef>
                <a:spcPts val="0"/>
              </a:spcBef>
              <a:spcAft>
                <a:spcPts val="0"/>
              </a:spcAft>
              <a:buSzPts val="1400"/>
              <a:buNone/>
            </a:pPr>
            <a:r>
              <a:rPr lang="en" b="0">
                <a:solidFill>
                  <a:srgbClr val="7030A0"/>
                </a:solidFill>
                <a:latin typeface="Arial"/>
                <a:ea typeface="Arial"/>
                <a:cs typeface="Arial"/>
                <a:sym typeface="Arial"/>
              </a:rPr>
              <a:t>Will it depend on the skill of the “thief”?</a:t>
            </a:r>
            <a:endParaRPr/>
          </a:p>
          <a:p>
            <a:pPr marL="0" lvl="0" indent="0" algn="l" rtl="0">
              <a:lnSpc>
                <a:spcPct val="100000"/>
              </a:lnSpc>
              <a:spcBef>
                <a:spcPts val="0"/>
              </a:spcBef>
              <a:spcAft>
                <a:spcPts val="0"/>
              </a:spcAft>
              <a:buSzPts val="1400"/>
              <a:buNone/>
            </a:pPr>
            <a:endParaRPr/>
          </a:p>
        </p:txBody>
      </p:sp>
      <p:sp>
        <p:nvSpPr>
          <p:cNvPr id="111" name="Google Shape;111;p3: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 name="Google Shape;122;p4: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n"/>
              <a:t>Some examples of questions…</a:t>
            </a:r>
            <a:endParaRPr/>
          </a:p>
        </p:txBody>
      </p:sp>
      <p:sp>
        <p:nvSpPr>
          <p:cNvPr id="123" name="Google Shape;123;p4: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1ff9b61dd67_1_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1" name="Google Shape;131;g1ff9b61dd67_1_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n"/>
              <a:t>Some examples of questions…</a:t>
            </a:r>
            <a:endParaRPr/>
          </a:p>
        </p:txBody>
      </p:sp>
      <p:sp>
        <p:nvSpPr>
          <p:cNvPr id="132" name="Google Shape;132;g1ff9b61dd67_1_0: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cfa7dab9e5_0_1: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41" name="Google Shape;141;g2cfa7dab9e5_0_1: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6: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50" name="Google Shape;150;p6: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a7dab9e5_0_169: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57" name="Google Shape;157;g2cfa7dab9e5_0_169: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75" name="Google Shape;175;p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9: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83" name="Google Shape;183;p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1: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193" name="Google Shape;193;p1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2: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3: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11" name="Google Shape;211;p13: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cfa7dab9e5_0_255: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21" name="Google Shape;221;g2cfa7dab9e5_0_255: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e1838c6fd1_0_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9" name="Google Shape;229;g2e1838c6fd1_0_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30" name="Google Shape;230;g2e1838c6fd1_0_0: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4: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37" name="Google Shape;237;p1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a7dab9e5_0_75: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44" name="Google Shape;244;g2cfa7dab9e5_0_75: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cfa7dab9e5_0_91: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61" name="Google Shape;261;g2cfa7dab9e5_0_91: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17: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Google Shape;271;p17: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7: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8: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80" name="Google Shape;280;p1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9: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293" name="Google Shape;293;p1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20: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06" name="Google Shape;306;p20: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cfa7dab9e5_0_33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14" name="Google Shape;314;g2cfa7dab9e5_0_33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2cfa7dab9e5_0_354: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39" name="Google Shape;339;g2cfa7dab9e5_0_354: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cfa7dab9e5_0_36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46" name="Google Shape;346;g2cfa7dab9e5_0_36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2cfa7dab9e5_0_604: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g2cfa7dab9e5_0_604: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54" name="Google Shape;354;g2cfa7dab9e5_0_604: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2cfa7dab9e5_0_61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62" name="Google Shape;362;g2cfa7dab9e5_0_61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2cfa7dab9e5_0_618: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68" name="Google Shape;368;g2cfa7dab9e5_0_61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2cfa7dab9e5_0_625: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76" name="Google Shape;376;g2cfa7dab9e5_0_625: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2cfa7dab9e5_0_63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g2cfa7dab9e5_0_63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83" name="Google Shape;383;g2cfa7dab9e5_0_632: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2cfa7dab9e5_0_644: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392" name="Google Shape;392;g2cfa7dab9e5_0_644: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cfa7dab9e5_0_658: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cfa7dab9e5_0_65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2cfa7dab9e5_0_55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2" name="Google Shape;412;g2cfa7dab9e5_0_55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13" name="Google Shape;413;g2cfa7dab9e5_0_552:notes"/>
          <p:cNvSpPr txBox="1">
            <a:spLocks noGrp="1"/>
          </p:cNvSpPr>
          <p:nvPr>
            <p:ph type="sldNum" idx="12"/>
          </p:nvPr>
        </p:nvSpPr>
        <p:spPr>
          <a:xfrm>
            <a:off x="4021295" y="9721106"/>
            <a:ext cx="3076500" cy="511800"/>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2cfa7dab9e5_0_559: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20" name="Google Shape;420;g2cfa7dab9e5_0_559: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cfa7dab9e5_0_570: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n"/>
              <a:t>Alternative if you want to include the XTEC case</a:t>
            </a:r>
            <a:endParaRPr/>
          </a:p>
        </p:txBody>
      </p:sp>
      <p:sp>
        <p:nvSpPr>
          <p:cNvPr id="432" name="Google Shape;432;g2cfa7dab9e5_0_570: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2cfa7dab9e5_0_582: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45" name="Google Shape;445;g2cfa7dab9e5_0_582: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2cfa7dab9e5_0_588: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52" name="Google Shape;452;g2cfa7dab9e5_0_588: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2cfa7dab9e5_0_593:notes"/>
          <p:cNvSpPr txBox="1">
            <a:spLocks noGrp="1"/>
          </p:cNvSpPr>
          <p:nvPr>
            <p:ph type="body" idx="1"/>
          </p:nvPr>
        </p:nvSpPr>
        <p:spPr>
          <a:xfrm>
            <a:off x="709931" y="4861442"/>
            <a:ext cx="5679300" cy="4605600"/>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endParaRPr/>
          </a:p>
        </p:txBody>
      </p:sp>
      <p:sp>
        <p:nvSpPr>
          <p:cNvPr id="458" name="Google Shape;458;g2cfa7dab9e5_0_593:notes"/>
          <p:cNvSpPr>
            <a:spLocks noGrp="1" noRot="1" noChangeAspect="1"/>
          </p:cNvSpPr>
          <p:nvPr>
            <p:ph type="sldImg" idx="2"/>
          </p:nvPr>
        </p:nvSpPr>
        <p:spPr>
          <a:xfrm>
            <a:off x="992188" y="768350"/>
            <a:ext cx="5115000" cy="3837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7: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7: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lvl="0" indent="0" algn="l" rtl="0">
              <a:lnSpc>
                <a:spcPct val="100000"/>
              </a:lnSpc>
              <a:spcBef>
                <a:spcPts val="0"/>
              </a:spcBef>
              <a:spcAft>
                <a:spcPts val="0"/>
              </a:spcAft>
              <a:buSzPts val="1400"/>
              <a:buNone/>
            </a:pPr>
            <a:r>
              <a:rPr lang="en"/>
              <a:t>You are unsure whether to include this one or another.</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
              <a:t>Susana, do you have any really cool maps that correspond to the second version of the REI? On which padlock is it more secure? Notice that the one included in Part 2 starts from another generative Q.</a:t>
            </a:r>
            <a:endParaRPr/>
          </a:p>
        </p:txBody>
      </p:sp>
      <p:sp>
        <p:nvSpPr>
          <p:cNvPr id="471" name="Google Shape;471;p27: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28: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
              <a:t>You are unsure whether to include this one or another.</a:t>
            </a:r>
            <a:endParaRPr/>
          </a:p>
          <a:p>
            <a:pPr marL="0" lvl="0" indent="0" algn="l" rtl="0">
              <a:lnSpc>
                <a:spcPct val="100000"/>
              </a:lnSpc>
              <a:spcBef>
                <a:spcPts val="0"/>
              </a:spcBef>
              <a:spcAft>
                <a:spcPts val="0"/>
              </a:spcAft>
              <a:buSzPts val="1400"/>
              <a:buNone/>
            </a:pPr>
            <a:endParaRPr/>
          </a:p>
        </p:txBody>
      </p:sp>
      <p:sp>
        <p:nvSpPr>
          <p:cNvPr id="478" name="Google Shape;478;p28: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2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6" name="Google Shape;486;p29:notes"/>
          <p:cNvSpPr txBox="1">
            <a:spLocks noGrp="1"/>
          </p:cNvSpPr>
          <p:nvPr>
            <p:ph type="body" idx="1"/>
          </p:nvPr>
        </p:nvSpPr>
        <p:spPr>
          <a:xfrm>
            <a:off x="709931" y="4861442"/>
            <a:ext cx="5679440" cy="4605576"/>
          </a:xfrm>
          <a:prstGeom prst="rect">
            <a:avLst/>
          </a:prstGeom>
          <a:noFill/>
          <a:ln>
            <a:noFill/>
          </a:ln>
        </p:spPr>
        <p:txBody>
          <a:bodyPr spcFirstLastPara="1" wrap="square" lIns="94750" tIns="47375" rIns="94750" bIns="47375"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
              <a:t>You are unsure whether to include this one or another.</a:t>
            </a:r>
            <a:endParaRPr/>
          </a:p>
          <a:p>
            <a:pPr marL="0" lvl="0" indent="0" algn="l" rtl="0">
              <a:lnSpc>
                <a:spcPct val="100000"/>
              </a:lnSpc>
              <a:spcBef>
                <a:spcPts val="0"/>
              </a:spcBef>
              <a:spcAft>
                <a:spcPts val="0"/>
              </a:spcAft>
              <a:buSzPts val="1400"/>
              <a:buNone/>
            </a:pPr>
            <a:endParaRPr/>
          </a:p>
        </p:txBody>
      </p:sp>
      <p:sp>
        <p:nvSpPr>
          <p:cNvPr id="487" name="Google Shape;487;p29:notes"/>
          <p:cNvSpPr txBox="1">
            <a:spLocks noGrp="1"/>
          </p:cNvSpPr>
          <p:nvPr>
            <p:ph type="sldNum" idx="12"/>
          </p:nvPr>
        </p:nvSpPr>
        <p:spPr>
          <a:xfrm>
            <a:off x="4021295" y="9721106"/>
            <a:ext cx="3076363" cy="511731"/>
          </a:xfrm>
          <a:prstGeom prst="rect">
            <a:avLst/>
          </a:prstGeom>
          <a:noFill/>
          <a:ln>
            <a:noFill/>
          </a:ln>
        </p:spPr>
        <p:txBody>
          <a:bodyPr spcFirstLastPara="1" wrap="square" lIns="94750" tIns="47375" rIns="94750" bIns="47375" anchor="b" anchorCtr="0">
            <a:noAutofit/>
          </a:bodyPr>
          <a:lstStyle/>
          <a:p>
            <a:pPr marL="0" lvl="0" indent="0" algn="r" rtl="0">
              <a:lnSpc>
                <a:spcPct val="100000"/>
              </a:lnSpc>
              <a:spcBef>
                <a:spcPts val="0"/>
              </a:spcBef>
              <a:spcAft>
                <a:spcPts val="0"/>
              </a:spcAft>
              <a:buSzPts val="1400"/>
              <a:buNone/>
            </a:pPr>
            <a:fld id="{00000000-1234-1234-1234-123412341234}" type="slidenum">
              <a:rPr lang="ca-ES"/>
              <a:t>42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3"/>
        <p:cNvGrpSpPr/>
        <p:nvPr/>
      </p:nvGrpSpPr>
      <p:grpSpPr>
        <a:xfrm>
          <a:off x="0" y="0"/>
          <a:ext cx="0" cy="0"/>
          <a:chOff x="0" y="0"/>
          <a:chExt cx="0" cy="0"/>
        </a:xfrm>
      </p:grpSpPr>
      <p:sp>
        <p:nvSpPr>
          <p:cNvPr id="14" name="Google Shape;14;p2"/>
          <p:cNvSpPr/>
          <p:nvPr/>
        </p:nvSpPr>
        <p:spPr>
          <a:xfrm>
            <a:off x="1795269" y="268288"/>
            <a:ext cx="7061395" cy="909694"/>
          </a:xfrm>
          <a:prstGeom prst="rect">
            <a:avLst/>
          </a:prstGeom>
          <a:solidFill>
            <a:srgbClr val="7030A0">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entury Gothic"/>
              <a:ea typeface="Century Gothic"/>
              <a:cs typeface="Century Gothic"/>
              <a:sym typeface="Century Gothic"/>
            </a:endParaRPr>
          </a:p>
        </p:txBody>
      </p:sp>
      <p:sp>
        <p:nvSpPr>
          <p:cNvPr id="15" name="Google Shape;15;p2"/>
          <p:cNvSpPr txBox="1">
            <a:spLocks noGrp="1"/>
          </p:cNvSpPr>
          <p:nvPr>
            <p:ph type="ctrTitle"/>
          </p:nvPr>
        </p:nvSpPr>
        <p:spPr>
          <a:xfrm>
            <a:off x="1794838" y="1617740"/>
            <a:ext cx="7061395" cy="2783208"/>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7030A0"/>
              </a:buClr>
              <a:buSzPts val="3000"/>
              <a:buFont typeface="Avenir"/>
              <a:buNone/>
              <a:defRPr sz="3000">
                <a:solidFill>
                  <a:srgbClr val="7030A0"/>
                </a:solidFill>
                <a:latin typeface="Avenir"/>
                <a:ea typeface="Avenir"/>
                <a:cs typeface="Avenir"/>
                <a:sym typeface="Avenir"/>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1794838" y="4400950"/>
            <a:ext cx="7061397" cy="1955401"/>
          </a:xfrm>
          <a:prstGeom prst="rect">
            <a:avLst/>
          </a:prstGeom>
          <a:noFill/>
          <a:ln>
            <a:noFill/>
          </a:ln>
        </p:spPr>
        <p:txBody>
          <a:bodyPr spcFirstLastPara="1" wrap="square" lIns="91425" tIns="45700" rIns="91425" bIns="45700" anchor="t" anchorCtr="0">
            <a:normAutofit/>
          </a:bodyPr>
          <a:lstStyle>
            <a:lvl1pPr lvl="0" algn="ctr">
              <a:lnSpc>
                <a:spcPct val="130000"/>
              </a:lnSpc>
              <a:spcBef>
                <a:spcPts val="0"/>
              </a:spcBef>
              <a:spcAft>
                <a:spcPts val="0"/>
              </a:spcAft>
              <a:buClr>
                <a:schemeClr val="accent1"/>
              </a:buClr>
              <a:buSzPts val="2000"/>
              <a:buFont typeface="Noto Sans Symbols"/>
              <a:buNone/>
              <a:defRPr sz="2000" b="0">
                <a:solidFill>
                  <a:schemeClr val="dk2"/>
                </a:solidFill>
                <a:latin typeface="Avenir"/>
                <a:ea typeface="Avenir"/>
                <a:cs typeface="Avenir"/>
                <a:sym typeface="Avenir"/>
              </a:defRPr>
            </a:lvl1pPr>
            <a:lvl2pPr lvl="1" algn="ctr">
              <a:lnSpc>
                <a:spcPct val="130000"/>
              </a:lnSpc>
              <a:spcBef>
                <a:spcPts val="600"/>
              </a:spcBef>
              <a:spcAft>
                <a:spcPts val="0"/>
              </a:spcAft>
              <a:buSzPts val="1800"/>
              <a:buNone/>
              <a:defRPr>
                <a:solidFill>
                  <a:srgbClr val="888888"/>
                </a:solidFill>
              </a:defRPr>
            </a:lvl2pPr>
            <a:lvl3pPr lvl="2" algn="ctr">
              <a:lnSpc>
                <a:spcPct val="130000"/>
              </a:lnSpc>
              <a:spcBef>
                <a:spcPts val="600"/>
              </a:spcBef>
              <a:spcAft>
                <a:spcPts val="0"/>
              </a:spcAft>
              <a:buSzPts val="1600"/>
              <a:buNone/>
              <a:defRPr>
                <a:solidFill>
                  <a:srgbClr val="888888"/>
                </a:solidFill>
              </a:defRPr>
            </a:lvl3pPr>
            <a:lvl4pPr lvl="3" algn="ctr">
              <a:lnSpc>
                <a:spcPct val="130000"/>
              </a:lnSpc>
              <a:spcBef>
                <a:spcPts val="600"/>
              </a:spcBef>
              <a:spcAft>
                <a:spcPts val="0"/>
              </a:spcAft>
              <a:buSzPts val="1400"/>
              <a:buNone/>
              <a:defRPr>
                <a:solidFill>
                  <a:srgbClr val="888888"/>
                </a:solidFill>
              </a:defRPr>
            </a:lvl4pPr>
            <a:lvl5pPr lvl="4" algn="ctr">
              <a:lnSpc>
                <a:spcPct val="130000"/>
              </a:lnSpc>
              <a:spcBef>
                <a:spcPts val="600"/>
              </a:spcBef>
              <a:spcAft>
                <a:spcPts val="0"/>
              </a:spcAft>
              <a:buSzPts val="12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pic>
        <p:nvPicPr>
          <p:cNvPr id="17" name="Google Shape;17;p2"/>
          <p:cNvPicPr preferRelativeResize="0"/>
          <p:nvPr/>
        </p:nvPicPr>
        <p:blipFill rotWithShape="1">
          <a:blip r:embed="rId2">
            <a:alphaModFix amt="20000"/>
          </a:blip>
          <a:srcRect/>
          <a:stretch/>
        </p:blipFill>
        <p:spPr>
          <a:xfrm>
            <a:off x="387532" y="562359"/>
            <a:ext cx="588145" cy="588145"/>
          </a:xfrm>
          <a:prstGeom prst="rect">
            <a:avLst/>
          </a:prstGeom>
          <a:noFill/>
          <a:ln>
            <a:noFill/>
          </a:ln>
        </p:spPr>
      </p:pic>
      <p:pic>
        <p:nvPicPr>
          <p:cNvPr id="18" name="Google Shape;18;p2"/>
          <p:cNvPicPr preferRelativeResize="0"/>
          <p:nvPr/>
        </p:nvPicPr>
        <p:blipFill rotWithShape="1">
          <a:blip r:embed="rId3">
            <a:alphaModFix amt="20000"/>
          </a:blip>
          <a:srcRect/>
          <a:stretch/>
        </p:blipFill>
        <p:spPr>
          <a:xfrm rot="2700000">
            <a:off x="942910" y="354419"/>
            <a:ext cx="415881" cy="415881"/>
          </a:xfrm>
          <a:prstGeom prst="rect">
            <a:avLst/>
          </a:prstGeom>
          <a:noFill/>
          <a:ln>
            <a:noFill/>
          </a:ln>
        </p:spPr>
      </p:pic>
      <p:pic>
        <p:nvPicPr>
          <p:cNvPr id="19" name="Google Shape;19;p2"/>
          <p:cNvPicPr preferRelativeResize="0"/>
          <p:nvPr/>
        </p:nvPicPr>
        <p:blipFill rotWithShape="1">
          <a:blip r:embed="rId4">
            <a:alphaModFix amt="20000"/>
          </a:blip>
          <a:srcRect/>
          <a:stretch/>
        </p:blipFill>
        <p:spPr>
          <a:xfrm rot="8047801">
            <a:off x="1189032" y="715026"/>
            <a:ext cx="568525" cy="503756"/>
          </a:xfrm>
          <a:prstGeom prst="rect">
            <a:avLst/>
          </a:prstGeom>
          <a:noFill/>
          <a:ln>
            <a:noFill/>
          </a:ln>
        </p:spPr>
      </p:pic>
      <p:pic>
        <p:nvPicPr>
          <p:cNvPr id="20" name="Google Shape;20;p2" descr="Imatge que conté Font, Gràfics, logotip, blanc&#10;&#10;Descripció generada automàticament"/>
          <p:cNvPicPr preferRelativeResize="0"/>
          <p:nvPr/>
        </p:nvPicPr>
        <p:blipFill rotWithShape="1">
          <a:blip r:embed="rId5">
            <a:alphaModFix/>
          </a:blip>
          <a:srcRect/>
          <a:stretch/>
        </p:blipFill>
        <p:spPr>
          <a:xfrm>
            <a:off x="7341151" y="6539487"/>
            <a:ext cx="907100" cy="274950"/>
          </a:xfrm>
          <a:prstGeom prst="rect">
            <a:avLst/>
          </a:prstGeom>
          <a:noFill/>
          <a:ln>
            <a:noFill/>
          </a:ln>
        </p:spPr>
      </p:pic>
      <p:pic>
        <p:nvPicPr>
          <p:cNvPr id="21" name="Google Shape;21;p2"/>
          <p:cNvPicPr preferRelativeResize="0"/>
          <p:nvPr/>
        </p:nvPicPr>
        <p:blipFill rotWithShape="1">
          <a:blip r:embed="rId4">
            <a:alphaModFix amt="20000"/>
          </a:blip>
          <a:srcRect/>
          <a:stretch/>
        </p:blipFill>
        <p:spPr>
          <a:xfrm rot="8718243">
            <a:off x="7231658" y="6584561"/>
            <a:ext cx="218986" cy="19403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2"/>
        <p:cNvGrpSpPr/>
        <p:nvPr/>
      </p:nvGrpSpPr>
      <p:grpSpPr>
        <a:xfrm>
          <a:off x="0" y="0"/>
          <a:ext cx="0" cy="0"/>
          <a:chOff x="0" y="0"/>
          <a:chExt cx="0" cy="0"/>
        </a:xfrm>
      </p:grpSpPr>
      <p:sp>
        <p:nvSpPr>
          <p:cNvPr id="23" name="Google Shape;23;p3"/>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24" name="Google Shape;24;p3" descr="Imatge que conté Font, Gràfics, logotip, blanc&#10;&#10;Descripció generada automàticament"/>
          <p:cNvPicPr preferRelativeResize="0"/>
          <p:nvPr/>
        </p:nvPicPr>
        <p:blipFill rotWithShape="1">
          <a:blip r:embed="rId2">
            <a:alphaModFix/>
          </a:blip>
          <a:srcRect/>
          <a:stretch/>
        </p:blipFill>
        <p:spPr>
          <a:xfrm>
            <a:off x="7851289" y="511669"/>
            <a:ext cx="1052957" cy="319161"/>
          </a:xfrm>
          <a:prstGeom prst="rect">
            <a:avLst/>
          </a:prstGeom>
          <a:noFill/>
          <a:ln>
            <a:noFill/>
          </a:ln>
        </p:spPr>
      </p:pic>
      <p:sp>
        <p:nvSpPr>
          <p:cNvPr id="25" name="Google Shape;25;p3"/>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6" name="Google Shape;26;p3"/>
          <p:cNvPicPr preferRelativeResize="0"/>
          <p:nvPr/>
        </p:nvPicPr>
        <p:blipFill rotWithShape="1">
          <a:blip r:embed="rId3">
            <a:alphaModFix amt="20000"/>
          </a:blip>
          <a:srcRect/>
          <a:stretch/>
        </p:blipFill>
        <p:spPr>
          <a:xfrm rot="-9079080">
            <a:off x="7716644" y="538584"/>
            <a:ext cx="230868" cy="204566"/>
          </a:xfrm>
          <a:prstGeom prst="rect">
            <a:avLst/>
          </a:prstGeom>
          <a:noFill/>
          <a:ln>
            <a:noFill/>
          </a:ln>
        </p:spPr>
      </p:pic>
      <p:pic>
        <p:nvPicPr>
          <p:cNvPr id="27" name="Google Shape;27;p3"/>
          <p:cNvPicPr preferRelativeResize="0"/>
          <p:nvPr/>
        </p:nvPicPr>
        <p:blipFill rotWithShape="1">
          <a:blip r:embed="rId4">
            <a:alphaModFix amt="20000"/>
          </a:blip>
          <a:srcRect/>
          <a:stretch/>
        </p:blipFill>
        <p:spPr>
          <a:xfrm rot="3366168">
            <a:off x="625062" y="4589345"/>
            <a:ext cx="2238710" cy="1102649"/>
          </a:xfrm>
          <a:prstGeom prst="rect">
            <a:avLst/>
          </a:prstGeom>
          <a:noFill/>
          <a:ln>
            <a:noFill/>
          </a:ln>
        </p:spPr>
      </p:pic>
      <p:pic>
        <p:nvPicPr>
          <p:cNvPr id="28" name="Google Shape;28;p3"/>
          <p:cNvPicPr preferRelativeResize="0"/>
          <p:nvPr/>
        </p:nvPicPr>
        <p:blipFill rotWithShape="1">
          <a:blip r:embed="rId5">
            <a:alphaModFix amt="20000"/>
          </a:blip>
          <a:srcRect/>
          <a:stretch/>
        </p:blipFill>
        <p:spPr>
          <a:xfrm>
            <a:off x="3290501" y="1020435"/>
            <a:ext cx="2986372" cy="2986372"/>
          </a:xfrm>
          <a:prstGeom prst="rect">
            <a:avLst/>
          </a:prstGeom>
          <a:noFill/>
          <a:ln>
            <a:noFill/>
          </a:ln>
        </p:spPr>
      </p:pic>
      <p:pic>
        <p:nvPicPr>
          <p:cNvPr id="29" name="Google Shape;29;p3"/>
          <p:cNvPicPr preferRelativeResize="0"/>
          <p:nvPr/>
        </p:nvPicPr>
        <p:blipFill rotWithShape="1">
          <a:blip r:embed="rId3">
            <a:alphaModFix amt="20000"/>
          </a:blip>
          <a:srcRect/>
          <a:stretch/>
        </p:blipFill>
        <p:spPr>
          <a:xfrm rot="8718243">
            <a:off x="6657026" y="4592831"/>
            <a:ext cx="2312471" cy="2049024"/>
          </a:xfrm>
          <a:prstGeom prst="rect">
            <a:avLst/>
          </a:prstGeom>
          <a:noFill/>
          <a:ln>
            <a:noFill/>
          </a:ln>
        </p:spPr>
      </p:pic>
      <p:pic>
        <p:nvPicPr>
          <p:cNvPr id="30" name="Google Shape;30;p3"/>
          <p:cNvPicPr preferRelativeResize="0"/>
          <p:nvPr/>
        </p:nvPicPr>
        <p:blipFill rotWithShape="1">
          <a:blip r:embed="rId6">
            <a:alphaModFix amt="20000"/>
          </a:blip>
          <a:srcRect/>
          <a:stretch/>
        </p:blipFill>
        <p:spPr>
          <a:xfrm rot="2700000">
            <a:off x="7042460" y="1506115"/>
            <a:ext cx="1617659" cy="1617659"/>
          </a:xfrm>
          <a:prstGeom prst="rect">
            <a:avLst/>
          </a:prstGeom>
          <a:noFill/>
          <a:ln>
            <a:noFill/>
          </a:ln>
        </p:spPr>
      </p:pic>
      <p:pic>
        <p:nvPicPr>
          <p:cNvPr id="31" name="Google Shape;31;p3"/>
          <p:cNvPicPr preferRelativeResize="0"/>
          <p:nvPr/>
        </p:nvPicPr>
        <p:blipFill rotWithShape="1">
          <a:blip r:embed="rId7">
            <a:alphaModFix amt="20000"/>
          </a:blip>
          <a:srcRect/>
          <a:stretch/>
        </p:blipFill>
        <p:spPr>
          <a:xfrm>
            <a:off x="3813489" y="4311578"/>
            <a:ext cx="2012976" cy="2227694"/>
          </a:xfrm>
          <a:prstGeom prst="rect">
            <a:avLst/>
          </a:prstGeom>
          <a:noFill/>
          <a:ln>
            <a:noFill/>
          </a:ln>
        </p:spPr>
      </p:pic>
      <p:pic>
        <p:nvPicPr>
          <p:cNvPr id="32" name="Google Shape;32;p3"/>
          <p:cNvPicPr preferRelativeResize="0"/>
          <p:nvPr/>
        </p:nvPicPr>
        <p:blipFill rotWithShape="1">
          <a:blip r:embed="rId8">
            <a:alphaModFix amt="20000"/>
          </a:blip>
          <a:srcRect/>
          <a:stretch/>
        </p:blipFill>
        <p:spPr>
          <a:xfrm rot="-1281876">
            <a:off x="-8279" y="1428163"/>
            <a:ext cx="2862791" cy="1431396"/>
          </a:xfrm>
          <a:prstGeom prst="rect">
            <a:avLst/>
          </a:prstGeom>
          <a:noFill/>
          <a:ln>
            <a:noFill/>
          </a:ln>
        </p:spPr>
      </p:pic>
      <p:sp>
        <p:nvSpPr>
          <p:cNvPr id="33" name="Google Shape;33;p3"/>
          <p:cNvSpPr txBox="1">
            <a:spLocks noGrp="1"/>
          </p:cNvSpPr>
          <p:nvPr>
            <p:ph type="body" idx="2"/>
          </p:nvPr>
        </p:nvSpPr>
        <p:spPr>
          <a:xfrm>
            <a:off x="455625" y="3568848"/>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34" name="Google Shape;34;p3"/>
          <p:cNvCxnSpPr/>
          <p:nvPr/>
        </p:nvCxnSpPr>
        <p:spPr>
          <a:xfrm>
            <a:off x="474595" y="976406"/>
            <a:ext cx="8397857" cy="0"/>
          </a:xfrm>
          <a:prstGeom prst="straightConnector1">
            <a:avLst/>
          </a:prstGeom>
          <a:noFill/>
          <a:ln w="25400" cap="flat" cmpd="sng">
            <a:solidFill>
              <a:srgbClr val="7F7F7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3_Title and Content">
  <p:cSld name="3_Title and Content">
    <p:spTree>
      <p:nvGrpSpPr>
        <p:cNvPr id="1" name="Shape 35"/>
        <p:cNvGrpSpPr/>
        <p:nvPr/>
      </p:nvGrpSpPr>
      <p:grpSpPr>
        <a:xfrm>
          <a:off x="0" y="0"/>
          <a:ext cx="0" cy="0"/>
          <a:chOff x="0" y="0"/>
          <a:chExt cx="0" cy="0"/>
        </a:xfrm>
      </p:grpSpPr>
      <p:pic>
        <p:nvPicPr>
          <p:cNvPr id="36" name="Google Shape;36;p4" descr="Imatge que conté Font, Gràfics, logotip, blanc&#10;&#10;Descripció generada automàticament"/>
          <p:cNvPicPr preferRelativeResize="0"/>
          <p:nvPr/>
        </p:nvPicPr>
        <p:blipFill rotWithShape="1">
          <a:blip r:embed="rId2">
            <a:alphaModFix/>
          </a:blip>
          <a:srcRect/>
          <a:stretch/>
        </p:blipFill>
        <p:spPr>
          <a:xfrm>
            <a:off x="7851289" y="511669"/>
            <a:ext cx="1052957" cy="319161"/>
          </a:xfrm>
          <a:prstGeom prst="rect">
            <a:avLst/>
          </a:prstGeom>
          <a:noFill/>
          <a:ln>
            <a:noFill/>
          </a:ln>
        </p:spPr>
      </p:pic>
      <p:sp>
        <p:nvSpPr>
          <p:cNvPr id="37" name="Google Shape;37;p4"/>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8" name="Google Shape;38;p4"/>
          <p:cNvPicPr preferRelativeResize="0"/>
          <p:nvPr/>
        </p:nvPicPr>
        <p:blipFill rotWithShape="1">
          <a:blip r:embed="rId3">
            <a:alphaModFix amt="20000"/>
          </a:blip>
          <a:srcRect/>
          <a:stretch/>
        </p:blipFill>
        <p:spPr>
          <a:xfrm rot="-9079080">
            <a:off x="7716644" y="538584"/>
            <a:ext cx="230868" cy="204566"/>
          </a:xfrm>
          <a:prstGeom prst="rect">
            <a:avLst/>
          </a:prstGeom>
          <a:noFill/>
          <a:ln>
            <a:noFill/>
          </a:ln>
        </p:spPr>
      </p:pic>
      <p:pic>
        <p:nvPicPr>
          <p:cNvPr id="39" name="Google Shape;39;p4"/>
          <p:cNvPicPr preferRelativeResize="0"/>
          <p:nvPr/>
        </p:nvPicPr>
        <p:blipFill rotWithShape="1">
          <a:blip r:embed="rId3">
            <a:alphaModFix amt="20000"/>
          </a:blip>
          <a:srcRect/>
          <a:stretch/>
        </p:blipFill>
        <p:spPr>
          <a:xfrm rot="8718243">
            <a:off x="6695053" y="4581109"/>
            <a:ext cx="2312471" cy="2049024"/>
          </a:xfrm>
          <a:prstGeom prst="rect">
            <a:avLst/>
          </a:prstGeom>
          <a:noFill/>
          <a:ln>
            <a:noFill/>
          </a:ln>
        </p:spPr>
      </p:pic>
      <p:sp>
        <p:nvSpPr>
          <p:cNvPr id="40" name="Google Shape;40;p4"/>
          <p:cNvSpPr txBox="1">
            <a:spLocks noGrp="1"/>
          </p:cNvSpPr>
          <p:nvPr>
            <p:ph type="body" idx="1"/>
          </p:nvPr>
        </p:nvSpPr>
        <p:spPr>
          <a:xfrm>
            <a:off x="4760847" y="1223429"/>
            <a:ext cx="4111605" cy="4996438"/>
          </a:xfrm>
          <a:prstGeom prst="rect">
            <a:avLst/>
          </a:prstGeom>
          <a:noFill/>
          <a:ln>
            <a:noFill/>
          </a:ln>
        </p:spPr>
        <p:txBody>
          <a:bodyPr spcFirstLastPara="1" wrap="square" lIns="91425" tIns="45700" rIns="91425" bIns="45700" anchor="t" anchorCtr="0">
            <a:noAutofit/>
          </a:bodyPr>
          <a:lstStyle>
            <a:lvl1pPr marL="457200" lvl="0" indent="-336550" algn="l">
              <a:lnSpc>
                <a:spcPct val="130000"/>
              </a:lnSpc>
              <a:spcBef>
                <a:spcPts val="300"/>
              </a:spcBef>
              <a:spcAft>
                <a:spcPts val="0"/>
              </a:spcAft>
              <a:buClr>
                <a:srgbClr val="3DB087"/>
              </a:buClr>
              <a:buSzPts val="1700"/>
              <a:buChar char="◼"/>
              <a:defRPr sz="1700"/>
            </a:lvl1pPr>
            <a:lvl2pPr marL="914400" lvl="1" indent="-317500" algn="l">
              <a:lnSpc>
                <a:spcPct val="130000"/>
              </a:lnSpc>
              <a:spcBef>
                <a:spcPts val="300"/>
              </a:spcBef>
              <a:spcAft>
                <a:spcPts val="0"/>
              </a:spcAft>
              <a:buSzPts val="1400"/>
              <a:buChar char="▪"/>
              <a:defRPr sz="1400"/>
            </a:lvl2pPr>
            <a:lvl3pPr marL="1371600" lvl="2" indent="-317500" algn="l">
              <a:lnSpc>
                <a:spcPct val="130000"/>
              </a:lnSpc>
              <a:spcBef>
                <a:spcPts val="300"/>
              </a:spcBef>
              <a:spcAft>
                <a:spcPts val="0"/>
              </a:spcAft>
              <a:buSzPts val="1400"/>
              <a:buChar char="o"/>
              <a:defRPr sz="1400"/>
            </a:lvl3pPr>
            <a:lvl4pPr marL="1828800" lvl="3" indent="-317500" algn="l">
              <a:lnSpc>
                <a:spcPct val="130000"/>
              </a:lnSpc>
              <a:spcBef>
                <a:spcPts val="300"/>
              </a:spcBef>
              <a:spcAft>
                <a:spcPts val="0"/>
              </a:spcAft>
              <a:buSzPts val="1400"/>
              <a:buChar char="◼"/>
              <a:defRPr sz="1400"/>
            </a:lvl4pPr>
            <a:lvl5pPr marL="2286000" lvl="4" indent="-317500" algn="l">
              <a:lnSpc>
                <a:spcPct val="130000"/>
              </a:lnSpc>
              <a:spcBef>
                <a:spcPts val="300"/>
              </a:spcBef>
              <a:spcAft>
                <a:spcPts val="0"/>
              </a:spcAft>
              <a:buSzPts val="1400"/>
              <a:buChar char="▪"/>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41" name="Google Shape;41;p4"/>
          <p:cNvCxnSpPr/>
          <p:nvPr/>
        </p:nvCxnSpPr>
        <p:spPr>
          <a:xfrm>
            <a:off x="474595" y="976406"/>
            <a:ext cx="8397857" cy="0"/>
          </a:xfrm>
          <a:prstGeom prst="straightConnector1">
            <a:avLst/>
          </a:prstGeom>
          <a:noFill/>
          <a:ln w="25400" cap="flat" cmpd="sng">
            <a:solidFill>
              <a:srgbClr val="7F7F7F"/>
            </a:solidFill>
            <a:prstDash val="solid"/>
            <a:round/>
            <a:headEnd type="none" w="sm" len="sm"/>
            <a:tailEnd type="none" w="sm" len="sm"/>
          </a:ln>
        </p:spPr>
      </p:cxnSp>
      <p:pic>
        <p:nvPicPr>
          <p:cNvPr id="42" name="Google Shape;42;p4"/>
          <p:cNvPicPr preferRelativeResize="0"/>
          <p:nvPr/>
        </p:nvPicPr>
        <p:blipFill rotWithShape="1">
          <a:blip r:embed="rId4">
            <a:alphaModFix amt="20000"/>
          </a:blip>
          <a:srcRect/>
          <a:stretch/>
        </p:blipFill>
        <p:spPr>
          <a:xfrm rot="5400000">
            <a:off x="-469939" y="1858192"/>
            <a:ext cx="5582573" cy="3853698"/>
          </a:xfrm>
          <a:prstGeom prst="rect">
            <a:avLst/>
          </a:prstGeom>
          <a:noFill/>
          <a:ln>
            <a:noFill/>
          </a:ln>
        </p:spPr>
      </p:pic>
      <p:sp>
        <p:nvSpPr>
          <p:cNvPr id="43" name="Google Shape;43;p4"/>
          <p:cNvSpPr txBox="1">
            <a:spLocks noGrp="1"/>
          </p:cNvSpPr>
          <p:nvPr>
            <p:ph type="body" idx="2"/>
          </p:nvPr>
        </p:nvSpPr>
        <p:spPr>
          <a:xfrm>
            <a:off x="460395" y="1207479"/>
            <a:ext cx="4111605" cy="4996438"/>
          </a:xfrm>
          <a:prstGeom prst="rect">
            <a:avLst/>
          </a:prstGeom>
          <a:noFill/>
          <a:ln>
            <a:noFill/>
          </a:ln>
        </p:spPr>
        <p:txBody>
          <a:bodyPr spcFirstLastPara="1" wrap="square" lIns="91425" tIns="45700" rIns="91425" bIns="45700" anchor="t" anchorCtr="0">
            <a:noAutofit/>
          </a:bodyPr>
          <a:lstStyle>
            <a:lvl1pPr marL="457200" lvl="0" indent="-336550" algn="l">
              <a:lnSpc>
                <a:spcPct val="130000"/>
              </a:lnSpc>
              <a:spcBef>
                <a:spcPts val="300"/>
              </a:spcBef>
              <a:spcAft>
                <a:spcPts val="0"/>
              </a:spcAft>
              <a:buSzPts val="1700"/>
              <a:buChar char="◼"/>
              <a:defRPr sz="1700"/>
            </a:lvl1pPr>
            <a:lvl2pPr marL="914400" lvl="1" indent="-317500" algn="l">
              <a:lnSpc>
                <a:spcPct val="130000"/>
              </a:lnSpc>
              <a:spcBef>
                <a:spcPts val="300"/>
              </a:spcBef>
              <a:spcAft>
                <a:spcPts val="0"/>
              </a:spcAft>
              <a:buSzPts val="1400"/>
              <a:buChar char="▪"/>
              <a:defRPr sz="1400"/>
            </a:lvl2pPr>
            <a:lvl3pPr marL="1371600" lvl="2" indent="-317500" algn="l">
              <a:lnSpc>
                <a:spcPct val="130000"/>
              </a:lnSpc>
              <a:spcBef>
                <a:spcPts val="300"/>
              </a:spcBef>
              <a:spcAft>
                <a:spcPts val="0"/>
              </a:spcAft>
              <a:buSzPts val="1400"/>
              <a:buChar char="o"/>
              <a:defRPr sz="1400"/>
            </a:lvl3pPr>
            <a:lvl4pPr marL="1828800" lvl="3" indent="-317500" algn="l">
              <a:lnSpc>
                <a:spcPct val="130000"/>
              </a:lnSpc>
              <a:spcBef>
                <a:spcPts val="300"/>
              </a:spcBef>
              <a:spcAft>
                <a:spcPts val="0"/>
              </a:spcAft>
              <a:buSzPts val="1400"/>
              <a:buChar char="◼"/>
              <a:defRPr sz="1400"/>
            </a:lvl4pPr>
            <a:lvl5pPr marL="2286000" lvl="4" indent="-317500" algn="l">
              <a:lnSpc>
                <a:spcPct val="130000"/>
              </a:lnSpc>
              <a:spcBef>
                <a:spcPts val="300"/>
              </a:spcBef>
              <a:spcAft>
                <a:spcPts val="0"/>
              </a:spcAft>
              <a:buSzPts val="1400"/>
              <a:buChar char="▪"/>
              <a:defRPr sz="14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4_Title and Content">
  <p:cSld name="4_Title and Content">
    <p:spTree>
      <p:nvGrpSpPr>
        <p:cNvPr id="1" name="Shape 44"/>
        <p:cNvGrpSpPr/>
        <p:nvPr/>
      </p:nvGrpSpPr>
      <p:grpSpPr>
        <a:xfrm>
          <a:off x="0" y="0"/>
          <a:ext cx="0" cy="0"/>
          <a:chOff x="0" y="0"/>
          <a:chExt cx="0" cy="0"/>
        </a:xfrm>
      </p:grpSpPr>
      <p:sp>
        <p:nvSpPr>
          <p:cNvPr id="45" name="Google Shape;45;p5"/>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46" name="Google Shape;46;p5" descr="Imatge que conté Font, Gràfics, logotip, blanc&#10;&#10;Descripció generada automàticament"/>
          <p:cNvPicPr preferRelativeResize="0"/>
          <p:nvPr/>
        </p:nvPicPr>
        <p:blipFill rotWithShape="1">
          <a:blip r:embed="rId2">
            <a:alphaModFix/>
          </a:blip>
          <a:srcRect/>
          <a:stretch/>
        </p:blipFill>
        <p:spPr>
          <a:xfrm>
            <a:off x="7851289" y="511669"/>
            <a:ext cx="1052957" cy="319161"/>
          </a:xfrm>
          <a:prstGeom prst="rect">
            <a:avLst/>
          </a:prstGeom>
          <a:noFill/>
          <a:ln>
            <a:noFill/>
          </a:ln>
        </p:spPr>
      </p:pic>
      <p:sp>
        <p:nvSpPr>
          <p:cNvPr id="47" name="Google Shape;47;p5"/>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48" name="Google Shape;48;p5"/>
          <p:cNvPicPr preferRelativeResize="0"/>
          <p:nvPr/>
        </p:nvPicPr>
        <p:blipFill rotWithShape="1">
          <a:blip r:embed="rId3">
            <a:alphaModFix amt="20000"/>
          </a:blip>
          <a:srcRect/>
          <a:stretch/>
        </p:blipFill>
        <p:spPr>
          <a:xfrm rot="-9079080">
            <a:off x="7716644" y="538584"/>
            <a:ext cx="230868" cy="204566"/>
          </a:xfrm>
          <a:prstGeom prst="rect">
            <a:avLst/>
          </a:prstGeom>
          <a:noFill/>
          <a:ln>
            <a:noFill/>
          </a:ln>
        </p:spPr>
      </p:pic>
      <p:pic>
        <p:nvPicPr>
          <p:cNvPr id="49" name="Google Shape;49;p5"/>
          <p:cNvPicPr preferRelativeResize="0"/>
          <p:nvPr/>
        </p:nvPicPr>
        <p:blipFill rotWithShape="1">
          <a:blip r:embed="rId4">
            <a:alphaModFix amt="20000"/>
          </a:blip>
          <a:srcRect/>
          <a:stretch/>
        </p:blipFill>
        <p:spPr>
          <a:xfrm rot="8718243">
            <a:off x="5833867" y="2178551"/>
            <a:ext cx="3695700" cy="3631779"/>
          </a:xfrm>
          <a:prstGeom prst="rect">
            <a:avLst/>
          </a:prstGeom>
          <a:noFill/>
          <a:ln>
            <a:noFill/>
          </a:ln>
        </p:spPr>
      </p:pic>
      <p:sp>
        <p:nvSpPr>
          <p:cNvPr id="50" name="Google Shape;50;p5"/>
          <p:cNvSpPr txBox="1">
            <a:spLocks noGrp="1"/>
          </p:cNvSpPr>
          <p:nvPr>
            <p:ph type="body" idx="2"/>
          </p:nvPr>
        </p:nvSpPr>
        <p:spPr>
          <a:xfrm>
            <a:off x="460394" y="3679311"/>
            <a:ext cx="8397857" cy="2143372"/>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cxnSp>
        <p:nvCxnSpPr>
          <p:cNvPr id="51" name="Google Shape;51;p5"/>
          <p:cNvCxnSpPr/>
          <p:nvPr/>
        </p:nvCxnSpPr>
        <p:spPr>
          <a:xfrm>
            <a:off x="474595" y="976406"/>
            <a:ext cx="8397857" cy="0"/>
          </a:xfrm>
          <a:prstGeom prst="straightConnector1">
            <a:avLst/>
          </a:prstGeom>
          <a:noFill/>
          <a:ln w="25400"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2"/>
        <p:cNvGrpSpPr/>
        <p:nvPr/>
      </p:nvGrpSpPr>
      <p:grpSpPr>
        <a:xfrm>
          <a:off x="0" y="0"/>
          <a:ext cx="0" cy="0"/>
          <a:chOff x="0" y="0"/>
          <a:chExt cx="0" cy="0"/>
        </a:xfrm>
      </p:grpSpPr>
      <p:sp>
        <p:nvSpPr>
          <p:cNvPr id="53" name="Google Shape;53;p6"/>
          <p:cNvSpPr/>
          <p:nvPr/>
        </p:nvSpPr>
        <p:spPr>
          <a:xfrm rot="10800000" flipH="1">
            <a:off x="474664" y="1027113"/>
            <a:ext cx="8383587" cy="61912"/>
          </a:xfrm>
          <a:prstGeom prst="rect">
            <a:avLst/>
          </a:prstGeom>
          <a:solidFill>
            <a:srgbClr val="7030A0">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entury Gothic"/>
              <a:ea typeface="Century Gothic"/>
              <a:cs typeface="Century Gothic"/>
              <a:sym typeface="Century Gothic"/>
            </a:endParaRPr>
          </a:p>
        </p:txBody>
      </p:sp>
      <p:sp>
        <p:nvSpPr>
          <p:cNvPr id="54" name="Google Shape;54;p6"/>
          <p:cNvSpPr txBox="1">
            <a:spLocks noGrp="1"/>
          </p:cNvSpPr>
          <p:nvPr>
            <p:ph type="body" idx="1"/>
          </p:nvPr>
        </p:nvSpPr>
        <p:spPr>
          <a:xfrm>
            <a:off x="474595" y="1159921"/>
            <a:ext cx="8397857" cy="5210233"/>
          </a:xfrm>
          <a:prstGeom prst="rect">
            <a:avLst/>
          </a:prstGeom>
          <a:noFill/>
          <a:ln>
            <a:noFill/>
          </a:ln>
        </p:spPr>
        <p:txBody>
          <a:bodyPr spcFirstLastPara="1" wrap="square" lIns="91425" tIns="45700" rIns="91425" bIns="45700" anchor="t" anchorCtr="0">
            <a:noAutofit/>
          </a:bodyPr>
          <a:lstStyle>
            <a:lvl1pPr marL="457200" lvl="0" indent="-355600" algn="l">
              <a:lnSpc>
                <a:spcPct val="130000"/>
              </a:lnSpc>
              <a:spcBef>
                <a:spcPts val="300"/>
              </a:spcBef>
              <a:spcAft>
                <a:spcPts val="0"/>
              </a:spcAft>
              <a:buSzPts val="2000"/>
              <a:buChar char="◼"/>
              <a:defRPr sz="2000"/>
            </a:lvl1pPr>
            <a:lvl2pPr marL="914400" lvl="1" indent="-342900" algn="l">
              <a:lnSpc>
                <a:spcPct val="130000"/>
              </a:lnSpc>
              <a:spcBef>
                <a:spcPts val="300"/>
              </a:spcBef>
              <a:spcAft>
                <a:spcPts val="0"/>
              </a:spcAft>
              <a:buSzPts val="1800"/>
              <a:buChar char="▪"/>
              <a:defRPr sz="1800"/>
            </a:lvl2pPr>
            <a:lvl3pPr marL="1371600" lvl="2" indent="-330200" algn="l">
              <a:lnSpc>
                <a:spcPct val="130000"/>
              </a:lnSpc>
              <a:spcBef>
                <a:spcPts val="300"/>
              </a:spcBef>
              <a:spcAft>
                <a:spcPts val="0"/>
              </a:spcAft>
              <a:buSzPts val="1600"/>
              <a:buChar char="o"/>
              <a:defRPr sz="1600"/>
            </a:lvl3pPr>
            <a:lvl4pPr marL="1828800" lvl="3" indent="-317500" algn="l">
              <a:lnSpc>
                <a:spcPct val="130000"/>
              </a:lnSpc>
              <a:spcBef>
                <a:spcPts val="300"/>
              </a:spcBef>
              <a:spcAft>
                <a:spcPts val="0"/>
              </a:spcAft>
              <a:buSzPts val="1400"/>
              <a:buChar char="◼"/>
              <a:defRPr sz="1400"/>
            </a:lvl4pPr>
            <a:lvl5pPr marL="2286000" lvl="4" indent="-304800" algn="l">
              <a:lnSpc>
                <a:spcPct val="130000"/>
              </a:lnSpc>
              <a:spcBef>
                <a:spcPts val="300"/>
              </a:spcBef>
              <a:spcAft>
                <a:spcPts val="0"/>
              </a:spcAft>
              <a:buSzPts val="1200"/>
              <a:buChar char="▪"/>
              <a:defRPr sz="1200"/>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55" name="Google Shape;55;p6"/>
          <p:cNvPicPr preferRelativeResize="0"/>
          <p:nvPr/>
        </p:nvPicPr>
        <p:blipFill rotWithShape="1">
          <a:blip r:embed="rId2">
            <a:alphaModFix amt="20000"/>
          </a:blip>
          <a:srcRect/>
          <a:stretch/>
        </p:blipFill>
        <p:spPr>
          <a:xfrm>
            <a:off x="189283" y="366717"/>
            <a:ext cx="588145" cy="588145"/>
          </a:xfrm>
          <a:prstGeom prst="rect">
            <a:avLst/>
          </a:prstGeom>
          <a:noFill/>
          <a:ln>
            <a:noFill/>
          </a:ln>
        </p:spPr>
      </p:pic>
      <p:pic>
        <p:nvPicPr>
          <p:cNvPr id="56" name="Google Shape;56;p6"/>
          <p:cNvPicPr preferRelativeResize="0"/>
          <p:nvPr/>
        </p:nvPicPr>
        <p:blipFill rotWithShape="1">
          <a:blip r:embed="rId3">
            <a:alphaModFix amt="20000"/>
          </a:blip>
          <a:srcRect/>
          <a:stretch/>
        </p:blipFill>
        <p:spPr>
          <a:xfrm rot="2700000">
            <a:off x="744661" y="158777"/>
            <a:ext cx="415881" cy="415881"/>
          </a:xfrm>
          <a:prstGeom prst="rect">
            <a:avLst/>
          </a:prstGeom>
          <a:noFill/>
          <a:ln>
            <a:noFill/>
          </a:ln>
        </p:spPr>
      </p:pic>
      <p:sp>
        <p:nvSpPr>
          <p:cNvPr id="57" name="Google Shape;57;p6"/>
          <p:cNvSpPr txBox="1">
            <a:spLocks noGrp="1"/>
          </p:cNvSpPr>
          <p:nvPr>
            <p:ph type="title"/>
          </p:nvPr>
        </p:nvSpPr>
        <p:spPr>
          <a:xfrm>
            <a:off x="1090246" y="366717"/>
            <a:ext cx="7767779" cy="64033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8" name="Google Shape;58;p6" descr="Imatge que conté Font, Gràfics, logotip, blanc&#10;&#10;Descripció generada automàticament"/>
          <p:cNvPicPr preferRelativeResize="0"/>
          <p:nvPr/>
        </p:nvPicPr>
        <p:blipFill rotWithShape="1">
          <a:blip r:embed="rId4">
            <a:alphaModFix/>
          </a:blip>
          <a:srcRect/>
          <a:stretch/>
        </p:blipFill>
        <p:spPr>
          <a:xfrm>
            <a:off x="7341151" y="6539487"/>
            <a:ext cx="907100" cy="274950"/>
          </a:xfrm>
          <a:prstGeom prst="rect">
            <a:avLst/>
          </a:prstGeom>
          <a:noFill/>
          <a:ln>
            <a:noFill/>
          </a:ln>
        </p:spPr>
      </p:pic>
      <p:pic>
        <p:nvPicPr>
          <p:cNvPr id="59" name="Google Shape;59;p6"/>
          <p:cNvPicPr preferRelativeResize="0"/>
          <p:nvPr/>
        </p:nvPicPr>
        <p:blipFill rotWithShape="1">
          <a:blip r:embed="rId5">
            <a:alphaModFix amt="20000"/>
          </a:blip>
          <a:srcRect/>
          <a:stretch/>
        </p:blipFill>
        <p:spPr>
          <a:xfrm rot="8718243">
            <a:off x="7231658" y="6584561"/>
            <a:ext cx="218986" cy="194038"/>
          </a:xfrm>
          <a:prstGeom prst="rect">
            <a:avLst/>
          </a:prstGeom>
          <a:noFill/>
          <a:ln>
            <a:noFill/>
          </a:ln>
        </p:spPr>
      </p:pic>
      <p:cxnSp>
        <p:nvCxnSpPr>
          <p:cNvPr id="60" name="Google Shape;60;p6"/>
          <p:cNvCxnSpPr/>
          <p:nvPr/>
        </p:nvCxnSpPr>
        <p:spPr>
          <a:xfrm>
            <a:off x="457200" y="6463030"/>
            <a:ext cx="8305800" cy="1588"/>
          </a:xfrm>
          <a:prstGeom prst="straightConnector1">
            <a:avLst/>
          </a:prstGeom>
          <a:noFill/>
          <a:ln w="25400" cap="flat" cmpd="sng">
            <a:solidFill>
              <a:srgbClr val="7F7F7F"/>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61"/>
        <p:cNvGrpSpPr/>
        <p:nvPr/>
      </p:nvGrpSpPr>
      <p:grpSpPr>
        <a:xfrm>
          <a:off x="0" y="0"/>
          <a:ext cx="0" cy="0"/>
          <a:chOff x="0" y="0"/>
          <a:chExt cx="0" cy="0"/>
        </a:xfrm>
      </p:grpSpPr>
      <p:sp>
        <p:nvSpPr>
          <p:cNvPr id="62" name="Google Shape;62;p7"/>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SzPts val="1400"/>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7"/>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Autofit/>
          </a:bodyPr>
          <a:lstStyle>
            <a:lvl1pPr lvl="0" algn="ctr">
              <a:lnSpc>
                <a:spcPct val="130000"/>
              </a:lnSpc>
              <a:spcBef>
                <a:spcPts val="1800"/>
              </a:spcBef>
              <a:spcAft>
                <a:spcPts val="0"/>
              </a:spcAft>
              <a:buSzPts val="1800"/>
              <a:buNone/>
              <a:defRPr sz="1800"/>
            </a:lvl1pPr>
            <a:lvl2pPr lvl="1" algn="ctr">
              <a:lnSpc>
                <a:spcPct val="130000"/>
              </a:lnSpc>
              <a:spcBef>
                <a:spcPts val="600"/>
              </a:spcBef>
              <a:spcAft>
                <a:spcPts val="0"/>
              </a:spcAft>
              <a:buSzPts val="1500"/>
              <a:buNone/>
              <a:defRPr sz="1500"/>
            </a:lvl2pPr>
            <a:lvl3pPr lvl="2" algn="ctr">
              <a:lnSpc>
                <a:spcPct val="130000"/>
              </a:lnSpc>
              <a:spcBef>
                <a:spcPts val="600"/>
              </a:spcBef>
              <a:spcAft>
                <a:spcPts val="0"/>
              </a:spcAft>
              <a:buSzPts val="1350"/>
              <a:buNone/>
              <a:defRPr sz="1350"/>
            </a:lvl3pPr>
            <a:lvl4pPr lvl="3" algn="ctr">
              <a:lnSpc>
                <a:spcPct val="130000"/>
              </a:lnSpc>
              <a:spcBef>
                <a:spcPts val="600"/>
              </a:spcBef>
              <a:spcAft>
                <a:spcPts val="0"/>
              </a:spcAft>
              <a:buSzPts val="1200"/>
              <a:buNone/>
              <a:defRPr sz="1200"/>
            </a:lvl4pPr>
            <a:lvl5pPr lvl="4" algn="ctr">
              <a:lnSpc>
                <a:spcPct val="130000"/>
              </a:lnSpc>
              <a:spcBef>
                <a:spcPts val="600"/>
              </a:spcBef>
              <a:spcAft>
                <a:spcPts val="0"/>
              </a:spcAft>
              <a:buSzPts val="1200"/>
              <a:buNone/>
              <a:defRPr sz="1200"/>
            </a:lvl5pPr>
            <a:lvl6pPr lvl="5" algn="ctr">
              <a:lnSpc>
                <a:spcPct val="100000"/>
              </a:lnSpc>
              <a:spcBef>
                <a:spcPts val="240"/>
              </a:spcBef>
              <a:spcAft>
                <a:spcPts val="0"/>
              </a:spcAft>
              <a:buClr>
                <a:schemeClr val="dk1"/>
              </a:buClr>
              <a:buSzPts val="1200"/>
              <a:buNone/>
              <a:defRPr sz="1200"/>
            </a:lvl6pPr>
            <a:lvl7pPr lvl="6" algn="ctr">
              <a:lnSpc>
                <a:spcPct val="100000"/>
              </a:lnSpc>
              <a:spcBef>
                <a:spcPts val="240"/>
              </a:spcBef>
              <a:spcAft>
                <a:spcPts val="0"/>
              </a:spcAft>
              <a:buClr>
                <a:schemeClr val="dk1"/>
              </a:buClr>
              <a:buSzPts val="1200"/>
              <a:buNone/>
              <a:defRPr sz="1200"/>
            </a:lvl7pPr>
            <a:lvl8pPr lvl="7" algn="ctr">
              <a:lnSpc>
                <a:spcPct val="100000"/>
              </a:lnSpc>
              <a:spcBef>
                <a:spcPts val="240"/>
              </a:spcBef>
              <a:spcAft>
                <a:spcPts val="0"/>
              </a:spcAft>
              <a:buClr>
                <a:schemeClr val="dk1"/>
              </a:buClr>
              <a:buSzPts val="1200"/>
              <a:buNone/>
              <a:defRPr sz="1200"/>
            </a:lvl8pPr>
            <a:lvl9pPr lvl="8" algn="ctr">
              <a:lnSpc>
                <a:spcPct val="100000"/>
              </a:lnSpc>
              <a:spcBef>
                <a:spcPts val="240"/>
              </a:spcBef>
              <a:spcAft>
                <a:spcPts val="0"/>
              </a:spcAft>
              <a:buClr>
                <a:schemeClr val="dk1"/>
              </a:buClr>
              <a:buSzPts val="1200"/>
              <a:buNone/>
              <a:defRPr sz="1200"/>
            </a:lvl9pPr>
          </a:lstStyle>
          <a:p>
            <a:endParaRPr/>
          </a:p>
        </p:txBody>
      </p:sp>
      <p:sp>
        <p:nvSpPr>
          <p:cNvPr id="64" name="Google Shape;64;p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65" name="Google Shape;65;p7"/>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entury Gothic"/>
                <a:ea typeface="Century Gothic"/>
                <a:cs typeface="Century Gothic"/>
                <a:sym typeface="Century Gothic"/>
              </a:defRPr>
            </a:lvl9pPr>
          </a:lstStyle>
          <a:p>
            <a:endParaRPr/>
          </a:p>
        </p:txBody>
      </p:sp>
      <p:sp>
        <p:nvSpPr>
          <p:cNvPr id="66" name="Google Shape;66;p7"/>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ca-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67"/>
        <p:cNvGrpSpPr/>
        <p:nvPr/>
      </p:nvGrpSpPr>
      <p:grpSpPr>
        <a:xfrm>
          <a:off x="0" y="0"/>
          <a:ext cx="0" cy="0"/>
          <a:chOff x="0" y="0"/>
          <a:chExt cx="0" cy="0"/>
        </a:xfrm>
      </p:grpSpPr>
      <p:sp>
        <p:nvSpPr>
          <p:cNvPr id="68" name="Google Shape;68;p8"/>
          <p:cNvSpPr/>
          <p:nvPr/>
        </p:nvSpPr>
        <p:spPr>
          <a:xfrm rot="10800000" flipH="1">
            <a:off x="474664" y="1027113"/>
            <a:ext cx="8383587" cy="61912"/>
          </a:xfrm>
          <a:prstGeom prst="rect">
            <a:avLst/>
          </a:prstGeom>
          <a:solidFill>
            <a:srgbClr val="7030A0">
              <a:alpha val="9411"/>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entury Gothic"/>
              <a:ea typeface="Century Gothic"/>
              <a:cs typeface="Century Gothic"/>
              <a:sym typeface="Century Gothic"/>
            </a:endParaRPr>
          </a:p>
        </p:txBody>
      </p:sp>
      <p:sp>
        <p:nvSpPr>
          <p:cNvPr id="69" name="Google Shape;69;p8"/>
          <p:cNvSpPr txBox="1">
            <a:spLocks noGrp="1"/>
          </p:cNvSpPr>
          <p:nvPr>
            <p:ph type="body" idx="1"/>
          </p:nvPr>
        </p:nvSpPr>
        <p:spPr>
          <a:xfrm>
            <a:off x="474595" y="1159921"/>
            <a:ext cx="8383431" cy="5210233"/>
          </a:xfrm>
          <a:prstGeom prst="rect">
            <a:avLst/>
          </a:prstGeom>
          <a:noFill/>
          <a:ln>
            <a:noFill/>
          </a:ln>
        </p:spPr>
        <p:txBody>
          <a:bodyPr spcFirstLastPara="1" wrap="square" lIns="91425" tIns="45700" rIns="91425" bIns="45700" anchor="ctr" anchorCtr="0">
            <a:noAutofit/>
          </a:bodyPr>
          <a:lstStyle>
            <a:lvl1pPr marL="457200" lvl="0" indent="-381000" algn="l">
              <a:lnSpc>
                <a:spcPct val="130000"/>
              </a:lnSpc>
              <a:spcBef>
                <a:spcPts val="600"/>
              </a:spcBef>
              <a:spcAft>
                <a:spcPts val="0"/>
              </a:spcAft>
              <a:buSzPts val="2400"/>
              <a:buFont typeface="Century Gothic"/>
              <a:buAutoNum type="romanUcPeriod"/>
              <a:defRPr sz="2400"/>
            </a:lvl1pPr>
            <a:lvl2pPr marL="914400" lvl="1" indent="-355600" algn="l">
              <a:lnSpc>
                <a:spcPct val="130000"/>
              </a:lnSpc>
              <a:spcBef>
                <a:spcPts val="600"/>
              </a:spcBef>
              <a:spcAft>
                <a:spcPts val="0"/>
              </a:spcAft>
              <a:buSzPts val="2000"/>
              <a:buFont typeface="Century Gothic"/>
              <a:buAutoNum type="romanUcPeriod"/>
              <a:defRPr sz="2000"/>
            </a:lvl2pPr>
            <a:lvl3pPr marL="1371600" lvl="2" indent="-342900" algn="l">
              <a:lnSpc>
                <a:spcPct val="130000"/>
              </a:lnSpc>
              <a:spcBef>
                <a:spcPts val="600"/>
              </a:spcBef>
              <a:spcAft>
                <a:spcPts val="0"/>
              </a:spcAft>
              <a:buSzPts val="1800"/>
              <a:buFont typeface="Century Gothic"/>
              <a:buAutoNum type="romanUcPeriod"/>
              <a:defRPr sz="1800"/>
            </a:lvl3pPr>
            <a:lvl4pPr marL="1828800" lvl="3" indent="-330200" algn="l">
              <a:lnSpc>
                <a:spcPct val="130000"/>
              </a:lnSpc>
              <a:spcBef>
                <a:spcPts val="600"/>
              </a:spcBef>
              <a:spcAft>
                <a:spcPts val="0"/>
              </a:spcAft>
              <a:buSzPts val="1600"/>
              <a:buFont typeface="Century Gothic"/>
              <a:buAutoNum type="romanUcPeriod"/>
              <a:defRPr sz="1600"/>
            </a:lvl4pPr>
            <a:lvl5pPr marL="2286000" lvl="4" indent="-317500" algn="l">
              <a:lnSpc>
                <a:spcPct val="130000"/>
              </a:lnSpc>
              <a:spcBef>
                <a:spcPts val="600"/>
              </a:spcBef>
              <a:spcAft>
                <a:spcPts val="0"/>
              </a:spcAft>
              <a:buSzPts val="1400"/>
              <a:buFont typeface="Century Gothic"/>
              <a:buAutoNum type="romanUcPeriod"/>
              <a:defRPr sz="1400"/>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pic>
        <p:nvPicPr>
          <p:cNvPr id="70" name="Google Shape;70;p8"/>
          <p:cNvPicPr preferRelativeResize="0"/>
          <p:nvPr/>
        </p:nvPicPr>
        <p:blipFill rotWithShape="1">
          <a:blip r:embed="rId2">
            <a:alphaModFix amt="20000"/>
          </a:blip>
          <a:srcRect/>
          <a:stretch/>
        </p:blipFill>
        <p:spPr>
          <a:xfrm>
            <a:off x="189283" y="366717"/>
            <a:ext cx="588145" cy="588145"/>
          </a:xfrm>
          <a:prstGeom prst="rect">
            <a:avLst/>
          </a:prstGeom>
          <a:noFill/>
          <a:ln>
            <a:noFill/>
          </a:ln>
        </p:spPr>
      </p:pic>
      <p:pic>
        <p:nvPicPr>
          <p:cNvPr id="71" name="Google Shape;71;p8"/>
          <p:cNvPicPr preferRelativeResize="0"/>
          <p:nvPr/>
        </p:nvPicPr>
        <p:blipFill rotWithShape="1">
          <a:blip r:embed="rId3">
            <a:alphaModFix amt="20000"/>
          </a:blip>
          <a:srcRect/>
          <a:stretch/>
        </p:blipFill>
        <p:spPr>
          <a:xfrm rot="2700000">
            <a:off x="744661" y="158777"/>
            <a:ext cx="415881" cy="415881"/>
          </a:xfrm>
          <a:prstGeom prst="rect">
            <a:avLst/>
          </a:prstGeom>
          <a:noFill/>
          <a:ln>
            <a:noFill/>
          </a:ln>
        </p:spPr>
      </p:pic>
      <p:pic>
        <p:nvPicPr>
          <p:cNvPr id="72" name="Google Shape;72;p8"/>
          <p:cNvPicPr preferRelativeResize="0"/>
          <p:nvPr/>
        </p:nvPicPr>
        <p:blipFill rotWithShape="1">
          <a:blip r:embed="rId4">
            <a:alphaModFix/>
          </a:blip>
          <a:srcRect/>
          <a:stretch/>
        </p:blipFill>
        <p:spPr>
          <a:xfrm>
            <a:off x="457201" y="6504318"/>
            <a:ext cx="967551" cy="308202"/>
          </a:xfrm>
          <a:prstGeom prst="rect">
            <a:avLst/>
          </a:prstGeom>
          <a:noFill/>
          <a:ln>
            <a:noFill/>
          </a:ln>
        </p:spPr>
      </p:pic>
      <p:pic>
        <p:nvPicPr>
          <p:cNvPr id="73" name="Google Shape;73;p8" descr="Imatge que conté Font, Gràfics, logotip, blanc&#10;&#10;Descripció generada automàticament"/>
          <p:cNvPicPr preferRelativeResize="0"/>
          <p:nvPr/>
        </p:nvPicPr>
        <p:blipFill rotWithShape="1">
          <a:blip r:embed="rId5">
            <a:alphaModFix/>
          </a:blip>
          <a:srcRect/>
          <a:stretch/>
        </p:blipFill>
        <p:spPr>
          <a:xfrm>
            <a:off x="7341151" y="6504318"/>
            <a:ext cx="907100" cy="274950"/>
          </a:xfrm>
          <a:prstGeom prst="rect">
            <a:avLst/>
          </a:prstGeom>
          <a:noFill/>
          <a:ln>
            <a:noFill/>
          </a:ln>
        </p:spPr>
      </p:pic>
      <p:sp>
        <p:nvSpPr>
          <p:cNvPr id="74" name="Google Shape;74;p8"/>
          <p:cNvSpPr txBox="1">
            <a:spLocks noGrp="1"/>
          </p:cNvSpPr>
          <p:nvPr>
            <p:ph type="title"/>
          </p:nvPr>
        </p:nvSpPr>
        <p:spPr>
          <a:xfrm>
            <a:off x="1097119" y="366717"/>
            <a:ext cx="7388352" cy="64033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SzPts val="1400"/>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75" name="Google Shape;75;p8"/>
          <p:cNvPicPr preferRelativeResize="0"/>
          <p:nvPr/>
        </p:nvPicPr>
        <p:blipFill rotWithShape="1">
          <a:blip r:embed="rId6">
            <a:alphaModFix amt="20000"/>
          </a:blip>
          <a:srcRect/>
          <a:stretch/>
        </p:blipFill>
        <p:spPr>
          <a:xfrm rot="8718243">
            <a:off x="7231658" y="6549392"/>
            <a:ext cx="218986" cy="19403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914400"/>
            <a:ext cx="8305800" cy="11430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2800" b="0" i="0" u="none" strike="noStrike" cap="none">
                <a:solidFill>
                  <a:srgbClr val="7030A0"/>
                </a:solidFill>
                <a:latin typeface="Avenir"/>
                <a:ea typeface="Avenir"/>
                <a:cs typeface="Avenir"/>
                <a:sym typeface="Avenir"/>
              </a:defRPr>
            </a:lvl1pPr>
            <a:lvl2pPr marR="0" lvl="1"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000" b="0" i="0" u="none" strike="noStrike" cap="none">
                <a:solidFill>
                  <a:schemeClr val="accent1"/>
                </a:solidFill>
                <a:latin typeface="Calibri"/>
                <a:ea typeface="Calibri"/>
                <a:cs typeface="Calibri"/>
                <a:sym typeface="Calibri"/>
              </a:defRPr>
            </a:lvl9pPr>
          </a:lstStyle>
          <a:p>
            <a:endParaRPr/>
          </a:p>
        </p:txBody>
      </p:sp>
      <p:sp>
        <p:nvSpPr>
          <p:cNvPr id="11" name="Google Shape;11;p1"/>
          <p:cNvSpPr txBox="1">
            <a:spLocks noGrp="1"/>
          </p:cNvSpPr>
          <p:nvPr>
            <p:ph type="body" idx="1"/>
          </p:nvPr>
        </p:nvSpPr>
        <p:spPr>
          <a:xfrm>
            <a:off x="457200" y="2209800"/>
            <a:ext cx="8305800" cy="4224338"/>
          </a:xfrm>
          <a:prstGeom prst="rect">
            <a:avLst/>
          </a:prstGeom>
          <a:noFill/>
          <a:ln>
            <a:noFill/>
          </a:ln>
        </p:spPr>
        <p:txBody>
          <a:bodyPr spcFirstLastPara="1" wrap="square" lIns="91425" tIns="45700" rIns="91425" bIns="45700" anchor="t" anchorCtr="0">
            <a:noAutofit/>
          </a:bodyPr>
          <a:lstStyle>
            <a:lvl1pPr marL="457200" marR="0" lvl="0" indent="-355600" algn="l" rtl="0">
              <a:lnSpc>
                <a:spcPct val="130000"/>
              </a:lnSpc>
              <a:spcBef>
                <a:spcPts val="1800"/>
              </a:spcBef>
              <a:spcAft>
                <a:spcPts val="0"/>
              </a:spcAft>
              <a:buClr>
                <a:srgbClr val="7030A0"/>
              </a:buClr>
              <a:buSzPts val="2000"/>
              <a:buFont typeface="Noto Sans Symbols"/>
              <a:buChar char="◼"/>
              <a:defRPr sz="2000" b="0" i="0" u="none" strike="noStrike" cap="none">
                <a:solidFill>
                  <a:schemeClr val="dk1"/>
                </a:solidFill>
                <a:latin typeface="Avenir"/>
                <a:ea typeface="Avenir"/>
                <a:cs typeface="Avenir"/>
                <a:sym typeface="Avenir"/>
              </a:defRPr>
            </a:lvl1pPr>
            <a:lvl2pPr marL="914400" marR="0" lvl="1" indent="-342900" algn="l" rtl="0">
              <a:lnSpc>
                <a:spcPct val="130000"/>
              </a:lnSpc>
              <a:spcBef>
                <a:spcPts val="600"/>
              </a:spcBef>
              <a:spcAft>
                <a:spcPts val="0"/>
              </a:spcAft>
              <a:buClr>
                <a:schemeClr val="accent6"/>
              </a:buClr>
              <a:buSzPts val="1800"/>
              <a:buFont typeface="Noto Sans Symbols"/>
              <a:buChar char="▪"/>
              <a:defRPr sz="1800" b="0" i="0" u="none" strike="noStrike" cap="none">
                <a:solidFill>
                  <a:schemeClr val="dk2"/>
                </a:solidFill>
                <a:latin typeface="Avenir"/>
                <a:ea typeface="Avenir"/>
                <a:cs typeface="Avenir"/>
                <a:sym typeface="Avenir"/>
              </a:defRPr>
            </a:lvl2pPr>
            <a:lvl3pPr marL="1371600" marR="0" lvl="2" indent="-330200" algn="l" rtl="0">
              <a:lnSpc>
                <a:spcPct val="130000"/>
              </a:lnSpc>
              <a:spcBef>
                <a:spcPts val="600"/>
              </a:spcBef>
              <a:spcAft>
                <a:spcPts val="0"/>
              </a:spcAft>
              <a:buClr>
                <a:srgbClr val="7030A0"/>
              </a:buClr>
              <a:buSzPts val="1600"/>
              <a:buFont typeface="Courier New"/>
              <a:buChar char="o"/>
              <a:defRPr sz="1600" b="0" i="0" u="none" strike="noStrike" cap="none">
                <a:solidFill>
                  <a:schemeClr val="dk2"/>
                </a:solidFill>
                <a:latin typeface="Avenir"/>
                <a:ea typeface="Avenir"/>
                <a:cs typeface="Avenir"/>
                <a:sym typeface="Avenir"/>
              </a:defRPr>
            </a:lvl3pPr>
            <a:lvl4pPr marL="1828800" marR="0" lvl="3" indent="-317500" algn="l" rtl="0">
              <a:lnSpc>
                <a:spcPct val="130000"/>
              </a:lnSpc>
              <a:spcBef>
                <a:spcPts val="600"/>
              </a:spcBef>
              <a:spcAft>
                <a:spcPts val="0"/>
              </a:spcAft>
              <a:buClr>
                <a:srgbClr val="4D0000"/>
              </a:buClr>
              <a:buSzPts val="1400"/>
              <a:buFont typeface="Noto Sans Symbols"/>
              <a:buChar char="◼"/>
              <a:defRPr sz="1400" b="0" i="0" u="none" strike="noStrike" cap="none">
                <a:solidFill>
                  <a:schemeClr val="dk2"/>
                </a:solidFill>
                <a:latin typeface="Avenir"/>
                <a:ea typeface="Avenir"/>
                <a:cs typeface="Avenir"/>
                <a:sym typeface="Avenir"/>
              </a:defRPr>
            </a:lvl4pPr>
            <a:lvl5pPr marL="2286000" marR="0" lvl="4" indent="-304800" algn="l" rtl="0">
              <a:lnSpc>
                <a:spcPct val="130000"/>
              </a:lnSpc>
              <a:spcBef>
                <a:spcPts val="600"/>
              </a:spcBef>
              <a:spcAft>
                <a:spcPts val="0"/>
              </a:spcAft>
              <a:buClr>
                <a:srgbClr val="7030A0"/>
              </a:buClr>
              <a:buSzPts val="1200"/>
              <a:buFont typeface="Noto Sans Symbols"/>
              <a:buChar char="▪"/>
              <a:defRPr sz="1200" b="0" i="0" u="none" strike="noStrike" cap="none">
                <a:solidFill>
                  <a:schemeClr val="dk2"/>
                </a:solidFill>
                <a:latin typeface="Avenir"/>
                <a:ea typeface="Avenir"/>
                <a:cs typeface="Avenir"/>
                <a:sym typeface="Aveni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9pPr>
          </a:lstStyle>
          <a:p>
            <a:endParaRPr/>
          </a:p>
        </p:txBody>
      </p:sp>
      <p:sp>
        <p:nvSpPr>
          <p:cNvPr id="12" name="Google Shape;12;p1"/>
          <p:cNvSpPr txBox="1"/>
          <p:nvPr/>
        </p:nvSpPr>
        <p:spPr>
          <a:xfrm>
            <a:off x="8061326" y="6531168"/>
            <a:ext cx="701675" cy="27699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ca-ES" sz="1200" b="0" i="0" u="none" strike="noStrike" cap="none">
                <a:solidFill>
                  <a:srgbClr val="000000"/>
                </a:solidFill>
                <a:latin typeface="Arial"/>
                <a:ea typeface="Arial"/>
                <a:cs typeface="Arial"/>
                <a:sym typeface="Arial"/>
              </a:rPr>
              <a:t>‹#›</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s://youtu.be/zSUG5iQniSc" TargetMode="External"/><Relationship Id="rId4" Type="http://schemas.openxmlformats.org/officeDocument/2006/relationships/image" Target="../media/image24.jp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hyperlink" Target="https://youtu.be/9IAfqFGM56w?t=153" TargetMode="External"/><Relationship Id="rId4" Type="http://schemas.openxmlformats.org/officeDocument/2006/relationships/image" Target="../media/image25.jpg"/></Relationships>
</file>

<file path=ppt/slides/_rels/slide14.xml.rels><?xml version="1.0" encoding="UTF-8" standalone="yes"?>
<Relationships xmlns="http://schemas.openxmlformats.org/package/2006/relationships"><Relationship Id="rId3" Type="http://schemas.openxmlformats.org/officeDocument/2006/relationships/hyperlink" Target="https://youtu.be/9IAfqFGM56w?t=153"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6.jpg"/><Relationship Id="rId5" Type="http://schemas.openxmlformats.org/officeDocument/2006/relationships/image" Target="../media/image19.png"/><Relationship Id="rId4" Type="http://schemas.openxmlformats.org/officeDocument/2006/relationships/hyperlink" Target="https://youtu.be/ednwKwSu7dw"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2.jpg"/><Relationship Id="rId7"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34.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2.jpg"/><Relationship Id="rId4" Type="http://schemas.openxmlformats.org/officeDocument/2006/relationships/image" Target="../media/image41.jpg"/></Relationships>
</file>

<file path=ppt/slides/_rels/slide3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image" Target="../media/image41.jp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3.xml"/><Relationship Id="rId1" Type="http://schemas.openxmlformats.org/officeDocument/2006/relationships/slideLayout" Target="../slideLayouts/slideLayout5.xml"/><Relationship Id="rId5" Type="http://schemas.openxmlformats.org/officeDocument/2006/relationships/image" Target="../media/image42.jp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9"/>
          <p:cNvSpPr txBox="1">
            <a:spLocks noGrp="1"/>
          </p:cNvSpPr>
          <p:nvPr>
            <p:ph type="ctrTitle"/>
          </p:nvPr>
        </p:nvSpPr>
        <p:spPr>
          <a:xfrm>
            <a:off x="1794838" y="1287200"/>
            <a:ext cx="7061395" cy="2440412"/>
          </a:xfrm>
          <a:prstGeom prst="rect">
            <a:avLst/>
          </a:prstGeom>
          <a:noFill/>
          <a:ln>
            <a:noFill/>
          </a:ln>
        </p:spPr>
        <p:txBody>
          <a:bodyPr spcFirstLastPara="1" wrap="square" lIns="91425" tIns="45700" rIns="91425" bIns="45700" anchor="b" anchorCtr="0">
            <a:normAutofit/>
          </a:bodyPr>
          <a:lstStyle/>
          <a:p>
            <a:pPr marL="0" lvl="0" indent="0" algn="ctr" rtl="0">
              <a:lnSpc>
                <a:spcPct val="150000"/>
              </a:lnSpc>
              <a:spcBef>
                <a:spcPts val="0"/>
              </a:spcBef>
              <a:spcAft>
                <a:spcPts val="0"/>
              </a:spcAft>
              <a:buClr>
                <a:srgbClr val="595959"/>
              </a:buClr>
              <a:buSzPct val="100000"/>
              <a:buFont typeface="Avenir"/>
              <a:buNone/>
            </a:pPr>
            <a:r>
              <a:rPr lang="en" sz="2700">
                <a:solidFill>
                  <a:srgbClr val="595959"/>
                </a:solidFill>
              </a:rPr>
              <a:t>Experience with a learning situation </a:t>
            </a:r>
            <a:br>
              <a:rPr lang="ca-ES" sz="3600"/>
            </a:br>
            <a:r>
              <a:rPr lang="en" sz="3600"/>
              <a:t>Which padlock is more secure? </a:t>
            </a:r>
            <a:br>
              <a:rPr lang="ca-ES" sz="3600"/>
            </a:br>
            <a:r>
              <a:rPr lang="en" sz="2700">
                <a:solidFill>
                  <a:srgbClr val="595959"/>
                </a:solidFill>
              </a:rPr>
              <a:t>Academic year 2023-24</a:t>
            </a:r>
            <a:endParaRPr sz="3600"/>
          </a:p>
        </p:txBody>
      </p:sp>
      <p:pic>
        <p:nvPicPr>
          <p:cNvPr id="82" name="Google Shape;82;p9"/>
          <p:cNvPicPr preferRelativeResize="0"/>
          <p:nvPr/>
        </p:nvPicPr>
        <p:blipFill rotWithShape="1">
          <a:blip r:embed="rId3">
            <a:alphaModFix/>
          </a:blip>
          <a:srcRect b="82560"/>
          <a:stretch/>
        </p:blipFill>
        <p:spPr>
          <a:xfrm>
            <a:off x="3543301" y="3914319"/>
            <a:ext cx="3786188" cy="2346861"/>
          </a:xfrm>
          <a:prstGeom prst="rect">
            <a:avLst/>
          </a:prstGeom>
          <a:noFill/>
          <a:ln>
            <a:noFill/>
          </a:ln>
        </p:spPr>
      </p:pic>
      <p:pic>
        <p:nvPicPr>
          <p:cNvPr id="6" name="Picture 5" descr="A grey square with white text&#10;&#10;AI-generated content may be incorrect.">
            <a:extLst>
              <a:ext uri="{FF2B5EF4-FFF2-40B4-BE49-F238E27FC236}">
                <a16:creationId xmlns:a16="http://schemas.microsoft.com/office/drawing/2014/main" id="{2ADF4236-C311-988C-1EAF-F33444BF8989}"/>
              </a:ext>
            </a:extLst>
          </p:cNvPr>
          <p:cNvPicPr>
            <a:picLocks noChangeAspect="1"/>
          </p:cNvPicPr>
          <p:nvPr/>
        </p:nvPicPr>
        <p:blipFill rotWithShape="1">
          <a:blip r:embed="rId4">
            <a:extLst>
              <a:ext uri="{28A0092B-C50C-407E-A947-70E740481C1C}">
                <a14:useLocalDpi xmlns:a14="http://schemas.microsoft.com/office/drawing/2010/main" val="0"/>
              </a:ext>
            </a:extLst>
          </a:blip>
          <a:srcRect r="18171" b="16231"/>
          <a:stretch>
            <a:fillRect/>
          </a:stretch>
        </p:blipFill>
        <p:spPr bwMode="auto">
          <a:xfrm>
            <a:off x="3968333" y="317601"/>
            <a:ext cx="2545624" cy="677340"/>
          </a:xfrm>
          <a:prstGeom prst="rect">
            <a:avLst/>
          </a:prstGeom>
          <a:noFill/>
          <a:ln>
            <a:noFill/>
          </a:ln>
          <a:extLst>
            <a:ext uri="{53640926-AAD7-44D8-BBD7-CCE9431645EC}">
              <a14:shadowObscured xmlns:a14="http://schemas.microsoft.com/office/drawing/2010/main"/>
            </a:ext>
          </a:extLst>
        </p:spPr>
      </p:pic>
      <p:pic>
        <p:nvPicPr>
          <p:cNvPr id="7" name="Gráfico 5">
            <a:extLst>
              <a:ext uri="{FF2B5EF4-FFF2-40B4-BE49-F238E27FC236}">
                <a16:creationId xmlns:a16="http://schemas.microsoft.com/office/drawing/2014/main" id="{03961BC4-891E-92F0-9C1C-E8D0807A30BE}"/>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2497" t="14853" r="20703" b="13215"/>
          <a:stretch/>
        </p:blipFill>
        <p:spPr bwMode="auto">
          <a:xfrm>
            <a:off x="315813" y="180441"/>
            <a:ext cx="1479025" cy="1106759"/>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0"/>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SzPts val="2200"/>
              <a:buNone/>
            </a:pPr>
            <a:r>
              <a:rPr lang="en" sz="2200" b="1">
                <a:solidFill>
                  <a:srgbClr val="262626"/>
                </a:solidFill>
              </a:rPr>
              <a:t>Starting question:</a:t>
            </a:r>
            <a:endParaRPr/>
          </a:p>
          <a:p>
            <a:pPr marL="0" lvl="0" indent="0" algn="l" rtl="0">
              <a:lnSpc>
                <a:spcPct val="130000"/>
              </a:lnSpc>
              <a:spcBef>
                <a:spcPts val="600"/>
              </a:spcBef>
              <a:spcAft>
                <a:spcPts val="0"/>
              </a:spcAft>
              <a:buSzPts val="2200"/>
              <a:buNone/>
            </a:pPr>
            <a:r>
              <a:rPr lang="en" sz="2200">
                <a:solidFill>
                  <a:srgbClr val="262626"/>
                </a:solidFill>
              </a:rPr>
              <a:t>Of the following collection of padlocks, which padlock is the most secure?</a:t>
            </a:r>
            <a:endParaRPr/>
          </a:p>
          <a:p>
            <a:pPr marL="228600" lvl="0" indent="-101600" algn="l" rtl="0">
              <a:lnSpc>
                <a:spcPct val="130000"/>
              </a:lnSpc>
              <a:spcBef>
                <a:spcPts val="600"/>
              </a:spcBef>
              <a:spcAft>
                <a:spcPts val="0"/>
              </a:spcAft>
              <a:buSzPts val="2000"/>
              <a:buNone/>
            </a:pPr>
            <a:endParaRPr/>
          </a:p>
        </p:txBody>
      </p:sp>
      <p:sp>
        <p:nvSpPr>
          <p:cNvPr id="89" name="Google Shape;89;p10"/>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0. </a:t>
            </a:r>
            <a:r>
              <a:rPr lang="en"/>
              <a:t>Generating question and first explorations</a:t>
            </a:r>
            <a:endParaRPr/>
          </a:p>
        </p:txBody>
      </p:sp>
      <p:sp>
        <p:nvSpPr>
          <p:cNvPr id="90" name="Google Shape;90;p10"/>
          <p:cNvSpPr/>
          <p:nvPr/>
        </p:nvSpPr>
        <p:spPr>
          <a:xfrm>
            <a:off x="1466800" y="2454475"/>
            <a:ext cx="1644505" cy="1481850"/>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13" t="-15236"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1" name="Google Shape;91;p10"/>
          <p:cNvSpPr/>
          <p:nvPr/>
        </p:nvSpPr>
        <p:spPr>
          <a:xfrm>
            <a:off x="1329852" y="4402125"/>
            <a:ext cx="1974608" cy="1769106"/>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2" name="Google Shape;92;p10"/>
          <p:cNvSpPr/>
          <p:nvPr/>
        </p:nvSpPr>
        <p:spPr>
          <a:xfrm>
            <a:off x="5500625" y="2454062"/>
            <a:ext cx="1460664" cy="1482685"/>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3" name="Google Shape;93;p10"/>
          <p:cNvSpPr/>
          <p:nvPr/>
        </p:nvSpPr>
        <p:spPr>
          <a:xfrm rot="7209785">
            <a:off x="6279230" y="4157922"/>
            <a:ext cx="1191646" cy="1995452"/>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7" r="-99956" b="-869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94" name="Google Shape;94;p10"/>
          <p:cNvSpPr/>
          <p:nvPr/>
        </p:nvSpPr>
        <p:spPr>
          <a:xfrm>
            <a:off x="3363854" y="2280848"/>
            <a:ext cx="1645268" cy="1638114"/>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pic>
        <p:nvPicPr>
          <p:cNvPr id="95" name="Google Shape;95;p10"/>
          <p:cNvPicPr preferRelativeResize="0"/>
          <p:nvPr/>
        </p:nvPicPr>
        <p:blipFill>
          <a:blip r:embed="rId8">
            <a:alphaModFix/>
          </a:blip>
          <a:stretch>
            <a:fillRect/>
          </a:stretch>
        </p:blipFill>
        <p:spPr>
          <a:xfrm>
            <a:off x="3685850" y="4519802"/>
            <a:ext cx="1645275" cy="15337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1"/>
          <p:cNvSpPr txBox="1">
            <a:spLocks noGrp="1"/>
          </p:cNvSpPr>
          <p:nvPr>
            <p:ph type="title"/>
          </p:nvPr>
        </p:nvSpPr>
        <p:spPr>
          <a:xfrm>
            <a:off x="1097119" y="366717"/>
            <a:ext cx="7388400" cy="6402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102" name="Google Shape;102;p11"/>
          <p:cNvSpPr/>
          <p:nvPr/>
        </p:nvSpPr>
        <p:spPr>
          <a:xfrm>
            <a:off x="1466800" y="2454475"/>
            <a:ext cx="1644505" cy="1481850"/>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3" name="Google Shape;103;p11"/>
          <p:cNvSpPr/>
          <p:nvPr/>
        </p:nvSpPr>
        <p:spPr>
          <a:xfrm>
            <a:off x="1329852" y="4402125"/>
            <a:ext cx="1974608" cy="1769106"/>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4" name="Google Shape;104;p11"/>
          <p:cNvSpPr/>
          <p:nvPr/>
        </p:nvSpPr>
        <p:spPr>
          <a:xfrm>
            <a:off x="5500625" y="2454062"/>
            <a:ext cx="1460664" cy="1482685"/>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5" name="Google Shape;105;p11"/>
          <p:cNvSpPr/>
          <p:nvPr/>
        </p:nvSpPr>
        <p:spPr>
          <a:xfrm rot="7209785">
            <a:off x="6279230" y="4157922"/>
            <a:ext cx="1191646" cy="1995452"/>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06" name="Google Shape;106;p11"/>
          <p:cNvSpPr/>
          <p:nvPr/>
        </p:nvSpPr>
        <p:spPr>
          <a:xfrm>
            <a:off x="3363854" y="2280848"/>
            <a:ext cx="1645268" cy="1638114"/>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pic>
        <p:nvPicPr>
          <p:cNvPr id="107" name="Google Shape;107;p11"/>
          <p:cNvPicPr preferRelativeResize="0"/>
          <p:nvPr/>
        </p:nvPicPr>
        <p:blipFill>
          <a:blip r:embed="rId8">
            <a:alphaModFix/>
          </a:blip>
          <a:stretch>
            <a:fillRect/>
          </a:stretch>
        </p:blipFill>
        <p:spPr>
          <a:xfrm>
            <a:off x="3685850" y="4519802"/>
            <a:ext cx="1645275" cy="15337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2"/>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0. </a:t>
            </a:r>
            <a:r>
              <a:rPr lang="en"/>
              <a:t>Generating question and first explorations</a:t>
            </a:r>
            <a:endParaRPr/>
          </a:p>
        </p:txBody>
      </p:sp>
      <p:sp>
        <p:nvSpPr>
          <p:cNvPr id="114" name="Google Shape;114;p12"/>
          <p:cNvSpPr txBox="1">
            <a:spLocks noGrp="1"/>
          </p:cNvSpPr>
          <p:nvPr>
            <p:ph type="body" idx="2"/>
          </p:nvPr>
        </p:nvSpPr>
        <p:spPr>
          <a:xfrm>
            <a:off x="460393" y="3684884"/>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a:t>Collection of the first shower of questions from students...</a:t>
            </a:r>
            <a:endParaRPr/>
          </a:p>
          <a:p>
            <a:pPr marL="0" lvl="0" indent="0" algn="l" rtl="0">
              <a:lnSpc>
                <a:spcPct val="130000"/>
              </a:lnSpc>
              <a:spcBef>
                <a:spcPts val="600"/>
              </a:spcBef>
              <a:spcAft>
                <a:spcPts val="0"/>
              </a:spcAft>
              <a:buSzPts val="2000"/>
              <a:buNone/>
            </a:pPr>
            <a:endParaRPr/>
          </a:p>
        </p:txBody>
      </p:sp>
      <p:pic>
        <p:nvPicPr>
          <p:cNvPr id="115" name="Google Shape;115;p12" descr="Imagen que contiene tabla, interior, diferente, artículos&#10;&#10;Descripción generada automáticamente"/>
          <p:cNvPicPr preferRelativeResize="0"/>
          <p:nvPr/>
        </p:nvPicPr>
        <p:blipFill rotWithShape="1">
          <a:blip r:embed="rId3">
            <a:alphaModFix/>
          </a:blip>
          <a:srcRect b="21350"/>
          <a:stretch/>
        </p:blipFill>
        <p:spPr>
          <a:xfrm>
            <a:off x="1958168" y="2379867"/>
            <a:ext cx="5227664" cy="1114671"/>
          </a:xfrm>
          <a:prstGeom prst="rect">
            <a:avLst/>
          </a:prstGeom>
          <a:noFill/>
          <a:ln>
            <a:noFill/>
          </a:ln>
        </p:spPr>
      </p:pic>
      <p:grpSp>
        <p:nvGrpSpPr>
          <p:cNvPr id="116" name="Google Shape;116;p12"/>
          <p:cNvGrpSpPr/>
          <p:nvPr/>
        </p:nvGrpSpPr>
        <p:grpSpPr>
          <a:xfrm>
            <a:off x="3043237" y="4418863"/>
            <a:ext cx="3543301" cy="1890600"/>
            <a:chOff x="276050" y="2037969"/>
            <a:chExt cx="3908035" cy="2343443"/>
          </a:xfrm>
        </p:grpSpPr>
        <p:pic>
          <p:nvPicPr>
            <p:cNvPr id="117" name="Google Shape;117;p12" descr="Free Vectors | whiteboard frame"/>
            <p:cNvPicPr preferRelativeResize="0"/>
            <p:nvPr/>
          </p:nvPicPr>
          <p:blipFill rotWithShape="1">
            <a:blip r:embed="rId4">
              <a:alphaModFix/>
            </a:blip>
            <a:srcRect/>
            <a:stretch/>
          </p:blipFill>
          <p:spPr>
            <a:xfrm>
              <a:off x="276050" y="2037969"/>
              <a:ext cx="3908035" cy="2343443"/>
            </a:xfrm>
            <a:prstGeom prst="rect">
              <a:avLst/>
            </a:prstGeom>
            <a:noFill/>
            <a:ln>
              <a:noFill/>
            </a:ln>
          </p:spPr>
        </p:pic>
        <p:sp>
          <p:nvSpPr>
            <p:cNvPr id="118" name="Google Shape;118;p12"/>
            <p:cNvSpPr/>
            <p:nvPr/>
          </p:nvSpPr>
          <p:spPr>
            <a:xfrm>
              <a:off x="471524" y="2273891"/>
              <a:ext cx="3605035" cy="252942"/>
            </a:xfrm>
            <a:custGeom>
              <a:avLst/>
              <a:gdLst/>
              <a:ahLst/>
              <a:cxnLst/>
              <a:rect l="l" t="t" r="r" b="b"/>
              <a:pathLst>
                <a:path w="3605035" h="252942"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10275" y="118271"/>
                    <a:pt x="3577656" y="132151"/>
                    <a:pt x="3605035" y="252942"/>
                  </a:cubicBezTo>
                  <a:cubicBezTo>
                    <a:pt x="3461733" y="274017"/>
                    <a:pt x="3260523" y="247583"/>
                    <a:pt x="3090030" y="252942"/>
                  </a:cubicBezTo>
                  <a:cubicBezTo>
                    <a:pt x="2919538" y="258301"/>
                    <a:pt x="2779029" y="208099"/>
                    <a:pt x="2538975" y="252942"/>
                  </a:cubicBezTo>
                  <a:cubicBezTo>
                    <a:pt x="2298921" y="297785"/>
                    <a:pt x="2298725" y="203876"/>
                    <a:pt x="2096070" y="252942"/>
                  </a:cubicBezTo>
                  <a:cubicBezTo>
                    <a:pt x="1893415" y="302008"/>
                    <a:pt x="1732520" y="230001"/>
                    <a:pt x="1581065" y="252942"/>
                  </a:cubicBezTo>
                  <a:cubicBezTo>
                    <a:pt x="1429611" y="275883"/>
                    <a:pt x="1325803" y="209123"/>
                    <a:pt x="1138161" y="252942"/>
                  </a:cubicBezTo>
                  <a:cubicBezTo>
                    <a:pt x="950519" y="296761"/>
                    <a:pt x="832095" y="207270"/>
                    <a:pt x="731307" y="252942"/>
                  </a:cubicBezTo>
                  <a:cubicBezTo>
                    <a:pt x="630519" y="298614"/>
                    <a:pt x="359530" y="204252"/>
                    <a:pt x="0" y="252942"/>
                  </a:cubicBezTo>
                  <a:cubicBezTo>
                    <a:pt x="-11559" y="191620"/>
                    <a:pt x="22941" y="741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7030A0"/>
                </a:solidFill>
                <a:latin typeface="Arial"/>
                <a:ea typeface="Arial"/>
                <a:cs typeface="Arial"/>
                <a:sym typeface="Arial"/>
              </a:endParaRPr>
            </a:p>
          </p:txBody>
        </p:sp>
      </p:grpSp>
      <p:sp>
        <p:nvSpPr>
          <p:cNvPr id="119" name="Google Shape;119;p12"/>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SzPts val="2200"/>
              <a:buNone/>
            </a:pPr>
            <a:r>
              <a:rPr lang="en" sz="2200" b="1">
                <a:solidFill>
                  <a:srgbClr val="262626"/>
                </a:solidFill>
              </a:rPr>
              <a:t>Starting question:</a:t>
            </a:r>
            <a:endParaRPr/>
          </a:p>
          <a:p>
            <a:pPr marL="0" lvl="0" indent="0" algn="l" rtl="0">
              <a:lnSpc>
                <a:spcPct val="130000"/>
              </a:lnSpc>
              <a:spcBef>
                <a:spcPts val="600"/>
              </a:spcBef>
              <a:spcAft>
                <a:spcPts val="0"/>
              </a:spcAft>
              <a:buSzPts val="2200"/>
              <a:buNone/>
            </a:pPr>
            <a:r>
              <a:rPr lang="en" sz="2200">
                <a:solidFill>
                  <a:srgbClr val="262626"/>
                </a:solidFill>
              </a:rPr>
              <a:t>Of the following collection of padlocks, which padlock is the most secure?</a:t>
            </a:r>
            <a:endParaRPr/>
          </a:p>
          <a:p>
            <a:pPr marL="228600" lvl="0" indent="-101600" algn="l" rtl="0">
              <a:lnSpc>
                <a:spcPct val="130000"/>
              </a:lnSpc>
              <a:spcBef>
                <a:spcPts val="600"/>
              </a:spcBef>
              <a:spcAft>
                <a:spcPts val="0"/>
              </a:spcAft>
              <a:buSzPts val="20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0. </a:t>
            </a:r>
            <a:r>
              <a:rPr lang="en"/>
              <a:t>Generating question and first explorations</a:t>
            </a:r>
            <a:endParaRPr/>
          </a:p>
        </p:txBody>
      </p:sp>
      <p:grpSp>
        <p:nvGrpSpPr>
          <p:cNvPr id="126" name="Google Shape;126;p13"/>
          <p:cNvGrpSpPr/>
          <p:nvPr/>
        </p:nvGrpSpPr>
        <p:grpSpPr>
          <a:xfrm>
            <a:off x="240812" y="318759"/>
            <a:ext cx="8619953" cy="5989372"/>
            <a:chOff x="276050" y="2037969"/>
            <a:chExt cx="3908035" cy="2343443"/>
          </a:xfrm>
        </p:grpSpPr>
        <p:pic>
          <p:nvPicPr>
            <p:cNvPr id="127" name="Google Shape;127;p13" descr="Free Vectors | whiteboard frame"/>
            <p:cNvPicPr preferRelativeResize="0"/>
            <p:nvPr/>
          </p:nvPicPr>
          <p:blipFill rotWithShape="1">
            <a:blip r:embed="rId3">
              <a:alphaModFix/>
            </a:blip>
            <a:srcRect/>
            <a:stretch/>
          </p:blipFill>
          <p:spPr>
            <a:xfrm>
              <a:off x="276050" y="2037969"/>
              <a:ext cx="3908035" cy="2343443"/>
            </a:xfrm>
            <a:prstGeom prst="rect">
              <a:avLst/>
            </a:prstGeom>
            <a:noFill/>
            <a:ln>
              <a:noFill/>
            </a:ln>
          </p:spPr>
        </p:pic>
        <p:sp>
          <p:nvSpPr>
            <p:cNvPr id="128" name="Google Shape;128;p13"/>
            <p:cNvSpPr/>
            <p:nvPr/>
          </p:nvSpPr>
          <p:spPr>
            <a:xfrm>
              <a:off x="471524" y="2273891"/>
              <a:ext cx="3605035" cy="252942"/>
            </a:xfrm>
            <a:custGeom>
              <a:avLst/>
              <a:gdLst/>
              <a:ahLst/>
              <a:cxnLst/>
              <a:rect l="l" t="t" r="r" b="b"/>
              <a:pathLst>
                <a:path w="3605035" h="252942"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10275" y="118271"/>
                    <a:pt x="3577656" y="132151"/>
                    <a:pt x="3605035" y="252942"/>
                  </a:cubicBezTo>
                  <a:cubicBezTo>
                    <a:pt x="3461733" y="274017"/>
                    <a:pt x="3260523" y="247583"/>
                    <a:pt x="3090030" y="252942"/>
                  </a:cubicBezTo>
                  <a:cubicBezTo>
                    <a:pt x="2919538" y="258301"/>
                    <a:pt x="2779029" y="208099"/>
                    <a:pt x="2538975" y="252942"/>
                  </a:cubicBezTo>
                  <a:cubicBezTo>
                    <a:pt x="2298921" y="297785"/>
                    <a:pt x="2298725" y="203876"/>
                    <a:pt x="2096070" y="252942"/>
                  </a:cubicBezTo>
                  <a:cubicBezTo>
                    <a:pt x="1893415" y="302008"/>
                    <a:pt x="1732520" y="230001"/>
                    <a:pt x="1581065" y="252942"/>
                  </a:cubicBezTo>
                  <a:cubicBezTo>
                    <a:pt x="1429611" y="275883"/>
                    <a:pt x="1325803" y="209123"/>
                    <a:pt x="1138161" y="252942"/>
                  </a:cubicBezTo>
                  <a:cubicBezTo>
                    <a:pt x="950519" y="296761"/>
                    <a:pt x="832095" y="207270"/>
                    <a:pt x="731307" y="252942"/>
                  </a:cubicBezTo>
                  <a:cubicBezTo>
                    <a:pt x="630519" y="298614"/>
                    <a:pt x="359530" y="204252"/>
                    <a:pt x="0" y="252942"/>
                  </a:cubicBezTo>
                  <a:cubicBezTo>
                    <a:pt x="-11559" y="191620"/>
                    <a:pt x="22941" y="741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7030A0"/>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Shape 133"/>
        <p:cNvGrpSpPr/>
        <p:nvPr/>
      </p:nvGrpSpPr>
      <p:grpSpPr>
        <a:xfrm>
          <a:off x="0" y="0"/>
          <a:ext cx="0" cy="0"/>
          <a:chOff x="0" y="0"/>
          <a:chExt cx="0" cy="0"/>
        </a:xfrm>
      </p:grpSpPr>
      <p:sp>
        <p:nvSpPr>
          <p:cNvPr id="134" name="Google Shape;134;p14"/>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0. </a:t>
            </a:r>
            <a:r>
              <a:rPr lang="en"/>
              <a:t>Generating question and first explorations</a:t>
            </a:r>
            <a:endParaRPr/>
          </a:p>
        </p:txBody>
      </p:sp>
      <p:grpSp>
        <p:nvGrpSpPr>
          <p:cNvPr id="135" name="Google Shape;135;p14"/>
          <p:cNvGrpSpPr/>
          <p:nvPr/>
        </p:nvGrpSpPr>
        <p:grpSpPr>
          <a:xfrm>
            <a:off x="714363" y="1300216"/>
            <a:ext cx="7767610" cy="5029263"/>
            <a:chOff x="276050" y="2037969"/>
            <a:chExt cx="3908035" cy="2343443"/>
          </a:xfrm>
        </p:grpSpPr>
        <p:pic>
          <p:nvPicPr>
            <p:cNvPr id="136" name="Google Shape;136;p14" descr="Free Vectors | whiteboard frame"/>
            <p:cNvPicPr preferRelativeResize="0"/>
            <p:nvPr/>
          </p:nvPicPr>
          <p:blipFill rotWithShape="1">
            <a:blip r:embed="rId3">
              <a:alphaModFix/>
            </a:blip>
            <a:srcRect/>
            <a:stretch/>
          </p:blipFill>
          <p:spPr>
            <a:xfrm>
              <a:off x="276050" y="2037969"/>
              <a:ext cx="3908035" cy="2343443"/>
            </a:xfrm>
            <a:prstGeom prst="rect">
              <a:avLst/>
            </a:prstGeom>
            <a:noFill/>
            <a:ln>
              <a:noFill/>
            </a:ln>
          </p:spPr>
        </p:pic>
        <p:sp>
          <p:nvSpPr>
            <p:cNvPr id="137" name="Google Shape;137;p14"/>
            <p:cNvSpPr/>
            <p:nvPr/>
          </p:nvSpPr>
          <p:spPr>
            <a:xfrm>
              <a:off x="471524" y="2273891"/>
              <a:ext cx="3605035" cy="252942"/>
            </a:xfrm>
            <a:custGeom>
              <a:avLst/>
              <a:gdLst/>
              <a:ahLst/>
              <a:cxnLst/>
              <a:rect l="l" t="t" r="r" b="b"/>
              <a:pathLst>
                <a:path w="3605035" h="252942"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10275" y="118271"/>
                    <a:pt x="3577656" y="132151"/>
                    <a:pt x="3605035" y="252942"/>
                  </a:cubicBezTo>
                  <a:cubicBezTo>
                    <a:pt x="3461733" y="274017"/>
                    <a:pt x="3260523" y="247583"/>
                    <a:pt x="3090030" y="252942"/>
                  </a:cubicBezTo>
                  <a:cubicBezTo>
                    <a:pt x="2919538" y="258301"/>
                    <a:pt x="2779029" y="208099"/>
                    <a:pt x="2538975" y="252942"/>
                  </a:cubicBezTo>
                  <a:cubicBezTo>
                    <a:pt x="2298921" y="297785"/>
                    <a:pt x="2298725" y="203876"/>
                    <a:pt x="2096070" y="252942"/>
                  </a:cubicBezTo>
                  <a:cubicBezTo>
                    <a:pt x="1893415" y="302008"/>
                    <a:pt x="1732520" y="230001"/>
                    <a:pt x="1581065" y="252942"/>
                  </a:cubicBezTo>
                  <a:cubicBezTo>
                    <a:pt x="1429611" y="275883"/>
                    <a:pt x="1325803" y="209123"/>
                    <a:pt x="1138161" y="252942"/>
                  </a:cubicBezTo>
                  <a:cubicBezTo>
                    <a:pt x="950519" y="296761"/>
                    <a:pt x="832095" y="207270"/>
                    <a:pt x="731307" y="252942"/>
                  </a:cubicBezTo>
                  <a:cubicBezTo>
                    <a:pt x="630519" y="298614"/>
                    <a:pt x="359530" y="204252"/>
                    <a:pt x="0" y="252942"/>
                  </a:cubicBezTo>
                  <a:cubicBezTo>
                    <a:pt x="-11559" y="191620"/>
                    <a:pt x="22941" y="741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1" i="0" u="none" strike="noStrike" cap="none">
                <a:solidFill>
                  <a:srgbClr val="7030A0"/>
                </a:solidFill>
                <a:latin typeface="Arial"/>
                <a:ea typeface="Arial"/>
                <a:cs typeface="Arial"/>
                <a:sym typeface="Arial"/>
              </a:endParaRPr>
            </a:p>
          </p:txBody>
        </p:sp>
      </p:grpSp>
      <p:sp>
        <p:nvSpPr>
          <p:cNvPr id="138" name="Google Shape;138;p14"/>
          <p:cNvSpPr txBox="1"/>
          <p:nvPr/>
        </p:nvSpPr>
        <p:spPr>
          <a:xfrm>
            <a:off x="1278696" y="1843950"/>
            <a:ext cx="6686700" cy="3447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7030A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 sz="1800" i="0" u="none" strike="noStrike" cap="none">
                <a:solidFill>
                  <a:srgbClr val="7030A0"/>
                </a:solidFill>
                <a:latin typeface="Avenir"/>
                <a:ea typeface="Avenir"/>
                <a:cs typeface="Avenir"/>
                <a:sym typeface="Avenir"/>
              </a:rPr>
              <a:t>Security depends on the “variants” of each padlock? For example, whether they have letters, symbols, numbers, dates, etc.?</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r>
              <a:rPr lang="en" sz="1800" i="0" u="none" strike="noStrike" cap="none">
                <a:solidFill>
                  <a:srgbClr val="7030A0"/>
                </a:solidFill>
                <a:latin typeface="Avenir"/>
                <a:ea typeface="Avenir"/>
                <a:cs typeface="Avenir"/>
                <a:sym typeface="Avenir"/>
              </a:rPr>
              <a:t>Will the one with the most codes be safer?</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r>
              <a:rPr lang="en" sz="1800" i="0" u="none" strike="noStrike" cap="none">
                <a:solidFill>
                  <a:srgbClr val="7030A0"/>
                </a:solidFill>
                <a:latin typeface="Avenir"/>
                <a:ea typeface="Avenir"/>
                <a:cs typeface="Avenir"/>
                <a:sym typeface="Avenir"/>
              </a:rPr>
              <a:t>Will it depend on the skill of the “thief”?</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r>
              <a:rPr lang="en" sz="1800" i="0" u="none" strike="noStrike" cap="none">
                <a:solidFill>
                  <a:srgbClr val="7030A0"/>
                </a:solidFill>
                <a:latin typeface="Avenir"/>
                <a:ea typeface="Avenir"/>
                <a:cs typeface="Avenir"/>
                <a:sym typeface="Avenir"/>
              </a:rPr>
              <a:t>It seems that the most secure padlock will be the one with </a:t>
            </a:r>
            <a:r>
              <a:rPr lang="en" sz="1800" b="1" i="0" u="none" strike="noStrike" cap="none">
                <a:solidFill>
                  <a:srgbClr val="7030A0"/>
                </a:solidFill>
                <a:latin typeface="Avenir"/>
                <a:ea typeface="Avenir"/>
                <a:cs typeface="Avenir"/>
                <a:sym typeface="Avenir"/>
              </a:rPr>
              <a:t>the most codes </a:t>
            </a:r>
            <a:r>
              <a:rPr lang="en" sz="1800" i="0" u="none" strike="noStrike" cap="none">
                <a:solidFill>
                  <a:srgbClr val="7030A0"/>
                </a:solidFill>
                <a:latin typeface="Avenir"/>
                <a:ea typeface="Avenir"/>
                <a:cs typeface="Avenir"/>
                <a:sym typeface="Avenir"/>
              </a:rPr>
              <a:t>...</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800"/>
              <a:buFont typeface="Arial"/>
              <a:buNone/>
            </a:pPr>
            <a:endParaRPr sz="1800" i="0" u="none" strike="noStrike" cap="none">
              <a:solidFill>
                <a:srgbClr val="7030A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7030A0"/>
                </a:solidFill>
                <a:latin typeface="Avenir"/>
                <a:ea typeface="Avenir"/>
                <a:cs typeface="Avenir"/>
                <a:sym typeface="Avenir"/>
              </a:rPr>
              <a:t>Q1: How many codes does each padlock support?</a:t>
            </a:r>
            <a:endParaRPr sz="1400" i="0" u="none" strike="noStrike" cap="none">
              <a:solidFill>
                <a:srgbClr val="000000"/>
              </a:solidFill>
              <a:latin typeface="Avenir"/>
              <a:ea typeface="Avenir"/>
              <a:cs typeface="Avenir"/>
              <a:sym typeface="Aveni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5"/>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br>
              <a:rPr lang="ca-ES" sz="2200"/>
            </a:br>
            <a:r>
              <a:rPr lang="en" sz="2200"/>
              <a:t>Let's establish terminology to refer to padlocks</a:t>
            </a:r>
            <a:br>
              <a:rPr lang="ca-ES" sz="2200"/>
            </a:br>
            <a:endParaRPr sz="2200"/>
          </a:p>
        </p:txBody>
      </p:sp>
      <p:sp>
        <p:nvSpPr>
          <p:cNvPr id="144" name="Google Shape;144;p15"/>
          <p:cNvSpPr txBox="1">
            <a:spLocks noGrp="1"/>
          </p:cNvSpPr>
          <p:nvPr>
            <p:ph type="body" idx="1"/>
          </p:nvPr>
        </p:nvSpPr>
        <p:spPr>
          <a:xfrm>
            <a:off x="5414775" y="1207487"/>
            <a:ext cx="3414600" cy="4548300"/>
          </a:xfrm>
          <a:prstGeom prst="rect">
            <a:avLst/>
          </a:prstGeom>
          <a:noFill/>
          <a:ln>
            <a:noFill/>
          </a:ln>
        </p:spPr>
        <p:txBody>
          <a:bodyPr spcFirstLastPara="1" wrap="square" lIns="91425" tIns="45700" rIns="91425" bIns="45700" anchor="t" anchorCtr="0">
            <a:noAutofit/>
          </a:bodyPr>
          <a:lstStyle/>
          <a:p>
            <a:pPr marL="0" lvl="0" indent="0" algn="l" rtl="0">
              <a:lnSpc>
                <a:spcPct val="200000"/>
              </a:lnSpc>
              <a:spcBef>
                <a:spcPts val="0"/>
              </a:spcBef>
              <a:spcAft>
                <a:spcPts val="0"/>
              </a:spcAft>
              <a:buNone/>
            </a:pPr>
            <a:r>
              <a:rPr lang="en" b="1">
                <a:solidFill>
                  <a:srgbClr val="3DB087"/>
                </a:solidFill>
              </a:rPr>
              <a:t>Example</a:t>
            </a:r>
            <a:endParaRPr b="1">
              <a:solidFill>
                <a:srgbClr val="3DB087"/>
              </a:solidFill>
            </a:endParaRPr>
          </a:p>
          <a:p>
            <a:pPr marL="228600" lvl="0" indent="-231775" algn="l" rtl="0">
              <a:lnSpc>
                <a:spcPct val="130000"/>
              </a:lnSpc>
              <a:spcBef>
                <a:spcPts val="0"/>
              </a:spcBef>
              <a:spcAft>
                <a:spcPts val="0"/>
              </a:spcAft>
              <a:buClr>
                <a:srgbClr val="3DB087"/>
              </a:buClr>
              <a:buSzPts val="1700"/>
              <a:buChar char="◼"/>
            </a:pPr>
            <a:r>
              <a:rPr lang="en" sz="1700" b="1">
                <a:solidFill>
                  <a:srgbClr val="3DB087"/>
                </a:solidFill>
              </a:rPr>
              <a:t>Code: </a:t>
            </a:r>
            <a:r>
              <a:rPr lang="en"/>
              <a:t>0000, 1 </a:t>
            </a:r>
            <a:r>
              <a:rPr lang="en" sz="1700"/>
              <a:t>234, 2930, </a:t>
            </a:r>
            <a:r>
              <a:rPr lang="en"/>
              <a:t>9750 </a:t>
            </a:r>
            <a:r>
              <a:rPr lang="en" sz="1700"/>
              <a:t>, ... among other possibilities.</a:t>
            </a:r>
            <a:endParaRPr sz="1700"/>
          </a:p>
          <a:p>
            <a:pPr marL="0" lvl="0" indent="0" algn="l" rtl="0">
              <a:lnSpc>
                <a:spcPct val="130000"/>
              </a:lnSpc>
              <a:spcBef>
                <a:spcPts val="0"/>
              </a:spcBef>
              <a:spcAft>
                <a:spcPts val="0"/>
              </a:spcAft>
              <a:buNone/>
            </a:pPr>
            <a:endParaRPr/>
          </a:p>
          <a:p>
            <a:pPr marL="228600" lvl="0" indent="-231775" algn="l" rtl="0">
              <a:spcBef>
                <a:spcPts val="600"/>
              </a:spcBef>
              <a:spcAft>
                <a:spcPts val="0"/>
              </a:spcAft>
              <a:buSzPts val="1700"/>
              <a:buChar char="◼"/>
            </a:pPr>
            <a:r>
              <a:rPr lang="en" b="1">
                <a:solidFill>
                  <a:srgbClr val="3DB087"/>
                </a:solidFill>
              </a:rPr>
              <a:t>Password: </a:t>
            </a:r>
            <a:r>
              <a:rPr lang="en"/>
              <a:t>4921 (Because when we enter it, it opens)</a:t>
            </a:r>
            <a:endParaRPr/>
          </a:p>
          <a:p>
            <a:pPr marL="0" lvl="0" indent="0" algn="l" rtl="0">
              <a:lnSpc>
                <a:spcPct val="200000"/>
              </a:lnSpc>
              <a:spcBef>
                <a:spcPts val="0"/>
              </a:spcBef>
              <a:spcAft>
                <a:spcPts val="0"/>
              </a:spcAft>
              <a:buNone/>
            </a:pPr>
            <a:endParaRPr/>
          </a:p>
          <a:p>
            <a:pPr marL="228600" lvl="0" indent="-231775" algn="l" rtl="0">
              <a:spcBef>
                <a:spcPts val="600"/>
              </a:spcBef>
              <a:spcAft>
                <a:spcPts val="0"/>
              </a:spcAft>
              <a:buSzPts val="1700"/>
              <a:buChar char="◼"/>
            </a:pPr>
            <a:r>
              <a:rPr lang="en">
                <a:solidFill>
                  <a:srgbClr val="3DB087"/>
                </a:solidFill>
              </a:rPr>
              <a:t>Box: </a:t>
            </a:r>
            <a:r>
              <a:rPr lang="en"/>
              <a:t>It has 4 boxes. Each space where we insert a number between 0 and 9.</a:t>
            </a:r>
            <a:endParaRPr/>
          </a:p>
          <a:p>
            <a:pPr marL="0" lvl="0" indent="0" algn="l" rtl="0">
              <a:lnSpc>
                <a:spcPct val="200000"/>
              </a:lnSpc>
              <a:spcBef>
                <a:spcPts val="0"/>
              </a:spcBef>
              <a:spcAft>
                <a:spcPts val="0"/>
              </a:spcAft>
              <a:buNone/>
            </a:pPr>
            <a:endParaRPr/>
          </a:p>
          <a:p>
            <a:pPr marL="228600" lvl="0" indent="-231775" algn="l" rtl="0">
              <a:lnSpc>
                <a:spcPct val="130000"/>
              </a:lnSpc>
              <a:spcBef>
                <a:spcPts val="0"/>
              </a:spcBef>
              <a:spcAft>
                <a:spcPts val="0"/>
              </a:spcAft>
              <a:buSzPts val="1700"/>
              <a:buChar char="◼"/>
            </a:pPr>
            <a:r>
              <a:rPr lang="en">
                <a:solidFill>
                  <a:srgbClr val="3DB087"/>
                </a:solidFill>
              </a:rPr>
              <a:t>Code Elements </a:t>
            </a:r>
            <a:r>
              <a:rPr lang="en"/>
              <a:t>: Code 1234 has 4 elements: 1, 2, 3 and 4.</a:t>
            </a:r>
            <a:endParaRPr/>
          </a:p>
          <a:p>
            <a:pPr marL="457200" lvl="0" indent="0" algn="l" rtl="0">
              <a:lnSpc>
                <a:spcPct val="130000"/>
              </a:lnSpc>
              <a:spcBef>
                <a:spcPts val="600"/>
              </a:spcBef>
              <a:spcAft>
                <a:spcPts val="0"/>
              </a:spcAft>
              <a:buNone/>
            </a:pPr>
            <a:endParaRPr b="1">
              <a:solidFill>
                <a:srgbClr val="3DB087"/>
              </a:solidFill>
            </a:endParaRPr>
          </a:p>
          <a:p>
            <a:pPr marL="457200" lvl="0" indent="0" algn="l" rtl="0">
              <a:lnSpc>
                <a:spcPct val="130000"/>
              </a:lnSpc>
              <a:spcBef>
                <a:spcPts val="600"/>
              </a:spcBef>
              <a:spcAft>
                <a:spcPts val="0"/>
              </a:spcAft>
              <a:buNone/>
            </a:pPr>
            <a:endParaRPr b="1">
              <a:solidFill>
                <a:srgbClr val="3DB087"/>
              </a:solidFill>
            </a:endParaRPr>
          </a:p>
          <a:p>
            <a:pPr marL="228600" lvl="0" indent="-231775" algn="l" rtl="0">
              <a:lnSpc>
                <a:spcPct val="130000"/>
              </a:lnSpc>
              <a:spcBef>
                <a:spcPts val="600"/>
              </a:spcBef>
              <a:spcAft>
                <a:spcPts val="0"/>
              </a:spcAft>
              <a:buClr>
                <a:srgbClr val="3DB087"/>
              </a:buClr>
              <a:buSzPts val="1700"/>
              <a:buChar char="◼"/>
            </a:pPr>
            <a:endParaRPr/>
          </a:p>
        </p:txBody>
      </p:sp>
      <p:sp>
        <p:nvSpPr>
          <p:cNvPr id="145" name="Google Shape;145;p15"/>
          <p:cNvSpPr txBox="1">
            <a:spLocks noGrp="1"/>
          </p:cNvSpPr>
          <p:nvPr>
            <p:ph type="body" idx="2"/>
          </p:nvPr>
        </p:nvSpPr>
        <p:spPr>
          <a:xfrm>
            <a:off x="384195" y="1207479"/>
            <a:ext cx="4111500" cy="4996500"/>
          </a:xfrm>
          <a:prstGeom prst="rect">
            <a:avLst/>
          </a:prstGeom>
          <a:noFill/>
          <a:ln>
            <a:noFill/>
          </a:ln>
        </p:spPr>
        <p:txBody>
          <a:bodyPr spcFirstLastPara="1" wrap="square" lIns="91425" tIns="45700" rIns="91425" bIns="45700" anchor="t" anchorCtr="0">
            <a:noAutofit/>
          </a:bodyPr>
          <a:lstStyle/>
          <a:p>
            <a:pPr marL="0" lvl="0" indent="0" algn="l" rtl="0">
              <a:lnSpc>
                <a:spcPct val="130000"/>
              </a:lnSpc>
              <a:spcBef>
                <a:spcPts val="0"/>
              </a:spcBef>
              <a:spcAft>
                <a:spcPts val="0"/>
              </a:spcAft>
              <a:buSzPts val="1700"/>
              <a:buNone/>
            </a:pPr>
            <a:r>
              <a:rPr lang="en" sz="1700" b="1"/>
              <a:t>Words to add to the glossary</a:t>
            </a:r>
            <a:endParaRPr b="1"/>
          </a:p>
          <a:p>
            <a:pPr marL="450000" lvl="0" indent="-336550" algn="l" rtl="0">
              <a:lnSpc>
                <a:spcPct val="130000"/>
              </a:lnSpc>
              <a:spcBef>
                <a:spcPts val="1000"/>
              </a:spcBef>
              <a:spcAft>
                <a:spcPts val="0"/>
              </a:spcAft>
              <a:buSzPts val="1700"/>
              <a:buChar char="◼"/>
            </a:pPr>
            <a:r>
              <a:rPr lang="en" sz="1700" b="1">
                <a:solidFill>
                  <a:srgbClr val="7030A0"/>
                </a:solidFill>
              </a:rPr>
              <a:t>Code: </a:t>
            </a:r>
            <a:r>
              <a:rPr lang="en" sz="1700"/>
              <a:t>Possible password that can be entered into the padlock.</a:t>
            </a:r>
            <a:endParaRPr sz="1700"/>
          </a:p>
          <a:p>
            <a:pPr marL="457200" lvl="0" indent="0" algn="l" rtl="0">
              <a:spcBef>
                <a:spcPts val="600"/>
              </a:spcBef>
              <a:spcAft>
                <a:spcPts val="0"/>
              </a:spcAft>
              <a:buNone/>
            </a:pPr>
            <a:endParaRPr/>
          </a:p>
          <a:p>
            <a:pPr marL="450000" lvl="0" indent="-336550" algn="l" rtl="0">
              <a:spcBef>
                <a:spcPts val="600"/>
              </a:spcBef>
              <a:spcAft>
                <a:spcPts val="0"/>
              </a:spcAft>
              <a:buSzPts val="1700"/>
              <a:buChar char="◼"/>
            </a:pPr>
            <a:r>
              <a:rPr lang="en" b="1">
                <a:solidFill>
                  <a:srgbClr val="7030A0"/>
                </a:solidFill>
              </a:rPr>
              <a:t>Password: </a:t>
            </a:r>
            <a:r>
              <a:rPr lang="en"/>
              <a:t>Correct code. When we enter it, the padlock opens.</a:t>
            </a:r>
            <a:endParaRPr/>
          </a:p>
          <a:p>
            <a:pPr marL="0" lvl="0" indent="0" algn="l" rtl="0">
              <a:lnSpc>
                <a:spcPct val="130000"/>
              </a:lnSpc>
              <a:spcBef>
                <a:spcPts val="600"/>
              </a:spcBef>
              <a:spcAft>
                <a:spcPts val="0"/>
              </a:spcAft>
              <a:buNone/>
            </a:pPr>
            <a:endParaRPr/>
          </a:p>
          <a:p>
            <a:pPr marL="450000" lvl="0" indent="-336550" algn="l" rtl="0">
              <a:spcBef>
                <a:spcPts val="600"/>
              </a:spcBef>
              <a:spcAft>
                <a:spcPts val="0"/>
              </a:spcAft>
              <a:buSzPts val="1700"/>
              <a:buChar char="◼"/>
            </a:pPr>
            <a:r>
              <a:rPr lang="en" b="1">
                <a:solidFill>
                  <a:srgbClr val="7030A0"/>
                </a:solidFill>
              </a:rPr>
              <a:t>Box: </a:t>
            </a:r>
            <a:r>
              <a:rPr lang="en"/>
              <a:t>Space (physical or not) in the padlock where the elements of the code are entered.</a:t>
            </a:r>
            <a:endParaRPr/>
          </a:p>
          <a:p>
            <a:pPr marL="0" lvl="0" indent="0" algn="l" rtl="0">
              <a:lnSpc>
                <a:spcPct val="130000"/>
              </a:lnSpc>
              <a:spcBef>
                <a:spcPts val="600"/>
              </a:spcBef>
              <a:spcAft>
                <a:spcPts val="0"/>
              </a:spcAft>
              <a:buNone/>
            </a:pPr>
            <a:endParaRPr/>
          </a:p>
          <a:p>
            <a:pPr marL="450000" lvl="0" indent="-336550" algn="l" rtl="0">
              <a:lnSpc>
                <a:spcPct val="130000"/>
              </a:lnSpc>
              <a:spcBef>
                <a:spcPts val="600"/>
              </a:spcBef>
              <a:spcAft>
                <a:spcPts val="0"/>
              </a:spcAft>
              <a:buSzPts val="1700"/>
              <a:buChar char="◼"/>
            </a:pPr>
            <a:r>
              <a:rPr lang="en">
                <a:solidFill>
                  <a:srgbClr val="7030A0"/>
                </a:solidFill>
              </a:rPr>
              <a:t>Code elements </a:t>
            </a:r>
            <a:r>
              <a:rPr lang="en"/>
              <a:t>: numbers, letters, symbols,... that make up a code.</a:t>
            </a:r>
            <a:endParaRPr/>
          </a:p>
          <a:p>
            <a:pPr marL="457200" lvl="0" indent="0" algn="l" rtl="0">
              <a:lnSpc>
                <a:spcPct val="130000"/>
              </a:lnSpc>
              <a:spcBef>
                <a:spcPts val="600"/>
              </a:spcBef>
              <a:spcAft>
                <a:spcPts val="0"/>
              </a:spcAft>
              <a:buNone/>
            </a:pPr>
            <a:endParaRPr/>
          </a:p>
          <a:p>
            <a:pPr marL="228600" lvl="0" indent="-120650" algn="l" rtl="0">
              <a:lnSpc>
                <a:spcPct val="130000"/>
              </a:lnSpc>
              <a:spcBef>
                <a:spcPts val="600"/>
              </a:spcBef>
              <a:spcAft>
                <a:spcPts val="0"/>
              </a:spcAft>
              <a:buSzPts val="1700"/>
              <a:buNone/>
            </a:pPr>
            <a:endParaRPr/>
          </a:p>
        </p:txBody>
      </p:sp>
      <p:sp>
        <p:nvSpPr>
          <p:cNvPr id="146" name="Google Shape;146;p15"/>
          <p:cNvSpPr/>
          <p:nvPr/>
        </p:nvSpPr>
        <p:spPr>
          <a:xfrm>
            <a:off x="4218707" y="3699083"/>
            <a:ext cx="1386409" cy="1275837"/>
          </a:xfrm>
          <a:custGeom>
            <a:avLst/>
            <a:gdLst/>
            <a:ahLst/>
            <a:cxnLst/>
            <a:rect l="l" t="t" r="r" b="b"/>
            <a:pathLst>
              <a:path w="3402231" h="3402231" extrusionOk="0">
                <a:moveTo>
                  <a:pt x="0" y="0"/>
                </a:moveTo>
                <a:lnTo>
                  <a:pt x="3402231" y="0"/>
                </a:lnTo>
                <a:lnTo>
                  <a:pt x="3402231" y="3402232"/>
                </a:lnTo>
                <a:lnTo>
                  <a:pt x="0" y="3402232"/>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body" idx="1"/>
          </p:nvPr>
        </p:nvSpPr>
        <p:spPr>
          <a:xfrm>
            <a:off x="373071" y="1932836"/>
            <a:ext cx="8397857" cy="2143372"/>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n" sz="2800" b="1" i="1"/>
              <a:t>Q </a:t>
            </a:r>
            <a:r>
              <a:rPr lang="en" sz="2800" b="1" baseline="-25000"/>
              <a:t>1 </a:t>
            </a:r>
            <a:r>
              <a:rPr lang="en" sz="2800" b="1"/>
              <a:t>: How many different codes does each padlock support?</a:t>
            </a:r>
            <a:endParaRPr/>
          </a:p>
          <a:p>
            <a:pPr marL="228600" lvl="0" indent="-101600" algn="l" rtl="0">
              <a:lnSpc>
                <a:spcPct val="130000"/>
              </a:lnSpc>
              <a:spcBef>
                <a:spcPts val="600"/>
              </a:spcBef>
              <a:spcAft>
                <a:spcPts val="0"/>
              </a:spcAft>
              <a:buSzPts val="2000"/>
              <a:buNone/>
            </a:pPr>
            <a:endParaRPr/>
          </a:p>
        </p:txBody>
      </p:sp>
      <p:sp>
        <p:nvSpPr>
          <p:cNvPr id="153" name="Google Shape;153;p16"/>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pic>
        <p:nvPicPr>
          <p:cNvPr id="154" name="Google Shape;154;p16" descr="Imagen que contiene tabla, interior, diferente, artículos&#10;&#10;Descripción generada automáticamente"/>
          <p:cNvPicPr preferRelativeResize="0"/>
          <p:nvPr/>
        </p:nvPicPr>
        <p:blipFill rotWithShape="1">
          <a:blip r:embed="rId3">
            <a:alphaModFix/>
          </a:blip>
          <a:srcRect b="21350"/>
          <a:stretch/>
        </p:blipFill>
        <p:spPr>
          <a:xfrm>
            <a:off x="1465919" y="2933084"/>
            <a:ext cx="6212162" cy="132459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17"/>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sz="2000" b="1"/>
              <a:t>Q1: </a:t>
            </a:r>
            <a:r>
              <a:rPr lang="en" sz="2000"/>
              <a:t>How many different codes does each padlock support?</a:t>
            </a:r>
            <a:endParaRPr/>
          </a:p>
          <a:p>
            <a:pPr marL="457200" lvl="1" indent="-228600" algn="l" rtl="0">
              <a:lnSpc>
                <a:spcPct val="130000"/>
              </a:lnSpc>
              <a:spcBef>
                <a:spcPts val="600"/>
              </a:spcBef>
              <a:spcAft>
                <a:spcPts val="0"/>
              </a:spcAft>
              <a:buSzPts val="1800"/>
              <a:buFont typeface="Avenir"/>
              <a:buChar char="▪"/>
            </a:pPr>
            <a:r>
              <a:rPr lang="en" sz="1800">
                <a:solidFill>
                  <a:srgbClr val="000000"/>
                </a:solidFill>
              </a:rPr>
              <a:t>Each working group is responsible for one of the locks.</a:t>
            </a:r>
            <a:endParaRPr/>
          </a:p>
          <a:p>
            <a:pPr marL="457200" lvl="1" indent="-114300" algn="l" rtl="0">
              <a:lnSpc>
                <a:spcPct val="130000"/>
              </a:lnSpc>
              <a:spcBef>
                <a:spcPts val="600"/>
              </a:spcBef>
              <a:spcAft>
                <a:spcPts val="0"/>
              </a:spcAft>
              <a:buSzPts val="1800"/>
              <a:buNone/>
            </a:pPr>
            <a:endParaRPr/>
          </a:p>
        </p:txBody>
      </p:sp>
      <p:sp>
        <p:nvSpPr>
          <p:cNvPr id="160" name="Google Shape;160;p17"/>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sp>
        <p:nvSpPr>
          <p:cNvPr id="161" name="Google Shape;161;p17"/>
          <p:cNvSpPr txBox="1"/>
          <p:nvPr/>
        </p:nvSpPr>
        <p:spPr>
          <a:xfrm>
            <a:off x="788425" y="2391075"/>
            <a:ext cx="4376400" cy="338700"/>
          </a:xfrm>
          <a:prstGeom prst="rect">
            <a:avLst/>
          </a:prstGeom>
          <a:solidFill>
            <a:srgbClr val="E0E0E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venir"/>
                <a:ea typeface="Avenir"/>
                <a:cs typeface="Avenir"/>
                <a:sym typeface="Avenir"/>
              </a:rPr>
              <a:t>Padlock 1: </a:t>
            </a:r>
            <a:r>
              <a:rPr lang="en" sz="1600" i="0" u="none" strike="noStrike" cap="none">
                <a:solidFill>
                  <a:srgbClr val="000000"/>
                </a:solidFill>
                <a:latin typeface="Avenir"/>
                <a:ea typeface="Avenir"/>
                <a:cs typeface="Avenir"/>
                <a:sym typeface="Avenir"/>
              </a:rPr>
              <a:t>Padlock </a:t>
            </a:r>
            <a:r>
              <a:rPr lang="en" sz="1600">
                <a:latin typeface="Avenir"/>
                <a:ea typeface="Avenir"/>
                <a:cs typeface="Avenir"/>
                <a:sym typeface="Avenir"/>
              </a:rPr>
              <a:t>with numeric code</a:t>
            </a:r>
            <a:endParaRPr sz="1400" i="0" u="none" strike="noStrike" cap="none">
              <a:solidFill>
                <a:srgbClr val="000000"/>
              </a:solidFill>
              <a:latin typeface="Avenir"/>
              <a:ea typeface="Avenir"/>
              <a:cs typeface="Avenir"/>
              <a:sym typeface="Avenir"/>
            </a:endParaRPr>
          </a:p>
        </p:txBody>
      </p:sp>
      <p:sp>
        <p:nvSpPr>
          <p:cNvPr id="162" name="Google Shape;162;p17"/>
          <p:cNvSpPr txBox="1"/>
          <p:nvPr/>
        </p:nvSpPr>
        <p:spPr>
          <a:xfrm>
            <a:off x="788346" y="2898824"/>
            <a:ext cx="4144500" cy="338700"/>
          </a:xfrm>
          <a:prstGeom prst="rect">
            <a:avLst/>
          </a:prstGeom>
          <a:solidFill>
            <a:srgbClr val="FFAAAA"/>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venir"/>
                <a:ea typeface="Avenir"/>
                <a:cs typeface="Avenir"/>
                <a:sym typeface="Avenir"/>
              </a:rPr>
              <a:t>Padlock 2: </a:t>
            </a:r>
            <a:r>
              <a:rPr lang="en" sz="1600" i="0" u="none" strike="noStrike" cap="none">
                <a:solidFill>
                  <a:srgbClr val="000000"/>
                </a:solidFill>
                <a:latin typeface="Avenir"/>
                <a:ea typeface="Avenir"/>
                <a:cs typeface="Avenir"/>
                <a:sym typeface="Avenir"/>
              </a:rPr>
              <a:t>Push-button padlock</a:t>
            </a:r>
            <a:endParaRPr sz="1400" i="0" u="none" strike="noStrike" cap="none">
              <a:solidFill>
                <a:srgbClr val="000000"/>
              </a:solidFill>
              <a:latin typeface="Avenir"/>
              <a:ea typeface="Avenir"/>
              <a:cs typeface="Avenir"/>
              <a:sym typeface="Avenir"/>
            </a:endParaRPr>
          </a:p>
        </p:txBody>
      </p:sp>
      <p:sp>
        <p:nvSpPr>
          <p:cNvPr id="163" name="Google Shape;163;p17"/>
          <p:cNvSpPr txBox="1"/>
          <p:nvPr/>
        </p:nvSpPr>
        <p:spPr>
          <a:xfrm>
            <a:off x="788302" y="3487006"/>
            <a:ext cx="4144500" cy="338700"/>
          </a:xfrm>
          <a:prstGeom prst="rect">
            <a:avLst/>
          </a:prstGeom>
          <a:solidFill>
            <a:srgbClr val="30A034">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venir"/>
                <a:ea typeface="Avenir"/>
                <a:cs typeface="Avenir"/>
                <a:sym typeface="Avenir"/>
              </a:rPr>
              <a:t>Padlock 4: </a:t>
            </a:r>
            <a:r>
              <a:rPr lang="en" sz="1600" i="0" u="none" strike="noStrike" cap="none">
                <a:solidFill>
                  <a:srgbClr val="000000"/>
                </a:solidFill>
                <a:latin typeface="Avenir"/>
                <a:ea typeface="Avenir"/>
                <a:cs typeface="Avenir"/>
                <a:sym typeface="Avenir"/>
              </a:rPr>
              <a:t>Word padlock</a:t>
            </a:r>
            <a:endParaRPr sz="1400" i="0" u="none" strike="noStrike" cap="none">
              <a:solidFill>
                <a:srgbClr val="000000"/>
              </a:solidFill>
              <a:latin typeface="Avenir"/>
              <a:ea typeface="Avenir"/>
              <a:cs typeface="Avenir"/>
              <a:sym typeface="Avenir"/>
            </a:endParaRPr>
          </a:p>
        </p:txBody>
      </p:sp>
      <p:sp>
        <p:nvSpPr>
          <p:cNvPr id="164" name="Google Shape;164;p17"/>
          <p:cNvSpPr txBox="1"/>
          <p:nvPr/>
        </p:nvSpPr>
        <p:spPr>
          <a:xfrm>
            <a:off x="778452" y="4056060"/>
            <a:ext cx="4164300" cy="338700"/>
          </a:xfrm>
          <a:prstGeom prst="rect">
            <a:avLst/>
          </a:prstGeom>
          <a:solidFill>
            <a:srgbClr val="FFAAAA">
              <a:alpha val="4824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venir"/>
                <a:ea typeface="Avenir"/>
                <a:cs typeface="Avenir"/>
                <a:sym typeface="Avenir"/>
              </a:rPr>
              <a:t>Padlock 5: </a:t>
            </a:r>
            <a:r>
              <a:rPr lang="en" sz="1600" i="0" u="none" strike="noStrike" cap="none">
                <a:solidFill>
                  <a:srgbClr val="000000"/>
                </a:solidFill>
                <a:latin typeface="Avenir"/>
                <a:ea typeface="Avenir"/>
                <a:cs typeface="Avenir"/>
                <a:sym typeface="Avenir"/>
              </a:rPr>
              <a:t>Directional padlock</a:t>
            </a:r>
            <a:endParaRPr sz="1400" i="0" u="none" strike="noStrike" cap="none">
              <a:solidFill>
                <a:srgbClr val="000000"/>
              </a:solidFill>
              <a:latin typeface="Avenir"/>
              <a:ea typeface="Avenir"/>
              <a:cs typeface="Avenir"/>
              <a:sym typeface="Avenir"/>
            </a:endParaRPr>
          </a:p>
        </p:txBody>
      </p:sp>
      <p:sp>
        <p:nvSpPr>
          <p:cNvPr id="165" name="Google Shape;165;p17"/>
          <p:cNvSpPr txBox="1"/>
          <p:nvPr/>
        </p:nvSpPr>
        <p:spPr>
          <a:xfrm>
            <a:off x="778442" y="4625088"/>
            <a:ext cx="4102500" cy="3387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venir"/>
                <a:ea typeface="Avenir"/>
                <a:cs typeface="Avenir"/>
                <a:sym typeface="Avenir"/>
              </a:rPr>
              <a:t>Padlock 6: </a:t>
            </a:r>
            <a:r>
              <a:rPr lang="en" sz="1600" i="0" u="none" strike="noStrike" cap="none">
                <a:solidFill>
                  <a:srgbClr val="000000"/>
                </a:solidFill>
                <a:latin typeface="Avenir"/>
                <a:ea typeface="Avenir"/>
                <a:cs typeface="Avenir"/>
                <a:sym typeface="Avenir"/>
              </a:rPr>
              <a:t>Safe Padlock</a:t>
            </a:r>
            <a:endParaRPr sz="1400" i="0" u="none" strike="noStrike" cap="none">
              <a:solidFill>
                <a:srgbClr val="000000"/>
              </a:solidFill>
              <a:latin typeface="Avenir"/>
              <a:ea typeface="Avenir"/>
              <a:cs typeface="Avenir"/>
              <a:sym typeface="Avenir"/>
            </a:endParaRPr>
          </a:p>
        </p:txBody>
      </p:sp>
      <p:sp>
        <p:nvSpPr>
          <p:cNvPr id="166" name="Google Shape;166;p17"/>
          <p:cNvSpPr/>
          <p:nvPr/>
        </p:nvSpPr>
        <p:spPr>
          <a:xfrm>
            <a:off x="5628056" y="2226000"/>
            <a:ext cx="1161948" cy="1266181"/>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67" name="Google Shape;167;p17"/>
          <p:cNvSpPr/>
          <p:nvPr/>
        </p:nvSpPr>
        <p:spPr>
          <a:xfrm>
            <a:off x="7068075" y="2582215"/>
            <a:ext cx="1420646" cy="1375972"/>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68" name="Google Shape;168;p17"/>
          <p:cNvSpPr/>
          <p:nvPr/>
        </p:nvSpPr>
        <p:spPr>
          <a:xfrm>
            <a:off x="7068081" y="3880840"/>
            <a:ext cx="998243" cy="1056963"/>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69" name="Google Shape;169;p17"/>
          <p:cNvSpPr/>
          <p:nvPr/>
        </p:nvSpPr>
        <p:spPr>
          <a:xfrm rot="7204115">
            <a:off x="7825486" y="1242583"/>
            <a:ext cx="828991" cy="1456761"/>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70" name="Google Shape;170;p17"/>
          <p:cNvSpPr/>
          <p:nvPr/>
        </p:nvSpPr>
        <p:spPr>
          <a:xfrm>
            <a:off x="7203352" y="5098183"/>
            <a:ext cx="1423514" cy="1430668"/>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pic>
        <p:nvPicPr>
          <p:cNvPr id="171" name="Google Shape;171;p17"/>
          <p:cNvPicPr preferRelativeResize="0"/>
          <p:nvPr/>
        </p:nvPicPr>
        <p:blipFill>
          <a:blip r:embed="rId8">
            <a:alphaModFix/>
          </a:blip>
          <a:stretch>
            <a:fillRect/>
          </a:stretch>
        </p:blipFill>
        <p:spPr>
          <a:xfrm>
            <a:off x="5583127" y="5099601"/>
            <a:ext cx="1251275" cy="1166450"/>
          </a:xfrm>
          <a:prstGeom prst="rect">
            <a:avLst/>
          </a:prstGeom>
          <a:noFill/>
          <a:ln>
            <a:noFill/>
          </a:ln>
        </p:spPr>
      </p:pic>
      <p:sp>
        <p:nvSpPr>
          <p:cNvPr id="172" name="Google Shape;172;p17"/>
          <p:cNvSpPr txBox="1"/>
          <p:nvPr/>
        </p:nvSpPr>
        <p:spPr>
          <a:xfrm>
            <a:off x="778442" y="5111238"/>
            <a:ext cx="4102500" cy="338700"/>
          </a:xfrm>
          <a:prstGeom prst="rect">
            <a:avLst/>
          </a:prstGeom>
          <a:solidFill>
            <a:srgbClr val="CFE2F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venir"/>
                <a:ea typeface="Avenir"/>
                <a:cs typeface="Avenir"/>
                <a:sym typeface="Avenir"/>
              </a:rPr>
              <a:t>Padlock </a:t>
            </a:r>
            <a:r>
              <a:rPr lang="en" sz="1600" b="1">
                <a:latin typeface="Avenir"/>
                <a:ea typeface="Avenir"/>
                <a:cs typeface="Avenir"/>
                <a:sym typeface="Avenir"/>
              </a:rPr>
              <a:t>7 </a:t>
            </a:r>
            <a:r>
              <a:rPr lang="en" sz="1600" b="1" i="0" u="none" strike="noStrike" cap="none">
                <a:solidFill>
                  <a:srgbClr val="000000"/>
                </a:solidFill>
                <a:latin typeface="Avenir"/>
                <a:ea typeface="Avenir"/>
                <a:cs typeface="Avenir"/>
                <a:sym typeface="Avenir"/>
              </a:rPr>
              <a:t>: </a:t>
            </a:r>
            <a:r>
              <a:rPr lang="en" sz="1600">
                <a:latin typeface="Avenir"/>
                <a:ea typeface="Avenir"/>
                <a:cs typeface="Avenir"/>
                <a:sym typeface="Avenir"/>
              </a:rPr>
              <a:t>Mixed code </a:t>
            </a:r>
            <a:endParaRPr sz="1400" i="0" u="none" strike="noStrike" cap="none">
              <a:solidFill>
                <a:srgbClr val="000000"/>
              </a:solidFill>
              <a:latin typeface="Avenir"/>
              <a:ea typeface="Avenir"/>
              <a:cs typeface="Avenir"/>
              <a:sym typeface="Aveni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18"/>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sp>
        <p:nvSpPr>
          <p:cNvPr id="178" name="Google Shape;178;p18"/>
          <p:cNvSpPr txBox="1"/>
          <p:nvPr/>
        </p:nvSpPr>
        <p:spPr>
          <a:xfrm>
            <a:off x="528983" y="1290357"/>
            <a:ext cx="4757392" cy="369332"/>
          </a:xfrm>
          <a:prstGeom prst="rect">
            <a:avLst/>
          </a:prstGeom>
          <a:solidFill>
            <a:srgbClr val="E0E0E0"/>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rial"/>
                <a:ea typeface="Arial"/>
                <a:cs typeface="Arial"/>
                <a:sym typeface="Arial"/>
              </a:rPr>
              <a:t>Padlock 1: </a:t>
            </a:r>
            <a:r>
              <a:rPr lang="en" sz="1800" b="0" i="0" u="none" strike="noStrike" cap="none">
                <a:solidFill>
                  <a:srgbClr val="000000"/>
                </a:solidFill>
                <a:latin typeface="Arial"/>
                <a:ea typeface="Arial"/>
                <a:cs typeface="Arial"/>
                <a:sym typeface="Arial"/>
              </a:rPr>
              <a:t>Roulette numbering padlock</a:t>
            </a:r>
            <a:endParaRPr sz="1400" b="0" i="0" u="none" strike="noStrike" cap="none">
              <a:solidFill>
                <a:srgbClr val="000000"/>
              </a:solidFill>
              <a:latin typeface="Arial"/>
              <a:ea typeface="Arial"/>
              <a:cs typeface="Arial"/>
              <a:sym typeface="Arial"/>
            </a:endParaRPr>
          </a:p>
        </p:txBody>
      </p:sp>
      <p:sp>
        <p:nvSpPr>
          <p:cNvPr id="179" name="Google Shape;179;p18"/>
          <p:cNvSpPr/>
          <p:nvPr/>
        </p:nvSpPr>
        <p:spPr>
          <a:xfrm>
            <a:off x="6672262" y="2329449"/>
            <a:ext cx="1671638" cy="2199102"/>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13" t="-15236"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180" name="Google Shape;180;p18"/>
          <p:cNvSpPr txBox="1">
            <a:spLocks noGrp="1"/>
          </p:cNvSpPr>
          <p:nvPr>
            <p:ph type="body" idx="1"/>
          </p:nvPr>
        </p:nvSpPr>
        <p:spPr>
          <a:xfrm>
            <a:off x="528983" y="1844261"/>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1800"/>
              <a:buChar char="◼"/>
            </a:pPr>
            <a:r>
              <a:rPr lang="en" sz="1800"/>
              <a:t>You can choose any 4-digit password.</a:t>
            </a:r>
            <a:endParaRPr/>
          </a:p>
          <a:p>
            <a:pPr marL="228600" lvl="0" indent="-228600" algn="l" rtl="0">
              <a:lnSpc>
                <a:spcPct val="130000"/>
              </a:lnSpc>
              <a:spcBef>
                <a:spcPts val="600"/>
              </a:spcBef>
              <a:spcAft>
                <a:spcPts val="0"/>
              </a:spcAft>
              <a:buSzPts val="1800"/>
              <a:buChar char="◼"/>
            </a:pPr>
            <a:r>
              <a:rPr lang="en" sz="1800"/>
              <a:t>The squares are rotating discs, with 10 numbers ranging from 0 to 9.</a:t>
            </a:r>
            <a:endParaRPr/>
          </a:p>
          <a:p>
            <a:pPr marL="228600" lvl="0" indent="-228600" algn="l" rtl="0">
              <a:lnSpc>
                <a:spcPct val="130000"/>
              </a:lnSpc>
              <a:spcBef>
                <a:spcPts val="600"/>
              </a:spcBef>
              <a:spcAft>
                <a:spcPts val="0"/>
              </a:spcAft>
              <a:buSzPts val="1800"/>
              <a:buChar char="◼"/>
            </a:pPr>
            <a:r>
              <a:rPr lang="en" sz="1800"/>
              <a:t>Elements or numbers can be repeated.</a:t>
            </a:r>
            <a:endParaRPr/>
          </a:p>
          <a:p>
            <a:pPr marL="228600" lvl="0" indent="-228600" algn="l" rtl="0">
              <a:lnSpc>
                <a:spcPct val="130000"/>
              </a:lnSpc>
              <a:spcBef>
                <a:spcPts val="600"/>
              </a:spcBef>
              <a:spcAft>
                <a:spcPts val="0"/>
              </a:spcAft>
              <a:buSzPts val="1800"/>
              <a:buChar char="◼"/>
            </a:pPr>
            <a:r>
              <a:rPr lang="en" sz="1800"/>
              <a:t>To open the padlock, the discs must be moved so that the password appears correctly located in each of the 4 boxes.</a:t>
            </a:r>
            <a:endParaRPr/>
          </a:p>
          <a:p>
            <a:pPr marL="228600" lvl="0" indent="-114300" algn="l" rtl="0">
              <a:lnSpc>
                <a:spcPct val="130000"/>
              </a:lnSpc>
              <a:spcBef>
                <a:spcPts val="600"/>
              </a:spcBef>
              <a:spcAft>
                <a:spcPts val="0"/>
              </a:spcAft>
              <a:buSzPts val="1800"/>
              <a:buNone/>
            </a:pP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19"/>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sp>
        <p:nvSpPr>
          <p:cNvPr id="186" name="Google Shape;186;p19"/>
          <p:cNvSpPr txBox="1">
            <a:spLocks noGrp="1"/>
          </p:cNvSpPr>
          <p:nvPr>
            <p:ph type="body" idx="1"/>
          </p:nvPr>
        </p:nvSpPr>
        <p:spPr>
          <a:xfrm>
            <a:off x="528983" y="1844261"/>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n" sz="1800"/>
              <a:t>You can choose a 3-digit password.</a:t>
            </a:r>
            <a:endParaRPr/>
          </a:p>
          <a:p>
            <a:pPr marL="228600" lvl="0" indent="-228600" algn="l" rtl="0">
              <a:lnSpc>
                <a:spcPct val="130000"/>
              </a:lnSpc>
              <a:spcBef>
                <a:spcPts val="600"/>
              </a:spcBef>
              <a:spcAft>
                <a:spcPts val="0"/>
              </a:spcAft>
              <a:buClr>
                <a:srgbClr val="595959"/>
              </a:buClr>
              <a:buSzPts val="1800"/>
              <a:buChar char="◼"/>
            </a:pPr>
            <a:r>
              <a:rPr lang="en" sz="1800"/>
              <a:t>The padlock does not detect the order in which we press the numbers.</a:t>
            </a:r>
            <a:endParaRPr/>
          </a:p>
          <a:p>
            <a:pPr marL="228600" lvl="0" indent="-228600" algn="l" rtl="0">
              <a:lnSpc>
                <a:spcPct val="130000"/>
              </a:lnSpc>
              <a:spcBef>
                <a:spcPts val="600"/>
              </a:spcBef>
              <a:spcAft>
                <a:spcPts val="0"/>
              </a:spcAft>
              <a:buClr>
                <a:srgbClr val="595959"/>
              </a:buClr>
              <a:buSzPts val="1800"/>
              <a:buChar char="◼"/>
            </a:pPr>
            <a:r>
              <a:rPr lang="en" sz="1800"/>
              <a:t>To open it, you must slide the bottom tab.</a:t>
            </a:r>
            <a:endParaRPr/>
          </a:p>
          <a:p>
            <a:pPr marL="228600" lvl="0" indent="-114300" algn="l" rtl="0">
              <a:lnSpc>
                <a:spcPct val="130000"/>
              </a:lnSpc>
              <a:spcBef>
                <a:spcPts val="600"/>
              </a:spcBef>
              <a:spcAft>
                <a:spcPts val="0"/>
              </a:spcAft>
              <a:buSzPts val="1800"/>
              <a:buNone/>
            </a:pPr>
            <a:endParaRPr sz="1800"/>
          </a:p>
          <a:p>
            <a:pPr marL="228600" lvl="0" indent="-114300" algn="l" rtl="0">
              <a:lnSpc>
                <a:spcPct val="130000"/>
              </a:lnSpc>
              <a:spcBef>
                <a:spcPts val="600"/>
              </a:spcBef>
              <a:spcAft>
                <a:spcPts val="0"/>
              </a:spcAft>
              <a:buSzPts val="1800"/>
              <a:buNone/>
            </a:pPr>
            <a:endParaRPr sz="1800"/>
          </a:p>
        </p:txBody>
      </p:sp>
      <p:sp>
        <p:nvSpPr>
          <p:cNvPr id="187" name="Google Shape;187;p19"/>
          <p:cNvSpPr txBox="1"/>
          <p:nvPr/>
        </p:nvSpPr>
        <p:spPr>
          <a:xfrm>
            <a:off x="528983" y="1305698"/>
            <a:ext cx="4757392" cy="369332"/>
          </a:xfrm>
          <a:prstGeom prst="rect">
            <a:avLst/>
          </a:prstGeom>
          <a:solidFill>
            <a:srgbClr val="FFAAAA"/>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venir"/>
                <a:ea typeface="Avenir"/>
                <a:cs typeface="Avenir"/>
                <a:sym typeface="Avenir"/>
              </a:rPr>
              <a:t>Padlock 2: </a:t>
            </a:r>
            <a:r>
              <a:rPr lang="en" sz="1800" i="0" u="none" strike="noStrike" cap="none">
                <a:solidFill>
                  <a:srgbClr val="000000"/>
                </a:solidFill>
                <a:latin typeface="Avenir"/>
                <a:ea typeface="Avenir"/>
                <a:cs typeface="Avenir"/>
                <a:sym typeface="Avenir"/>
              </a:rPr>
              <a:t>Push-button padlock</a:t>
            </a:r>
            <a:endParaRPr sz="1400" i="0" u="none" strike="noStrike" cap="none">
              <a:solidFill>
                <a:srgbClr val="000000"/>
              </a:solidFill>
              <a:latin typeface="Avenir"/>
              <a:ea typeface="Avenir"/>
              <a:cs typeface="Avenir"/>
              <a:sym typeface="Avenir"/>
            </a:endParaRPr>
          </a:p>
        </p:txBody>
      </p:sp>
      <p:sp>
        <p:nvSpPr>
          <p:cNvPr id="188" name="Google Shape;188;p19"/>
          <p:cNvSpPr/>
          <p:nvPr/>
        </p:nvSpPr>
        <p:spPr>
          <a:xfrm>
            <a:off x="6308458" y="2338174"/>
            <a:ext cx="2187658" cy="2181651"/>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pic>
        <p:nvPicPr>
          <p:cNvPr id="189" name="Google Shape;189;p19" title="Chinese Push Button Padlock decoded"/>
          <p:cNvPicPr preferRelativeResize="0"/>
          <p:nvPr/>
        </p:nvPicPr>
        <p:blipFill rotWithShape="1">
          <a:blip r:embed="rId4">
            <a:alphaModFix/>
          </a:blip>
          <a:srcRect/>
          <a:stretch/>
        </p:blipFill>
        <p:spPr>
          <a:xfrm>
            <a:off x="909244" y="4499412"/>
            <a:ext cx="3258782" cy="2026656"/>
          </a:xfrm>
          <a:prstGeom prst="rect">
            <a:avLst/>
          </a:prstGeom>
          <a:noFill/>
          <a:ln>
            <a:noFill/>
          </a:ln>
        </p:spPr>
      </p:pic>
      <p:sp>
        <p:nvSpPr>
          <p:cNvPr id="190" name="Google Shape;190;p19"/>
          <p:cNvSpPr txBox="1"/>
          <p:nvPr/>
        </p:nvSpPr>
        <p:spPr>
          <a:xfrm>
            <a:off x="4358474" y="6150175"/>
            <a:ext cx="34668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 sz="1700" b="0" i="0" u="sng" strike="noStrike" cap="none">
                <a:solidFill>
                  <a:srgbClr val="CC4125"/>
                </a:solidFill>
                <a:latin typeface="Arial"/>
                <a:ea typeface="Arial"/>
                <a:cs typeface="Arial"/>
                <a:sym typeface="Arial"/>
                <a:hlinkClick r:id="rId5">
                  <a:extLst>
                    <a:ext uri="{A12FA001-AC4F-418D-AE19-62706E023703}">
                      <ahyp:hlinkClr xmlns:ahyp="http://schemas.microsoft.com/office/drawing/2018/hyperlinkcolor" val="tx"/>
                    </a:ext>
                  </a:extLst>
                </a:hlinkClick>
              </a:rPr>
              <a:t>https://youtu.be/zSUG5iQniSc</a:t>
            </a:r>
            <a:endParaRPr sz="1700" b="0" i="0" u="none" strike="noStrike" cap="none">
              <a:solidFill>
                <a:srgbClr val="CC4125"/>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0"/>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sp>
        <p:nvSpPr>
          <p:cNvPr id="196" name="Google Shape;196;p20"/>
          <p:cNvSpPr txBox="1">
            <a:spLocks noGrp="1"/>
          </p:cNvSpPr>
          <p:nvPr>
            <p:ph type="body" idx="1"/>
          </p:nvPr>
        </p:nvSpPr>
        <p:spPr>
          <a:xfrm>
            <a:off x="528983" y="1844261"/>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n" sz="1800"/>
              <a:t>You can choose any password with 5-letter words.</a:t>
            </a:r>
            <a:endParaRPr/>
          </a:p>
          <a:p>
            <a:pPr marL="228600" lvl="0" indent="-228600" algn="l" rtl="0">
              <a:lnSpc>
                <a:spcPct val="130000"/>
              </a:lnSpc>
              <a:spcBef>
                <a:spcPts val="600"/>
              </a:spcBef>
              <a:spcAft>
                <a:spcPts val="0"/>
              </a:spcAft>
              <a:buClr>
                <a:srgbClr val="595959"/>
              </a:buClr>
              <a:buSzPts val="1800"/>
              <a:buChar char="◼"/>
            </a:pPr>
            <a:r>
              <a:rPr lang="en" sz="1800"/>
              <a:t>Only 10 letters are available on each disc.</a:t>
            </a:r>
            <a:endParaRPr/>
          </a:p>
          <a:p>
            <a:pPr marL="228600" lvl="0" indent="-228600" algn="l" rtl="0">
              <a:lnSpc>
                <a:spcPct val="130000"/>
              </a:lnSpc>
              <a:spcBef>
                <a:spcPts val="600"/>
              </a:spcBef>
              <a:spcAft>
                <a:spcPts val="0"/>
              </a:spcAft>
              <a:buClr>
                <a:srgbClr val="595959"/>
              </a:buClr>
              <a:buSzPts val="1800"/>
              <a:buChar char="◼"/>
            </a:pPr>
            <a:r>
              <a:rPr lang="en" sz="1800"/>
              <a:t>The padlock has no way of checking whether the word entered makes sense or not. Therefore, the password may be a meaningless word.</a:t>
            </a:r>
            <a:endParaRPr/>
          </a:p>
          <a:p>
            <a:pPr marL="228600" lvl="0" indent="-228600" algn="l" rtl="0">
              <a:lnSpc>
                <a:spcPct val="130000"/>
              </a:lnSpc>
              <a:spcBef>
                <a:spcPts val="600"/>
              </a:spcBef>
              <a:spcAft>
                <a:spcPts val="0"/>
              </a:spcAft>
              <a:buClr>
                <a:srgbClr val="595959"/>
              </a:buClr>
              <a:buSzPts val="1800"/>
              <a:buChar char="◼"/>
            </a:pPr>
            <a:r>
              <a:rPr lang="en" sz="1800"/>
              <a:t>There are repeated lyrics on the different albums.</a:t>
            </a:r>
            <a:endParaRPr/>
          </a:p>
          <a:p>
            <a:pPr marL="228600" lvl="0" indent="-228600" algn="l" rtl="0">
              <a:lnSpc>
                <a:spcPct val="130000"/>
              </a:lnSpc>
              <a:spcBef>
                <a:spcPts val="600"/>
              </a:spcBef>
              <a:spcAft>
                <a:spcPts val="0"/>
              </a:spcAft>
              <a:buClr>
                <a:srgbClr val="595959"/>
              </a:buClr>
              <a:buSzPts val="1800"/>
              <a:buChar char="◼"/>
            </a:pPr>
            <a:r>
              <a:rPr lang="en" sz="1800"/>
              <a:t>To open it, the discs must be moved so that the password appears in the position next to the tab.</a:t>
            </a:r>
            <a:endParaRPr/>
          </a:p>
          <a:p>
            <a:pPr marL="228600" lvl="0" indent="-114300" algn="l" rtl="0">
              <a:lnSpc>
                <a:spcPct val="130000"/>
              </a:lnSpc>
              <a:spcBef>
                <a:spcPts val="600"/>
              </a:spcBef>
              <a:spcAft>
                <a:spcPts val="0"/>
              </a:spcAft>
              <a:buSzPts val="1800"/>
              <a:buNone/>
            </a:pPr>
            <a:endParaRPr sz="1800"/>
          </a:p>
        </p:txBody>
      </p:sp>
      <p:sp>
        <p:nvSpPr>
          <p:cNvPr id="197" name="Google Shape;197;p20"/>
          <p:cNvSpPr txBox="1"/>
          <p:nvPr/>
        </p:nvSpPr>
        <p:spPr>
          <a:xfrm>
            <a:off x="474595" y="1391300"/>
            <a:ext cx="4811780" cy="369332"/>
          </a:xfrm>
          <a:prstGeom prst="rect">
            <a:avLst/>
          </a:prstGeom>
          <a:solidFill>
            <a:srgbClr val="30A034">
              <a:alpha val="14510"/>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venir"/>
                <a:ea typeface="Avenir"/>
                <a:cs typeface="Avenir"/>
                <a:sym typeface="Avenir"/>
              </a:rPr>
              <a:t>Padlock </a:t>
            </a:r>
            <a:r>
              <a:rPr lang="en" sz="1800" b="1">
                <a:latin typeface="Avenir"/>
                <a:ea typeface="Avenir"/>
                <a:cs typeface="Avenir"/>
                <a:sym typeface="Avenir"/>
              </a:rPr>
              <a:t>3 </a:t>
            </a:r>
            <a:r>
              <a:rPr lang="en" sz="1800" b="1" i="0" u="none" strike="noStrike" cap="none">
                <a:solidFill>
                  <a:srgbClr val="000000"/>
                </a:solidFill>
                <a:latin typeface="Avenir"/>
                <a:ea typeface="Avenir"/>
                <a:cs typeface="Avenir"/>
                <a:sym typeface="Avenir"/>
              </a:rPr>
              <a:t>: </a:t>
            </a:r>
            <a:r>
              <a:rPr lang="en" sz="1800" i="0" u="none" strike="noStrike" cap="none">
                <a:solidFill>
                  <a:srgbClr val="000000"/>
                </a:solidFill>
                <a:latin typeface="Avenir"/>
                <a:ea typeface="Avenir"/>
                <a:cs typeface="Avenir"/>
                <a:sym typeface="Avenir"/>
              </a:rPr>
              <a:t>Word padlock</a:t>
            </a:r>
            <a:endParaRPr sz="1400" i="0" u="none" strike="noStrike" cap="none">
              <a:solidFill>
                <a:srgbClr val="000000"/>
              </a:solidFill>
              <a:latin typeface="Avenir"/>
              <a:ea typeface="Avenir"/>
              <a:cs typeface="Avenir"/>
              <a:sym typeface="Avenir"/>
            </a:endParaRPr>
          </a:p>
        </p:txBody>
      </p:sp>
      <p:sp>
        <p:nvSpPr>
          <p:cNvPr id="198" name="Google Shape;198;p20"/>
          <p:cNvSpPr/>
          <p:nvPr/>
        </p:nvSpPr>
        <p:spPr>
          <a:xfrm>
            <a:off x="6418738" y="2400192"/>
            <a:ext cx="2106586" cy="2444227"/>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1"/>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sp>
        <p:nvSpPr>
          <p:cNvPr id="204" name="Google Shape;204;p21"/>
          <p:cNvSpPr txBox="1">
            <a:spLocks noGrp="1"/>
          </p:cNvSpPr>
          <p:nvPr>
            <p:ph type="body" idx="1"/>
          </p:nvPr>
        </p:nvSpPr>
        <p:spPr>
          <a:xfrm>
            <a:off x="528983" y="1558507"/>
            <a:ext cx="4757392" cy="4299363"/>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n" sz="1800"/>
              <a:t>Any 4-direction password can be chosen (up, down, right, left)</a:t>
            </a:r>
            <a:endParaRPr/>
          </a:p>
          <a:p>
            <a:pPr marL="228600" lvl="0" indent="-228600" algn="l" rtl="0">
              <a:lnSpc>
                <a:spcPct val="130000"/>
              </a:lnSpc>
              <a:spcBef>
                <a:spcPts val="600"/>
              </a:spcBef>
              <a:spcAft>
                <a:spcPts val="0"/>
              </a:spcAft>
              <a:buClr>
                <a:srgbClr val="595959"/>
              </a:buClr>
              <a:buSzPts val="1800"/>
              <a:buChar char="◼"/>
            </a:pPr>
            <a:r>
              <a:rPr lang="en" sz="1800"/>
              <a:t>A password can have repeated elements.</a:t>
            </a:r>
            <a:endParaRPr/>
          </a:p>
          <a:p>
            <a:pPr marL="228600" lvl="0" indent="-228600" algn="l" rtl="0">
              <a:lnSpc>
                <a:spcPct val="130000"/>
              </a:lnSpc>
              <a:spcBef>
                <a:spcPts val="600"/>
              </a:spcBef>
              <a:spcAft>
                <a:spcPts val="0"/>
              </a:spcAft>
              <a:buClr>
                <a:srgbClr val="595959"/>
              </a:buClr>
              <a:buSzPts val="1800"/>
              <a:buChar char="◼"/>
            </a:pPr>
            <a:r>
              <a:rPr lang="en" sz="1800"/>
              <a:t>To enter a new password, you must press twice against the padlock.</a:t>
            </a:r>
            <a:endParaRPr/>
          </a:p>
          <a:p>
            <a:pPr marL="228600" lvl="0" indent="-228600" algn="l" rtl="0">
              <a:lnSpc>
                <a:spcPct val="130000"/>
              </a:lnSpc>
              <a:spcBef>
                <a:spcPts val="600"/>
              </a:spcBef>
              <a:spcAft>
                <a:spcPts val="0"/>
              </a:spcAft>
              <a:buClr>
                <a:srgbClr val="595959"/>
              </a:buClr>
              <a:buSzPts val="1800"/>
              <a:buChar char="◼"/>
            </a:pPr>
            <a:r>
              <a:rPr lang="en" sz="1800"/>
              <a:t>When the code is correct, the padlock can be opened.</a:t>
            </a:r>
            <a:endParaRPr/>
          </a:p>
          <a:p>
            <a:pPr marL="228600" lvl="0" indent="-114300" algn="l" rtl="0">
              <a:lnSpc>
                <a:spcPct val="130000"/>
              </a:lnSpc>
              <a:spcBef>
                <a:spcPts val="600"/>
              </a:spcBef>
              <a:spcAft>
                <a:spcPts val="0"/>
              </a:spcAft>
              <a:buClr>
                <a:srgbClr val="595959"/>
              </a:buClr>
              <a:buSzPts val="1800"/>
              <a:buNone/>
            </a:pPr>
            <a:endParaRPr sz="1800"/>
          </a:p>
          <a:p>
            <a:pPr marL="228600" lvl="0" indent="-114300" algn="l" rtl="0">
              <a:lnSpc>
                <a:spcPct val="130000"/>
              </a:lnSpc>
              <a:spcBef>
                <a:spcPts val="600"/>
              </a:spcBef>
              <a:spcAft>
                <a:spcPts val="0"/>
              </a:spcAft>
              <a:buSzPts val="1800"/>
              <a:buNone/>
            </a:pPr>
            <a:endParaRPr sz="1800"/>
          </a:p>
        </p:txBody>
      </p:sp>
      <p:sp>
        <p:nvSpPr>
          <p:cNvPr id="205" name="Google Shape;205;p21"/>
          <p:cNvSpPr txBox="1"/>
          <p:nvPr/>
        </p:nvSpPr>
        <p:spPr>
          <a:xfrm>
            <a:off x="474595" y="1127319"/>
            <a:ext cx="4757392" cy="369332"/>
          </a:xfrm>
          <a:prstGeom prst="rect">
            <a:avLst/>
          </a:prstGeom>
          <a:solidFill>
            <a:srgbClr val="FFAAAA">
              <a:alpha val="48235"/>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venir"/>
                <a:ea typeface="Avenir"/>
                <a:cs typeface="Avenir"/>
                <a:sym typeface="Avenir"/>
              </a:rPr>
              <a:t>Padlock </a:t>
            </a:r>
            <a:r>
              <a:rPr lang="en" sz="1800" b="1">
                <a:latin typeface="Avenir"/>
                <a:ea typeface="Avenir"/>
                <a:cs typeface="Avenir"/>
                <a:sym typeface="Avenir"/>
              </a:rPr>
              <a:t>4 </a:t>
            </a:r>
            <a:r>
              <a:rPr lang="en" sz="1800" b="1" i="0" u="none" strike="noStrike" cap="none">
                <a:solidFill>
                  <a:srgbClr val="000000"/>
                </a:solidFill>
                <a:latin typeface="Avenir"/>
                <a:ea typeface="Avenir"/>
                <a:cs typeface="Avenir"/>
                <a:sym typeface="Avenir"/>
              </a:rPr>
              <a:t>: </a:t>
            </a:r>
            <a:r>
              <a:rPr lang="en" sz="1800" i="0" u="none" strike="noStrike" cap="none">
                <a:solidFill>
                  <a:srgbClr val="000000"/>
                </a:solidFill>
                <a:latin typeface="Avenir"/>
                <a:ea typeface="Avenir"/>
                <a:cs typeface="Avenir"/>
                <a:sym typeface="Avenir"/>
              </a:rPr>
              <a:t>Directional padlock</a:t>
            </a:r>
            <a:endParaRPr sz="1400" i="0" u="none" strike="noStrike" cap="none">
              <a:solidFill>
                <a:srgbClr val="000000"/>
              </a:solidFill>
              <a:latin typeface="Avenir"/>
              <a:ea typeface="Avenir"/>
              <a:cs typeface="Avenir"/>
              <a:sym typeface="Avenir"/>
            </a:endParaRPr>
          </a:p>
        </p:txBody>
      </p:sp>
      <p:sp>
        <p:nvSpPr>
          <p:cNvPr id="206" name="Google Shape;206;p21"/>
          <p:cNvSpPr/>
          <p:nvPr/>
        </p:nvSpPr>
        <p:spPr>
          <a:xfrm>
            <a:off x="6806074" y="2304871"/>
            <a:ext cx="1317119" cy="2248258"/>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3">
              <a:alphaModFix/>
            </a:blip>
            <a:stretch>
              <a:fillRect t="-8767" r="-99956" b="-869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pic>
        <p:nvPicPr>
          <p:cNvPr id="207" name="Google Shape;207;p21" title="How to Open and Reset Masterlock Speed Dial Padlock - Mediocre Coffee"/>
          <p:cNvPicPr preferRelativeResize="0"/>
          <p:nvPr/>
        </p:nvPicPr>
        <p:blipFill rotWithShape="1">
          <a:blip r:embed="rId4">
            <a:alphaModFix/>
          </a:blip>
          <a:srcRect/>
          <a:stretch/>
        </p:blipFill>
        <p:spPr>
          <a:xfrm>
            <a:off x="2436768" y="4553129"/>
            <a:ext cx="3464499" cy="2232404"/>
          </a:xfrm>
          <a:prstGeom prst="rect">
            <a:avLst/>
          </a:prstGeom>
          <a:noFill/>
          <a:ln>
            <a:noFill/>
          </a:ln>
        </p:spPr>
      </p:pic>
      <p:sp>
        <p:nvSpPr>
          <p:cNvPr id="208" name="Google Shape;208;p21">
            <a:hlinkClick r:id="rId5"/>
          </p:cNvPr>
          <p:cNvSpPr txBox="1"/>
          <p:nvPr/>
        </p:nvSpPr>
        <p:spPr>
          <a:xfrm>
            <a:off x="5901267" y="6231495"/>
            <a:ext cx="407307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sng" strike="noStrike" cap="none">
                <a:solidFill>
                  <a:schemeClr val="hlink"/>
                </a:solidFill>
                <a:latin typeface="Arial"/>
                <a:ea typeface="Arial"/>
                <a:cs typeface="Arial"/>
                <a:sym typeface="Arial"/>
                <a:hlinkClick r:id="rId5"/>
              </a:rPr>
              <a:t>https://youtu.be/9IAfqFGM56w?t=153</a:t>
            </a:r>
            <a:endParaRPr sz="1400" b="0" i="0" u="none" strike="noStrike" cap="none">
              <a:solidFill>
                <a:srgbClr val="595959"/>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2"/>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sp>
        <p:nvSpPr>
          <p:cNvPr id="214" name="Google Shape;214;p22"/>
          <p:cNvSpPr txBox="1">
            <a:spLocks noGrp="1"/>
          </p:cNvSpPr>
          <p:nvPr>
            <p:ph type="body" idx="1"/>
          </p:nvPr>
        </p:nvSpPr>
        <p:spPr>
          <a:xfrm>
            <a:off x="528983" y="1685925"/>
            <a:ext cx="4757392" cy="4171945"/>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n" sz="1800"/>
              <a:t>You can choose any password with 3 numbers, between 0 and 39.</a:t>
            </a:r>
            <a:endParaRPr/>
          </a:p>
          <a:p>
            <a:pPr marL="228600" lvl="0" indent="-228600" algn="l" rtl="0">
              <a:lnSpc>
                <a:spcPct val="130000"/>
              </a:lnSpc>
              <a:spcBef>
                <a:spcPts val="600"/>
              </a:spcBef>
              <a:spcAft>
                <a:spcPts val="0"/>
              </a:spcAft>
              <a:buClr>
                <a:srgbClr val="595959"/>
              </a:buClr>
              <a:buSzPts val="1800"/>
              <a:buChar char="◼"/>
            </a:pPr>
            <a:r>
              <a:rPr lang="en" sz="1800"/>
              <a:t>Password supports repeated digits</a:t>
            </a:r>
            <a:endParaRPr/>
          </a:p>
          <a:p>
            <a:pPr marL="228600" lvl="0" indent="-228600" algn="l" rtl="0">
              <a:lnSpc>
                <a:spcPct val="130000"/>
              </a:lnSpc>
              <a:spcBef>
                <a:spcPts val="600"/>
              </a:spcBef>
              <a:spcAft>
                <a:spcPts val="0"/>
              </a:spcAft>
              <a:buClr>
                <a:srgbClr val="595959"/>
              </a:buClr>
              <a:buSzPts val="1800"/>
              <a:buChar char="◼"/>
            </a:pPr>
            <a:r>
              <a:rPr lang="en" sz="1800"/>
              <a:t>To enter the password: watch the video</a:t>
            </a:r>
            <a:endParaRPr/>
          </a:p>
          <a:p>
            <a:pPr marL="228600" lvl="0" indent="-114300" algn="l" rtl="0">
              <a:lnSpc>
                <a:spcPct val="130000"/>
              </a:lnSpc>
              <a:spcBef>
                <a:spcPts val="600"/>
              </a:spcBef>
              <a:spcAft>
                <a:spcPts val="0"/>
              </a:spcAft>
              <a:buClr>
                <a:srgbClr val="595959"/>
              </a:buClr>
              <a:buSzPts val="1800"/>
              <a:buNone/>
            </a:pPr>
            <a:endParaRPr sz="1800"/>
          </a:p>
          <a:p>
            <a:pPr marL="228600" lvl="0" indent="-114300" algn="l" rtl="0">
              <a:lnSpc>
                <a:spcPct val="130000"/>
              </a:lnSpc>
              <a:spcBef>
                <a:spcPts val="600"/>
              </a:spcBef>
              <a:spcAft>
                <a:spcPts val="0"/>
              </a:spcAft>
              <a:buSzPts val="1800"/>
              <a:buNone/>
            </a:pPr>
            <a:endParaRPr sz="1800"/>
          </a:p>
        </p:txBody>
      </p:sp>
      <p:sp>
        <p:nvSpPr>
          <p:cNvPr id="215" name="Google Shape;215;p22">
            <a:hlinkClick r:id="rId3"/>
          </p:cNvPr>
          <p:cNvSpPr txBox="1"/>
          <p:nvPr/>
        </p:nvSpPr>
        <p:spPr>
          <a:xfrm>
            <a:off x="4968463" y="5985288"/>
            <a:ext cx="407307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sng" strike="noStrike" cap="none">
                <a:solidFill>
                  <a:schemeClr val="hlink"/>
                </a:solidFill>
                <a:latin typeface="Arial"/>
                <a:ea typeface="Arial"/>
                <a:cs typeface="Arial"/>
                <a:sym typeface="Arial"/>
                <a:hlinkClick r:id="rId4"/>
              </a:rPr>
              <a:t>https://youtu.be/ednwKwSu7dw</a:t>
            </a:r>
            <a:r>
              <a:rPr lang="en" sz="1400" b="0" i="0" u="none" strike="noStrike" cap="none">
                <a:solidFill>
                  <a:srgbClr val="595959"/>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216" name="Google Shape;216;p22"/>
          <p:cNvSpPr txBox="1"/>
          <p:nvPr/>
        </p:nvSpPr>
        <p:spPr>
          <a:xfrm>
            <a:off x="469563" y="1189175"/>
            <a:ext cx="4816812" cy="369332"/>
          </a:xfrm>
          <a:prstGeom prst="rect">
            <a:avLst/>
          </a:prstGeom>
          <a:solidFill>
            <a:srgbClr val="7030A0">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venir"/>
                <a:ea typeface="Avenir"/>
                <a:cs typeface="Avenir"/>
                <a:sym typeface="Avenir"/>
              </a:rPr>
              <a:t>Padlock </a:t>
            </a:r>
            <a:r>
              <a:rPr lang="en" sz="1800" b="1">
                <a:latin typeface="Avenir"/>
                <a:ea typeface="Avenir"/>
                <a:cs typeface="Avenir"/>
                <a:sym typeface="Avenir"/>
              </a:rPr>
              <a:t>5 </a:t>
            </a:r>
            <a:r>
              <a:rPr lang="en" sz="1800" b="1" i="0" u="none" strike="noStrike" cap="none">
                <a:solidFill>
                  <a:srgbClr val="000000"/>
                </a:solidFill>
                <a:latin typeface="Avenir"/>
                <a:ea typeface="Avenir"/>
                <a:cs typeface="Avenir"/>
                <a:sym typeface="Avenir"/>
              </a:rPr>
              <a:t>: </a:t>
            </a:r>
            <a:r>
              <a:rPr lang="en" sz="1800" i="0" u="none" strike="noStrike" cap="none">
                <a:solidFill>
                  <a:srgbClr val="000000"/>
                </a:solidFill>
                <a:latin typeface="Avenir"/>
                <a:ea typeface="Avenir"/>
                <a:cs typeface="Avenir"/>
                <a:sym typeface="Avenir"/>
              </a:rPr>
              <a:t>Safe Padlock</a:t>
            </a:r>
            <a:endParaRPr sz="1400" i="0" u="none" strike="noStrike" cap="none">
              <a:solidFill>
                <a:srgbClr val="000000"/>
              </a:solidFill>
              <a:latin typeface="Avenir"/>
              <a:ea typeface="Avenir"/>
              <a:cs typeface="Avenir"/>
              <a:sym typeface="Avenir"/>
            </a:endParaRPr>
          </a:p>
        </p:txBody>
      </p:sp>
      <p:sp>
        <p:nvSpPr>
          <p:cNvPr id="217" name="Google Shape;217;p22"/>
          <p:cNvSpPr/>
          <p:nvPr/>
        </p:nvSpPr>
        <p:spPr>
          <a:xfrm>
            <a:off x="6543674" y="2357437"/>
            <a:ext cx="1953957" cy="2043057"/>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entury Gothic"/>
              <a:ea typeface="Century Gothic"/>
              <a:cs typeface="Century Gothic"/>
              <a:sym typeface="Century Gothic"/>
            </a:endParaRPr>
          </a:p>
        </p:txBody>
      </p:sp>
      <p:pic>
        <p:nvPicPr>
          <p:cNvPr id="218" name="Google Shape;218;p22" title="Cómo usar candado Master Lock de combinación modelo 1500D"/>
          <p:cNvPicPr preferRelativeResize="0"/>
          <p:nvPr/>
        </p:nvPicPr>
        <p:blipFill rotWithShape="1">
          <a:blip r:embed="rId6">
            <a:alphaModFix/>
          </a:blip>
          <a:srcRect/>
          <a:stretch/>
        </p:blipFill>
        <p:spPr>
          <a:xfrm>
            <a:off x="539154" y="3771897"/>
            <a:ext cx="4419138" cy="24948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3"/>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sp>
        <p:nvSpPr>
          <p:cNvPr id="224" name="Google Shape;224;p23"/>
          <p:cNvSpPr txBox="1">
            <a:spLocks noGrp="1"/>
          </p:cNvSpPr>
          <p:nvPr>
            <p:ph type="body" idx="1"/>
          </p:nvPr>
        </p:nvSpPr>
        <p:spPr>
          <a:xfrm>
            <a:off x="528983" y="1685925"/>
            <a:ext cx="4757400" cy="41718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Clr>
                <a:srgbClr val="595959"/>
              </a:buClr>
              <a:buSzPts val="1800"/>
              <a:buChar char="◼"/>
            </a:pPr>
            <a:r>
              <a:rPr lang="en" sz="1800"/>
              <a:t>You can choose any password with 4 numbers, letters and special characters.</a:t>
            </a:r>
            <a:endParaRPr/>
          </a:p>
          <a:p>
            <a:pPr marL="228600" lvl="0" indent="-228600" algn="l" rtl="0">
              <a:lnSpc>
                <a:spcPct val="130000"/>
              </a:lnSpc>
              <a:spcBef>
                <a:spcPts val="600"/>
              </a:spcBef>
              <a:spcAft>
                <a:spcPts val="0"/>
              </a:spcAft>
              <a:buClr>
                <a:srgbClr val="595959"/>
              </a:buClr>
              <a:buSzPts val="1800"/>
              <a:buChar char="◼"/>
            </a:pPr>
            <a:r>
              <a:rPr lang="en" sz="1800"/>
              <a:t>Password supports repeated elements</a:t>
            </a:r>
            <a:endParaRPr sz="1800"/>
          </a:p>
          <a:p>
            <a:pPr marL="228600" lvl="0" indent="-228600" algn="l" rtl="0">
              <a:lnSpc>
                <a:spcPct val="130000"/>
              </a:lnSpc>
              <a:spcBef>
                <a:spcPts val="600"/>
              </a:spcBef>
              <a:spcAft>
                <a:spcPts val="0"/>
              </a:spcAft>
              <a:buClr>
                <a:srgbClr val="595959"/>
              </a:buClr>
              <a:buSzPts val="1800"/>
              <a:buChar char="◼"/>
            </a:pPr>
            <a:r>
              <a:rPr lang="en" sz="1800"/>
              <a:t>Only 10 items are available on each disc.</a:t>
            </a:r>
            <a:endParaRPr/>
          </a:p>
          <a:p>
            <a:pPr marL="228600" lvl="0" indent="-228600" algn="l" rtl="0">
              <a:lnSpc>
                <a:spcPct val="130000"/>
              </a:lnSpc>
              <a:spcBef>
                <a:spcPts val="600"/>
              </a:spcBef>
              <a:spcAft>
                <a:spcPts val="0"/>
              </a:spcAft>
              <a:buClr>
                <a:srgbClr val="595959"/>
              </a:buClr>
              <a:buSzPts val="1800"/>
              <a:buChar char="◼"/>
            </a:pPr>
            <a:r>
              <a:rPr lang="en" sz="1800"/>
              <a:t>There are repeated elements on the different discs.</a:t>
            </a:r>
            <a:endParaRPr/>
          </a:p>
          <a:p>
            <a:pPr marL="228600" lvl="0" indent="-228600" algn="l" rtl="0">
              <a:lnSpc>
                <a:spcPct val="130000"/>
              </a:lnSpc>
              <a:spcBef>
                <a:spcPts val="600"/>
              </a:spcBef>
              <a:spcAft>
                <a:spcPts val="0"/>
              </a:spcAft>
              <a:buClr>
                <a:srgbClr val="595959"/>
              </a:buClr>
              <a:buSzPts val="1800"/>
              <a:buChar char="◼"/>
            </a:pPr>
            <a:r>
              <a:rPr lang="en" sz="1800"/>
              <a:t>To open it, the discs must be moved so that the password appears in the position next to the tab.</a:t>
            </a:r>
            <a:endParaRPr sz="1800"/>
          </a:p>
          <a:p>
            <a:pPr marL="457200" lvl="0" indent="0" algn="l" rtl="0">
              <a:lnSpc>
                <a:spcPct val="130000"/>
              </a:lnSpc>
              <a:spcBef>
                <a:spcPts val="600"/>
              </a:spcBef>
              <a:spcAft>
                <a:spcPts val="0"/>
              </a:spcAft>
              <a:buNone/>
            </a:pPr>
            <a:endParaRPr/>
          </a:p>
          <a:p>
            <a:pPr marL="228600" lvl="0" indent="-114300" algn="l" rtl="0">
              <a:lnSpc>
                <a:spcPct val="130000"/>
              </a:lnSpc>
              <a:spcBef>
                <a:spcPts val="600"/>
              </a:spcBef>
              <a:spcAft>
                <a:spcPts val="0"/>
              </a:spcAft>
              <a:buClr>
                <a:srgbClr val="595959"/>
              </a:buClr>
              <a:buSzPts val="1800"/>
              <a:buNone/>
            </a:pPr>
            <a:endParaRPr sz="1800"/>
          </a:p>
          <a:p>
            <a:pPr marL="228600" lvl="0" indent="-114300" algn="l" rtl="0">
              <a:lnSpc>
                <a:spcPct val="130000"/>
              </a:lnSpc>
              <a:spcBef>
                <a:spcPts val="600"/>
              </a:spcBef>
              <a:spcAft>
                <a:spcPts val="0"/>
              </a:spcAft>
              <a:buSzPts val="1800"/>
              <a:buNone/>
            </a:pPr>
            <a:endParaRPr sz="1800"/>
          </a:p>
        </p:txBody>
      </p:sp>
      <p:sp>
        <p:nvSpPr>
          <p:cNvPr id="225" name="Google Shape;225;p23"/>
          <p:cNvSpPr txBox="1"/>
          <p:nvPr/>
        </p:nvSpPr>
        <p:spPr>
          <a:xfrm>
            <a:off x="469582" y="1189175"/>
            <a:ext cx="7541400" cy="369300"/>
          </a:xfrm>
          <a:prstGeom prst="rect">
            <a:avLst/>
          </a:prstGeom>
          <a:solidFill>
            <a:srgbClr val="CFE2F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venir"/>
                <a:ea typeface="Avenir"/>
                <a:cs typeface="Avenir"/>
                <a:sym typeface="Avenir"/>
              </a:rPr>
              <a:t>Padlock </a:t>
            </a:r>
            <a:r>
              <a:rPr lang="en" sz="1800" b="1">
                <a:latin typeface="Avenir"/>
                <a:ea typeface="Avenir"/>
                <a:cs typeface="Avenir"/>
                <a:sym typeface="Avenir"/>
              </a:rPr>
              <a:t>6 </a:t>
            </a:r>
            <a:r>
              <a:rPr lang="en" sz="1800" b="1" i="0" u="none" strike="noStrike" cap="none">
                <a:solidFill>
                  <a:srgbClr val="000000"/>
                </a:solidFill>
                <a:latin typeface="Avenir"/>
                <a:ea typeface="Avenir"/>
                <a:cs typeface="Avenir"/>
                <a:sym typeface="Avenir"/>
              </a:rPr>
              <a:t>: </a:t>
            </a:r>
            <a:r>
              <a:rPr lang="en" sz="1800" i="0" u="none" strike="noStrike" cap="none">
                <a:solidFill>
                  <a:srgbClr val="000000"/>
                </a:solidFill>
                <a:latin typeface="Avenir"/>
                <a:ea typeface="Avenir"/>
                <a:cs typeface="Avenir"/>
                <a:sym typeface="Avenir"/>
              </a:rPr>
              <a:t>Padlock </a:t>
            </a:r>
            <a:r>
              <a:rPr lang="en" sz="1800">
                <a:latin typeface="Avenir"/>
                <a:ea typeface="Avenir"/>
                <a:cs typeface="Avenir"/>
                <a:sym typeface="Avenir"/>
              </a:rPr>
              <a:t>with numbers, letters and special characters</a:t>
            </a:r>
            <a:endParaRPr sz="1400" i="0" u="none" strike="noStrike" cap="none">
              <a:solidFill>
                <a:srgbClr val="000000"/>
              </a:solidFill>
              <a:latin typeface="Avenir"/>
              <a:ea typeface="Avenir"/>
              <a:cs typeface="Avenir"/>
              <a:sym typeface="Avenir"/>
            </a:endParaRPr>
          </a:p>
        </p:txBody>
      </p:sp>
      <p:pic>
        <p:nvPicPr>
          <p:cNvPr id="226" name="Google Shape;226;p23"/>
          <p:cNvPicPr preferRelativeResize="0"/>
          <p:nvPr/>
        </p:nvPicPr>
        <p:blipFill>
          <a:blip r:embed="rId3">
            <a:alphaModFix/>
          </a:blip>
          <a:stretch>
            <a:fillRect/>
          </a:stretch>
        </p:blipFill>
        <p:spPr>
          <a:xfrm>
            <a:off x="6440033" y="2686303"/>
            <a:ext cx="1685925" cy="1571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4"/>
          <p:cNvSpPr txBox="1">
            <a:spLocks noGrp="1"/>
          </p:cNvSpPr>
          <p:nvPr>
            <p:ph type="body" idx="1"/>
          </p:nvPr>
        </p:nvSpPr>
        <p:spPr>
          <a:xfrm>
            <a:off x="373071" y="1932836"/>
            <a:ext cx="83979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n" sz="2800" b="1" i="1"/>
              <a:t>Q </a:t>
            </a:r>
            <a:r>
              <a:rPr lang="en" sz="2800" b="1" baseline="-25000"/>
              <a:t>1 </a:t>
            </a:r>
            <a:r>
              <a:rPr lang="en" sz="2800" b="1"/>
              <a:t>: How many different codes does each padlock support?</a:t>
            </a:r>
            <a:endParaRPr/>
          </a:p>
          <a:p>
            <a:pPr marL="228600" lvl="0" indent="-101600" algn="l" rtl="0">
              <a:lnSpc>
                <a:spcPct val="130000"/>
              </a:lnSpc>
              <a:spcBef>
                <a:spcPts val="600"/>
              </a:spcBef>
              <a:spcAft>
                <a:spcPts val="0"/>
              </a:spcAft>
              <a:buSzPts val="2000"/>
              <a:buNone/>
            </a:pPr>
            <a:endParaRPr/>
          </a:p>
        </p:txBody>
      </p:sp>
      <p:sp>
        <p:nvSpPr>
          <p:cNvPr id="233" name="Google Shape;233;p24"/>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pic>
        <p:nvPicPr>
          <p:cNvPr id="234" name="Google Shape;234;p24" descr="Imagen que contiene tabla, interior, diferente, artículos&#10;&#10;Descripción generada automáticamente"/>
          <p:cNvPicPr preferRelativeResize="0"/>
          <p:nvPr/>
        </p:nvPicPr>
        <p:blipFill rotWithShape="1">
          <a:blip r:embed="rId3">
            <a:alphaModFix/>
          </a:blip>
          <a:srcRect b="21352"/>
          <a:stretch/>
        </p:blipFill>
        <p:spPr>
          <a:xfrm>
            <a:off x="1465919" y="2933084"/>
            <a:ext cx="6212161" cy="132459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5"/>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Font typeface="Avenir"/>
              <a:buChar char="◼"/>
            </a:pPr>
            <a:r>
              <a:rPr lang="en"/>
              <a:t>Sharing the answers found in Q1</a:t>
            </a:r>
            <a:endParaRPr b="1">
              <a:solidFill>
                <a:srgbClr val="7030A0"/>
              </a:solidFill>
            </a:endParaRPr>
          </a:p>
        </p:txBody>
      </p:sp>
      <p:sp>
        <p:nvSpPr>
          <p:cNvPr id="240" name="Google Shape;240;p25"/>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pic>
        <p:nvPicPr>
          <p:cNvPr id="241" name="Google Shape;241;p25" descr="Free Vectors | whiteboard frame"/>
          <p:cNvPicPr preferRelativeResize="0"/>
          <p:nvPr/>
        </p:nvPicPr>
        <p:blipFill rotWithShape="1">
          <a:blip r:embed="rId3">
            <a:alphaModFix/>
          </a:blip>
          <a:srcRect/>
          <a:stretch/>
        </p:blipFill>
        <p:spPr>
          <a:xfrm>
            <a:off x="575774" y="1814101"/>
            <a:ext cx="7540799" cy="46525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245"/>
        <p:cNvGrpSpPr/>
        <p:nvPr/>
      </p:nvGrpSpPr>
      <p:grpSpPr>
        <a:xfrm>
          <a:off x="0" y="0"/>
          <a:ext cx="0" cy="0"/>
          <a:chOff x="0" y="0"/>
          <a:chExt cx="0" cy="0"/>
        </a:xfrm>
      </p:grpSpPr>
      <p:sp>
        <p:nvSpPr>
          <p:cNvPr id="246" name="Google Shape;246;p26"/>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a:t>Sharing the answers found in Q1</a:t>
            </a:r>
            <a:endParaRPr b="1">
              <a:solidFill>
                <a:srgbClr val="7030A0"/>
              </a:solidFill>
            </a:endParaRPr>
          </a:p>
        </p:txBody>
      </p:sp>
      <p:sp>
        <p:nvSpPr>
          <p:cNvPr id="247" name="Google Shape;247;p26"/>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grpSp>
        <p:nvGrpSpPr>
          <p:cNvPr id="248" name="Google Shape;248;p26"/>
          <p:cNvGrpSpPr/>
          <p:nvPr/>
        </p:nvGrpSpPr>
        <p:grpSpPr>
          <a:xfrm>
            <a:off x="1214079" y="2025589"/>
            <a:ext cx="6288810" cy="3880039"/>
            <a:chOff x="271837" y="2031639"/>
            <a:chExt cx="3908035" cy="2343443"/>
          </a:xfrm>
        </p:grpSpPr>
        <p:pic>
          <p:nvPicPr>
            <p:cNvPr id="249" name="Google Shape;249;p26" descr="Free Vectors | whiteboard frame"/>
            <p:cNvPicPr preferRelativeResize="0"/>
            <p:nvPr/>
          </p:nvPicPr>
          <p:blipFill rotWithShape="1">
            <a:blip r:embed="rId3">
              <a:alphaModFix/>
            </a:blip>
            <a:srcRect/>
            <a:stretch/>
          </p:blipFill>
          <p:spPr>
            <a:xfrm>
              <a:off x="271837" y="2031639"/>
              <a:ext cx="3908035" cy="2343443"/>
            </a:xfrm>
            <a:prstGeom prst="rect">
              <a:avLst/>
            </a:prstGeom>
            <a:noFill/>
            <a:ln>
              <a:noFill/>
            </a:ln>
          </p:spPr>
        </p:pic>
        <p:sp>
          <p:nvSpPr>
            <p:cNvPr id="250" name="Google Shape;250;p26"/>
            <p:cNvSpPr/>
            <p:nvPr/>
          </p:nvSpPr>
          <p:spPr>
            <a:xfrm>
              <a:off x="511528" y="2357032"/>
              <a:ext cx="3605035" cy="223068"/>
            </a:xfrm>
            <a:custGeom>
              <a:avLst/>
              <a:gdLst/>
              <a:ahLst/>
              <a:cxnLst/>
              <a:rect l="l" t="t" r="r" b="b"/>
              <a:pathLst>
                <a:path w="3605035" h="223068" extrusionOk="0">
                  <a:moveTo>
                    <a:pt x="0" y="0"/>
                  </a:moveTo>
                  <a:cubicBezTo>
                    <a:pt x="144409" y="-35405"/>
                    <a:pt x="287784" y="10178"/>
                    <a:pt x="551055" y="0"/>
                  </a:cubicBezTo>
                  <a:cubicBezTo>
                    <a:pt x="814326" y="-10178"/>
                    <a:pt x="867533" y="10017"/>
                    <a:pt x="1102111" y="0"/>
                  </a:cubicBezTo>
                  <a:cubicBezTo>
                    <a:pt x="1336689" y="-10017"/>
                    <a:pt x="1500061" y="2803"/>
                    <a:pt x="1689216" y="0"/>
                  </a:cubicBezTo>
                  <a:cubicBezTo>
                    <a:pt x="1878372" y="-2803"/>
                    <a:pt x="2012354" y="36077"/>
                    <a:pt x="2096070" y="0"/>
                  </a:cubicBezTo>
                  <a:cubicBezTo>
                    <a:pt x="2179786" y="-36077"/>
                    <a:pt x="2370763" y="45257"/>
                    <a:pt x="2502924" y="0"/>
                  </a:cubicBezTo>
                  <a:cubicBezTo>
                    <a:pt x="2635085" y="-45257"/>
                    <a:pt x="2833321" y="5221"/>
                    <a:pt x="2945829" y="0"/>
                  </a:cubicBezTo>
                  <a:cubicBezTo>
                    <a:pt x="3058338" y="-5221"/>
                    <a:pt x="3345857" y="52023"/>
                    <a:pt x="3605035" y="0"/>
                  </a:cubicBezTo>
                  <a:cubicBezTo>
                    <a:pt x="3605054" y="46906"/>
                    <a:pt x="3583547" y="123447"/>
                    <a:pt x="3605035" y="223068"/>
                  </a:cubicBezTo>
                  <a:cubicBezTo>
                    <a:pt x="3461733" y="244143"/>
                    <a:pt x="3260523" y="217709"/>
                    <a:pt x="3090030" y="223068"/>
                  </a:cubicBezTo>
                  <a:cubicBezTo>
                    <a:pt x="2919538" y="228427"/>
                    <a:pt x="2779029" y="178225"/>
                    <a:pt x="2538975" y="223068"/>
                  </a:cubicBezTo>
                  <a:cubicBezTo>
                    <a:pt x="2298921" y="267911"/>
                    <a:pt x="2298725" y="174002"/>
                    <a:pt x="2096070" y="223068"/>
                  </a:cubicBezTo>
                  <a:cubicBezTo>
                    <a:pt x="1893415" y="272134"/>
                    <a:pt x="1732520" y="200127"/>
                    <a:pt x="1581065" y="223068"/>
                  </a:cubicBezTo>
                  <a:cubicBezTo>
                    <a:pt x="1429611" y="246009"/>
                    <a:pt x="1325803" y="179249"/>
                    <a:pt x="1138161" y="223068"/>
                  </a:cubicBezTo>
                  <a:cubicBezTo>
                    <a:pt x="950519" y="266887"/>
                    <a:pt x="832095" y="177396"/>
                    <a:pt x="731307" y="223068"/>
                  </a:cubicBezTo>
                  <a:cubicBezTo>
                    <a:pt x="630519" y="268740"/>
                    <a:pt x="359530" y="174378"/>
                    <a:pt x="0" y="223068"/>
                  </a:cubicBezTo>
                  <a:cubicBezTo>
                    <a:pt x="-3064" y="128565"/>
                    <a:pt x="24028" y="110757"/>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none" strike="noStrike" cap="none">
                  <a:solidFill>
                    <a:srgbClr val="7030A0"/>
                  </a:solidFill>
                  <a:latin typeface="Avenir"/>
                  <a:ea typeface="Avenir"/>
                  <a:cs typeface="Avenir"/>
                  <a:sym typeface="Avenir"/>
                </a:rPr>
                <a:t>There are equivalent padlocks</a:t>
              </a:r>
              <a:endParaRPr sz="1200" b="1" i="0" u="none" strike="noStrike" cap="none">
                <a:solidFill>
                  <a:srgbClr val="000000"/>
                </a:solidFill>
                <a:latin typeface="Avenir"/>
                <a:ea typeface="Avenir"/>
                <a:cs typeface="Avenir"/>
                <a:sym typeface="Avenir"/>
              </a:endParaRPr>
            </a:p>
          </p:txBody>
        </p:sp>
      </p:grpSp>
      <p:sp>
        <p:nvSpPr>
          <p:cNvPr id="251" name="Google Shape;251;p26"/>
          <p:cNvSpPr/>
          <p:nvPr/>
        </p:nvSpPr>
        <p:spPr>
          <a:xfrm>
            <a:off x="4751307" y="2179894"/>
            <a:ext cx="717487" cy="751360"/>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4">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2" name="Google Shape;252;p26"/>
          <p:cNvSpPr/>
          <p:nvPr/>
        </p:nvSpPr>
        <p:spPr>
          <a:xfrm>
            <a:off x="5716939" y="2208058"/>
            <a:ext cx="719322" cy="756022"/>
          </a:xfrm>
          <a:custGeom>
            <a:avLst/>
            <a:gdLst/>
            <a:ahLst/>
            <a:cxnLst/>
            <a:rect l="l" t="t" r="r" b="b"/>
            <a:pathLst>
              <a:path w="2936009" h="2936009" extrusionOk="0">
                <a:moveTo>
                  <a:pt x="0" y="0"/>
                </a:moveTo>
                <a:lnTo>
                  <a:pt x="2936009" y="0"/>
                </a:lnTo>
                <a:lnTo>
                  <a:pt x="2936009" y="2936010"/>
                </a:lnTo>
                <a:lnTo>
                  <a:pt x="0" y="2936010"/>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3" name="Google Shape;253;p26"/>
          <p:cNvSpPr/>
          <p:nvPr/>
        </p:nvSpPr>
        <p:spPr>
          <a:xfrm>
            <a:off x="1599798" y="3246177"/>
            <a:ext cx="4240198" cy="369332"/>
          </a:xfrm>
          <a:custGeom>
            <a:avLst/>
            <a:gdLst/>
            <a:ahLst/>
            <a:cxnLst/>
            <a:rect l="l" t="t" r="r" b="b"/>
            <a:pathLst>
              <a:path w="4240198" h="369332" extrusionOk="0">
                <a:moveTo>
                  <a:pt x="0" y="0"/>
                </a:moveTo>
                <a:cubicBezTo>
                  <a:pt x="129873" y="-18891"/>
                  <a:pt x="361051" y="11791"/>
                  <a:pt x="572427" y="0"/>
                </a:cubicBezTo>
                <a:cubicBezTo>
                  <a:pt x="783803" y="-11791"/>
                  <a:pt x="902014" y="45349"/>
                  <a:pt x="1144853" y="0"/>
                </a:cubicBezTo>
                <a:cubicBezTo>
                  <a:pt x="1387692" y="-45349"/>
                  <a:pt x="1556747" y="48060"/>
                  <a:pt x="1759682" y="0"/>
                </a:cubicBezTo>
                <a:cubicBezTo>
                  <a:pt x="1962617" y="-48060"/>
                  <a:pt x="2003472" y="35221"/>
                  <a:pt x="2162501" y="0"/>
                </a:cubicBezTo>
                <a:cubicBezTo>
                  <a:pt x="2321530" y="-35221"/>
                  <a:pt x="2375707" y="17383"/>
                  <a:pt x="2565320" y="0"/>
                </a:cubicBezTo>
                <a:cubicBezTo>
                  <a:pt x="2754933" y="-17383"/>
                  <a:pt x="2874679" y="25254"/>
                  <a:pt x="3010541" y="0"/>
                </a:cubicBezTo>
                <a:cubicBezTo>
                  <a:pt x="3146403" y="-25254"/>
                  <a:pt x="3299887" y="21367"/>
                  <a:pt x="3455761" y="0"/>
                </a:cubicBezTo>
                <a:cubicBezTo>
                  <a:pt x="3611635" y="-21367"/>
                  <a:pt x="3955163" y="31865"/>
                  <a:pt x="4240198" y="0"/>
                </a:cubicBezTo>
                <a:cubicBezTo>
                  <a:pt x="4267740" y="164922"/>
                  <a:pt x="4205588" y="274453"/>
                  <a:pt x="4240198" y="369332"/>
                </a:cubicBezTo>
                <a:cubicBezTo>
                  <a:pt x="4126409" y="378379"/>
                  <a:pt x="3910162" y="363727"/>
                  <a:pt x="3710173" y="369332"/>
                </a:cubicBezTo>
                <a:cubicBezTo>
                  <a:pt x="3510184" y="374937"/>
                  <a:pt x="3358220" y="345226"/>
                  <a:pt x="3264952" y="369332"/>
                </a:cubicBezTo>
                <a:cubicBezTo>
                  <a:pt x="3171684" y="393438"/>
                  <a:pt x="2955274" y="349777"/>
                  <a:pt x="2734928" y="369332"/>
                </a:cubicBezTo>
                <a:cubicBezTo>
                  <a:pt x="2514582" y="388887"/>
                  <a:pt x="2415255" y="368605"/>
                  <a:pt x="2289707" y="369332"/>
                </a:cubicBezTo>
                <a:cubicBezTo>
                  <a:pt x="2164159" y="370059"/>
                  <a:pt x="2087062" y="354049"/>
                  <a:pt x="1886888" y="369332"/>
                </a:cubicBezTo>
                <a:cubicBezTo>
                  <a:pt x="1686714" y="384615"/>
                  <a:pt x="1436648" y="366972"/>
                  <a:pt x="1314461" y="369332"/>
                </a:cubicBezTo>
                <a:cubicBezTo>
                  <a:pt x="1192274" y="371692"/>
                  <a:pt x="943232" y="323689"/>
                  <a:pt x="699633" y="369332"/>
                </a:cubicBezTo>
                <a:cubicBezTo>
                  <a:pt x="456034" y="414975"/>
                  <a:pt x="154133" y="354419"/>
                  <a:pt x="0" y="369332"/>
                </a:cubicBezTo>
                <a:cubicBezTo>
                  <a:pt x="-20753" y="194689"/>
                  <a:pt x="25735" y="10677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none" strike="noStrike" cap="none">
                <a:solidFill>
                  <a:srgbClr val="7030A0"/>
                </a:solidFill>
                <a:latin typeface="Avenir"/>
                <a:ea typeface="Avenir"/>
                <a:cs typeface="Avenir"/>
                <a:sym typeface="Avenir"/>
              </a:rPr>
              <a:t>There are difficult padlocks to enter the codes.</a:t>
            </a:r>
            <a:endParaRPr sz="1200" i="0" u="none" strike="noStrike" cap="none">
              <a:solidFill>
                <a:srgbClr val="000000"/>
              </a:solidFill>
              <a:latin typeface="Avenir"/>
              <a:ea typeface="Avenir"/>
              <a:cs typeface="Avenir"/>
              <a:sym typeface="Avenir"/>
            </a:endParaRPr>
          </a:p>
        </p:txBody>
      </p:sp>
      <p:sp>
        <p:nvSpPr>
          <p:cNvPr id="254" name="Google Shape;254;p26"/>
          <p:cNvSpPr/>
          <p:nvPr/>
        </p:nvSpPr>
        <p:spPr>
          <a:xfrm rot="-176140">
            <a:off x="5929255" y="2990514"/>
            <a:ext cx="421302" cy="717167"/>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5" name="Google Shape;255;p26"/>
          <p:cNvSpPr/>
          <p:nvPr/>
        </p:nvSpPr>
        <p:spPr>
          <a:xfrm>
            <a:off x="6460665" y="3015819"/>
            <a:ext cx="715334" cy="693874"/>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000000"/>
              </a:solidFill>
              <a:latin typeface="Calibri"/>
              <a:ea typeface="Calibri"/>
              <a:cs typeface="Calibri"/>
              <a:sym typeface="Calibri"/>
            </a:endParaRPr>
          </a:p>
        </p:txBody>
      </p:sp>
      <p:sp>
        <p:nvSpPr>
          <p:cNvPr id="256" name="Google Shape;256;p26"/>
          <p:cNvSpPr/>
          <p:nvPr/>
        </p:nvSpPr>
        <p:spPr>
          <a:xfrm>
            <a:off x="1670985" y="3825677"/>
            <a:ext cx="4240198" cy="369332"/>
          </a:xfrm>
          <a:custGeom>
            <a:avLst/>
            <a:gdLst/>
            <a:ahLst/>
            <a:cxnLst/>
            <a:rect l="l" t="t" r="r" b="b"/>
            <a:pathLst>
              <a:path w="4240198" h="369332" extrusionOk="0">
                <a:moveTo>
                  <a:pt x="0" y="0"/>
                </a:moveTo>
                <a:cubicBezTo>
                  <a:pt x="129873" y="-18891"/>
                  <a:pt x="361051" y="11791"/>
                  <a:pt x="572427" y="0"/>
                </a:cubicBezTo>
                <a:cubicBezTo>
                  <a:pt x="783803" y="-11791"/>
                  <a:pt x="902014" y="45349"/>
                  <a:pt x="1144853" y="0"/>
                </a:cubicBezTo>
                <a:cubicBezTo>
                  <a:pt x="1387692" y="-45349"/>
                  <a:pt x="1556747" y="48060"/>
                  <a:pt x="1759682" y="0"/>
                </a:cubicBezTo>
                <a:cubicBezTo>
                  <a:pt x="1962617" y="-48060"/>
                  <a:pt x="2003472" y="35221"/>
                  <a:pt x="2162501" y="0"/>
                </a:cubicBezTo>
                <a:cubicBezTo>
                  <a:pt x="2321530" y="-35221"/>
                  <a:pt x="2375707" y="17383"/>
                  <a:pt x="2565320" y="0"/>
                </a:cubicBezTo>
                <a:cubicBezTo>
                  <a:pt x="2754933" y="-17383"/>
                  <a:pt x="2874679" y="25254"/>
                  <a:pt x="3010541" y="0"/>
                </a:cubicBezTo>
                <a:cubicBezTo>
                  <a:pt x="3146403" y="-25254"/>
                  <a:pt x="3299887" y="21367"/>
                  <a:pt x="3455761" y="0"/>
                </a:cubicBezTo>
                <a:cubicBezTo>
                  <a:pt x="3611635" y="-21367"/>
                  <a:pt x="3955163" y="31865"/>
                  <a:pt x="4240198" y="0"/>
                </a:cubicBezTo>
                <a:cubicBezTo>
                  <a:pt x="4267740" y="164922"/>
                  <a:pt x="4205588" y="274453"/>
                  <a:pt x="4240198" y="369332"/>
                </a:cubicBezTo>
                <a:cubicBezTo>
                  <a:pt x="4126409" y="378379"/>
                  <a:pt x="3910162" y="363727"/>
                  <a:pt x="3710173" y="369332"/>
                </a:cubicBezTo>
                <a:cubicBezTo>
                  <a:pt x="3510184" y="374937"/>
                  <a:pt x="3358220" y="345226"/>
                  <a:pt x="3264952" y="369332"/>
                </a:cubicBezTo>
                <a:cubicBezTo>
                  <a:pt x="3171684" y="393438"/>
                  <a:pt x="2955274" y="349777"/>
                  <a:pt x="2734928" y="369332"/>
                </a:cubicBezTo>
                <a:cubicBezTo>
                  <a:pt x="2514582" y="388887"/>
                  <a:pt x="2415255" y="368605"/>
                  <a:pt x="2289707" y="369332"/>
                </a:cubicBezTo>
                <a:cubicBezTo>
                  <a:pt x="2164159" y="370059"/>
                  <a:pt x="2087062" y="354049"/>
                  <a:pt x="1886888" y="369332"/>
                </a:cubicBezTo>
                <a:cubicBezTo>
                  <a:pt x="1686714" y="384615"/>
                  <a:pt x="1436648" y="366972"/>
                  <a:pt x="1314461" y="369332"/>
                </a:cubicBezTo>
                <a:cubicBezTo>
                  <a:pt x="1192274" y="371692"/>
                  <a:pt x="943232" y="323689"/>
                  <a:pt x="699633" y="369332"/>
                </a:cubicBezTo>
                <a:cubicBezTo>
                  <a:pt x="456034" y="414975"/>
                  <a:pt x="154133" y="354419"/>
                  <a:pt x="0" y="369332"/>
                </a:cubicBezTo>
                <a:cubicBezTo>
                  <a:pt x="-20753" y="194689"/>
                  <a:pt x="25735" y="10677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none" strike="noStrike" cap="none">
                <a:solidFill>
                  <a:srgbClr val="7030A0"/>
                </a:solidFill>
                <a:latin typeface="Avenir"/>
                <a:ea typeface="Avenir"/>
                <a:cs typeface="Avenir"/>
                <a:sym typeface="Avenir"/>
              </a:rPr>
              <a:t>Number of codes supported:</a:t>
            </a:r>
            <a:endParaRPr sz="1200" i="0" u="none" strike="noStrike" cap="none">
              <a:solidFill>
                <a:srgbClr val="000000"/>
              </a:solidFill>
              <a:latin typeface="Avenir"/>
              <a:ea typeface="Avenir"/>
              <a:cs typeface="Avenir"/>
              <a:sym typeface="Avenir"/>
            </a:endParaRPr>
          </a:p>
        </p:txBody>
      </p:sp>
      <p:pic>
        <p:nvPicPr>
          <p:cNvPr id="257" name="Google Shape;257;p26" descr="Imagen que contiene tabla, interior, diferente, artículos&#10;&#10;Descripción generada automáticamente"/>
          <p:cNvPicPr preferRelativeResize="0"/>
          <p:nvPr/>
        </p:nvPicPr>
        <p:blipFill rotWithShape="1">
          <a:blip r:embed="rId8">
            <a:alphaModFix/>
          </a:blip>
          <a:srcRect b="21352"/>
          <a:stretch/>
        </p:blipFill>
        <p:spPr>
          <a:xfrm>
            <a:off x="2847163" y="4297519"/>
            <a:ext cx="3449673" cy="735559"/>
          </a:xfrm>
          <a:prstGeom prst="rect">
            <a:avLst/>
          </a:prstGeom>
          <a:noFill/>
          <a:ln>
            <a:noFill/>
          </a:ln>
        </p:spPr>
      </p:pic>
      <p:sp>
        <p:nvSpPr>
          <p:cNvPr id="258" name="Google Shape;258;p26"/>
          <p:cNvSpPr/>
          <p:nvPr/>
        </p:nvSpPr>
        <p:spPr>
          <a:xfrm>
            <a:off x="2740036" y="5191095"/>
            <a:ext cx="3838571" cy="276999"/>
          </a:xfrm>
          <a:custGeom>
            <a:avLst/>
            <a:gdLst/>
            <a:ahLst/>
            <a:cxnLst/>
            <a:rect l="l" t="t" r="r" b="b"/>
            <a:pathLst>
              <a:path w="3838571" h="276999" extrusionOk="0">
                <a:moveTo>
                  <a:pt x="0" y="0"/>
                </a:moveTo>
                <a:cubicBezTo>
                  <a:pt x="144258" y="-10195"/>
                  <a:pt x="347996" y="17332"/>
                  <a:pt x="586753" y="0"/>
                </a:cubicBezTo>
                <a:cubicBezTo>
                  <a:pt x="825510" y="-17332"/>
                  <a:pt x="1054837" y="50482"/>
                  <a:pt x="1173506" y="0"/>
                </a:cubicBezTo>
                <a:cubicBezTo>
                  <a:pt x="1292175" y="-50482"/>
                  <a:pt x="1559100" y="60570"/>
                  <a:pt x="1798645" y="0"/>
                </a:cubicBezTo>
                <a:cubicBezTo>
                  <a:pt x="2038190" y="-60570"/>
                  <a:pt x="2085100" y="27002"/>
                  <a:pt x="2231855" y="0"/>
                </a:cubicBezTo>
                <a:cubicBezTo>
                  <a:pt x="2378610" y="-27002"/>
                  <a:pt x="2463208" y="29949"/>
                  <a:pt x="2665065" y="0"/>
                </a:cubicBezTo>
                <a:cubicBezTo>
                  <a:pt x="2866922" y="-29949"/>
                  <a:pt x="2901677" y="32149"/>
                  <a:pt x="3136661" y="0"/>
                </a:cubicBezTo>
                <a:cubicBezTo>
                  <a:pt x="3371645" y="-32149"/>
                  <a:pt x="3562605" y="61535"/>
                  <a:pt x="3838571" y="0"/>
                </a:cubicBezTo>
                <a:cubicBezTo>
                  <a:pt x="3861458" y="88686"/>
                  <a:pt x="3824311" y="191244"/>
                  <a:pt x="3838571" y="276999"/>
                </a:cubicBezTo>
                <a:cubicBezTo>
                  <a:pt x="3605592" y="308159"/>
                  <a:pt x="3546857" y="226793"/>
                  <a:pt x="3290204" y="276999"/>
                </a:cubicBezTo>
                <a:cubicBezTo>
                  <a:pt x="3033551" y="327205"/>
                  <a:pt x="2875950" y="250969"/>
                  <a:pt x="2703451" y="276999"/>
                </a:cubicBezTo>
                <a:cubicBezTo>
                  <a:pt x="2530952" y="303029"/>
                  <a:pt x="2414064" y="259126"/>
                  <a:pt x="2231855" y="276999"/>
                </a:cubicBezTo>
                <a:cubicBezTo>
                  <a:pt x="2049646" y="294872"/>
                  <a:pt x="1893177" y="276810"/>
                  <a:pt x="1683488" y="276999"/>
                </a:cubicBezTo>
                <a:cubicBezTo>
                  <a:pt x="1473799" y="277188"/>
                  <a:pt x="1361072" y="252739"/>
                  <a:pt x="1211892" y="276999"/>
                </a:cubicBezTo>
                <a:cubicBezTo>
                  <a:pt x="1062712" y="301259"/>
                  <a:pt x="959054" y="226961"/>
                  <a:pt x="778682" y="276999"/>
                </a:cubicBezTo>
                <a:cubicBezTo>
                  <a:pt x="598310" y="327037"/>
                  <a:pt x="198207" y="228160"/>
                  <a:pt x="0" y="276999"/>
                </a:cubicBezTo>
                <a:cubicBezTo>
                  <a:pt x="-25570" y="175731"/>
                  <a:pt x="10904" y="87461"/>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i="0" u="none" strike="noStrike" cap="none">
                <a:solidFill>
                  <a:srgbClr val="7030A0"/>
                </a:solidFill>
                <a:latin typeface="Avenir"/>
                <a:ea typeface="Avenir"/>
                <a:cs typeface="Avenir"/>
                <a:sym typeface="Avenir"/>
              </a:rPr>
              <a:t>10,000 – 175 – 48,000 – </a:t>
            </a:r>
            <a:r>
              <a:rPr lang="en" sz="1200" b="1" i="0" u="none" strike="noStrike" cap="none">
                <a:solidFill>
                  <a:srgbClr val="FF0000"/>
                </a:solidFill>
                <a:latin typeface="Avenir"/>
                <a:ea typeface="Avenir"/>
                <a:cs typeface="Avenir"/>
                <a:sym typeface="Avenir"/>
              </a:rPr>
              <a:t>100,000</a:t>
            </a:r>
            <a:r>
              <a:rPr lang="en" sz="1200" i="0" u="none" strike="noStrike" cap="none">
                <a:solidFill>
                  <a:srgbClr val="218C97"/>
                </a:solidFill>
                <a:latin typeface="Avenir"/>
                <a:ea typeface="Avenir"/>
                <a:cs typeface="Avenir"/>
                <a:sym typeface="Avenir"/>
              </a:rPr>
              <a:t> </a:t>
            </a:r>
            <a:r>
              <a:rPr lang="en" sz="1200" i="0" u="none" strike="noStrike" cap="none">
                <a:solidFill>
                  <a:srgbClr val="7030A0"/>
                </a:solidFill>
                <a:latin typeface="Avenir"/>
                <a:ea typeface="Avenir"/>
                <a:cs typeface="Avenir"/>
                <a:sym typeface="Avenir"/>
              </a:rPr>
              <a:t>– 256 – 59,280</a:t>
            </a:r>
            <a:endParaRPr sz="1400" i="0" u="none" strike="noStrike" cap="none">
              <a:solidFill>
                <a:srgbClr val="000000"/>
              </a:solidFill>
              <a:latin typeface="Avenir"/>
              <a:ea typeface="Avenir"/>
              <a:cs typeface="Avenir"/>
              <a:sym typeface="Aveni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262"/>
        <p:cNvGrpSpPr/>
        <p:nvPr/>
      </p:nvGrpSpPr>
      <p:grpSpPr>
        <a:xfrm>
          <a:off x="0" y="0"/>
          <a:ext cx="0" cy="0"/>
          <a:chOff x="0" y="0"/>
          <a:chExt cx="0" cy="0"/>
        </a:xfrm>
      </p:grpSpPr>
      <p:sp>
        <p:nvSpPr>
          <p:cNvPr id="263" name="Google Shape;263;p27"/>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a:t>Sharing the answers found in Q1</a:t>
            </a:r>
            <a:endParaRPr b="1">
              <a:solidFill>
                <a:srgbClr val="7030A0"/>
              </a:solidFill>
            </a:endParaRPr>
          </a:p>
        </p:txBody>
      </p:sp>
      <p:sp>
        <p:nvSpPr>
          <p:cNvPr id="264" name="Google Shape;264;p27"/>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1. </a:t>
            </a:r>
            <a:r>
              <a:rPr lang="en"/>
              <a:t>We count codes</a:t>
            </a:r>
            <a:endParaRPr/>
          </a:p>
        </p:txBody>
      </p:sp>
      <p:pic>
        <p:nvPicPr>
          <p:cNvPr id="265" name="Google Shape;265;p27" descr="Free Vectors | whiteboard frame"/>
          <p:cNvPicPr preferRelativeResize="0"/>
          <p:nvPr/>
        </p:nvPicPr>
        <p:blipFill rotWithShape="1">
          <a:blip r:embed="rId3">
            <a:alphaModFix/>
          </a:blip>
          <a:srcRect/>
          <a:stretch/>
        </p:blipFill>
        <p:spPr>
          <a:xfrm>
            <a:off x="1307132" y="2015242"/>
            <a:ext cx="6288657" cy="3880019"/>
          </a:xfrm>
          <a:prstGeom prst="rect">
            <a:avLst/>
          </a:prstGeom>
          <a:noFill/>
          <a:ln>
            <a:noFill/>
          </a:ln>
        </p:spPr>
      </p:pic>
      <p:sp>
        <p:nvSpPr>
          <p:cNvPr id="266" name="Google Shape;266;p27"/>
          <p:cNvSpPr/>
          <p:nvPr/>
        </p:nvSpPr>
        <p:spPr>
          <a:xfrm>
            <a:off x="1593802" y="2269300"/>
            <a:ext cx="5819823" cy="2862322"/>
          </a:xfrm>
          <a:custGeom>
            <a:avLst/>
            <a:gdLst/>
            <a:ahLst/>
            <a:cxnLst/>
            <a:rect l="l" t="t" r="r" b="b"/>
            <a:pathLst>
              <a:path w="5819823" h="2862322" extrusionOk="0">
                <a:moveTo>
                  <a:pt x="0" y="0"/>
                </a:moveTo>
                <a:cubicBezTo>
                  <a:pt x="279577" y="-5738"/>
                  <a:pt x="456592" y="66844"/>
                  <a:pt x="640181" y="0"/>
                </a:cubicBezTo>
                <a:cubicBezTo>
                  <a:pt x="823770" y="-66844"/>
                  <a:pt x="1118316" y="17943"/>
                  <a:pt x="1280361" y="0"/>
                </a:cubicBezTo>
                <a:cubicBezTo>
                  <a:pt x="1442406" y="-17943"/>
                  <a:pt x="1654336" y="53760"/>
                  <a:pt x="1978740" y="0"/>
                </a:cubicBezTo>
                <a:cubicBezTo>
                  <a:pt x="2303144" y="-53760"/>
                  <a:pt x="2206583" y="33795"/>
                  <a:pt x="2386127" y="0"/>
                </a:cubicBezTo>
                <a:cubicBezTo>
                  <a:pt x="2565671" y="-33795"/>
                  <a:pt x="2659227" y="18039"/>
                  <a:pt x="2793515" y="0"/>
                </a:cubicBezTo>
                <a:cubicBezTo>
                  <a:pt x="2927803" y="-18039"/>
                  <a:pt x="3029350" y="34181"/>
                  <a:pt x="3259101" y="0"/>
                </a:cubicBezTo>
                <a:cubicBezTo>
                  <a:pt x="3488852" y="-34181"/>
                  <a:pt x="3496163" y="27064"/>
                  <a:pt x="3724687" y="0"/>
                </a:cubicBezTo>
                <a:cubicBezTo>
                  <a:pt x="3953211" y="-27064"/>
                  <a:pt x="4128175" y="30854"/>
                  <a:pt x="4248471" y="0"/>
                </a:cubicBezTo>
                <a:cubicBezTo>
                  <a:pt x="4368767" y="-30854"/>
                  <a:pt x="4556665" y="48214"/>
                  <a:pt x="4772255" y="0"/>
                </a:cubicBezTo>
                <a:cubicBezTo>
                  <a:pt x="4987845" y="-48214"/>
                  <a:pt x="5116747" y="43897"/>
                  <a:pt x="5237841" y="0"/>
                </a:cubicBezTo>
                <a:cubicBezTo>
                  <a:pt x="5358935" y="-43897"/>
                  <a:pt x="5633826" y="8874"/>
                  <a:pt x="5819823" y="0"/>
                </a:cubicBezTo>
                <a:cubicBezTo>
                  <a:pt x="5869540" y="170385"/>
                  <a:pt x="5758711" y="407690"/>
                  <a:pt x="5819823" y="515218"/>
                </a:cubicBezTo>
                <a:cubicBezTo>
                  <a:pt x="5880935" y="622746"/>
                  <a:pt x="5769524" y="973364"/>
                  <a:pt x="5819823" y="1144929"/>
                </a:cubicBezTo>
                <a:cubicBezTo>
                  <a:pt x="5870122" y="1316494"/>
                  <a:pt x="5785265" y="1639818"/>
                  <a:pt x="5819823" y="1774640"/>
                </a:cubicBezTo>
                <a:cubicBezTo>
                  <a:pt x="5854381" y="1909462"/>
                  <a:pt x="5754645" y="2065284"/>
                  <a:pt x="5819823" y="2347104"/>
                </a:cubicBezTo>
                <a:cubicBezTo>
                  <a:pt x="5885001" y="2628924"/>
                  <a:pt x="5788076" y="2736476"/>
                  <a:pt x="5819823" y="2862322"/>
                </a:cubicBezTo>
                <a:cubicBezTo>
                  <a:pt x="5621668" y="2908523"/>
                  <a:pt x="5449538" y="2828405"/>
                  <a:pt x="5121444" y="2862322"/>
                </a:cubicBezTo>
                <a:cubicBezTo>
                  <a:pt x="4793350" y="2896239"/>
                  <a:pt x="4600524" y="2785754"/>
                  <a:pt x="4423065" y="2862322"/>
                </a:cubicBezTo>
                <a:cubicBezTo>
                  <a:pt x="4245606" y="2938890"/>
                  <a:pt x="4044022" y="2802707"/>
                  <a:pt x="3782885" y="2862322"/>
                </a:cubicBezTo>
                <a:cubicBezTo>
                  <a:pt x="3521748" y="2921937"/>
                  <a:pt x="3445636" y="2850265"/>
                  <a:pt x="3259101" y="2862322"/>
                </a:cubicBezTo>
                <a:cubicBezTo>
                  <a:pt x="3072566" y="2874379"/>
                  <a:pt x="3040860" y="2838280"/>
                  <a:pt x="2851713" y="2862322"/>
                </a:cubicBezTo>
                <a:cubicBezTo>
                  <a:pt x="2662566" y="2886364"/>
                  <a:pt x="2404022" y="2793588"/>
                  <a:pt x="2153335" y="2862322"/>
                </a:cubicBezTo>
                <a:cubicBezTo>
                  <a:pt x="1902648" y="2931056"/>
                  <a:pt x="1692027" y="2796983"/>
                  <a:pt x="1571352" y="2862322"/>
                </a:cubicBezTo>
                <a:cubicBezTo>
                  <a:pt x="1450677" y="2927661"/>
                  <a:pt x="1219631" y="2801192"/>
                  <a:pt x="989370" y="2862322"/>
                </a:cubicBezTo>
                <a:cubicBezTo>
                  <a:pt x="759109" y="2923452"/>
                  <a:pt x="758212" y="2818596"/>
                  <a:pt x="581982" y="2862322"/>
                </a:cubicBezTo>
                <a:cubicBezTo>
                  <a:pt x="405752" y="2906048"/>
                  <a:pt x="169224" y="2856016"/>
                  <a:pt x="0" y="2862322"/>
                </a:cubicBezTo>
                <a:cubicBezTo>
                  <a:pt x="-58119" y="2652143"/>
                  <a:pt x="40244" y="2478783"/>
                  <a:pt x="0" y="2375727"/>
                </a:cubicBezTo>
                <a:cubicBezTo>
                  <a:pt x="-40244" y="2272671"/>
                  <a:pt x="1496" y="2029896"/>
                  <a:pt x="0" y="1774640"/>
                </a:cubicBezTo>
                <a:cubicBezTo>
                  <a:pt x="-1496" y="1519384"/>
                  <a:pt x="30100" y="1386345"/>
                  <a:pt x="0" y="1144929"/>
                </a:cubicBezTo>
                <a:cubicBezTo>
                  <a:pt x="-30100" y="903513"/>
                  <a:pt x="59716" y="756524"/>
                  <a:pt x="0" y="543841"/>
                </a:cubicBezTo>
                <a:cubicBezTo>
                  <a:pt x="-59716" y="331158"/>
                  <a:pt x="35375" y="248864"/>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none" strike="noStrike" cap="none">
                <a:solidFill>
                  <a:srgbClr val="7030A0"/>
                </a:solidFill>
                <a:latin typeface="Avenir"/>
                <a:ea typeface="Avenir"/>
                <a:cs typeface="Avenir"/>
                <a:sym typeface="Avenir"/>
              </a:rPr>
              <a:t>Q1.1. What is the maximum time it would take to open each padlock?</a:t>
            </a:r>
            <a:endParaRPr sz="1200"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r>
              <a:rPr lang="en" sz="1600" b="1" i="0" u="none" strike="noStrike" cap="none">
                <a:solidFill>
                  <a:srgbClr val="7030A0"/>
                </a:solidFill>
                <a:latin typeface="Avenir"/>
                <a:ea typeface="Avenir"/>
                <a:cs typeface="Avenir"/>
                <a:sym typeface="Avenir"/>
              </a:rPr>
              <a:t>Q1.2. Does security depend only on the number of codes?</a:t>
            </a:r>
            <a:endParaRPr sz="1200"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endParaRPr sz="16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800"/>
              <a:buFont typeface="Arial"/>
              <a:buNone/>
            </a:pPr>
            <a:r>
              <a:rPr lang="en" sz="1600" b="1" i="0" u="none" strike="noStrike" cap="none">
                <a:solidFill>
                  <a:srgbClr val="7030A0"/>
                </a:solidFill>
                <a:latin typeface="Avenir"/>
                <a:ea typeface="Avenir"/>
                <a:cs typeface="Avenir"/>
                <a:sym typeface="Avenir"/>
              </a:rPr>
              <a:t>Q1.3. What small modification could we make to each padlock to make it more secure?</a:t>
            </a:r>
            <a:endParaRPr sz="1200" i="0" u="none" strike="noStrike" cap="none">
              <a:solidFill>
                <a:srgbClr val="000000"/>
              </a:solidFill>
              <a:latin typeface="Avenir"/>
              <a:ea typeface="Avenir"/>
              <a:cs typeface="Avenir"/>
              <a:sym typeface="Avenir"/>
            </a:endParaRPr>
          </a:p>
        </p:txBody>
      </p:sp>
      <p:pic>
        <p:nvPicPr>
          <p:cNvPr id="267" name="Google Shape;267;p27" descr="Imagen que contiene tabla, interior, diferente, artículos&#10;&#10;Descripción generada automáticamente"/>
          <p:cNvPicPr preferRelativeResize="0"/>
          <p:nvPr/>
        </p:nvPicPr>
        <p:blipFill rotWithShape="1">
          <a:blip r:embed="rId4">
            <a:alphaModFix/>
          </a:blip>
          <a:srcRect b="21352"/>
          <a:stretch/>
        </p:blipFill>
        <p:spPr>
          <a:xfrm>
            <a:off x="2836094" y="2758892"/>
            <a:ext cx="3142718" cy="670108"/>
          </a:xfrm>
          <a:prstGeom prst="rect">
            <a:avLst/>
          </a:prstGeom>
          <a:noFill/>
          <a:ln>
            <a:noFill/>
          </a:ln>
        </p:spPr>
      </p:pic>
      <p:sp>
        <p:nvSpPr>
          <p:cNvPr id="268" name="Google Shape;268;p27"/>
          <p:cNvSpPr/>
          <p:nvPr/>
        </p:nvSpPr>
        <p:spPr>
          <a:xfrm>
            <a:off x="2802953" y="3407727"/>
            <a:ext cx="3416118" cy="276999"/>
          </a:xfrm>
          <a:custGeom>
            <a:avLst/>
            <a:gdLst/>
            <a:ahLst/>
            <a:cxnLst/>
            <a:rect l="l" t="t" r="r" b="b"/>
            <a:pathLst>
              <a:path w="3416118" h="276999" extrusionOk="0">
                <a:moveTo>
                  <a:pt x="0" y="0"/>
                </a:moveTo>
                <a:cubicBezTo>
                  <a:pt x="184732" y="-29968"/>
                  <a:pt x="466282" y="5087"/>
                  <a:pt x="603514" y="0"/>
                </a:cubicBezTo>
                <a:cubicBezTo>
                  <a:pt x="740746" y="-5087"/>
                  <a:pt x="1045753" y="9036"/>
                  <a:pt x="1207028" y="0"/>
                </a:cubicBezTo>
                <a:cubicBezTo>
                  <a:pt x="1368303" y="-9036"/>
                  <a:pt x="1552761" y="69788"/>
                  <a:pt x="1844704" y="0"/>
                </a:cubicBezTo>
                <a:cubicBezTo>
                  <a:pt x="2136647" y="-69788"/>
                  <a:pt x="2211342" y="2549"/>
                  <a:pt x="2311573" y="0"/>
                </a:cubicBezTo>
                <a:cubicBezTo>
                  <a:pt x="2411804" y="-2549"/>
                  <a:pt x="2592200" y="50199"/>
                  <a:pt x="2778443" y="0"/>
                </a:cubicBezTo>
                <a:cubicBezTo>
                  <a:pt x="2964686" y="-50199"/>
                  <a:pt x="3217853" y="3909"/>
                  <a:pt x="3416118" y="0"/>
                </a:cubicBezTo>
                <a:cubicBezTo>
                  <a:pt x="3437335" y="84690"/>
                  <a:pt x="3413343" y="161569"/>
                  <a:pt x="3416118" y="276999"/>
                </a:cubicBezTo>
                <a:cubicBezTo>
                  <a:pt x="3240218" y="299021"/>
                  <a:pt x="3044784" y="224718"/>
                  <a:pt x="2949249" y="276999"/>
                </a:cubicBezTo>
                <a:cubicBezTo>
                  <a:pt x="2853714" y="329280"/>
                  <a:pt x="2655921" y="227063"/>
                  <a:pt x="2379896" y="276999"/>
                </a:cubicBezTo>
                <a:cubicBezTo>
                  <a:pt x="2103871" y="326935"/>
                  <a:pt x="1906624" y="236211"/>
                  <a:pt x="1776381" y="276999"/>
                </a:cubicBezTo>
                <a:cubicBezTo>
                  <a:pt x="1646138" y="317787"/>
                  <a:pt x="1458371" y="232824"/>
                  <a:pt x="1275351" y="276999"/>
                </a:cubicBezTo>
                <a:cubicBezTo>
                  <a:pt x="1092331" y="321174"/>
                  <a:pt x="853542" y="210214"/>
                  <a:pt x="705998" y="276999"/>
                </a:cubicBezTo>
                <a:cubicBezTo>
                  <a:pt x="558454" y="343784"/>
                  <a:pt x="268649" y="261545"/>
                  <a:pt x="0" y="276999"/>
                </a:cubicBezTo>
                <a:cubicBezTo>
                  <a:pt x="-31803" y="208186"/>
                  <a:pt x="7929" y="8289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7030A0"/>
                </a:solidFill>
                <a:latin typeface="Arial"/>
                <a:ea typeface="Arial"/>
                <a:cs typeface="Arial"/>
                <a:sym typeface="Arial"/>
              </a:rPr>
              <a:t>10h – 8min – 30h – 50h – 42min – </a:t>
            </a:r>
            <a:r>
              <a:rPr lang="en" sz="1200" b="1" i="0" u="none" strike="noStrike" cap="none">
                <a:solidFill>
                  <a:srgbClr val="FF0000"/>
                </a:solidFill>
                <a:latin typeface="Arial"/>
                <a:ea typeface="Arial"/>
                <a:cs typeface="Arial"/>
                <a:sym typeface="Arial"/>
              </a:rPr>
              <a:t>80h</a:t>
            </a:r>
            <a:r>
              <a:rPr lang="en" sz="1200" b="0" i="0" u="none" strike="noStrike" cap="none">
                <a:solidFill>
                  <a:srgbClr val="218C97"/>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8"/>
          <p:cNvSpPr txBox="1">
            <a:spLocks noGrp="1"/>
          </p:cNvSpPr>
          <p:nvPr>
            <p:ph type="body" idx="1"/>
          </p:nvPr>
        </p:nvSpPr>
        <p:spPr>
          <a:xfrm>
            <a:off x="329409" y="1681628"/>
            <a:ext cx="8485179" cy="2143372"/>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n" sz="2800"/>
              <a:t>What answers and new questions have we gathered from the study prepared by the different groups on...</a:t>
            </a:r>
            <a:endParaRPr/>
          </a:p>
          <a:p>
            <a:pPr marL="0" lvl="0" indent="0" algn="ctr" rtl="0">
              <a:lnSpc>
                <a:spcPct val="130000"/>
              </a:lnSpc>
              <a:spcBef>
                <a:spcPts val="600"/>
              </a:spcBef>
              <a:spcAft>
                <a:spcPts val="0"/>
              </a:spcAft>
              <a:buSzPts val="2800"/>
              <a:buNone/>
            </a:pPr>
            <a:r>
              <a:rPr lang="en" sz="2800" b="1" i="1"/>
              <a:t>Q </a:t>
            </a:r>
            <a:r>
              <a:rPr lang="en" sz="2800" b="1" baseline="-25000"/>
              <a:t>1 </a:t>
            </a:r>
            <a:r>
              <a:rPr lang="en" sz="2800" b="1"/>
              <a:t>: How many different codes does each padlock support?</a:t>
            </a:r>
            <a:endParaRPr/>
          </a:p>
        </p:txBody>
      </p:sp>
      <p:sp>
        <p:nvSpPr>
          <p:cNvPr id="275" name="Google Shape;275;p28"/>
          <p:cNvSpPr txBox="1">
            <a:spLocks noGrp="1"/>
          </p:cNvSpPr>
          <p:nvPr>
            <p:ph type="title"/>
          </p:nvPr>
        </p:nvSpPr>
        <p:spPr>
          <a:xfrm>
            <a:off x="474595" y="318728"/>
            <a:ext cx="7640705"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sz="2000" b="1"/>
              <a:t>PHASE 2. </a:t>
            </a:r>
            <a:r>
              <a:rPr lang="en" sz="2000"/>
              <a:t>Validation with the padlock collection with restrictions</a:t>
            </a:r>
            <a:endParaRPr/>
          </a:p>
        </p:txBody>
      </p:sp>
      <p:pic>
        <p:nvPicPr>
          <p:cNvPr id="276" name="Google Shape;276;p28" descr="Imagen que contiene tabla, interior, diferente, artículos&#10;&#10;Descripción generada automáticamente"/>
          <p:cNvPicPr preferRelativeResize="0"/>
          <p:nvPr/>
        </p:nvPicPr>
        <p:blipFill rotWithShape="1">
          <a:blip r:embed="rId3">
            <a:alphaModFix/>
          </a:blip>
          <a:srcRect b="21350"/>
          <a:stretch/>
        </p:blipFill>
        <p:spPr>
          <a:xfrm>
            <a:off x="996993" y="4547571"/>
            <a:ext cx="6212161" cy="1324591"/>
          </a:xfrm>
          <a:prstGeom prst="rect">
            <a:avLst/>
          </a:prstGeom>
          <a:noFill/>
          <a:ln>
            <a:noFill/>
          </a:ln>
        </p:spPr>
      </p:pic>
      <p:pic>
        <p:nvPicPr>
          <p:cNvPr id="277" name="Google Shape;277;p28"/>
          <p:cNvPicPr preferRelativeResize="0"/>
          <p:nvPr/>
        </p:nvPicPr>
        <p:blipFill>
          <a:blip r:embed="rId4">
            <a:alphaModFix/>
          </a:blip>
          <a:stretch>
            <a:fillRect/>
          </a:stretch>
        </p:blipFill>
        <p:spPr>
          <a:xfrm>
            <a:off x="7209149" y="4746825"/>
            <a:ext cx="1147650" cy="1069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9"/>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a:solidFill>
                  <a:srgbClr val="000000"/>
                </a:solidFill>
              </a:rPr>
              <a:t>We name the different techniques </a:t>
            </a:r>
            <a:r>
              <a:rPr lang="en" b="1">
                <a:solidFill>
                  <a:srgbClr val="000000"/>
                </a:solidFill>
              </a:rPr>
              <a:t>for describing the space to be counted.</a:t>
            </a:r>
            <a:endParaRPr/>
          </a:p>
          <a:p>
            <a:pPr marL="457200" lvl="1" indent="-114300" algn="l" rtl="0">
              <a:lnSpc>
                <a:spcPct val="130000"/>
              </a:lnSpc>
              <a:spcBef>
                <a:spcPts val="600"/>
              </a:spcBef>
              <a:spcAft>
                <a:spcPts val="0"/>
              </a:spcAft>
              <a:buSzPts val="1800"/>
              <a:buNone/>
            </a:pPr>
            <a:endParaRPr/>
          </a:p>
        </p:txBody>
      </p:sp>
      <p:sp>
        <p:nvSpPr>
          <p:cNvPr id="283" name="Google Shape;283;p29"/>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sz="2000" b="1"/>
              <a:t>PHASE 2. </a:t>
            </a:r>
            <a:r>
              <a:rPr lang="en" sz="2000"/>
              <a:t>Validation with the padlock collection with restrictions</a:t>
            </a:r>
            <a:endParaRPr sz="2000"/>
          </a:p>
        </p:txBody>
      </p:sp>
      <p:pic>
        <p:nvPicPr>
          <p:cNvPr id="284" name="Google Shape;284;p29" descr="Tabla&#10;&#10;Descripción generada automáticamente"/>
          <p:cNvPicPr preferRelativeResize="0"/>
          <p:nvPr/>
        </p:nvPicPr>
        <p:blipFill rotWithShape="1">
          <a:blip r:embed="rId3">
            <a:alphaModFix/>
          </a:blip>
          <a:srcRect/>
          <a:stretch/>
        </p:blipFill>
        <p:spPr>
          <a:xfrm>
            <a:off x="709684" y="2325876"/>
            <a:ext cx="3598198" cy="1230351"/>
          </a:xfrm>
          <a:prstGeom prst="rect">
            <a:avLst/>
          </a:prstGeom>
          <a:noFill/>
          <a:ln>
            <a:noFill/>
          </a:ln>
        </p:spPr>
      </p:pic>
      <p:pic>
        <p:nvPicPr>
          <p:cNvPr id="285" name="Google Shape;285;p29"/>
          <p:cNvPicPr preferRelativeResize="0"/>
          <p:nvPr/>
        </p:nvPicPr>
        <p:blipFill rotWithShape="1">
          <a:blip r:embed="rId4">
            <a:alphaModFix/>
          </a:blip>
          <a:srcRect/>
          <a:stretch/>
        </p:blipFill>
        <p:spPr>
          <a:xfrm>
            <a:off x="917564" y="3919663"/>
            <a:ext cx="2870202" cy="2128660"/>
          </a:xfrm>
          <a:prstGeom prst="rect">
            <a:avLst/>
          </a:prstGeom>
          <a:noFill/>
          <a:ln>
            <a:noFill/>
          </a:ln>
        </p:spPr>
      </p:pic>
      <p:pic>
        <p:nvPicPr>
          <p:cNvPr id="286" name="Google Shape;286;p29" descr="Imagen que contiene Diagrama&#10;&#10;Descripción generada automáticamente"/>
          <p:cNvPicPr preferRelativeResize="0"/>
          <p:nvPr/>
        </p:nvPicPr>
        <p:blipFill rotWithShape="1">
          <a:blip r:embed="rId5">
            <a:alphaModFix/>
          </a:blip>
          <a:srcRect r="33617" b="31674"/>
          <a:stretch/>
        </p:blipFill>
        <p:spPr>
          <a:xfrm>
            <a:off x="4414298" y="4159809"/>
            <a:ext cx="2360665" cy="1945295"/>
          </a:xfrm>
          <a:prstGeom prst="rect">
            <a:avLst/>
          </a:prstGeom>
          <a:noFill/>
          <a:ln>
            <a:noFill/>
          </a:ln>
        </p:spPr>
      </p:pic>
      <p:pic>
        <p:nvPicPr>
          <p:cNvPr id="287" name="Google Shape;287;p29"/>
          <p:cNvPicPr preferRelativeResize="0"/>
          <p:nvPr/>
        </p:nvPicPr>
        <p:blipFill rotWithShape="1">
          <a:blip r:embed="rId6">
            <a:alphaModFix/>
          </a:blip>
          <a:srcRect/>
          <a:stretch/>
        </p:blipFill>
        <p:spPr>
          <a:xfrm>
            <a:off x="5141760" y="2255637"/>
            <a:ext cx="3021850" cy="1768770"/>
          </a:xfrm>
          <a:prstGeom prst="rect">
            <a:avLst/>
          </a:prstGeom>
          <a:noFill/>
          <a:ln>
            <a:noFill/>
          </a:ln>
        </p:spPr>
      </p:pic>
      <p:pic>
        <p:nvPicPr>
          <p:cNvPr id="288" name="Google Shape;288;p29"/>
          <p:cNvPicPr preferRelativeResize="0"/>
          <p:nvPr/>
        </p:nvPicPr>
        <p:blipFill rotWithShape="1">
          <a:blip r:embed="rId7">
            <a:alphaModFix/>
          </a:blip>
          <a:srcRect/>
          <a:stretch/>
        </p:blipFill>
        <p:spPr>
          <a:xfrm>
            <a:off x="7066022" y="4249318"/>
            <a:ext cx="1617584" cy="1980067"/>
          </a:xfrm>
          <a:prstGeom prst="rect">
            <a:avLst/>
          </a:prstGeom>
          <a:noFill/>
          <a:ln>
            <a:noFill/>
          </a:ln>
        </p:spPr>
      </p:pic>
      <p:sp>
        <p:nvSpPr>
          <p:cNvPr id="289" name="Google Shape;289;p29"/>
          <p:cNvSpPr txBox="1"/>
          <p:nvPr/>
        </p:nvSpPr>
        <p:spPr>
          <a:xfrm>
            <a:off x="1146714" y="1860302"/>
            <a:ext cx="6322336" cy="338554"/>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venir"/>
                <a:ea typeface="Avenir"/>
                <a:cs typeface="Avenir"/>
                <a:sym typeface="Avenir"/>
              </a:rPr>
              <a:t>More or less structured </a:t>
            </a:r>
            <a:r>
              <a:rPr lang="en" sz="1600" b="1" i="0" u="none" strike="noStrike" cap="none">
                <a:solidFill>
                  <a:srgbClr val="000000"/>
                </a:solidFill>
                <a:latin typeface="Avenir"/>
                <a:ea typeface="Avenir"/>
                <a:cs typeface="Avenir"/>
                <a:sym typeface="Avenir"/>
              </a:rPr>
              <a:t>lists of codes</a:t>
            </a:r>
            <a:endParaRPr sz="1400" b="0" i="0" u="none" strike="noStrike" cap="none">
              <a:solidFill>
                <a:srgbClr val="000000"/>
              </a:solidFill>
              <a:latin typeface="Arial"/>
              <a:ea typeface="Arial"/>
              <a:cs typeface="Arial"/>
              <a:sym typeface="Arial"/>
            </a:endParaRPr>
          </a:p>
        </p:txBody>
      </p:sp>
      <p:sp>
        <p:nvSpPr>
          <p:cNvPr id="290" name="Google Shape;290;p29"/>
          <p:cNvSpPr txBox="1"/>
          <p:nvPr/>
        </p:nvSpPr>
        <p:spPr>
          <a:xfrm>
            <a:off x="917564" y="6242482"/>
            <a:ext cx="3078082" cy="338554"/>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venir"/>
                <a:ea typeface="Avenir"/>
                <a:cs typeface="Avenir"/>
                <a:sym typeface="Avenir"/>
              </a:rPr>
              <a:t>Tree diagram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30"/>
          <p:cNvSpPr txBox="1">
            <a:spLocks noGrp="1"/>
          </p:cNvSpPr>
          <p:nvPr>
            <p:ph type="body" idx="1"/>
          </p:nvPr>
        </p:nvSpPr>
        <p:spPr>
          <a:xfrm>
            <a:off x="460394" y="1247036"/>
            <a:ext cx="8397857" cy="2143372"/>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a:solidFill>
                  <a:srgbClr val="000000"/>
                </a:solidFill>
              </a:rPr>
              <a:t>Let's name the different techniques </a:t>
            </a:r>
            <a:r>
              <a:rPr lang="en" b="1">
                <a:solidFill>
                  <a:srgbClr val="000000"/>
                </a:solidFill>
              </a:rPr>
              <a:t>for counting codes</a:t>
            </a:r>
            <a:endParaRPr/>
          </a:p>
        </p:txBody>
      </p:sp>
      <p:pic>
        <p:nvPicPr>
          <p:cNvPr id="296" name="Google Shape;296;p30" descr="Imagen que contiene Diagrama&#10;&#10;Descripción generada automáticamente"/>
          <p:cNvPicPr preferRelativeResize="0"/>
          <p:nvPr/>
        </p:nvPicPr>
        <p:blipFill rotWithShape="1">
          <a:blip r:embed="rId3">
            <a:alphaModFix/>
          </a:blip>
          <a:srcRect/>
          <a:stretch/>
        </p:blipFill>
        <p:spPr>
          <a:xfrm>
            <a:off x="3953579" y="2215505"/>
            <a:ext cx="3914447" cy="3133996"/>
          </a:xfrm>
          <a:prstGeom prst="rect">
            <a:avLst/>
          </a:prstGeom>
          <a:noFill/>
          <a:ln>
            <a:noFill/>
          </a:ln>
        </p:spPr>
      </p:pic>
      <p:pic>
        <p:nvPicPr>
          <p:cNvPr id="297" name="Google Shape;297;p30"/>
          <p:cNvPicPr preferRelativeResize="0"/>
          <p:nvPr/>
        </p:nvPicPr>
        <p:blipFill rotWithShape="1">
          <a:blip r:embed="rId4">
            <a:alphaModFix/>
          </a:blip>
          <a:srcRect/>
          <a:stretch/>
        </p:blipFill>
        <p:spPr>
          <a:xfrm>
            <a:off x="655694" y="4827241"/>
            <a:ext cx="3353530" cy="1712031"/>
          </a:xfrm>
          <a:prstGeom prst="rect">
            <a:avLst/>
          </a:prstGeom>
          <a:noFill/>
          <a:ln>
            <a:noFill/>
          </a:ln>
        </p:spPr>
      </p:pic>
      <p:pic>
        <p:nvPicPr>
          <p:cNvPr id="298" name="Google Shape;298;p30"/>
          <p:cNvPicPr preferRelativeResize="0"/>
          <p:nvPr/>
        </p:nvPicPr>
        <p:blipFill rotWithShape="1">
          <a:blip r:embed="rId5">
            <a:alphaModFix/>
          </a:blip>
          <a:srcRect/>
          <a:stretch/>
        </p:blipFill>
        <p:spPr>
          <a:xfrm>
            <a:off x="753747" y="2378321"/>
            <a:ext cx="3056925" cy="1834155"/>
          </a:xfrm>
          <a:prstGeom prst="rect">
            <a:avLst/>
          </a:prstGeom>
          <a:noFill/>
          <a:ln>
            <a:noFill/>
          </a:ln>
        </p:spPr>
      </p:pic>
      <p:sp>
        <p:nvSpPr>
          <p:cNvPr id="299" name="Google Shape;299;p30"/>
          <p:cNvSpPr txBox="1"/>
          <p:nvPr/>
        </p:nvSpPr>
        <p:spPr>
          <a:xfrm>
            <a:off x="753747" y="1921066"/>
            <a:ext cx="3057000" cy="338700"/>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i="0" u="none" strike="noStrike" cap="none">
                <a:solidFill>
                  <a:srgbClr val="000000"/>
                </a:solidFill>
                <a:latin typeface="Avenir"/>
                <a:ea typeface="Avenir"/>
                <a:cs typeface="Avenir"/>
                <a:sym typeface="Avenir"/>
              </a:rPr>
              <a:t>Options product</a:t>
            </a:r>
            <a:endParaRPr sz="1400" i="0" u="none" strike="noStrike" cap="none">
              <a:solidFill>
                <a:srgbClr val="000000"/>
              </a:solidFill>
              <a:latin typeface="Avenir"/>
              <a:ea typeface="Avenir"/>
              <a:cs typeface="Avenir"/>
              <a:sym typeface="Avenir"/>
            </a:endParaRPr>
          </a:p>
        </p:txBody>
      </p:sp>
      <p:sp>
        <p:nvSpPr>
          <p:cNvPr id="300" name="Google Shape;300;p30"/>
          <p:cNvSpPr txBox="1"/>
          <p:nvPr/>
        </p:nvSpPr>
        <p:spPr>
          <a:xfrm>
            <a:off x="6430381" y="3627701"/>
            <a:ext cx="1959900" cy="585000"/>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i="0" u="none" strike="noStrike" cap="none">
                <a:solidFill>
                  <a:srgbClr val="000000"/>
                </a:solidFill>
                <a:latin typeface="Avenir"/>
                <a:ea typeface="Avenir"/>
                <a:cs typeface="Avenir"/>
                <a:sym typeface="Avenir"/>
              </a:rPr>
              <a:t>Grouping</a:t>
            </a:r>
            <a:endParaRPr sz="1400" i="0" u="none" strike="noStrike" cap="none">
              <a:solidFill>
                <a:srgbClr val="000000"/>
              </a:solidFill>
              <a:latin typeface="Avenir"/>
              <a:ea typeface="Avenir"/>
              <a:cs typeface="Avenir"/>
              <a:sym typeface="Avenir"/>
            </a:endParaRPr>
          </a:p>
          <a:p>
            <a:pPr marL="0" marR="0" lvl="0" indent="0" algn="ctr" rtl="0">
              <a:lnSpc>
                <a:spcPct val="100000"/>
              </a:lnSpc>
              <a:spcBef>
                <a:spcPts val="0"/>
              </a:spcBef>
              <a:spcAft>
                <a:spcPts val="0"/>
              </a:spcAft>
              <a:buClr>
                <a:srgbClr val="000000"/>
              </a:buClr>
              <a:buSzPts val="1600"/>
              <a:buFont typeface="Arial"/>
              <a:buNone/>
            </a:pPr>
            <a:r>
              <a:rPr lang="en" sz="1600" i="0" u="none" strike="noStrike" cap="none">
                <a:solidFill>
                  <a:srgbClr val="000000"/>
                </a:solidFill>
                <a:latin typeface="Avenir"/>
                <a:ea typeface="Avenir"/>
                <a:cs typeface="Avenir"/>
                <a:sym typeface="Avenir"/>
              </a:rPr>
              <a:t>of repeated codes</a:t>
            </a:r>
            <a:endParaRPr sz="1400" i="0" u="none" strike="noStrike" cap="none">
              <a:solidFill>
                <a:srgbClr val="000000"/>
              </a:solidFill>
              <a:latin typeface="Avenir"/>
              <a:ea typeface="Avenir"/>
              <a:cs typeface="Avenir"/>
              <a:sym typeface="Avenir"/>
            </a:endParaRPr>
          </a:p>
        </p:txBody>
      </p:sp>
      <p:sp>
        <p:nvSpPr>
          <p:cNvPr id="301" name="Google Shape;301;p30"/>
          <p:cNvSpPr txBox="1"/>
          <p:nvPr/>
        </p:nvSpPr>
        <p:spPr>
          <a:xfrm>
            <a:off x="4154842" y="5954497"/>
            <a:ext cx="1959900" cy="585000"/>
          </a:xfrm>
          <a:prstGeom prst="rect">
            <a:avLst/>
          </a:prstGeom>
          <a:solidFill>
            <a:srgbClr val="733EF6">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 sz="1600" i="0" u="none" strike="noStrike" cap="none">
                <a:solidFill>
                  <a:srgbClr val="000000"/>
                </a:solidFill>
                <a:latin typeface="Avenir"/>
                <a:ea typeface="Avenir"/>
                <a:cs typeface="Avenir"/>
                <a:sym typeface="Avenir"/>
              </a:rPr>
              <a:t>Formula search and use</a:t>
            </a:r>
            <a:endParaRPr sz="1400" i="0" u="none" strike="noStrike" cap="none">
              <a:solidFill>
                <a:srgbClr val="000000"/>
              </a:solidFill>
              <a:latin typeface="Avenir"/>
              <a:ea typeface="Avenir"/>
              <a:cs typeface="Avenir"/>
              <a:sym typeface="Avenir"/>
            </a:endParaRPr>
          </a:p>
        </p:txBody>
      </p:sp>
      <p:sp>
        <p:nvSpPr>
          <p:cNvPr id="302" name="Google Shape;302;p30"/>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sz="2000" b="1"/>
              <a:t>PHASE 2. </a:t>
            </a:r>
            <a:r>
              <a:rPr lang="en" sz="2000"/>
              <a:t>Validation with the padlock collection with restrictions</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31"/>
          <p:cNvSpPr txBox="1">
            <a:spLocks noGrp="1"/>
          </p:cNvSpPr>
          <p:nvPr>
            <p:ph type="body" idx="1"/>
          </p:nvPr>
        </p:nvSpPr>
        <p:spPr>
          <a:xfrm>
            <a:off x="329409" y="1681628"/>
            <a:ext cx="8485179" cy="2143372"/>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n" sz="2800"/>
              <a:t>We've been given more information about the password...</a:t>
            </a:r>
            <a:endParaRPr/>
          </a:p>
          <a:p>
            <a:pPr marL="0" lvl="0" indent="0" algn="ctr" rtl="0">
              <a:lnSpc>
                <a:spcPct val="130000"/>
              </a:lnSpc>
              <a:spcBef>
                <a:spcPts val="600"/>
              </a:spcBef>
              <a:spcAft>
                <a:spcPts val="0"/>
              </a:spcAft>
              <a:buSzPts val="2800"/>
              <a:buNone/>
            </a:pPr>
            <a:r>
              <a:rPr lang="en" sz="2800" b="1" i="1"/>
              <a:t>Q </a:t>
            </a:r>
            <a:r>
              <a:rPr lang="en" sz="2800" b="1" baseline="-25000"/>
              <a:t>2 </a:t>
            </a:r>
            <a:r>
              <a:rPr lang="en" sz="2800" b="1"/>
              <a:t>: Can we find the number of codes the padlocks now have with the new information?</a:t>
            </a:r>
            <a:endParaRPr b="1"/>
          </a:p>
        </p:txBody>
      </p:sp>
      <p:pic>
        <p:nvPicPr>
          <p:cNvPr id="309" name="Google Shape;309;p31" descr="Imagen que contiene tabla, interior, diferente, artículos&#10;&#10;Descripción generada automáticamente"/>
          <p:cNvPicPr preferRelativeResize="0"/>
          <p:nvPr/>
        </p:nvPicPr>
        <p:blipFill rotWithShape="1">
          <a:blip r:embed="rId3">
            <a:alphaModFix/>
          </a:blip>
          <a:srcRect b="21350"/>
          <a:stretch/>
        </p:blipFill>
        <p:spPr>
          <a:xfrm>
            <a:off x="1001043" y="4547571"/>
            <a:ext cx="6212161" cy="1324591"/>
          </a:xfrm>
          <a:prstGeom prst="rect">
            <a:avLst/>
          </a:prstGeom>
          <a:noFill/>
          <a:ln>
            <a:noFill/>
          </a:ln>
        </p:spPr>
      </p:pic>
      <p:sp>
        <p:nvSpPr>
          <p:cNvPr id="310" name="Google Shape;310;p31"/>
          <p:cNvSpPr txBox="1">
            <a:spLocks noGrp="1"/>
          </p:cNvSpPr>
          <p:nvPr>
            <p:ph type="title"/>
          </p:nvPr>
        </p:nvSpPr>
        <p:spPr>
          <a:xfrm>
            <a:off x="474595" y="318728"/>
            <a:ext cx="7767779" cy="64033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sz="2000" b="1"/>
              <a:t>PHASE 2. </a:t>
            </a:r>
            <a:r>
              <a:rPr lang="en" sz="2000"/>
              <a:t>Validation with the padlock collection with restrictions</a:t>
            </a:r>
            <a:endParaRPr sz="2000"/>
          </a:p>
        </p:txBody>
      </p:sp>
      <p:pic>
        <p:nvPicPr>
          <p:cNvPr id="311" name="Google Shape;311;p31"/>
          <p:cNvPicPr preferRelativeResize="0"/>
          <p:nvPr/>
        </p:nvPicPr>
        <p:blipFill>
          <a:blip r:embed="rId4">
            <a:alphaModFix/>
          </a:blip>
          <a:stretch>
            <a:fillRect/>
          </a:stretch>
        </p:blipFill>
        <p:spPr>
          <a:xfrm>
            <a:off x="7060796" y="4547575"/>
            <a:ext cx="1420904" cy="13245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2"/>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 sz="2000" b="1"/>
              <a:t>PHASE 2. </a:t>
            </a:r>
            <a:r>
              <a:rPr lang="en" sz="2000"/>
              <a:t>Validation with the padlock collection with restrictions</a:t>
            </a:r>
            <a:endParaRPr sz="2000"/>
          </a:p>
        </p:txBody>
      </p:sp>
      <p:sp>
        <p:nvSpPr>
          <p:cNvPr id="317" name="Google Shape;317;p32"/>
          <p:cNvSpPr/>
          <p:nvPr/>
        </p:nvSpPr>
        <p:spPr>
          <a:xfrm rot="5400000">
            <a:off x="42832" y="1516522"/>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18" name="Google Shape;318;p32"/>
          <p:cNvSpPr txBox="1"/>
          <p:nvPr/>
        </p:nvSpPr>
        <p:spPr>
          <a:xfrm>
            <a:off x="1382581" y="2067056"/>
            <a:ext cx="30906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venir"/>
                <a:ea typeface="Avenir"/>
                <a:cs typeface="Avenir"/>
                <a:sym typeface="Avenir"/>
              </a:rPr>
              <a:t>We know that the password does not contain repeated digits</a:t>
            </a:r>
            <a:endParaRPr sz="1400" b="0" i="0" u="none" strike="noStrike" cap="none">
              <a:solidFill>
                <a:srgbClr val="000000"/>
              </a:solidFill>
              <a:latin typeface="Arial"/>
              <a:ea typeface="Arial"/>
              <a:cs typeface="Arial"/>
              <a:sym typeface="Arial"/>
            </a:endParaRPr>
          </a:p>
        </p:txBody>
      </p:sp>
      <p:sp>
        <p:nvSpPr>
          <p:cNvPr id="319" name="Google Shape;319;p32"/>
          <p:cNvSpPr txBox="1"/>
          <p:nvPr/>
        </p:nvSpPr>
        <p:spPr>
          <a:xfrm>
            <a:off x="1429017" y="1435293"/>
            <a:ext cx="34338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chemeClr val="dk1"/>
                </a:solidFill>
                <a:latin typeface="Avenir"/>
                <a:ea typeface="Avenir"/>
                <a:cs typeface="Avenir"/>
                <a:sym typeface="Avenir"/>
              </a:rPr>
              <a:t>Padlock 7: </a:t>
            </a:r>
            <a:r>
              <a:rPr lang="en" sz="1600" b="0" i="0" u="none" strike="noStrike" cap="none">
                <a:solidFill>
                  <a:schemeClr val="dk1"/>
                </a:solidFill>
                <a:latin typeface="Avenir"/>
                <a:ea typeface="Avenir"/>
                <a:cs typeface="Avenir"/>
                <a:sym typeface="Avenir"/>
              </a:rPr>
              <a:t>Roulette numbering padlock (no repeats)</a:t>
            </a:r>
            <a:endParaRPr sz="1600" b="1" i="0" u="none" strike="noStrike" cap="none">
              <a:solidFill>
                <a:schemeClr val="dk1"/>
              </a:solidFill>
              <a:latin typeface="Avenir"/>
              <a:ea typeface="Avenir"/>
              <a:cs typeface="Avenir"/>
              <a:sym typeface="Avenir"/>
            </a:endParaRPr>
          </a:p>
        </p:txBody>
      </p:sp>
      <p:sp>
        <p:nvSpPr>
          <p:cNvPr id="320" name="Google Shape;320;p32"/>
          <p:cNvSpPr/>
          <p:nvPr/>
        </p:nvSpPr>
        <p:spPr>
          <a:xfrm>
            <a:off x="258010" y="1495439"/>
            <a:ext cx="1015910" cy="1224439"/>
          </a:xfrm>
          <a:custGeom>
            <a:avLst/>
            <a:gdLst/>
            <a:ahLst/>
            <a:cxnLst/>
            <a:rect l="l" t="t" r="r" b="b"/>
            <a:pathLst>
              <a:path w="2539776" h="2782816" extrusionOk="0">
                <a:moveTo>
                  <a:pt x="0" y="0"/>
                </a:moveTo>
                <a:lnTo>
                  <a:pt x="2539776" y="0"/>
                </a:lnTo>
                <a:lnTo>
                  <a:pt x="2539776" y="2782816"/>
                </a:lnTo>
                <a:lnTo>
                  <a:pt x="0" y="2782816"/>
                </a:lnTo>
                <a:lnTo>
                  <a:pt x="0" y="0"/>
                </a:lnTo>
                <a:close/>
              </a:path>
            </a:pathLst>
          </a:custGeom>
          <a:blipFill rotWithShape="1">
            <a:blip r:embed="rId3">
              <a:alphaModFix/>
            </a:blip>
            <a:stretch>
              <a:fillRect l="-3609" t="-15239" r="-78247" b="-34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21" name="Google Shape;321;p32"/>
          <p:cNvSpPr txBox="1"/>
          <p:nvPr/>
        </p:nvSpPr>
        <p:spPr>
          <a:xfrm>
            <a:off x="1429017" y="3861761"/>
            <a:ext cx="30351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venir"/>
                <a:ea typeface="Avenir"/>
                <a:cs typeface="Avenir"/>
                <a:sym typeface="Avenir"/>
              </a:rPr>
              <a:t>We know for sure that the password has </a:t>
            </a:r>
            <a:r>
              <a:rPr lang="en" sz="1600">
                <a:solidFill>
                  <a:schemeClr val="dk1"/>
                </a:solidFill>
                <a:latin typeface="Avenir"/>
                <a:ea typeface="Avenir"/>
                <a:cs typeface="Avenir"/>
                <a:sym typeface="Avenir"/>
              </a:rPr>
              <a:t>4 </a:t>
            </a:r>
            <a:r>
              <a:rPr lang="en" sz="1600" b="0" i="0" u="none" strike="noStrike" cap="none">
                <a:solidFill>
                  <a:schemeClr val="dk1"/>
                </a:solidFill>
                <a:latin typeface="Avenir"/>
                <a:ea typeface="Avenir"/>
                <a:cs typeface="Avenir"/>
                <a:sym typeface="Avenir"/>
              </a:rPr>
              <a:t>digits.</a:t>
            </a:r>
            <a:endParaRPr sz="1600" b="0" i="0" u="none" strike="noStrike" cap="none">
              <a:solidFill>
                <a:schemeClr val="dk1"/>
              </a:solidFill>
              <a:latin typeface="Avenir"/>
              <a:ea typeface="Avenir"/>
              <a:cs typeface="Avenir"/>
              <a:sym typeface="Avenir"/>
            </a:endParaRPr>
          </a:p>
        </p:txBody>
      </p:sp>
      <p:sp>
        <p:nvSpPr>
          <p:cNvPr id="322" name="Google Shape;322;p32"/>
          <p:cNvSpPr txBox="1"/>
          <p:nvPr/>
        </p:nvSpPr>
        <p:spPr>
          <a:xfrm>
            <a:off x="1429017" y="3189342"/>
            <a:ext cx="32751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chemeClr val="dk1"/>
                </a:solidFill>
                <a:latin typeface="Avenir"/>
                <a:ea typeface="Avenir"/>
                <a:cs typeface="Avenir"/>
                <a:sym typeface="Avenir"/>
              </a:rPr>
              <a:t>Padlock 8: </a:t>
            </a:r>
            <a:r>
              <a:rPr lang="en" sz="1600" b="0" i="0" u="none" strike="noStrike" cap="none">
                <a:solidFill>
                  <a:schemeClr val="dk1"/>
                </a:solidFill>
                <a:latin typeface="Avenir"/>
                <a:ea typeface="Avenir"/>
                <a:cs typeface="Avenir"/>
                <a:sym typeface="Avenir"/>
              </a:rPr>
              <a:t>Push-button padlock (extended)</a:t>
            </a:r>
            <a:endParaRPr sz="1600" b="1" i="0" u="none" strike="noStrike" cap="none">
              <a:solidFill>
                <a:schemeClr val="dk1"/>
              </a:solidFill>
              <a:latin typeface="Avenir"/>
              <a:ea typeface="Avenir"/>
              <a:cs typeface="Avenir"/>
              <a:sym typeface="Avenir"/>
            </a:endParaRPr>
          </a:p>
        </p:txBody>
      </p:sp>
      <p:sp>
        <p:nvSpPr>
          <p:cNvPr id="323" name="Google Shape;323;p32"/>
          <p:cNvSpPr txBox="1"/>
          <p:nvPr/>
        </p:nvSpPr>
        <p:spPr>
          <a:xfrm>
            <a:off x="1416314" y="5423484"/>
            <a:ext cx="38349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venir"/>
                <a:ea typeface="Avenir"/>
                <a:cs typeface="Avenir"/>
                <a:sym typeface="Avenir"/>
              </a:rPr>
              <a:t>We know that neither days nor years contain repeated numbers.</a:t>
            </a:r>
            <a:endParaRPr sz="1600" b="0" i="0" u="none" strike="noStrike" cap="none">
              <a:solidFill>
                <a:schemeClr val="dk1"/>
              </a:solidFill>
              <a:latin typeface="Avenir"/>
              <a:ea typeface="Avenir"/>
              <a:cs typeface="Avenir"/>
              <a:sym typeface="Avenir"/>
            </a:endParaRPr>
          </a:p>
        </p:txBody>
      </p:sp>
      <p:sp>
        <p:nvSpPr>
          <p:cNvPr id="324" name="Google Shape;324;p32"/>
          <p:cNvSpPr txBox="1"/>
          <p:nvPr/>
        </p:nvSpPr>
        <p:spPr>
          <a:xfrm>
            <a:off x="1429017" y="4734960"/>
            <a:ext cx="32946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chemeClr val="dk1"/>
                </a:solidFill>
                <a:latin typeface="Avenir"/>
                <a:ea typeface="Avenir"/>
                <a:cs typeface="Avenir"/>
                <a:sym typeface="Avenir"/>
              </a:rPr>
              <a:t>Padlock 9: </a:t>
            </a:r>
            <a:r>
              <a:rPr lang="en" sz="1600" b="0" i="0" u="none" strike="noStrike" cap="none">
                <a:solidFill>
                  <a:schemeClr val="dk1"/>
                </a:solidFill>
                <a:latin typeface="Avenir"/>
                <a:ea typeface="Avenir"/>
                <a:cs typeface="Avenir"/>
                <a:sym typeface="Avenir"/>
              </a:rPr>
              <a:t>Date padlock (no repeats)</a:t>
            </a:r>
            <a:endParaRPr sz="1600" b="1" i="0" u="none" strike="noStrike" cap="none">
              <a:solidFill>
                <a:schemeClr val="dk1"/>
              </a:solidFill>
              <a:latin typeface="Avenir"/>
              <a:ea typeface="Avenir"/>
              <a:cs typeface="Avenir"/>
              <a:sym typeface="Avenir"/>
            </a:endParaRPr>
          </a:p>
        </p:txBody>
      </p:sp>
      <p:sp>
        <p:nvSpPr>
          <p:cNvPr id="325" name="Google Shape;325;p32"/>
          <p:cNvSpPr txBox="1"/>
          <p:nvPr/>
        </p:nvSpPr>
        <p:spPr>
          <a:xfrm>
            <a:off x="6191699" y="2853175"/>
            <a:ext cx="30288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venir"/>
                <a:ea typeface="Avenir"/>
                <a:cs typeface="Avenir"/>
                <a:sym typeface="Avenir"/>
              </a:rPr>
              <a:t>We now know that the password does not contain repeated addresses</a:t>
            </a:r>
            <a:endParaRPr sz="1600" b="0" i="0" u="none" strike="noStrike" cap="none">
              <a:solidFill>
                <a:schemeClr val="dk1"/>
              </a:solidFill>
              <a:latin typeface="Avenir"/>
              <a:ea typeface="Avenir"/>
              <a:cs typeface="Avenir"/>
              <a:sym typeface="Avenir"/>
            </a:endParaRPr>
          </a:p>
        </p:txBody>
      </p:sp>
      <p:sp>
        <p:nvSpPr>
          <p:cNvPr id="326" name="Google Shape;326;p32"/>
          <p:cNvSpPr txBox="1"/>
          <p:nvPr/>
        </p:nvSpPr>
        <p:spPr>
          <a:xfrm>
            <a:off x="6253484" y="1960161"/>
            <a:ext cx="2748300" cy="831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chemeClr val="dk1"/>
                </a:solidFill>
                <a:latin typeface="Avenir"/>
                <a:ea typeface="Avenir"/>
                <a:cs typeface="Avenir"/>
                <a:sym typeface="Avenir"/>
              </a:rPr>
              <a:t>Padlock 10: </a:t>
            </a:r>
            <a:r>
              <a:rPr lang="en" sz="1600" b="0" i="0" u="none" strike="noStrike" cap="none">
                <a:solidFill>
                  <a:schemeClr val="dk1"/>
                </a:solidFill>
                <a:latin typeface="Avenir"/>
                <a:ea typeface="Avenir"/>
                <a:cs typeface="Avenir"/>
                <a:sym typeface="Avenir"/>
              </a:rPr>
              <a:t>Directional padlock (no repetitions)</a:t>
            </a:r>
            <a:endParaRPr sz="1600" b="1" i="0" u="none" strike="noStrike" cap="none">
              <a:solidFill>
                <a:schemeClr val="dk1"/>
              </a:solidFill>
              <a:latin typeface="Avenir"/>
              <a:ea typeface="Avenir"/>
              <a:cs typeface="Avenir"/>
              <a:sym typeface="Avenir"/>
            </a:endParaRPr>
          </a:p>
        </p:txBody>
      </p:sp>
      <p:sp>
        <p:nvSpPr>
          <p:cNvPr id="327" name="Google Shape;327;p32"/>
          <p:cNvSpPr/>
          <p:nvPr/>
        </p:nvSpPr>
        <p:spPr>
          <a:xfrm rot="5400000">
            <a:off x="48131" y="3127303"/>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28" name="Google Shape;328;p32"/>
          <p:cNvSpPr/>
          <p:nvPr/>
        </p:nvSpPr>
        <p:spPr>
          <a:xfrm rot="5400000">
            <a:off x="44965" y="4752373"/>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29" name="Google Shape;329;p32"/>
          <p:cNvSpPr/>
          <p:nvPr/>
        </p:nvSpPr>
        <p:spPr>
          <a:xfrm>
            <a:off x="241826" y="2945497"/>
            <a:ext cx="1072186" cy="1572539"/>
          </a:xfrm>
          <a:custGeom>
            <a:avLst/>
            <a:gdLst/>
            <a:ahLst/>
            <a:cxnLst/>
            <a:rect l="l" t="t" r="r" b="b"/>
            <a:pathLst>
              <a:path w="3573952" h="3573952" extrusionOk="0">
                <a:moveTo>
                  <a:pt x="0" y="0"/>
                </a:moveTo>
                <a:lnTo>
                  <a:pt x="3573951" y="0"/>
                </a:lnTo>
                <a:lnTo>
                  <a:pt x="3573951" y="3573951"/>
                </a:lnTo>
                <a:lnTo>
                  <a:pt x="0" y="3573951"/>
                </a:lnTo>
                <a:lnTo>
                  <a:pt x="0" y="0"/>
                </a:lnTo>
                <a:close/>
              </a:path>
            </a:pathLst>
          </a:custGeom>
          <a:blipFill rotWithShape="1">
            <a:blip r:embed="rId4">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30" name="Google Shape;330;p32"/>
          <p:cNvSpPr/>
          <p:nvPr/>
        </p:nvSpPr>
        <p:spPr>
          <a:xfrm>
            <a:off x="180841" y="4780096"/>
            <a:ext cx="1222386" cy="1061239"/>
          </a:xfrm>
          <a:custGeom>
            <a:avLst/>
            <a:gdLst/>
            <a:ahLst/>
            <a:cxnLst/>
            <a:rect l="l" t="t" r="r" b="b"/>
            <a:pathLst>
              <a:path w="2469466" h="2703794" extrusionOk="0">
                <a:moveTo>
                  <a:pt x="0" y="0"/>
                </a:moveTo>
                <a:lnTo>
                  <a:pt x="2469465" y="0"/>
                </a:lnTo>
                <a:lnTo>
                  <a:pt x="2469465" y="2703795"/>
                </a:lnTo>
                <a:lnTo>
                  <a:pt x="0" y="2703795"/>
                </a:lnTo>
                <a:lnTo>
                  <a:pt x="0" y="0"/>
                </a:lnTo>
                <a:close/>
              </a:path>
            </a:pathLst>
          </a:cu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31" name="Google Shape;331;p32"/>
          <p:cNvSpPr/>
          <p:nvPr/>
        </p:nvSpPr>
        <p:spPr>
          <a:xfrm rot="5400000">
            <a:off x="4825172" y="2059462"/>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32" name="Google Shape;332;p32"/>
          <p:cNvSpPr/>
          <p:nvPr/>
        </p:nvSpPr>
        <p:spPr>
          <a:xfrm>
            <a:off x="5190450" y="1940675"/>
            <a:ext cx="733614" cy="1147798"/>
          </a:xfrm>
          <a:custGeom>
            <a:avLst/>
            <a:gdLst/>
            <a:ahLst/>
            <a:cxnLst/>
            <a:rect l="l" t="t" r="r" b="b"/>
            <a:pathLst>
              <a:path w="2157687" h="3672953" extrusionOk="0">
                <a:moveTo>
                  <a:pt x="0" y="0"/>
                </a:moveTo>
                <a:lnTo>
                  <a:pt x="2157688" y="0"/>
                </a:lnTo>
                <a:lnTo>
                  <a:pt x="2157688" y="3672953"/>
                </a:lnTo>
                <a:lnTo>
                  <a:pt x="0" y="3672953"/>
                </a:lnTo>
                <a:lnTo>
                  <a:pt x="0" y="0"/>
                </a:lnTo>
                <a:close/>
              </a:path>
            </a:pathLst>
          </a:custGeom>
          <a:blipFill rotWithShape="1">
            <a:blip r:embed="rId6">
              <a:alphaModFix/>
            </a:blip>
            <a:stretch>
              <a:fillRect t="-8769" r="-99956" b="-868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
        <p:nvSpPr>
          <p:cNvPr id="333" name="Google Shape;333;p32"/>
          <p:cNvSpPr txBox="1"/>
          <p:nvPr/>
        </p:nvSpPr>
        <p:spPr>
          <a:xfrm>
            <a:off x="6253484" y="4656956"/>
            <a:ext cx="2859600" cy="585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venir"/>
                <a:ea typeface="Avenir"/>
                <a:cs typeface="Avenir"/>
                <a:sym typeface="Avenir"/>
              </a:rPr>
              <a:t>We know that the password has two repeated digits</a:t>
            </a:r>
            <a:endParaRPr sz="1600" b="0" i="0" u="none" strike="noStrike" cap="none">
              <a:solidFill>
                <a:schemeClr val="dk1"/>
              </a:solidFill>
              <a:latin typeface="Avenir"/>
              <a:ea typeface="Avenir"/>
              <a:cs typeface="Avenir"/>
              <a:sym typeface="Avenir"/>
            </a:endParaRPr>
          </a:p>
        </p:txBody>
      </p:sp>
      <p:sp>
        <p:nvSpPr>
          <p:cNvPr id="334" name="Google Shape;334;p32"/>
          <p:cNvSpPr txBox="1"/>
          <p:nvPr/>
        </p:nvSpPr>
        <p:spPr>
          <a:xfrm>
            <a:off x="6253484" y="4033972"/>
            <a:ext cx="2742300" cy="585000"/>
          </a:xfrm>
          <a:prstGeom prst="rect">
            <a:avLst/>
          </a:prstGeom>
          <a:solidFill>
            <a:srgbClr val="7030A0">
              <a:alpha val="14510"/>
            </a:srgbClr>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1" i="0" u="none" strike="noStrike" cap="none">
                <a:solidFill>
                  <a:schemeClr val="dk1"/>
                </a:solidFill>
                <a:latin typeface="Avenir"/>
                <a:ea typeface="Avenir"/>
                <a:cs typeface="Avenir"/>
                <a:sym typeface="Avenir"/>
              </a:rPr>
              <a:t>Padlock 11: </a:t>
            </a:r>
            <a:r>
              <a:rPr lang="en" sz="1600" b="0" i="0" u="none" strike="noStrike" cap="none">
                <a:solidFill>
                  <a:schemeClr val="dk1"/>
                </a:solidFill>
                <a:latin typeface="Avenir"/>
                <a:ea typeface="Avenir"/>
                <a:cs typeface="Avenir"/>
                <a:sym typeface="Avenir"/>
              </a:rPr>
              <a:t>Safe padlock (with repetitions)</a:t>
            </a:r>
            <a:endParaRPr sz="1600" b="1" i="0" u="none" strike="noStrike" cap="none">
              <a:solidFill>
                <a:schemeClr val="dk1"/>
              </a:solidFill>
              <a:latin typeface="Avenir"/>
              <a:ea typeface="Avenir"/>
              <a:cs typeface="Avenir"/>
              <a:sym typeface="Avenir"/>
            </a:endParaRPr>
          </a:p>
        </p:txBody>
      </p:sp>
      <p:sp>
        <p:nvSpPr>
          <p:cNvPr id="335" name="Google Shape;335;p32"/>
          <p:cNvSpPr/>
          <p:nvPr/>
        </p:nvSpPr>
        <p:spPr>
          <a:xfrm rot="5400000">
            <a:off x="4846882" y="3997988"/>
            <a:ext cx="1418400" cy="1219800"/>
          </a:xfrm>
          <a:prstGeom prst="roundRect">
            <a:avLst>
              <a:gd name="adj" fmla="val 5407"/>
            </a:avLst>
          </a:prstGeom>
          <a:solidFill>
            <a:srgbClr val="733E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chemeClr val="lt1"/>
              </a:solidFill>
              <a:latin typeface="Avenir"/>
              <a:ea typeface="Avenir"/>
              <a:cs typeface="Avenir"/>
              <a:sym typeface="Avenir"/>
            </a:endParaRPr>
          </a:p>
        </p:txBody>
      </p:sp>
      <p:sp>
        <p:nvSpPr>
          <p:cNvPr id="336" name="Google Shape;336;p32"/>
          <p:cNvSpPr/>
          <p:nvPr/>
        </p:nvSpPr>
        <p:spPr>
          <a:xfrm>
            <a:off x="5040438" y="4033571"/>
            <a:ext cx="1151687" cy="1151687"/>
          </a:xfrm>
          <a:custGeom>
            <a:avLst/>
            <a:gdLst/>
            <a:ahLst/>
            <a:cxnLst/>
            <a:rect l="l" t="t" r="r" b="b"/>
            <a:pathLst>
              <a:path w="2861335" h="2861335" extrusionOk="0">
                <a:moveTo>
                  <a:pt x="0" y="0"/>
                </a:moveTo>
                <a:lnTo>
                  <a:pt x="2861335" y="0"/>
                </a:lnTo>
                <a:lnTo>
                  <a:pt x="2861335" y="2861336"/>
                </a:lnTo>
                <a:lnTo>
                  <a:pt x="0" y="2861336"/>
                </a:lnTo>
                <a:lnTo>
                  <a:pt x="0" y="0"/>
                </a:lnTo>
                <a:close/>
              </a:path>
            </a:pathLst>
          </a:cu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venir"/>
              <a:ea typeface="Avenir"/>
              <a:cs typeface="Avenir"/>
              <a:sym typeface="Aveni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33"/>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 sz="2000" b="1"/>
              <a:t>PHASE 2. </a:t>
            </a:r>
            <a:r>
              <a:rPr lang="en" sz="2000"/>
              <a:t>Validation with the padlock collection with restrictions</a:t>
            </a:r>
            <a:endParaRPr sz="2000"/>
          </a:p>
        </p:txBody>
      </p:sp>
      <p:pic>
        <p:nvPicPr>
          <p:cNvPr id="342" name="Google Shape;342;p33"/>
          <p:cNvPicPr preferRelativeResize="0"/>
          <p:nvPr/>
        </p:nvPicPr>
        <p:blipFill>
          <a:blip r:embed="rId3">
            <a:alphaModFix/>
          </a:blip>
          <a:stretch>
            <a:fillRect/>
          </a:stretch>
        </p:blipFill>
        <p:spPr>
          <a:xfrm>
            <a:off x="1995800" y="2735600"/>
            <a:ext cx="5557049" cy="2977775"/>
          </a:xfrm>
          <a:prstGeom prst="rect">
            <a:avLst/>
          </a:prstGeom>
          <a:noFill/>
          <a:ln>
            <a:noFill/>
          </a:ln>
        </p:spPr>
      </p:pic>
      <p:sp>
        <p:nvSpPr>
          <p:cNvPr id="343" name="Google Shape;343;p33"/>
          <p:cNvSpPr txBox="1"/>
          <p:nvPr/>
        </p:nvSpPr>
        <p:spPr>
          <a:xfrm>
            <a:off x="671640" y="1549625"/>
            <a:ext cx="8016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2000" b="1">
                <a:solidFill>
                  <a:srgbClr val="218C97"/>
                </a:solidFill>
                <a:latin typeface="Avenir"/>
                <a:ea typeface="Avenir"/>
                <a:cs typeface="Avenir"/>
                <a:sym typeface="Avenir"/>
              </a:rPr>
              <a:t>PART 1. GROUP WORK</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n" sz="2000" b="1">
                <a:solidFill>
                  <a:srgbClr val="218C97"/>
                </a:solidFill>
                <a:latin typeface="Avenir"/>
                <a:ea typeface="Avenir"/>
                <a:cs typeface="Avenir"/>
                <a:sym typeface="Avenir"/>
              </a:rPr>
              <a:t>Can you calculate the number of passwords for each padlock?</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n" sz="2000" b="1">
                <a:solidFill>
                  <a:srgbClr val="218C97"/>
                </a:solidFill>
                <a:latin typeface="Avenir"/>
                <a:ea typeface="Avenir"/>
                <a:cs typeface="Avenir"/>
                <a:sym typeface="Avenir"/>
              </a:rPr>
              <a:t>If not, ask questions for the groups responsible for each type.</a:t>
            </a:r>
            <a:endParaRPr sz="2000" b="1">
              <a:solidFill>
                <a:srgbClr val="218C97"/>
              </a:solidFill>
              <a:latin typeface="Avenir"/>
              <a:ea typeface="Avenir"/>
              <a:cs typeface="Avenir"/>
              <a:sym typeface="Aveni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34"/>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n" sz="2000" b="1"/>
              <a:t>PHASE 2. </a:t>
            </a:r>
            <a:r>
              <a:rPr lang="en" sz="2000"/>
              <a:t>Validation with the padlock collection with restrictions</a:t>
            </a:r>
            <a:endParaRPr sz="2000"/>
          </a:p>
        </p:txBody>
      </p:sp>
      <p:sp>
        <p:nvSpPr>
          <p:cNvPr id="349" name="Google Shape;349;p34"/>
          <p:cNvSpPr txBox="1"/>
          <p:nvPr/>
        </p:nvSpPr>
        <p:spPr>
          <a:xfrm>
            <a:off x="671640" y="1549625"/>
            <a:ext cx="80169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2000" b="1">
                <a:solidFill>
                  <a:srgbClr val="218C97"/>
                </a:solidFill>
                <a:latin typeface="Avenir"/>
                <a:ea typeface="Avenir"/>
                <a:cs typeface="Avenir"/>
                <a:sym typeface="Avenir"/>
              </a:rPr>
              <a:t>PART 2. INDIVIDUAL WORK</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n" sz="2000" b="1">
                <a:solidFill>
                  <a:srgbClr val="218C97"/>
                </a:solidFill>
                <a:latin typeface="Avenir"/>
                <a:ea typeface="Avenir"/>
                <a:cs typeface="Avenir"/>
                <a:sym typeface="Avenir"/>
              </a:rPr>
              <a:t>Indicate the number of passwords for each new type of padlock and justify your answer.</a:t>
            </a:r>
            <a:endParaRPr sz="2000" b="1">
              <a:solidFill>
                <a:srgbClr val="218C97"/>
              </a:solidFill>
              <a:latin typeface="Avenir"/>
              <a:ea typeface="Avenir"/>
              <a:cs typeface="Avenir"/>
              <a:sym typeface="Avenir"/>
            </a:endParaRPr>
          </a:p>
        </p:txBody>
      </p:sp>
      <p:pic>
        <p:nvPicPr>
          <p:cNvPr id="350" name="Google Shape;350;p34"/>
          <p:cNvPicPr preferRelativeResize="0"/>
          <p:nvPr/>
        </p:nvPicPr>
        <p:blipFill>
          <a:blip r:embed="rId3">
            <a:alphaModFix/>
          </a:blip>
          <a:stretch>
            <a:fillRect/>
          </a:stretch>
        </p:blipFill>
        <p:spPr>
          <a:xfrm>
            <a:off x="2176275" y="2653375"/>
            <a:ext cx="4025600" cy="35984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5"/>
          <p:cNvSpPr txBox="1">
            <a:spLocks noGrp="1"/>
          </p:cNvSpPr>
          <p:nvPr>
            <p:ph type="body" idx="1"/>
          </p:nvPr>
        </p:nvSpPr>
        <p:spPr>
          <a:xfrm>
            <a:off x="329409" y="1681628"/>
            <a:ext cx="84852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600"/>
              </a:spcBef>
              <a:spcAft>
                <a:spcPts val="0"/>
              </a:spcAft>
              <a:buSzPts val="2800"/>
              <a:buNone/>
            </a:pPr>
            <a:r>
              <a:rPr lang="en" sz="2800" b="1" i="1"/>
              <a:t>Q </a:t>
            </a:r>
            <a:r>
              <a:rPr lang="en" sz="2800" b="1" baseline="-25000"/>
              <a:t>3 </a:t>
            </a:r>
            <a:r>
              <a:rPr lang="en" sz="2800" b="1"/>
              <a:t>: What characterizes a padlock model?</a:t>
            </a:r>
            <a:endParaRPr sz="2800" b="1"/>
          </a:p>
          <a:p>
            <a:pPr marL="0" lvl="0" indent="0" algn="ctr" rtl="0">
              <a:lnSpc>
                <a:spcPct val="130000"/>
              </a:lnSpc>
              <a:spcBef>
                <a:spcPts val="600"/>
              </a:spcBef>
              <a:spcAft>
                <a:spcPts val="0"/>
              </a:spcAft>
              <a:buSzPts val="2800"/>
              <a:buNone/>
            </a:pPr>
            <a:r>
              <a:rPr lang="en" sz="2800" b="1"/>
              <a:t>What models are there?</a:t>
            </a:r>
            <a:endParaRPr sz="2800" b="1"/>
          </a:p>
          <a:p>
            <a:pPr marL="0" lvl="0" indent="0" algn="ctr" rtl="0">
              <a:lnSpc>
                <a:spcPct val="130000"/>
              </a:lnSpc>
              <a:spcBef>
                <a:spcPts val="600"/>
              </a:spcBef>
              <a:spcAft>
                <a:spcPts val="0"/>
              </a:spcAft>
              <a:buSzPts val="2800"/>
              <a:buNone/>
            </a:pPr>
            <a:r>
              <a:rPr lang="en" sz="2800" b="1"/>
              <a:t>How do we characterize and name them?</a:t>
            </a:r>
            <a:endParaRPr sz="2800" b="1"/>
          </a:p>
        </p:txBody>
      </p:sp>
      <p:sp>
        <p:nvSpPr>
          <p:cNvPr id="357" name="Google Shape;357;p35"/>
          <p:cNvSpPr txBox="1">
            <a:spLocks noGrp="1"/>
          </p:cNvSpPr>
          <p:nvPr>
            <p:ph type="title"/>
          </p:nvPr>
        </p:nvSpPr>
        <p:spPr>
          <a:xfrm>
            <a:off x="474595" y="318728"/>
            <a:ext cx="76407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sz="2000" b="1"/>
              <a:t>PHASE 3. </a:t>
            </a:r>
            <a:r>
              <a:rPr lang="en" sz="2000"/>
              <a:t>Classification of padlocks and general techniques</a:t>
            </a:r>
            <a:endParaRPr/>
          </a:p>
        </p:txBody>
      </p:sp>
      <p:pic>
        <p:nvPicPr>
          <p:cNvPr id="358" name="Google Shape;358;p35" descr="Imagen que contiene tabla, interior, diferente, artículos&#10;&#10;Descripción generada automáticamente"/>
          <p:cNvPicPr preferRelativeResize="0"/>
          <p:nvPr/>
        </p:nvPicPr>
        <p:blipFill rotWithShape="1">
          <a:blip r:embed="rId3">
            <a:alphaModFix/>
          </a:blip>
          <a:srcRect b="21352"/>
          <a:stretch/>
        </p:blipFill>
        <p:spPr>
          <a:xfrm>
            <a:off x="996993" y="4547571"/>
            <a:ext cx="6212161" cy="1324591"/>
          </a:xfrm>
          <a:prstGeom prst="rect">
            <a:avLst/>
          </a:prstGeom>
          <a:noFill/>
          <a:ln>
            <a:noFill/>
          </a:ln>
        </p:spPr>
      </p:pic>
      <p:pic>
        <p:nvPicPr>
          <p:cNvPr id="359" name="Google Shape;359;p35"/>
          <p:cNvPicPr preferRelativeResize="0"/>
          <p:nvPr/>
        </p:nvPicPr>
        <p:blipFill>
          <a:blip r:embed="rId4">
            <a:alphaModFix/>
          </a:blip>
          <a:stretch>
            <a:fillRect/>
          </a:stretch>
        </p:blipFill>
        <p:spPr>
          <a:xfrm>
            <a:off x="7209149" y="4746825"/>
            <a:ext cx="1147650" cy="1069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36"/>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n" sz="2000" b="1"/>
              <a:t>PHASE 3. </a:t>
            </a:r>
            <a:r>
              <a:rPr lang="en" sz="2000"/>
              <a:t>Classification of padlocks and general techniques</a:t>
            </a:r>
            <a:endParaRPr sz="2000" b="1"/>
          </a:p>
        </p:txBody>
      </p:sp>
      <p:sp>
        <p:nvSpPr>
          <p:cNvPr id="365" name="Google Shape;365;p36"/>
          <p:cNvSpPr txBox="1"/>
          <p:nvPr/>
        </p:nvSpPr>
        <p:spPr>
          <a:xfrm>
            <a:off x="671640" y="1549625"/>
            <a:ext cx="8016900" cy="3848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2000" b="1">
                <a:solidFill>
                  <a:srgbClr val="218C97"/>
                </a:solidFill>
                <a:latin typeface="Avenir"/>
                <a:ea typeface="Avenir"/>
                <a:cs typeface="Avenir"/>
                <a:sym typeface="Avenir"/>
              </a:rPr>
              <a:t>PART 1. GROUP WORK</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n" sz="2000" b="1">
                <a:solidFill>
                  <a:srgbClr val="218C97"/>
                </a:solidFill>
                <a:latin typeface="Avenir"/>
                <a:ea typeface="Avenir"/>
                <a:cs typeface="Avenir"/>
                <a:sym typeface="Avenir"/>
              </a:rPr>
              <a:t>Work with your group to propose possible classifications of padlocks by explaining:</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685800" marR="0" lvl="0" indent="-228600" algn="l" rtl="0">
              <a:lnSpc>
                <a:spcPct val="130000"/>
              </a:lnSpc>
              <a:spcBef>
                <a:spcPts val="0"/>
              </a:spcBef>
              <a:spcAft>
                <a:spcPts val="0"/>
              </a:spcAft>
              <a:buClr>
                <a:srgbClr val="218C97"/>
              </a:buClr>
              <a:buSzPts val="2000"/>
              <a:buFont typeface="Noto Sans Symbols"/>
              <a:buChar char="➔"/>
            </a:pPr>
            <a:r>
              <a:rPr lang="en" sz="2000">
                <a:latin typeface="Avenir"/>
                <a:ea typeface="Avenir"/>
                <a:cs typeface="Avenir"/>
                <a:sym typeface="Avenir"/>
              </a:rPr>
              <a:t>What characterizes a model or type or class of padlock?</a:t>
            </a:r>
            <a:endParaRPr sz="2000">
              <a:latin typeface="Avenir"/>
              <a:ea typeface="Avenir"/>
              <a:cs typeface="Avenir"/>
              <a:sym typeface="Avenir"/>
            </a:endParaRPr>
          </a:p>
          <a:p>
            <a:pPr marL="685800" marR="0" lvl="0" indent="-228600" algn="l" rtl="0">
              <a:lnSpc>
                <a:spcPct val="130000"/>
              </a:lnSpc>
              <a:spcBef>
                <a:spcPts val="0"/>
              </a:spcBef>
              <a:spcAft>
                <a:spcPts val="0"/>
              </a:spcAft>
              <a:buClr>
                <a:srgbClr val="218C97"/>
              </a:buClr>
              <a:buSzPts val="2000"/>
              <a:buFont typeface="Noto Sans Symbols"/>
              <a:buChar char="➔"/>
            </a:pPr>
            <a:r>
              <a:rPr lang="en" sz="2000">
                <a:latin typeface="Avenir"/>
                <a:ea typeface="Avenir"/>
                <a:cs typeface="Avenir"/>
                <a:sym typeface="Avenir"/>
              </a:rPr>
              <a:t>Why did you decide to group them into the same type?</a:t>
            </a:r>
            <a:endParaRPr sz="2000">
              <a:latin typeface="Avenir"/>
              <a:ea typeface="Avenir"/>
              <a:cs typeface="Avenir"/>
              <a:sym typeface="Avenir"/>
            </a:endParaRPr>
          </a:p>
          <a:p>
            <a:pPr marL="685800" marR="0" lvl="0" indent="-228600" algn="l" rtl="0">
              <a:lnSpc>
                <a:spcPct val="130000"/>
              </a:lnSpc>
              <a:spcBef>
                <a:spcPts val="0"/>
              </a:spcBef>
              <a:spcAft>
                <a:spcPts val="0"/>
              </a:spcAft>
              <a:buClr>
                <a:srgbClr val="218C97"/>
              </a:buClr>
              <a:buSzPts val="2000"/>
              <a:buFont typeface="Noto Sans Symbols"/>
              <a:buChar char="➔"/>
            </a:pPr>
            <a:r>
              <a:rPr lang="en" sz="2000">
                <a:latin typeface="Avenir"/>
                <a:ea typeface="Avenir"/>
                <a:cs typeface="Avenir"/>
                <a:sym typeface="Avenir"/>
              </a:rPr>
              <a:t>How to characterize the same type or model of padlock? </a:t>
            </a:r>
            <a:br>
              <a:rPr lang="ca-ES" sz="2000">
                <a:latin typeface="Avenir"/>
                <a:ea typeface="Avenir"/>
                <a:cs typeface="Avenir"/>
                <a:sym typeface="Avenir"/>
              </a:rPr>
            </a:br>
            <a:r>
              <a:rPr lang="en" sz="2000">
                <a:latin typeface="Avenir"/>
                <a:ea typeface="Avenir"/>
                <a:cs typeface="Avenir"/>
                <a:sym typeface="Avenir"/>
              </a:rPr>
              <a:t>What can we call them?</a:t>
            </a:r>
            <a:r>
              <a:rPr lang="en" sz="2000" b="1">
                <a:solidFill>
                  <a:srgbClr val="218C97"/>
                </a:solidFill>
                <a:latin typeface="Avenir"/>
                <a:ea typeface="Avenir"/>
                <a:cs typeface="Avenir"/>
                <a:sym typeface="Avenir"/>
              </a:rPr>
              <a:t> </a:t>
            </a:r>
            <a:endParaRPr sz="2800" b="1">
              <a:solidFill>
                <a:schemeClr val="dk1"/>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Shape 369"/>
        <p:cNvGrpSpPr/>
        <p:nvPr/>
      </p:nvGrpSpPr>
      <p:grpSpPr>
        <a:xfrm>
          <a:off x="0" y="0"/>
          <a:ext cx="0" cy="0"/>
          <a:chOff x="0" y="0"/>
          <a:chExt cx="0" cy="0"/>
        </a:xfrm>
      </p:grpSpPr>
      <p:sp>
        <p:nvSpPr>
          <p:cNvPr id="370" name="Google Shape;370;p37"/>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n" sz="2000" b="1"/>
              <a:t>PHASE 3. </a:t>
            </a:r>
            <a:r>
              <a:rPr lang="en" sz="2000"/>
              <a:t>Classification of padlocks and general techniques</a:t>
            </a:r>
            <a:endParaRPr sz="2000" b="1"/>
          </a:p>
        </p:txBody>
      </p:sp>
      <p:sp>
        <p:nvSpPr>
          <p:cNvPr id="371" name="Google Shape;371;p37"/>
          <p:cNvSpPr txBox="1"/>
          <p:nvPr/>
        </p:nvSpPr>
        <p:spPr>
          <a:xfrm>
            <a:off x="671640" y="1549625"/>
            <a:ext cx="8016900" cy="2807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2000" b="1">
                <a:solidFill>
                  <a:srgbClr val="218C97"/>
                </a:solidFill>
                <a:latin typeface="Avenir"/>
                <a:ea typeface="Avenir"/>
                <a:cs typeface="Avenir"/>
                <a:sym typeface="Avenir"/>
              </a:rPr>
              <a:t>PART 2. SHARING</a:t>
            </a: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r>
              <a:rPr lang="en" sz="2000" b="1">
                <a:solidFill>
                  <a:srgbClr val="595959"/>
                </a:solidFill>
                <a:latin typeface="Avenir"/>
                <a:ea typeface="Avenir"/>
                <a:cs typeface="Avenir"/>
                <a:sym typeface="Avenir"/>
              </a:rPr>
              <a:t>Teachers guide the sharing of ideas between the different groups on Q3. See examples below:</a:t>
            </a:r>
            <a:endParaRPr sz="2000" b="1">
              <a:solidFill>
                <a:srgbClr val="595959"/>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30000"/>
              </a:lnSpc>
              <a:spcBef>
                <a:spcPts val="0"/>
              </a:spcBef>
              <a:spcAft>
                <a:spcPts val="0"/>
              </a:spcAft>
              <a:buNone/>
            </a:pPr>
            <a:endParaRPr sz="2800" b="1">
              <a:solidFill>
                <a:schemeClr val="dk1"/>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1600"/>
              <a:buFont typeface="Arial"/>
              <a:buNone/>
            </a:pPr>
            <a:endParaRPr sz="2000" b="1">
              <a:solidFill>
                <a:srgbClr val="218C97"/>
              </a:solidFill>
              <a:latin typeface="Avenir"/>
              <a:ea typeface="Avenir"/>
              <a:cs typeface="Avenir"/>
              <a:sym typeface="Avenir"/>
            </a:endParaRPr>
          </a:p>
        </p:txBody>
      </p:sp>
      <p:pic>
        <p:nvPicPr>
          <p:cNvPr id="372" name="Google Shape;372;p37"/>
          <p:cNvPicPr preferRelativeResize="0"/>
          <p:nvPr/>
        </p:nvPicPr>
        <p:blipFill>
          <a:blip r:embed="rId3">
            <a:alphaModFix/>
          </a:blip>
          <a:stretch>
            <a:fillRect/>
          </a:stretch>
        </p:blipFill>
        <p:spPr>
          <a:xfrm>
            <a:off x="413925" y="2990338"/>
            <a:ext cx="4010025" cy="3038425"/>
          </a:xfrm>
          <a:prstGeom prst="rect">
            <a:avLst/>
          </a:prstGeom>
          <a:noFill/>
          <a:ln>
            <a:noFill/>
          </a:ln>
        </p:spPr>
      </p:pic>
      <p:pic>
        <p:nvPicPr>
          <p:cNvPr id="373" name="Google Shape;373;p37"/>
          <p:cNvPicPr preferRelativeResize="0"/>
          <p:nvPr/>
        </p:nvPicPr>
        <p:blipFill>
          <a:blip r:embed="rId4">
            <a:alphaModFix/>
          </a:blip>
          <a:stretch>
            <a:fillRect/>
          </a:stretch>
        </p:blipFill>
        <p:spPr>
          <a:xfrm>
            <a:off x="4470550" y="3559950"/>
            <a:ext cx="4474875" cy="1818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8"/>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n" sz="2000" b="1"/>
              <a:t>PHASE 3. </a:t>
            </a:r>
            <a:r>
              <a:rPr lang="en" sz="2000"/>
              <a:t>Classification of padlocks and general techniques</a:t>
            </a:r>
            <a:endParaRPr sz="2000" b="1"/>
          </a:p>
        </p:txBody>
      </p:sp>
      <p:pic>
        <p:nvPicPr>
          <p:cNvPr id="379" name="Google Shape;379;p38"/>
          <p:cNvPicPr preferRelativeResize="0"/>
          <p:nvPr/>
        </p:nvPicPr>
        <p:blipFill>
          <a:blip r:embed="rId3">
            <a:alphaModFix/>
          </a:blip>
          <a:stretch>
            <a:fillRect/>
          </a:stretch>
        </p:blipFill>
        <p:spPr>
          <a:xfrm>
            <a:off x="197475" y="1327753"/>
            <a:ext cx="8839199" cy="499259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9"/>
          <p:cNvSpPr txBox="1">
            <a:spLocks noGrp="1"/>
          </p:cNvSpPr>
          <p:nvPr>
            <p:ph type="body" idx="1"/>
          </p:nvPr>
        </p:nvSpPr>
        <p:spPr>
          <a:xfrm>
            <a:off x="266284" y="2042353"/>
            <a:ext cx="84852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600"/>
              </a:spcBef>
              <a:spcAft>
                <a:spcPts val="0"/>
              </a:spcAft>
              <a:buSzPts val="2800"/>
              <a:buNone/>
            </a:pPr>
            <a:r>
              <a:rPr lang="en" sz="2800" b="1" i="1"/>
              <a:t>Q </a:t>
            </a:r>
            <a:r>
              <a:rPr lang="en" sz="2800" b="1" baseline="-25000"/>
              <a:t>4 </a:t>
            </a:r>
            <a:r>
              <a:rPr lang="en" sz="2800" b="1"/>
              <a:t>: Do these models work to solve more counting problems?</a:t>
            </a:r>
            <a:endParaRPr sz="2800" b="1"/>
          </a:p>
          <a:p>
            <a:pPr marL="0" lvl="0" indent="0" algn="ctr" rtl="0">
              <a:lnSpc>
                <a:spcPct val="130000"/>
              </a:lnSpc>
              <a:spcBef>
                <a:spcPts val="600"/>
              </a:spcBef>
              <a:spcAft>
                <a:spcPts val="0"/>
              </a:spcAft>
              <a:buSzPts val="2800"/>
              <a:buNone/>
            </a:pPr>
            <a:r>
              <a:rPr lang="en" sz="2800" b="1"/>
              <a:t>in different contexts that of padlocks?</a:t>
            </a:r>
            <a:endParaRPr sz="2800" b="1"/>
          </a:p>
        </p:txBody>
      </p:sp>
      <p:sp>
        <p:nvSpPr>
          <p:cNvPr id="386" name="Google Shape;386;p39"/>
          <p:cNvSpPr txBox="1">
            <a:spLocks noGrp="1"/>
          </p:cNvSpPr>
          <p:nvPr>
            <p:ph type="title"/>
          </p:nvPr>
        </p:nvSpPr>
        <p:spPr>
          <a:xfrm>
            <a:off x="474595" y="318728"/>
            <a:ext cx="76407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sz="2000" b="1"/>
              <a:t>PHASE 4. </a:t>
            </a:r>
            <a:r>
              <a:rPr lang="en" sz="2000"/>
              <a:t>Beyond the Padlocks</a:t>
            </a:r>
            <a:endParaRPr/>
          </a:p>
        </p:txBody>
      </p:sp>
      <p:pic>
        <p:nvPicPr>
          <p:cNvPr id="387" name="Google Shape;387;p39" descr="A screenshot of a phone number&#10;&#10;Description automatically generated"/>
          <p:cNvPicPr preferRelativeResize="0"/>
          <p:nvPr/>
        </p:nvPicPr>
        <p:blipFill rotWithShape="1">
          <a:blip r:embed="rId3">
            <a:alphaModFix/>
          </a:blip>
          <a:srcRect/>
          <a:stretch/>
        </p:blipFill>
        <p:spPr>
          <a:xfrm rot="974582">
            <a:off x="1662352" y="4016858"/>
            <a:ext cx="926996" cy="1648012"/>
          </a:xfrm>
          <a:prstGeom prst="rect">
            <a:avLst/>
          </a:prstGeom>
          <a:noFill/>
          <a:ln>
            <a:noFill/>
          </a:ln>
          <a:effectLst>
            <a:outerShdw blurRad="190500" algn="tl" rotWithShape="0">
              <a:srgbClr val="000000">
                <a:alpha val="69410"/>
              </a:srgbClr>
            </a:outerShdw>
          </a:effectLst>
        </p:spPr>
      </p:pic>
      <p:pic>
        <p:nvPicPr>
          <p:cNvPr id="388" name="Google Shape;388;p39" descr="A screenshot of a video game&#10;&#10;Description automatically generated"/>
          <p:cNvPicPr preferRelativeResize="0"/>
          <p:nvPr/>
        </p:nvPicPr>
        <p:blipFill rotWithShape="1">
          <a:blip r:embed="rId4">
            <a:alphaModFix/>
          </a:blip>
          <a:srcRect/>
          <a:stretch/>
        </p:blipFill>
        <p:spPr>
          <a:xfrm>
            <a:off x="2934068" y="4352384"/>
            <a:ext cx="2541414" cy="1429866"/>
          </a:xfrm>
          <a:prstGeom prst="rect">
            <a:avLst/>
          </a:prstGeom>
          <a:noFill/>
          <a:ln>
            <a:noFill/>
          </a:ln>
          <a:effectLst>
            <a:outerShdw blurRad="190500" algn="tl" rotWithShape="0">
              <a:srgbClr val="000000">
                <a:alpha val="69410"/>
              </a:srgbClr>
            </a:outerShdw>
          </a:effectLst>
        </p:spPr>
      </p:pic>
      <p:pic>
        <p:nvPicPr>
          <p:cNvPr id="389" name="Google Shape;389;p39" descr="A tray of sandwiches on a table&#10;&#10;Description automatically generated"/>
          <p:cNvPicPr preferRelativeResize="0"/>
          <p:nvPr/>
        </p:nvPicPr>
        <p:blipFill rotWithShape="1">
          <a:blip r:embed="rId5">
            <a:alphaModFix/>
          </a:blip>
          <a:srcRect/>
          <a:stretch/>
        </p:blipFill>
        <p:spPr>
          <a:xfrm>
            <a:off x="5794628" y="4185849"/>
            <a:ext cx="2207832" cy="1569259"/>
          </a:xfrm>
          <a:prstGeom prst="rect">
            <a:avLst/>
          </a:prstGeom>
          <a:noFill/>
          <a:ln>
            <a:noFill/>
          </a:ln>
          <a:effectLst>
            <a:outerShdw blurRad="190500" algn="tl" rotWithShape="0">
              <a:srgbClr val="000000">
                <a:alpha val="69410"/>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0"/>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n" sz="2000" b="1"/>
              <a:t>PHASE 4. </a:t>
            </a:r>
            <a:r>
              <a:rPr lang="en" sz="2000"/>
              <a:t>Beyond the Padlocks</a:t>
            </a:r>
            <a:endParaRPr sz="2000" b="1"/>
          </a:p>
        </p:txBody>
      </p:sp>
      <p:pic>
        <p:nvPicPr>
          <p:cNvPr id="395" name="Google Shape;395;p40" descr="Free Vectors | whiteboard frame"/>
          <p:cNvPicPr preferRelativeResize="0"/>
          <p:nvPr/>
        </p:nvPicPr>
        <p:blipFill rotWithShape="1">
          <a:blip r:embed="rId3">
            <a:alphaModFix/>
          </a:blip>
          <a:srcRect/>
          <a:stretch/>
        </p:blipFill>
        <p:spPr>
          <a:xfrm>
            <a:off x="829314" y="1951052"/>
            <a:ext cx="7370819" cy="4547700"/>
          </a:xfrm>
          <a:prstGeom prst="rect">
            <a:avLst/>
          </a:prstGeom>
          <a:noFill/>
          <a:ln>
            <a:noFill/>
          </a:ln>
        </p:spPr>
      </p:pic>
      <p:sp>
        <p:nvSpPr>
          <p:cNvPr id="396" name="Google Shape;396;p40"/>
          <p:cNvSpPr/>
          <p:nvPr/>
        </p:nvSpPr>
        <p:spPr>
          <a:xfrm>
            <a:off x="1303500" y="2571634"/>
            <a:ext cx="3413711" cy="2862322"/>
          </a:xfrm>
          <a:custGeom>
            <a:avLst/>
            <a:gdLst/>
            <a:ahLst/>
            <a:cxnLst/>
            <a:rect l="l" t="t" r="r" b="b"/>
            <a:pathLst>
              <a:path w="3413711" h="2862322" extrusionOk="0">
                <a:moveTo>
                  <a:pt x="0" y="0"/>
                </a:moveTo>
                <a:cubicBezTo>
                  <a:pt x="131581" y="-58989"/>
                  <a:pt x="382469" y="22619"/>
                  <a:pt x="603089" y="0"/>
                </a:cubicBezTo>
                <a:cubicBezTo>
                  <a:pt x="823709" y="-22619"/>
                  <a:pt x="950979" y="38144"/>
                  <a:pt x="1206178" y="0"/>
                </a:cubicBezTo>
                <a:cubicBezTo>
                  <a:pt x="1461377" y="-38144"/>
                  <a:pt x="1595185" y="12438"/>
                  <a:pt x="1843404" y="0"/>
                </a:cubicBezTo>
                <a:cubicBezTo>
                  <a:pt x="2091623" y="-12438"/>
                  <a:pt x="2142573" y="53002"/>
                  <a:pt x="2309944" y="0"/>
                </a:cubicBezTo>
                <a:cubicBezTo>
                  <a:pt x="2477315" y="-53002"/>
                  <a:pt x="2565611" y="10785"/>
                  <a:pt x="2776485" y="0"/>
                </a:cubicBezTo>
                <a:cubicBezTo>
                  <a:pt x="2987359" y="-10785"/>
                  <a:pt x="3142065" y="71865"/>
                  <a:pt x="3413711" y="0"/>
                </a:cubicBezTo>
                <a:cubicBezTo>
                  <a:pt x="3473814" y="242874"/>
                  <a:pt x="3398244" y="370313"/>
                  <a:pt x="3413711" y="515218"/>
                </a:cubicBezTo>
                <a:cubicBezTo>
                  <a:pt x="3429178" y="660123"/>
                  <a:pt x="3396918" y="841915"/>
                  <a:pt x="3413711" y="1001813"/>
                </a:cubicBezTo>
                <a:cubicBezTo>
                  <a:pt x="3430504" y="1161711"/>
                  <a:pt x="3390539" y="1360379"/>
                  <a:pt x="3413711" y="1574277"/>
                </a:cubicBezTo>
                <a:cubicBezTo>
                  <a:pt x="3436883" y="1788175"/>
                  <a:pt x="3352309" y="1967553"/>
                  <a:pt x="3413711" y="2146742"/>
                </a:cubicBezTo>
                <a:cubicBezTo>
                  <a:pt x="3475113" y="2325931"/>
                  <a:pt x="3402509" y="2542249"/>
                  <a:pt x="3413711" y="2862322"/>
                </a:cubicBezTo>
                <a:cubicBezTo>
                  <a:pt x="3110585" y="2918538"/>
                  <a:pt x="2905285" y="2804638"/>
                  <a:pt x="2776485" y="2862322"/>
                </a:cubicBezTo>
                <a:cubicBezTo>
                  <a:pt x="2647685" y="2920006"/>
                  <a:pt x="2502438" y="2811163"/>
                  <a:pt x="2275807" y="2862322"/>
                </a:cubicBezTo>
                <a:cubicBezTo>
                  <a:pt x="2049176" y="2913481"/>
                  <a:pt x="1953739" y="2853287"/>
                  <a:pt x="1809267" y="2862322"/>
                </a:cubicBezTo>
                <a:cubicBezTo>
                  <a:pt x="1664795" y="2871357"/>
                  <a:pt x="1348055" y="2817252"/>
                  <a:pt x="1206178" y="2862322"/>
                </a:cubicBezTo>
                <a:cubicBezTo>
                  <a:pt x="1064301" y="2907392"/>
                  <a:pt x="857246" y="2827634"/>
                  <a:pt x="568952" y="2862322"/>
                </a:cubicBezTo>
                <a:cubicBezTo>
                  <a:pt x="280658" y="2897010"/>
                  <a:pt x="188402" y="2805162"/>
                  <a:pt x="0" y="2862322"/>
                </a:cubicBezTo>
                <a:cubicBezTo>
                  <a:pt x="-70351" y="2574628"/>
                  <a:pt x="66825" y="2369775"/>
                  <a:pt x="0" y="2232611"/>
                </a:cubicBezTo>
                <a:cubicBezTo>
                  <a:pt x="-66825" y="2095447"/>
                  <a:pt x="20045" y="1826206"/>
                  <a:pt x="0" y="1631524"/>
                </a:cubicBezTo>
                <a:cubicBezTo>
                  <a:pt x="-20045" y="1436842"/>
                  <a:pt x="684" y="1255787"/>
                  <a:pt x="0" y="1059059"/>
                </a:cubicBezTo>
                <a:cubicBezTo>
                  <a:pt x="-684" y="862332"/>
                  <a:pt x="49780" y="694048"/>
                  <a:pt x="0" y="572464"/>
                </a:cubicBezTo>
                <a:cubicBezTo>
                  <a:pt x="-49780" y="450880"/>
                  <a:pt x="22387" y="149464"/>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7030A0"/>
                </a:solidFill>
                <a:latin typeface="Avenir"/>
                <a:ea typeface="Avenir"/>
                <a:cs typeface="Avenir"/>
                <a:sym typeface="Avenir"/>
              </a:rPr>
              <a:t>Choose a 4-digit mobile phone pin number?</a:t>
            </a:r>
            <a:endParaRPr sz="1400" b="1"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7030A0"/>
                </a:solidFill>
                <a:latin typeface="Avenir"/>
                <a:ea typeface="Avenir"/>
                <a:cs typeface="Avenir"/>
                <a:sym typeface="Avenir"/>
              </a:rPr>
              <a:t>Making football match crosses if there are 20 teams and everyone has to play against everyone in the first and second leg?</a:t>
            </a:r>
            <a:endParaRPr sz="1400" b="1" i="0" u="none" strike="noStrike" cap="none">
              <a:solidFill>
                <a:srgbClr val="000000"/>
              </a:solidFill>
              <a:latin typeface="Avenir"/>
              <a:ea typeface="Avenir"/>
              <a:cs typeface="Avenir"/>
              <a:sym typeface="Avenir"/>
            </a:endParaRPr>
          </a:p>
        </p:txBody>
      </p:sp>
      <p:pic>
        <p:nvPicPr>
          <p:cNvPr id="397" name="Google Shape;397;p40" descr="A screenshot of a phone number&#10;&#10;Description automatically generated"/>
          <p:cNvPicPr preferRelativeResize="0"/>
          <p:nvPr/>
        </p:nvPicPr>
        <p:blipFill rotWithShape="1">
          <a:blip r:embed="rId4">
            <a:alphaModFix/>
          </a:blip>
          <a:srcRect/>
          <a:stretch/>
        </p:blipFill>
        <p:spPr>
          <a:xfrm rot="974568">
            <a:off x="5630193" y="2324497"/>
            <a:ext cx="769715" cy="1368383"/>
          </a:xfrm>
          <a:prstGeom prst="rect">
            <a:avLst/>
          </a:prstGeom>
          <a:noFill/>
          <a:ln>
            <a:noFill/>
          </a:ln>
          <a:effectLst>
            <a:outerShdw blurRad="190500" algn="tl" rotWithShape="0">
              <a:srgbClr val="000000">
                <a:alpha val="69410"/>
              </a:srgbClr>
            </a:outerShdw>
          </a:effectLst>
        </p:spPr>
      </p:pic>
      <p:pic>
        <p:nvPicPr>
          <p:cNvPr id="398" name="Google Shape;398;p40" descr="A screenshot of a video game&#10;&#10;Description automatically generated"/>
          <p:cNvPicPr preferRelativeResize="0"/>
          <p:nvPr/>
        </p:nvPicPr>
        <p:blipFill rotWithShape="1">
          <a:blip r:embed="rId5">
            <a:alphaModFix/>
          </a:blip>
          <a:srcRect/>
          <a:stretch/>
        </p:blipFill>
        <p:spPr>
          <a:xfrm>
            <a:off x="5025405" y="4197334"/>
            <a:ext cx="2541414" cy="1429866"/>
          </a:xfrm>
          <a:prstGeom prst="rect">
            <a:avLst/>
          </a:prstGeom>
          <a:noFill/>
          <a:ln>
            <a:noFill/>
          </a:ln>
          <a:effectLst>
            <a:outerShdw blurRad="190500" algn="tl" rotWithShape="0">
              <a:srgbClr val="000000">
                <a:alpha val="69410"/>
              </a:srgbClr>
            </a:outerShdw>
          </a:effectLst>
        </p:spPr>
      </p:pic>
      <p:sp>
        <p:nvSpPr>
          <p:cNvPr id="399" name="Google Shape;399;p40"/>
          <p:cNvSpPr txBox="1">
            <a:spLocks noGrp="1"/>
          </p:cNvSpPr>
          <p:nvPr>
            <p:ph type="body" idx="1"/>
          </p:nvPr>
        </p:nvSpPr>
        <p:spPr>
          <a:xfrm>
            <a:off x="474450" y="1080470"/>
            <a:ext cx="8397900" cy="6138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sz="2000" b="1"/>
              <a:t>Q </a:t>
            </a:r>
            <a:r>
              <a:rPr lang="en" b="1"/>
              <a:t>4 </a:t>
            </a:r>
            <a:r>
              <a:rPr lang="en" sz="2000" b="1"/>
              <a:t>: </a:t>
            </a:r>
            <a:r>
              <a:rPr lang="en" b="1"/>
              <a:t>Do these models work to solve more counting problems in contexts other than padlocks?</a:t>
            </a:r>
            <a:endParaRPr/>
          </a:p>
          <a:p>
            <a:pPr marL="457200" lvl="1" indent="-114300" algn="l" rtl="0">
              <a:lnSpc>
                <a:spcPct val="130000"/>
              </a:lnSpc>
              <a:spcBef>
                <a:spcPts val="600"/>
              </a:spcBef>
              <a:spcAft>
                <a:spcPts val="0"/>
              </a:spcAft>
              <a:buSzPts val="18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41"/>
          <p:cNvSpPr txBox="1">
            <a:spLocks noGrp="1"/>
          </p:cNvSpPr>
          <p:nvPr>
            <p:ph type="title"/>
          </p:nvPr>
        </p:nvSpPr>
        <p:spPr>
          <a:xfrm>
            <a:off x="1085850" y="318728"/>
            <a:ext cx="7786500" cy="640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SzPts val="1400"/>
              <a:buNone/>
            </a:pPr>
            <a:r>
              <a:rPr lang="en" sz="2000" b="1"/>
              <a:t>PHASE 4. </a:t>
            </a:r>
            <a:r>
              <a:rPr lang="en" sz="2000"/>
              <a:t>Beyond the Padlocks</a:t>
            </a:r>
            <a:endParaRPr sz="2000" b="1"/>
          </a:p>
        </p:txBody>
      </p:sp>
      <p:pic>
        <p:nvPicPr>
          <p:cNvPr id="405" name="Google Shape;405;p41" descr="Free Vectors | whiteboard frame"/>
          <p:cNvPicPr preferRelativeResize="0"/>
          <p:nvPr/>
        </p:nvPicPr>
        <p:blipFill rotWithShape="1">
          <a:blip r:embed="rId3">
            <a:alphaModFix/>
          </a:blip>
          <a:srcRect/>
          <a:stretch/>
        </p:blipFill>
        <p:spPr>
          <a:xfrm>
            <a:off x="753089" y="1864952"/>
            <a:ext cx="7370819" cy="4547700"/>
          </a:xfrm>
          <a:prstGeom prst="rect">
            <a:avLst/>
          </a:prstGeom>
          <a:noFill/>
          <a:ln>
            <a:noFill/>
          </a:ln>
        </p:spPr>
      </p:pic>
      <p:sp>
        <p:nvSpPr>
          <p:cNvPr id="406" name="Google Shape;406;p41"/>
          <p:cNvSpPr/>
          <p:nvPr/>
        </p:nvSpPr>
        <p:spPr>
          <a:xfrm>
            <a:off x="1245325" y="2620784"/>
            <a:ext cx="3413711" cy="2246769"/>
          </a:xfrm>
          <a:custGeom>
            <a:avLst/>
            <a:gdLst/>
            <a:ahLst/>
            <a:cxnLst/>
            <a:rect l="l" t="t" r="r" b="b"/>
            <a:pathLst>
              <a:path w="3413711" h="2246769" extrusionOk="0">
                <a:moveTo>
                  <a:pt x="0" y="0"/>
                </a:moveTo>
                <a:cubicBezTo>
                  <a:pt x="131581" y="-58989"/>
                  <a:pt x="382469" y="22619"/>
                  <a:pt x="603089" y="0"/>
                </a:cubicBezTo>
                <a:cubicBezTo>
                  <a:pt x="823709" y="-22619"/>
                  <a:pt x="950979" y="38144"/>
                  <a:pt x="1206178" y="0"/>
                </a:cubicBezTo>
                <a:cubicBezTo>
                  <a:pt x="1461377" y="-38144"/>
                  <a:pt x="1595185" y="12438"/>
                  <a:pt x="1843404" y="0"/>
                </a:cubicBezTo>
                <a:cubicBezTo>
                  <a:pt x="2091623" y="-12438"/>
                  <a:pt x="2142573" y="53002"/>
                  <a:pt x="2309944" y="0"/>
                </a:cubicBezTo>
                <a:cubicBezTo>
                  <a:pt x="2477315" y="-53002"/>
                  <a:pt x="2565611" y="10785"/>
                  <a:pt x="2776485" y="0"/>
                </a:cubicBezTo>
                <a:cubicBezTo>
                  <a:pt x="2987359" y="-10785"/>
                  <a:pt x="3142065" y="71865"/>
                  <a:pt x="3413711" y="0"/>
                </a:cubicBezTo>
                <a:cubicBezTo>
                  <a:pt x="3446506" y="210791"/>
                  <a:pt x="3393346" y="301379"/>
                  <a:pt x="3413711" y="516757"/>
                </a:cubicBezTo>
                <a:cubicBezTo>
                  <a:pt x="3434076" y="732135"/>
                  <a:pt x="3372360" y="801077"/>
                  <a:pt x="3413711" y="1011046"/>
                </a:cubicBezTo>
                <a:cubicBezTo>
                  <a:pt x="3455062" y="1221015"/>
                  <a:pt x="3389144" y="1319738"/>
                  <a:pt x="3413711" y="1572738"/>
                </a:cubicBezTo>
                <a:cubicBezTo>
                  <a:pt x="3438278" y="1825738"/>
                  <a:pt x="3391041" y="1960458"/>
                  <a:pt x="3413711" y="2246769"/>
                </a:cubicBezTo>
                <a:cubicBezTo>
                  <a:pt x="3188820" y="2293142"/>
                  <a:pt x="3111127" y="2231480"/>
                  <a:pt x="2947170" y="2246769"/>
                </a:cubicBezTo>
                <a:cubicBezTo>
                  <a:pt x="2783213" y="2262058"/>
                  <a:pt x="2648706" y="2246164"/>
                  <a:pt x="2378219" y="2246769"/>
                </a:cubicBezTo>
                <a:cubicBezTo>
                  <a:pt x="2107732" y="2247374"/>
                  <a:pt x="2104172" y="2195610"/>
                  <a:pt x="1877541" y="2246769"/>
                </a:cubicBezTo>
                <a:cubicBezTo>
                  <a:pt x="1650910" y="2297928"/>
                  <a:pt x="1555473" y="2237734"/>
                  <a:pt x="1411001" y="2246769"/>
                </a:cubicBezTo>
                <a:cubicBezTo>
                  <a:pt x="1266529" y="2255804"/>
                  <a:pt x="949789" y="2201699"/>
                  <a:pt x="807912" y="2246769"/>
                </a:cubicBezTo>
                <a:cubicBezTo>
                  <a:pt x="666035" y="2291839"/>
                  <a:pt x="389055" y="2200483"/>
                  <a:pt x="0" y="2246769"/>
                </a:cubicBezTo>
                <a:cubicBezTo>
                  <a:pt x="-30562" y="2063364"/>
                  <a:pt x="10697" y="1800222"/>
                  <a:pt x="0" y="1685077"/>
                </a:cubicBezTo>
                <a:cubicBezTo>
                  <a:pt x="-10697" y="1569932"/>
                  <a:pt x="47524" y="1290874"/>
                  <a:pt x="0" y="1078449"/>
                </a:cubicBezTo>
                <a:cubicBezTo>
                  <a:pt x="-47524" y="866024"/>
                  <a:pt x="11897" y="714190"/>
                  <a:pt x="0" y="494289"/>
                </a:cubicBezTo>
                <a:cubicBezTo>
                  <a:pt x="-11897" y="274388"/>
                  <a:pt x="51914" y="179338"/>
                  <a:pt x="0" y="0"/>
                </a:cubicBezTo>
                <a:close/>
              </a:path>
            </a:pathLst>
          </a:cu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7030A0"/>
                </a:solidFill>
                <a:latin typeface="Avenir"/>
                <a:ea typeface="Avenir"/>
                <a:cs typeface="Avenir"/>
                <a:sym typeface="Avenir"/>
              </a:rPr>
              <a:t>Making 5 friends sit in a car if 2 of them have a license?</a:t>
            </a:r>
            <a:endParaRPr sz="1400" i="0" u="none" strike="noStrike" cap="none">
              <a:solidFill>
                <a:srgbClr val="00000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endParaRPr sz="2000" b="1" i="0" u="none" strike="noStrike" cap="none">
              <a:solidFill>
                <a:srgbClr val="7030A0"/>
              </a:solidFill>
              <a:latin typeface="Avenir"/>
              <a:ea typeface="Avenir"/>
              <a:cs typeface="Avenir"/>
              <a:sym typeface="Avenir"/>
            </a:endParaRPr>
          </a:p>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7030A0"/>
                </a:solidFill>
                <a:latin typeface="Avenir"/>
                <a:ea typeface="Avenir"/>
                <a:cs typeface="Avenir"/>
                <a:sym typeface="Avenir"/>
              </a:rPr>
              <a:t>Ways to choose 3 different sandwiches from a total of 6 types of sandwiches?</a:t>
            </a:r>
            <a:endParaRPr sz="1400" i="0" u="none" strike="noStrike" cap="none">
              <a:solidFill>
                <a:srgbClr val="000000"/>
              </a:solidFill>
              <a:latin typeface="Avenir"/>
              <a:ea typeface="Avenir"/>
              <a:cs typeface="Avenir"/>
              <a:sym typeface="Avenir"/>
            </a:endParaRPr>
          </a:p>
        </p:txBody>
      </p:sp>
      <p:pic>
        <p:nvPicPr>
          <p:cNvPr id="407" name="Google Shape;407;p41" descr="The top view of a car&#10;&#10;Description automatically generated"/>
          <p:cNvPicPr preferRelativeResize="0"/>
          <p:nvPr/>
        </p:nvPicPr>
        <p:blipFill rotWithShape="1">
          <a:blip r:embed="rId4">
            <a:alphaModFix/>
          </a:blip>
          <a:srcRect/>
          <a:stretch/>
        </p:blipFill>
        <p:spPr>
          <a:xfrm>
            <a:off x="4930517" y="2506839"/>
            <a:ext cx="2626995" cy="1360789"/>
          </a:xfrm>
          <a:prstGeom prst="rect">
            <a:avLst/>
          </a:prstGeom>
          <a:noFill/>
          <a:ln>
            <a:noFill/>
          </a:ln>
        </p:spPr>
      </p:pic>
      <p:pic>
        <p:nvPicPr>
          <p:cNvPr id="408" name="Google Shape;408;p41" descr="A tray of sandwiches on a table&#10;&#10;Description automatically generated"/>
          <p:cNvPicPr preferRelativeResize="0"/>
          <p:nvPr/>
        </p:nvPicPr>
        <p:blipFill rotWithShape="1">
          <a:blip r:embed="rId5">
            <a:alphaModFix/>
          </a:blip>
          <a:srcRect/>
          <a:stretch/>
        </p:blipFill>
        <p:spPr>
          <a:xfrm>
            <a:off x="5190453" y="4084349"/>
            <a:ext cx="2207832" cy="1569259"/>
          </a:xfrm>
          <a:prstGeom prst="rect">
            <a:avLst/>
          </a:prstGeom>
          <a:noFill/>
          <a:ln>
            <a:noFill/>
          </a:ln>
          <a:effectLst>
            <a:outerShdw blurRad="190500" algn="tl" rotWithShape="0">
              <a:srgbClr val="000000">
                <a:alpha val="69410"/>
              </a:srgbClr>
            </a:outerShdw>
          </a:effectLst>
        </p:spPr>
      </p:pic>
      <p:sp>
        <p:nvSpPr>
          <p:cNvPr id="409" name="Google Shape;409;p41"/>
          <p:cNvSpPr txBox="1">
            <a:spLocks noGrp="1"/>
          </p:cNvSpPr>
          <p:nvPr>
            <p:ph type="body" idx="1"/>
          </p:nvPr>
        </p:nvSpPr>
        <p:spPr>
          <a:xfrm>
            <a:off x="474450" y="1080470"/>
            <a:ext cx="8397900" cy="6138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sz="2000" b="1"/>
              <a:t>Q </a:t>
            </a:r>
            <a:r>
              <a:rPr lang="en" b="1"/>
              <a:t>4 </a:t>
            </a:r>
            <a:r>
              <a:rPr lang="en" sz="2000" b="1"/>
              <a:t>: </a:t>
            </a:r>
            <a:r>
              <a:rPr lang="en" b="1"/>
              <a:t>Do these models work to solve more counting problems in contexts other than padlocks?</a:t>
            </a:r>
            <a:endParaRPr/>
          </a:p>
          <a:p>
            <a:pPr marL="457200" lvl="1" indent="-114300" algn="l" rtl="0">
              <a:lnSpc>
                <a:spcPct val="130000"/>
              </a:lnSpc>
              <a:spcBef>
                <a:spcPts val="600"/>
              </a:spcBef>
              <a:spcAft>
                <a:spcPts val="0"/>
              </a:spcAft>
              <a:buSzPts val="1800"/>
              <a:buNone/>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414"/>
        <p:cNvGrpSpPr/>
        <p:nvPr/>
      </p:nvGrpSpPr>
      <p:grpSpPr>
        <a:xfrm>
          <a:off x="0" y="0"/>
          <a:ext cx="0" cy="0"/>
          <a:chOff x="0" y="0"/>
          <a:chExt cx="0" cy="0"/>
        </a:xfrm>
      </p:grpSpPr>
      <p:sp>
        <p:nvSpPr>
          <p:cNvPr id="415" name="Google Shape;415;p42"/>
          <p:cNvSpPr txBox="1">
            <a:spLocks noGrp="1"/>
          </p:cNvSpPr>
          <p:nvPr>
            <p:ph type="body" idx="1"/>
          </p:nvPr>
        </p:nvSpPr>
        <p:spPr>
          <a:xfrm>
            <a:off x="373071" y="1932836"/>
            <a:ext cx="8397900" cy="2143500"/>
          </a:xfrm>
          <a:prstGeom prst="rect">
            <a:avLst/>
          </a:prstGeom>
          <a:noFill/>
          <a:ln>
            <a:noFill/>
          </a:ln>
        </p:spPr>
        <p:txBody>
          <a:bodyPr spcFirstLastPara="1" wrap="square" lIns="91425" tIns="45700" rIns="91425" bIns="45700" anchor="t" anchorCtr="0">
            <a:noAutofit/>
          </a:bodyPr>
          <a:lstStyle/>
          <a:p>
            <a:pPr marL="0" lvl="0" indent="0" algn="ctr" rtl="0">
              <a:lnSpc>
                <a:spcPct val="130000"/>
              </a:lnSpc>
              <a:spcBef>
                <a:spcPts val="0"/>
              </a:spcBef>
              <a:spcAft>
                <a:spcPts val="0"/>
              </a:spcAft>
              <a:buSzPts val="2800"/>
              <a:buNone/>
            </a:pPr>
            <a:r>
              <a:rPr lang="en" sz="2800" b="1" i="1"/>
              <a:t>Q </a:t>
            </a:r>
            <a:r>
              <a:rPr lang="en" sz="2800" b="1" baseline="-25000"/>
              <a:t>3 </a:t>
            </a:r>
            <a:r>
              <a:rPr lang="en" sz="2800" b="1"/>
              <a:t>: How to create secure passwords?</a:t>
            </a:r>
            <a:endParaRPr/>
          </a:p>
          <a:p>
            <a:pPr marL="228600" lvl="0" indent="-101600" algn="l" rtl="0">
              <a:lnSpc>
                <a:spcPct val="130000"/>
              </a:lnSpc>
              <a:spcBef>
                <a:spcPts val="600"/>
              </a:spcBef>
              <a:spcAft>
                <a:spcPts val="0"/>
              </a:spcAft>
              <a:buSzPts val="2000"/>
              <a:buNone/>
            </a:pPr>
            <a:endParaRPr/>
          </a:p>
        </p:txBody>
      </p:sp>
      <p:sp>
        <p:nvSpPr>
          <p:cNvPr id="416" name="Google Shape;416;p42"/>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n" b="1"/>
              <a:t>PHASE Optional. </a:t>
            </a:r>
            <a:r>
              <a:rPr lang="en"/>
              <a:t>Let's be hackers!</a:t>
            </a:r>
            <a:endParaRPr b="1"/>
          </a:p>
        </p:txBody>
      </p:sp>
      <p:pic>
        <p:nvPicPr>
          <p:cNvPr id="417" name="Google Shape;417;p42"/>
          <p:cNvPicPr preferRelativeResize="0"/>
          <p:nvPr/>
        </p:nvPicPr>
        <p:blipFill>
          <a:blip r:embed="rId3">
            <a:alphaModFix/>
          </a:blip>
          <a:stretch>
            <a:fillRect/>
          </a:stretch>
        </p:blipFill>
        <p:spPr>
          <a:xfrm>
            <a:off x="2131963" y="2753786"/>
            <a:ext cx="4880066" cy="2476864"/>
          </a:xfrm>
          <a:prstGeom prst="rect">
            <a:avLst/>
          </a:prstGeom>
          <a:noFill/>
          <a:ln w="9525" cap="flat" cmpd="sng">
            <a:solidFill>
              <a:srgbClr val="CC0000"/>
            </a:solidFill>
            <a:prstDash val="solid"/>
            <a:round/>
            <a:headEnd type="none" w="sm" len="sm"/>
            <a:tailEnd type="none" w="sm" len="sm"/>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Shape 421"/>
        <p:cNvGrpSpPr/>
        <p:nvPr/>
      </p:nvGrpSpPr>
      <p:grpSpPr>
        <a:xfrm>
          <a:off x="0" y="0"/>
          <a:ext cx="0" cy="0"/>
          <a:chOff x="0" y="0"/>
          <a:chExt cx="0" cy="0"/>
        </a:xfrm>
      </p:grpSpPr>
      <p:sp>
        <p:nvSpPr>
          <p:cNvPr id="422" name="Google Shape;422;p43"/>
          <p:cNvSpPr txBox="1">
            <a:spLocks noGrp="1"/>
          </p:cNvSpPr>
          <p:nvPr>
            <p:ph type="body" idx="1"/>
          </p:nvPr>
        </p:nvSpPr>
        <p:spPr>
          <a:xfrm>
            <a:off x="643425" y="1316839"/>
            <a:ext cx="8397900" cy="42243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30000"/>
              </a:lnSpc>
              <a:spcBef>
                <a:spcPts val="0"/>
              </a:spcBef>
              <a:spcAft>
                <a:spcPts val="0"/>
              </a:spcAft>
              <a:buSzPts val="2000"/>
              <a:buChar char="◼"/>
            </a:pPr>
            <a:r>
              <a:rPr lang="en" b="1">
                <a:solidFill>
                  <a:srgbClr val="000000"/>
                </a:solidFill>
              </a:rPr>
              <a:t>Let's compare passwords</a:t>
            </a:r>
            <a:endParaRPr sz="2000" b="1">
              <a:solidFill>
                <a:srgbClr val="000000"/>
              </a:solidFill>
            </a:endParaRPr>
          </a:p>
          <a:p>
            <a:pPr marL="457200" marR="0" lvl="0" indent="0" algn="l" rtl="0">
              <a:lnSpc>
                <a:spcPct val="130000"/>
              </a:lnSpc>
              <a:spcBef>
                <a:spcPts val="0"/>
              </a:spcBef>
              <a:spcAft>
                <a:spcPts val="0"/>
              </a:spcAft>
              <a:buNone/>
            </a:pPr>
            <a:endParaRPr sz="700">
              <a:solidFill>
                <a:srgbClr val="000000"/>
              </a:solidFill>
            </a:endParaRPr>
          </a:p>
          <a:p>
            <a:pPr marL="457200" marR="0" lvl="0" indent="0" algn="l" rtl="0">
              <a:lnSpc>
                <a:spcPct val="130000"/>
              </a:lnSpc>
              <a:spcBef>
                <a:spcPts val="0"/>
              </a:spcBef>
              <a:spcAft>
                <a:spcPts val="0"/>
              </a:spcAft>
              <a:buNone/>
            </a:pPr>
            <a:r>
              <a:rPr lang="en" sz="2000">
                <a:solidFill>
                  <a:srgbClr val="000000"/>
                </a:solidFill>
              </a:rPr>
              <a:t>When we have to create passwords, we find different instructions depending on the application or website.</a:t>
            </a:r>
            <a:endParaRPr sz="2000">
              <a:solidFill>
                <a:srgbClr val="000000"/>
              </a:solidFill>
            </a:endParaRPr>
          </a:p>
          <a:p>
            <a:pPr marL="914400" marR="0" lvl="1" indent="-342900" algn="l" rtl="0">
              <a:lnSpc>
                <a:spcPct val="130000"/>
              </a:lnSpc>
              <a:spcBef>
                <a:spcPts val="0"/>
              </a:spcBef>
              <a:spcAft>
                <a:spcPts val="0"/>
              </a:spcAft>
              <a:buSzPts val="1800"/>
              <a:buChar char="▪"/>
            </a:pPr>
            <a:r>
              <a:rPr lang="en" sz="2000">
                <a:solidFill>
                  <a:srgbClr val="000000"/>
                </a:solidFill>
              </a:rPr>
              <a:t>Which ones do you think are safer? Why?</a:t>
            </a:r>
            <a:endParaRPr sz="2000">
              <a:solidFill>
                <a:srgbClr val="000000"/>
              </a:solidFill>
            </a:endParaRPr>
          </a:p>
          <a:p>
            <a:pPr marL="457200" marR="0" lvl="0" indent="0" algn="l" rtl="0">
              <a:lnSpc>
                <a:spcPct val="130000"/>
              </a:lnSpc>
              <a:spcBef>
                <a:spcPts val="0"/>
              </a:spcBef>
              <a:spcAft>
                <a:spcPts val="0"/>
              </a:spcAft>
              <a:buNone/>
            </a:pPr>
            <a:endParaRPr sz="2000">
              <a:solidFill>
                <a:srgbClr val="000000"/>
              </a:solidFill>
            </a:endParaRPr>
          </a:p>
        </p:txBody>
      </p:sp>
      <p:sp>
        <p:nvSpPr>
          <p:cNvPr id="423" name="Google Shape;423;p43"/>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n" b="1"/>
              <a:t>PHASE Optional. </a:t>
            </a:r>
            <a:r>
              <a:rPr lang="en"/>
              <a:t>Let's be hackers!</a:t>
            </a:r>
            <a:endParaRPr sz="2000" b="1"/>
          </a:p>
        </p:txBody>
      </p:sp>
      <p:sp>
        <p:nvSpPr>
          <p:cNvPr id="424" name="Google Shape;424;p43"/>
          <p:cNvSpPr txBox="1"/>
          <p:nvPr/>
        </p:nvSpPr>
        <p:spPr>
          <a:xfrm>
            <a:off x="700700" y="3429000"/>
            <a:ext cx="1830300" cy="7143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a:solidFill>
                  <a:schemeClr val="dk1"/>
                </a:solidFill>
                <a:latin typeface="Avenir"/>
                <a:ea typeface="Avenir"/>
                <a:cs typeface="Avenir"/>
                <a:sym typeface="Avenir"/>
              </a:rPr>
              <a:t>MOBILE PUK </a:t>
            </a:r>
            <a:br>
              <a:rPr lang="ca-ES" sz="1600">
                <a:solidFill>
                  <a:schemeClr val="dk1"/>
                </a:solidFill>
                <a:latin typeface="Avenir"/>
                <a:ea typeface="Avenir"/>
                <a:cs typeface="Avenir"/>
                <a:sym typeface="Avenir"/>
              </a:rPr>
            </a:br>
            <a:r>
              <a:rPr lang="en" sz="1600">
                <a:solidFill>
                  <a:schemeClr val="dk1"/>
                </a:solidFill>
                <a:latin typeface="Avenir"/>
                <a:ea typeface="Avenir"/>
                <a:cs typeface="Avenir"/>
                <a:sym typeface="Avenir"/>
              </a:rPr>
              <a:t>8 numbers</a:t>
            </a:r>
            <a:endParaRPr sz="1600">
              <a:solidFill>
                <a:schemeClr val="dk1"/>
              </a:solidFill>
              <a:latin typeface="Avenir"/>
              <a:ea typeface="Avenir"/>
              <a:cs typeface="Avenir"/>
              <a:sym typeface="Avenir"/>
            </a:endParaRPr>
          </a:p>
        </p:txBody>
      </p:sp>
      <p:sp>
        <p:nvSpPr>
          <p:cNvPr id="425" name="Google Shape;425;p43"/>
          <p:cNvSpPr txBox="1"/>
          <p:nvPr/>
        </p:nvSpPr>
        <p:spPr>
          <a:xfrm>
            <a:off x="6449800" y="3601225"/>
            <a:ext cx="2325600" cy="1563900"/>
          </a:xfrm>
          <a:prstGeom prst="rect">
            <a:avLst/>
          </a:prstGeom>
          <a:solidFill>
            <a:srgbClr val="D9D2E9"/>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a:solidFill>
                  <a:schemeClr val="dk1"/>
                </a:solidFill>
                <a:latin typeface="Avenir"/>
                <a:ea typeface="Avenir"/>
                <a:cs typeface="Avenir"/>
                <a:sym typeface="Avenir"/>
              </a:rPr>
              <a:t>INSTITUTE MAIL </a:t>
            </a:r>
            <a:br>
              <a:rPr lang="ca-ES" sz="1600">
                <a:solidFill>
                  <a:schemeClr val="dk1"/>
                </a:solidFill>
                <a:latin typeface="Avenir"/>
                <a:ea typeface="Avenir"/>
                <a:cs typeface="Avenir"/>
                <a:sym typeface="Avenir"/>
              </a:rPr>
            </a:br>
            <a:r>
              <a:rPr lang="en" sz="1600">
                <a:solidFill>
                  <a:schemeClr val="dk1"/>
                </a:solidFill>
                <a:latin typeface="Avenir"/>
                <a:ea typeface="Avenir"/>
                <a:cs typeface="Avenir"/>
                <a:sym typeface="Avenir"/>
              </a:rPr>
              <a:t>8 elements minimum, alphanumeric, at least one capital letter and one special character</a:t>
            </a:r>
            <a:endParaRPr sz="1600">
              <a:solidFill>
                <a:schemeClr val="dk1"/>
              </a:solidFill>
              <a:latin typeface="Avenir"/>
              <a:ea typeface="Avenir"/>
              <a:cs typeface="Avenir"/>
              <a:sym typeface="Avenir"/>
            </a:endParaRPr>
          </a:p>
        </p:txBody>
      </p:sp>
      <p:sp>
        <p:nvSpPr>
          <p:cNvPr id="426" name="Google Shape;426;p43"/>
          <p:cNvSpPr txBox="1"/>
          <p:nvPr/>
        </p:nvSpPr>
        <p:spPr>
          <a:xfrm>
            <a:off x="3402838" y="3601225"/>
            <a:ext cx="2650800" cy="19509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700">
                <a:solidFill>
                  <a:schemeClr val="dk1"/>
                </a:solidFill>
                <a:latin typeface="Avenir"/>
                <a:ea typeface="Avenir"/>
                <a:cs typeface="Avenir"/>
                <a:sym typeface="Avenir"/>
              </a:rPr>
              <a:t>GMAIL 8 elements minimum with uppercase, lowercase letters, numbers and special characters (as desired)</a:t>
            </a:r>
            <a:endParaRPr sz="1700">
              <a:solidFill>
                <a:schemeClr val="dk1"/>
              </a:solidFill>
              <a:latin typeface="Avenir"/>
              <a:ea typeface="Avenir"/>
              <a:cs typeface="Avenir"/>
              <a:sym typeface="Avenir"/>
            </a:endParaRPr>
          </a:p>
        </p:txBody>
      </p:sp>
      <p:sp>
        <p:nvSpPr>
          <p:cNvPr id="427" name="Google Shape;427;p43"/>
          <p:cNvSpPr txBox="1"/>
          <p:nvPr/>
        </p:nvSpPr>
        <p:spPr>
          <a:xfrm>
            <a:off x="643425" y="6258050"/>
            <a:ext cx="7905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rgbClr val="218C97"/>
                </a:solidFill>
                <a:latin typeface="Avenir"/>
                <a:ea typeface="Avenir"/>
                <a:cs typeface="Avenir"/>
                <a:sym typeface="Avenir"/>
              </a:rPr>
              <a:t>DISCUSS IT IN THE GROUP AND LET'S PREPARE A COMMON POSITION</a:t>
            </a:r>
            <a:endParaRPr sz="2000" b="1">
              <a:solidFill>
                <a:srgbClr val="218C97"/>
              </a:solidFill>
              <a:latin typeface="Avenir"/>
              <a:ea typeface="Avenir"/>
              <a:cs typeface="Avenir"/>
              <a:sym typeface="Avenir"/>
            </a:endParaRPr>
          </a:p>
        </p:txBody>
      </p:sp>
      <p:sp>
        <p:nvSpPr>
          <p:cNvPr id="428" name="Google Shape;428;p43"/>
          <p:cNvSpPr txBox="1"/>
          <p:nvPr/>
        </p:nvSpPr>
        <p:spPr>
          <a:xfrm>
            <a:off x="700700" y="4345750"/>
            <a:ext cx="2268300" cy="1280700"/>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a:solidFill>
                  <a:schemeClr val="dk1"/>
                </a:solidFill>
                <a:latin typeface="Avenir"/>
                <a:ea typeface="Avenir"/>
                <a:cs typeface="Avenir"/>
                <a:sym typeface="Avenir"/>
              </a:rPr>
              <a:t>CHILDREN'S MAIL 8 elements, 4 capital letters followed by 4 numbers</a:t>
            </a:r>
            <a:endParaRPr sz="1600">
              <a:solidFill>
                <a:schemeClr val="dk1"/>
              </a:solidFill>
              <a:latin typeface="Avenir"/>
              <a:ea typeface="Avenir"/>
              <a:cs typeface="Avenir"/>
              <a:sym typeface="Avenir"/>
            </a:endParaRPr>
          </a:p>
        </p:txBody>
      </p:sp>
      <p:sp>
        <p:nvSpPr>
          <p:cNvPr id="429" name="Google Shape;429;p43"/>
          <p:cNvSpPr txBox="1"/>
          <p:nvPr/>
        </p:nvSpPr>
        <p:spPr>
          <a:xfrm>
            <a:off x="6487500" y="5304000"/>
            <a:ext cx="2268300" cy="714300"/>
          </a:xfrm>
          <a:prstGeom prst="rect">
            <a:avLst/>
          </a:prstGeom>
          <a:solidFill>
            <a:srgbClr val="D9EAD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a:solidFill>
                  <a:schemeClr val="dk1"/>
                </a:solidFill>
                <a:latin typeface="Avenir"/>
                <a:ea typeface="Avenir"/>
                <a:cs typeface="Avenir"/>
                <a:sym typeface="Avenir"/>
              </a:rPr>
              <a:t>BANK PIN </a:t>
            </a:r>
            <a:br>
              <a:rPr lang="ca-ES" sz="1600">
                <a:solidFill>
                  <a:schemeClr val="dk1"/>
                </a:solidFill>
                <a:latin typeface="Avenir"/>
                <a:ea typeface="Avenir"/>
                <a:cs typeface="Avenir"/>
                <a:sym typeface="Avenir"/>
              </a:rPr>
            </a:br>
            <a:r>
              <a:rPr lang="en" sz="1600">
                <a:solidFill>
                  <a:schemeClr val="dk1"/>
                </a:solidFill>
                <a:latin typeface="Avenir"/>
                <a:ea typeface="Avenir"/>
                <a:cs typeface="Avenir"/>
                <a:sym typeface="Avenir"/>
              </a:rPr>
              <a:t>8 lowercase letters</a:t>
            </a:r>
            <a:endParaRPr sz="1600">
              <a:solidFill>
                <a:schemeClr val="dk1"/>
              </a:solidFill>
              <a:latin typeface="Avenir"/>
              <a:ea typeface="Avenir"/>
              <a:cs typeface="Avenir"/>
              <a:sym typeface="Aveni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Shape 433"/>
        <p:cNvGrpSpPr/>
        <p:nvPr/>
      </p:nvGrpSpPr>
      <p:grpSpPr>
        <a:xfrm>
          <a:off x="0" y="0"/>
          <a:ext cx="0" cy="0"/>
          <a:chOff x="0" y="0"/>
          <a:chExt cx="0" cy="0"/>
        </a:xfrm>
      </p:grpSpPr>
      <p:sp>
        <p:nvSpPr>
          <p:cNvPr id="434" name="Google Shape;434;p44"/>
          <p:cNvSpPr txBox="1">
            <a:spLocks noGrp="1"/>
          </p:cNvSpPr>
          <p:nvPr>
            <p:ph type="body" idx="1"/>
          </p:nvPr>
        </p:nvSpPr>
        <p:spPr>
          <a:xfrm>
            <a:off x="643425" y="1316839"/>
            <a:ext cx="8397900" cy="4224300"/>
          </a:xfrm>
          <a:prstGeom prst="rect">
            <a:avLst/>
          </a:prstGeom>
          <a:noFill/>
          <a:ln>
            <a:noFill/>
          </a:ln>
        </p:spPr>
        <p:txBody>
          <a:bodyPr spcFirstLastPara="1" wrap="square" lIns="91425" tIns="45700" rIns="91425" bIns="45700" anchor="t" anchorCtr="0">
            <a:noAutofit/>
          </a:bodyPr>
          <a:lstStyle/>
          <a:p>
            <a:pPr marL="228600" marR="0" lvl="0" indent="-228600" algn="l" rtl="0">
              <a:lnSpc>
                <a:spcPct val="130000"/>
              </a:lnSpc>
              <a:spcBef>
                <a:spcPts val="0"/>
              </a:spcBef>
              <a:spcAft>
                <a:spcPts val="0"/>
              </a:spcAft>
              <a:buSzPts val="2000"/>
              <a:buChar char="◼"/>
            </a:pPr>
            <a:r>
              <a:rPr lang="en" sz="2000" b="1">
                <a:solidFill>
                  <a:srgbClr val="000000"/>
                </a:solidFill>
              </a:rPr>
              <a:t>How to create a secure password?</a:t>
            </a:r>
            <a:endParaRPr sz="2000" b="1">
              <a:solidFill>
                <a:srgbClr val="000000"/>
              </a:solidFill>
            </a:endParaRPr>
          </a:p>
          <a:p>
            <a:pPr marL="457200" marR="0" lvl="0" indent="0" algn="l" rtl="0">
              <a:lnSpc>
                <a:spcPct val="130000"/>
              </a:lnSpc>
              <a:spcBef>
                <a:spcPts val="0"/>
              </a:spcBef>
              <a:spcAft>
                <a:spcPts val="0"/>
              </a:spcAft>
              <a:buNone/>
            </a:pPr>
            <a:endParaRPr>
              <a:solidFill>
                <a:srgbClr val="000000"/>
              </a:solidFill>
            </a:endParaRPr>
          </a:p>
          <a:p>
            <a:pPr marL="457200" marR="0" lvl="0" indent="0" algn="l" rtl="0">
              <a:lnSpc>
                <a:spcPct val="130000"/>
              </a:lnSpc>
              <a:spcBef>
                <a:spcPts val="0"/>
              </a:spcBef>
              <a:spcAft>
                <a:spcPts val="0"/>
              </a:spcAft>
              <a:buNone/>
            </a:pPr>
            <a:r>
              <a:rPr lang="en" sz="2000">
                <a:solidFill>
                  <a:srgbClr val="000000"/>
                </a:solidFill>
              </a:rPr>
              <a:t>When we have to create passwords, we find different instructions depending on the application or website.</a:t>
            </a:r>
            <a:endParaRPr sz="2000">
              <a:solidFill>
                <a:srgbClr val="000000"/>
              </a:solidFill>
            </a:endParaRPr>
          </a:p>
          <a:p>
            <a:pPr marL="914400" marR="0" lvl="1" indent="-342900" algn="l" rtl="0">
              <a:lnSpc>
                <a:spcPct val="130000"/>
              </a:lnSpc>
              <a:spcBef>
                <a:spcPts val="0"/>
              </a:spcBef>
              <a:spcAft>
                <a:spcPts val="0"/>
              </a:spcAft>
              <a:buSzPts val="1800"/>
              <a:buChar char="▪"/>
            </a:pPr>
            <a:r>
              <a:rPr lang="en" sz="2000">
                <a:solidFill>
                  <a:srgbClr val="000000"/>
                </a:solidFill>
              </a:rPr>
              <a:t>Which ones do you think are safer? Why?</a:t>
            </a:r>
            <a:endParaRPr sz="2000">
              <a:solidFill>
                <a:srgbClr val="000000"/>
              </a:solidFill>
            </a:endParaRPr>
          </a:p>
          <a:p>
            <a:pPr marL="457200" marR="0" lvl="0" indent="0" algn="l" rtl="0">
              <a:lnSpc>
                <a:spcPct val="130000"/>
              </a:lnSpc>
              <a:spcBef>
                <a:spcPts val="0"/>
              </a:spcBef>
              <a:spcAft>
                <a:spcPts val="0"/>
              </a:spcAft>
              <a:buNone/>
            </a:pPr>
            <a:endParaRPr sz="2000">
              <a:solidFill>
                <a:srgbClr val="000000"/>
              </a:solidFill>
            </a:endParaRPr>
          </a:p>
        </p:txBody>
      </p:sp>
      <p:sp>
        <p:nvSpPr>
          <p:cNvPr id="435" name="Google Shape;435;p44"/>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n" b="1"/>
              <a:t>PHASE Optional. </a:t>
            </a:r>
            <a:r>
              <a:rPr lang="en"/>
              <a:t>Let's be hackers!</a:t>
            </a:r>
            <a:endParaRPr sz="2000" b="1"/>
          </a:p>
        </p:txBody>
      </p:sp>
      <p:sp>
        <p:nvSpPr>
          <p:cNvPr id="436" name="Google Shape;436;p44"/>
          <p:cNvSpPr txBox="1"/>
          <p:nvPr/>
        </p:nvSpPr>
        <p:spPr>
          <a:xfrm>
            <a:off x="700700" y="3429000"/>
            <a:ext cx="1830300" cy="6480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Avenir"/>
                <a:ea typeface="Avenir"/>
                <a:cs typeface="Avenir"/>
                <a:sym typeface="Avenir"/>
              </a:rPr>
              <a:t>MOBILE PUK </a:t>
            </a:r>
            <a:br>
              <a:rPr lang="ca-ES">
                <a:solidFill>
                  <a:schemeClr val="dk1"/>
                </a:solidFill>
                <a:latin typeface="Avenir"/>
                <a:ea typeface="Avenir"/>
                <a:cs typeface="Avenir"/>
                <a:sym typeface="Avenir"/>
              </a:rPr>
            </a:br>
            <a:r>
              <a:rPr lang="en">
                <a:solidFill>
                  <a:schemeClr val="dk1"/>
                </a:solidFill>
                <a:latin typeface="Avenir"/>
                <a:ea typeface="Avenir"/>
                <a:cs typeface="Avenir"/>
                <a:sym typeface="Avenir"/>
              </a:rPr>
              <a:t>8 numbers</a:t>
            </a:r>
            <a:endParaRPr>
              <a:solidFill>
                <a:schemeClr val="dk1"/>
              </a:solidFill>
              <a:latin typeface="Avenir"/>
              <a:ea typeface="Avenir"/>
              <a:cs typeface="Avenir"/>
              <a:sym typeface="Avenir"/>
            </a:endParaRPr>
          </a:p>
        </p:txBody>
      </p:sp>
      <p:sp>
        <p:nvSpPr>
          <p:cNvPr id="437" name="Google Shape;437;p44"/>
          <p:cNvSpPr txBox="1"/>
          <p:nvPr/>
        </p:nvSpPr>
        <p:spPr>
          <a:xfrm>
            <a:off x="700700" y="4365625"/>
            <a:ext cx="2325600" cy="1391400"/>
          </a:xfrm>
          <a:prstGeom prst="rect">
            <a:avLst/>
          </a:prstGeom>
          <a:solidFill>
            <a:srgbClr val="D9D2E9"/>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Avenir"/>
                <a:ea typeface="Avenir"/>
                <a:cs typeface="Avenir"/>
                <a:sym typeface="Avenir"/>
              </a:rPr>
              <a:t>INSTITUTE MAIL </a:t>
            </a:r>
            <a:br>
              <a:rPr lang="ca-ES">
                <a:solidFill>
                  <a:schemeClr val="dk1"/>
                </a:solidFill>
                <a:latin typeface="Avenir"/>
                <a:ea typeface="Avenir"/>
                <a:cs typeface="Avenir"/>
                <a:sym typeface="Avenir"/>
              </a:rPr>
            </a:br>
            <a:r>
              <a:rPr lang="en">
                <a:solidFill>
                  <a:schemeClr val="dk1"/>
                </a:solidFill>
                <a:latin typeface="Avenir"/>
                <a:ea typeface="Avenir"/>
                <a:cs typeface="Avenir"/>
                <a:sym typeface="Avenir"/>
              </a:rPr>
              <a:t>8 elements minimum, alphanumeric, at least one capital letter or a special character</a:t>
            </a:r>
            <a:endParaRPr>
              <a:solidFill>
                <a:schemeClr val="dk1"/>
              </a:solidFill>
              <a:latin typeface="Avenir"/>
              <a:ea typeface="Avenir"/>
              <a:cs typeface="Avenir"/>
              <a:sym typeface="Avenir"/>
            </a:endParaRPr>
          </a:p>
        </p:txBody>
      </p:sp>
      <p:sp>
        <p:nvSpPr>
          <p:cNvPr id="438" name="Google Shape;438;p44"/>
          <p:cNvSpPr txBox="1"/>
          <p:nvPr/>
        </p:nvSpPr>
        <p:spPr>
          <a:xfrm>
            <a:off x="6047700" y="4866650"/>
            <a:ext cx="2268300" cy="1391400"/>
          </a:xfrm>
          <a:prstGeom prst="rect">
            <a:avLst/>
          </a:prstGeom>
          <a:solidFill>
            <a:srgbClr val="E0E0E0"/>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Avenir"/>
                <a:ea typeface="Avenir"/>
                <a:cs typeface="Avenir"/>
                <a:sym typeface="Avenir"/>
              </a:rPr>
              <a:t>PROFESSIONAL MAIL 8 elements minimum, alphanumeric, 2 numbers, 2 lowercase letters, 1 uppercase letter, special character if desired</a:t>
            </a:r>
            <a:endParaRPr>
              <a:solidFill>
                <a:schemeClr val="dk1"/>
              </a:solidFill>
              <a:latin typeface="Avenir"/>
              <a:ea typeface="Avenir"/>
              <a:cs typeface="Avenir"/>
              <a:sym typeface="Avenir"/>
            </a:endParaRPr>
          </a:p>
        </p:txBody>
      </p:sp>
      <p:sp>
        <p:nvSpPr>
          <p:cNvPr id="439" name="Google Shape;439;p44"/>
          <p:cNvSpPr txBox="1"/>
          <p:nvPr/>
        </p:nvSpPr>
        <p:spPr>
          <a:xfrm>
            <a:off x="3402848" y="3601225"/>
            <a:ext cx="2268300" cy="16392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Avenir"/>
                <a:ea typeface="Avenir"/>
                <a:cs typeface="Avenir"/>
                <a:sym typeface="Avenir"/>
              </a:rPr>
              <a:t>GMAIL 8 elements minimum with uppercase, lowercase letters, numbers and special characters (as desired)</a:t>
            </a:r>
            <a:endParaRPr>
              <a:solidFill>
                <a:schemeClr val="dk1"/>
              </a:solidFill>
              <a:latin typeface="Avenir"/>
              <a:ea typeface="Avenir"/>
              <a:cs typeface="Avenir"/>
              <a:sym typeface="Avenir"/>
            </a:endParaRPr>
          </a:p>
        </p:txBody>
      </p:sp>
      <p:sp>
        <p:nvSpPr>
          <p:cNvPr id="440" name="Google Shape;440;p44"/>
          <p:cNvSpPr txBox="1"/>
          <p:nvPr/>
        </p:nvSpPr>
        <p:spPr>
          <a:xfrm>
            <a:off x="643425" y="6258050"/>
            <a:ext cx="79059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rgbClr val="218C97"/>
                </a:solidFill>
                <a:latin typeface="Avenir"/>
                <a:ea typeface="Avenir"/>
                <a:cs typeface="Avenir"/>
                <a:sym typeface="Avenir"/>
              </a:rPr>
              <a:t>DISCUSS IT IN THE GROUP AND LET'S PREPARE A COMMON POSITION</a:t>
            </a:r>
            <a:endParaRPr sz="2000" b="1">
              <a:solidFill>
                <a:srgbClr val="218C97"/>
              </a:solidFill>
              <a:latin typeface="Avenir"/>
              <a:ea typeface="Avenir"/>
              <a:cs typeface="Avenir"/>
              <a:sym typeface="Avenir"/>
            </a:endParaRPr>
          </a:p>
        </p:txBody>
      </p:sp>
      <p:sp>
        <p:nvSpPr>
          <p:cNvPr id="441" name="Google Shape;441;p44"/>
          <p:cNvSpPr txBox="1"/>
          <p:nvPr/>
        </p:nvSpPr>
        <p:spPr>
          <a:xfrm>
            <a:off x="6281075" y="3601225"/>
            <a:ext cx="1902300" cy="1143600"/>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a:solidFill>
                  <a:schemeClr val="dk1"/>
                </a:solidFill>
                <a:latin typeface="Avenir"/>
                <a:ea typeface="Avenir"/>
                <a:cs typeface="Avenir"/>
                <a:sym typeface="Avenir"/>
              </a:rPr>
              <a:t>CHILDREN'S MAIL 8 elements, 4 capital letters followed by 4 numbers</a:t>
            </a:r>
            <a:endParaRPr>
              <a:solidFill>
                <a:schemeClr val="dk1"/>
              </a:solidFill>
              <a:latin typeface="Avenir"/>
              <a:ea typeface="Avenir"/>
              <a:cs typeface="Avenir"/>
              <a:sym typeface="Avenir"/>
            </a:endParaRPr>
          </a:p>
        </p:txBody>
      </p:sp>
      <p:sp>
        <p:nvSpPr>
          <p:cNvPr id="442" name="Google Shape;442;p44"/>
          <p:cNvSpPr txBox="1"/>
          <p:nvPr/>
        </p:nvSpPr>
        <p:spPr>
          <a:xfrm>
            <a:off x="3402850" y="5541150"/>
            <a:ext cx="2268300" cy="681000"/>
          </a:xfrm>
          <a:prstGeom prst="rect">
            <a:avLst/>
          </a:prstGeom>
          <a:solidFill>
            <a:srgbClr val="D9EAD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500">
                <a:solidFill>
                  <a:schemeClr val="dk1"/>
                </a:solidFill>
                <a:latin typeface="Avenir"/>
                <a:ea typeface="Avenir"/>
                <a:cs typeface="Avenir"/>
                <a:sym typeface="Avenir"/>
              </a:rPr>
              <a:t>BANK PIN </a:t>
            </a:r>
            <a:br>
              <a:rPr lang="ca-ES" sz="1500">
                <a:solidFill>
                  <a:schemeClr val="dk1"/>
                </a:solidFill>
                <a:latin typeface="Avenir"/>
                <a:ea typeface="Avenir"/>
                <a:cs typeface="Avenir"/>
                <a:sym typeface="Avenir"/>
              </a:rPr>
            </a:br>
            <a:r>
              <a:rPr lang="en" sz="1500">
                <a:solidFill>
                  <a:schemeClr val="dk1"/>
                </a:solidFill>
                <a:latin typeface="Avenir"/>
                <a:ea typeface="Avenir"/>
                <a:cs typeface="Avenir"/>
                <a:sym typeface="Avenir"/>
              </a:rPr>
              <a:t>8 lowercase letters</a:t>
            </a:r>
            <a:endParaRPr sz="1500">
              <a:solidFill>
                <a:schemeClr val="dk1"/>
              </a:solidFill>
              <a:latin typeface="Avenir"/>
              <a:ea typeface="Avenir"/>
              <a:cs typeface="Avenir"/>
              <a:sym typeface="Aveni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Shape 446"/>
        <p:cNvGrpSpPr/>
        <p:nvPr/>
      </p:nvGrpSpPr>
      <p:grpSpPr>
        <a:xfrm>
          <a:off x="0" y="0"/>
          <a:ext cx="0" cy="0"/>
          <a:chOff x="0" y="0"/>
          <a:chExt cx="0" cy="0"/>
        </a:xfrm>
      </p:grpSpPr>
      <p:sp>
        <p:nvSpPr>
          <p:cNvPr id="447" name="Google Shape;447;p45"/>
          <p:cNvSpPr txBox="1">
            <a:spLocks noGrp="1"/>
          </p:cNvSpPr>
          <p:nvPr>
            <p:ph type="body" idx="1"/>
          </p:nvPr>
        </p:nvSpPr>
        <p:spPr>
          <a:xfrm>
            <a:off x="460394" y="12470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a:latin typeface="Arial"/>
                <a:ea typeface="Arial"/>
                <a:cs typeface="Arial"/>
                <a:sym typeface="Arial"/>
              </a:rPr>
              <a:t>Sharing the first ideas about Q3</a:t>
            </a:r>
            <a:endParaRPr b="1">
              <a:solidFill>
                <a:srgbClr val="7030A0"/>
              </a:solidFill>
              <a:latin typeface="Arial"/>
              <a:ea typeface="Arial"/>
              <a:cs typeface="Arial"/>
              <a:sym typeface="Arial"/>
            </a:endParaRPr>
          </a:p>
        </p:txBody>
      </p:sp>
      <p:sp>
        <p:nvSpPr>
          <p:cNvPr id="448" name="Google Shape;448;p45"/>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n" b="1"/>
              <a:t>PHASE Optional. </a:t>
            </a:r>
            <a:r>
              <a:rPr lang="en"/>
              <a:t>Let's be hackers!</a:t>
            </a:r>
            <a:endParaRPr b="1"/>
          </a:p>
        </p:txBody>
      </p:sp>
      <p:pic>
        <p:nvPicPr>
          <p:cNvPr id="449" name="Google Shape;449;p45" descr="Free Vectors | whiteboard frame"/>
          <p:cNvPicPr preferRelativeResize="0"/>
          <p:nvPr/>
        </p:nvPicPr>
        <p:blipFill rotWithShape="1">
          <a:blip r:embed="rId3">
            <a:alphaModFix/>
          </a:blip>
          <a:srcRect/>
          <a:stretch/>
        </p:blipFill>
        <p:spPr>
          <a:xfrm>
            <a:off x="568199" y="1882250"/>
            <a:ext cx="7143401" cy="44073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453"/>
        <p:cNvGrpSpPr/>
        <p:nvPr/>
      </p:nvGrpSpPr>
      <p:grpSpPr>
        <a:xfrm>
          <a:off x="0" y="0"/>
          <a:ext cx="0" cy="0"/>
          <a:chOff x="0" y="0"/>
          <a:chExt cx="0" cy="0"/>
        </a:xfrm>
      </p:grpSpPr>
      <p:sp>
        <p:nvSpPr>
          <p:cNvPr id="454" name="Google Shape;454;p46"/>
          <p:cNvSpPr txBox="1">
            <a:spLocks noGrp="1"/>
          </p:cNvSpPr>
          <p:nvPr>
            <p:ph type="body" idx="1"/>
          </p:nvPr>
        </p:nvSpPr>
        <p:spPr>
          <a:xfrm>
            <a:off x="460400" y="1247008"/>
            <a:ext cx="8397900" cy="54840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a:latin typeface="Arial"/>
                <a:ea typeface="Arial"/>
                <a:cs typeface="Arial"/>
                <a:sym typeface="Arial"/>
              </a:rPr>
              <a:t>Ideas for managing the end of the sharing:</a:t>
            </a:r>
            <a:endParaRPr>
              <a:latin typeface="Arial"/>
              <a:ea typeface="Arial"/>
              <a:cs typeface="Arial"/>
              <a:sym typeface="Arial"/>
            </a:endParaRPr>
          </a:p>
          <a:p>
            <a:pPr marL="914400" lvl="1" indent="-342900" algn="l" rtl="0">
              <a:lnSpc>
                <a:spcPct val="130000"/>
              </a:lnSpc>
              <a:spcBef>
                <a:spcPts val="0"/>
              </a:spcBef>
              <a:spcAft>
                <a:spcPts val="0"/>
              </a:spcAft>
              <a:buSzPts val="1800"/>
              <a:buFont typeface="Arial"/>
              <a:buChar char="▪"/>
            </a:pPr>
            <a:r>
              <a:rPr lang="en">
                <a:latin typeface="Arial"/>
                <a:ea typeface="Arial"/>
                <a:cs typeface="Arial"/>
                <a:sym typeface="Arial"/>
              </a:rPr>
              <a:t>Limit passwords to 8 elements (to make it easier). </a:t>
            </a:r>
            <a:br>
              <a:rPr lang="ca-ES">
                <a:latin typeface="Arial"/>
                <a:ea typeface="Arial"/>
                <a:cs typeface="Arial"/>
                <a:sym typeface="Arial"/>
              </a:rPr>
            </a:br>
            <a:r>
              <a:rPr lang="en">
                <a:latin typeface="Arial"/>
                <a:ea typeface="Arial"/>
                <a:cs typeface="Arial"/>
                <a:sym typeface="Arial"/>
              </a:rPr>
              <a:t>Later you can see how security varies when we increase the number of elements.</a:t>
            </a:r>
            <a:endParaRPr>
              <a:latin typeface="Arial"/>
              <a:ea typeface="Arial"/>
              <a:cs typeface="Arial"/>
              <a:sym typeface="Arial"/>
            </a:endParaRPr>
          </a:p>
          <a:p>
            <a:pPr marL="914400" lvl="1" indent="-342900" algn="l" rtl="0">
              <a:spcBef>
                <a:spcPts val="0"/>
              </a:spcBef>
              <a:spcAft>
                <a:spcPts val="0"/>
              </a:spcAft>
              <a:buSzPts val="1800"/>
              <a:buFont typeface="Arial"/>
              <a:buChar char="▪"/>
            </a:pPr>
            <a:r>
              <a:rPr lang="en">
                <a:latin typeface="Arial"/>
                <a:ea typeface="Arial"/>
                <a:cs typeface="Arial"/>
                <a:sym typeface="Arial"/>
              </a:rPr>
              <a:t>It is easy to calculate the simplest cases: PUK, CHILD and Bank PIN.</a:t>
            </a:r>
            <a:endParaRPr>
              <a:latin typeface="Arial"/>
              <a:ea typeface="Arial"/>
              <a:cs typeface="Arial"/>
              <a:sym typeface="Arial"/>
            </a:endParaRPr>
          </a:p>
          <a:p>
            <a:pPr marL="914400" lvl="1" indent="-342900" algn="l" rtl="0">
              <a:lnSpc>
                <a:spcPct val="130000"/>
              </a:lnSpc>
              <a:spcBef>
                <a:spcPts val="0"/>
              </a:spcBef>
              <a:spcAft>
                <a:spcPts val="0"/>
              </a:spcAft>
              <a:buSzPts val="1800"/>
              <a:buFont typeface="Arial"/>
              <a:buChar char="▪"/>
            </a:pPr>
            <a:r>
              <a:rPr lang="en">
                <a:latin typeface="Arial"/>
                <a:ea typeface="Arial"/>
                <a:cs typeface="Arial"/>
                <a:sym typeface="Arial"/>
              </a:rPr>
              <a:t>Calculating the total of the others is too difficult. You can do some examples with CORREU INSTITUT where you have to distinguish the order of the numbers and the letters: 1234ABCD is not the same as ABCD1234.</a:t>
            </a:r>
            <a:endParaRPr>
              <a:latin typeface="Arial"/>
              <a:ea typeface="Arial"/>
              <a:cs typeface="Arial"/>
              <a:sym typeface="Arial"/>
            </a:endParaRPr>
          </a:p>
          <a:p>
            <a:pPr marL="914400" lvl="1" indent="-342900" algn="l" rtl="0">
              <a:lnSpc>
                <a:spcPct val="130000"/>
              </a:lnSpc>
              <a:spcBef>
                <a:spcPts val="0"/>
              </a:spcBef>
              <a:spcAft>
                <a:spcPts val="0"/>
              </a:spcAft>
              <a:buSzPts val="1800"/>
              <a:buFont typeface="Arial"/>
              <a:buChar char="▪"/>
            </a:pPr>
            <a:r>
              <a:rPr lang="en">
                <a:latin typeface="Arial"/>
                <a:ea typeface="Arial"/>
                <a:cs typeface="Arial"/>
                <a:sym typeface="Arial"/>
              </a:rPr>
              <a:t>We look for other strategies to compare:</a:t>
            </a:r>
            <a:endParaRPr>
              <a:latin typeface="Arial"/>
              <a:ea typeface="Arial"/>
              <a:cs typeface="Arial"/>
              <a:sym typeface="Arial"/>
            </a:endParaRPr>
          </a:p>
          <a:p>
            <a:pPr marL="1371600" lvl="2" indent="-330200" algn="l" rtl="0">
              <a:lnSpc>
                <a:spcPct val="130000"/>
              </a:lnSpc>
              <a:spcBef>
                <a:spcPts val="0"/>
              </a:spcBef>
              <a:spcAft>
                <a:spcPts val="0"/>
              </a:spcAft>
              <a:buSzPts val="1600"/>
              <a:buFont typeface="Arial"/>
              <a:buChar char="o"/>
            </a:pPr>
            <a:r>
              <a:rPr lang="en">
                <a:latin typeface="Arial"/>
                <a:ea typeface="Arial"/>
                <a:cs typeface="Arial"/>
                <a:sym typeface="Arial"/>
              </a:rPr>
              <a:t>If we can make all the passwords for another case with one, we keep that one. If we can't, we see if we can make more (for example, because there are more letters than numbers).</a:t>
            </a:r>
            <a:endParaRPr>
              <a:latin typeface="Arial"/>
              <a:ea typeface="Arial"/>
              <a:cs typeface="Arial"/>
              <a:sym typeface="Arial"/>
            </a:endParaRPr>
          </a:p>
          <a:p>
            <a:pPr marL="1371600" lvl="2" indent="-330200" algn="l" rtl="0">
              <a:lnSpc>
                <a:spcPct val="130000"/>
              </a:lnSpc>
              <a:spcBef>
                <a:spcPts val="0"/>
              </a:spcBef>
              <a:spcAft>
                <a:spcPts val="0"/>
              </a:spcAft>
              <a:buSzPts val="1600"/>
              <a:buFont typeface="Arial"/>
              <a:buChar char="o"/>
            </a:pPr>
            <a:r>
              <a:rPr lang="en">
                <a:latin typeface="Arial"/>
                <a:ea typeface="Arial"/>
                <a:cs typeface="Arial"/>
                <a:sym typeface="Arial"/>
              </a:rPr>
              <a:t>GROUP WORK PROPOSAL: compare the 5 cases.</a:t>
            </a:r>
            <a:endParaRPr>
              <a:latin typeface="Arial"/>
              <a:ea typeface="Arial"/>
              <a:cs typeface="Arial"/>
              <a:sym typeface="Arial"/>
            </a:endParaRPr>
          </a:p>
        </p:txBody>
      </p:sp>
      <p:sp>
        <p:nvSpPr>
          <p:cNvPr id="455" name="Google Shape;455;p46"/>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SzPts val="1400"/>
              <a:buNone/>
            </a:pPr>
            <a:r>
              <a:rPr lang="en" b="1"/>
              <a:t>PHASE Optional. </a:t>
            </a:r>
            <a:r>
              <a:rPr lang="en"/>
              <a:t>Let's be hackers!</a:t>
            </a:r>
            <a:endParaRPr b="1"/>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459"/>
        <p:cNvGrpSpPr/>
        <p:nvPr/>
      </p:nvGrpSpPr>
      <p:grpSpPr>
        <a:xfrm>
          <a:off x="0" y="0"/>
          <a:ext cx="0" cy="0"/>
          <a:chOff x="0" y="0"/>
          <a:chExt cx="0" cy="0"/>
        </a:xfrm>
      </p:grpSpPr>
      <p:sp>
        <p:nvSpPr>
          <p:cNvPr id="460" name="Google Shape;460;p47"/>
          <p:cNvSpPr txBox="1">
            <a:spLocks noGrp="1"/>
          </p:cNvSpPr>
          <p:nvPr>
            <p:ph type="body" idx="1"/>
          </p:nvPr>
        </p:nvSpPr>
        <p:spPr>
          <a:xfrm>
            <a:off x="474594" y="1208336"/>
            <a:ext cx="8397900" cy="2143500"/>
          </a:xfrm>
          <a:prstGeom prst="rect">
            <a:avLst/>
          </a:prstGeom>
          <a:noFill/>
          <a:ln>
            <a:noFill/>
          </a:ln>
        </p:spPr>
        <p:txBody>
          <a:bodyPr spcFirstLastPara="1" wrap="square" lIns="91425" tIns="45700" rIns="91425" bIns="45700" anchor="t" anchorCtr="0">
            <a:noAutofit/>
          </a:bodyPr>
          <a:lstStyle/>
          <a:p>
            <a:pPr marL="228600" lvl="0" indent="-228600" algn="l" rtl="0">
              <a:lnSpc>
                <a:spcPct val="130000"/>
              </a:lnSpc>
              <a:spcBef>
                <a:spcPts val="0"/>
              </a:spcBef>
              <a:spcAft>
                <a:spcPts val="0"/>
              </a:spcAft>
              <a:buSzPts val="2000"/>
              <a:buChar char="◼"/>
            </a:pPr>
            <a:r>
              <a:rPr lang="en">
                <a:latin typeface="Arial"/>
                <a:ea typeface="Arial"/>
                <a:cs typeface="Arial"/>
                <a:sym typeface="Arial"/>
              </a:rPr>
              <a:t>Sharing the comparison between passwords</a:t>
            </a:r>
            <a:endParaRPr>
              <a:latin typeface="Arial"/>
              <a:ea typeface="Arial"/>
              <a:cs typeface="Arial"/>
              <a:sym typeface="Arial"/>
            </a:endParaRPr>
          </a:p>
          <a:p>
            <a:pPr marL="0" lvl="0" indent="0" algn="l" rtl="0">
              <a:lnSpc>
                <a:spcPct val="130000"/>
              </a:lnSpc>
              <a:spcBef>
                <a:spcPts val="0"/>
              </a:spcBef>
              <a:spcAft>
                <a:spcPts val="0"/>
              </a:spcAft>
              <a:buNone/>
            </a:pPr>
            <a:endParaRPr>
              <a:latin typeface="Arial"/>
              <a:ea typeface="Arial"/>
              <a:cs typeface="Arial"/>
              <a:sym typeface="Arial"/>
            </a:endParaRPr>
          </a:p>
          <a:p>
            <a:pPr marL="0" lvl="0" indent="0" algn="l" rtl="0">
              <a:lnSpc>
                <a:spcPct val="130000"/>
              </a:lnSpc>
              <a:spcBef>
                <a:spcPts val="0"/>
              </a:spcBef>
              <a:spcAft>
                <a:spcPts val="0"/>
              </a:spcAft>
              <a:buNone/>
            </a:pPr>
            <a:r>
              <a:rPr lang="en">
                <a:latin typeface="Arial"/>
                <a:ea typeface="Arial"/>
                <a:cs typeface="Arial"/>
                <a:sym typeface="Arial"/>
              </a:rPr>
              <a:t>ORDER PASSWORDS FROM LEAST TO MOST SECURE</a:t>
            </a:r>
            <a:endParaRPr>
              <a:latin typeface="Arial"/>
              <a:ea typeface="Arial"/>
              <a:cs typeface="Arial"/>
              <a:sym typeface="Arial"/>
            </a:endParaRPr>
          </a:p>
        </p:txBody>
      </p:sp>
      <p:sp>
        <p:nvSpPr>
          <p:cNvPr id="461" name="Google Shape;461;p47"/>
          <p:cNvSpPr txBox="1">
            <a:spLocks noGrp="1"/>
          </p:cNvSpPr>
          <p:nvPr>
            <p:ph type="title"/>
          </p:nvPr>
        </p:nvSpPr>
        <p:spPr>
          <a:xfrm>
            <a:off x="474595" y="318728"/>
            <a:ext cx="7767900" cy="6402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 b="1"/>
              <a:t>PHASE Optional. </a:t>
            </a:r>
            <a:r>
              <a:rPr lang="en"/>
              <a:t>Let's be hackers!</a:t>
            </a:r>
            <a:endParaRPr/>
          </a:p>
        </p:txBody>
      </p:sp>
      <p:sp>
        <p:nvSpPr>
          <p:cNvPr id="462" name="Google Shape;462;p47"/>
          <p:cNvSpPr txBox="1"/>
          <p:nvPr/>
        </p:nvSpPr>
        <p:spPr>
          <a:xfrm>
            <a:off x="700700" y="2886925"/>
            <a:ext cx="1830300" cy="714300"/>
          </a:xfrm>
          <a:prstGeom prst="rect">
            <a:avLst/>
          </a:prstGeom>
          <a:solidFill>
            <a:srgbClr val="FFF2CC"/>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a:solidFill>
                  <a:schemeClr val="dk1"/>
                </a:solidFill>
                <a:latin typeface="Avenir"/>
                <a:ea typeface="Avenir"/>
                <a:cs typeface="Avenir"/>
                <a:sym typeface="Avenir"/>
              </a:rPr>
              <a:t>MOBILE PUK </a:t>
            </a:r>
            <a:br>
              <a:rPr lang="ca-ES" sz="1600">
                <a:solidFill>
                  <a:schemeClr val="dk1"/>
                </a:solidFill>
                <a:latin typeface="Avenir"/>
                <a:ea typeface="Avenir"/>
                <a:cs typeface="Avenir"/>
                <a:sym typeface="Avenir"/>
              </a:rPr>
            </a:br>
            <a:r>
              <a:rPr lang="en" sz="1600">
                <a:solidFill>
                  <a:schemeClr val="dk1"/>
                </a:solidFill>
                <a:latin typeface="Avenir"/>
                <a:ea typeface="Avenir"/>
                <a:cs typeface="Avenir"/>
                <a:sym typeface="Avenir"/>
              </a:rPr>
              <a:t>8 numbers</a:t>
            </a:r>
            <a:endParaRPr sz="1600">
              <a:solidFill>
                <a:schemeClr val="dk1"/>
              </a:solidFill>
              <a:latin typeface="Avenir"/>
              <a:ea typeface="Avenir"/>
              <a:cs typeface="Avenir"/>
              <a:sym typeface="Avenir"/>
            </a:endParaRPr>
          </a:p>
        </p:txBody>
      </p:sp>
      <p:sp>
        <p:nvSpPr>
          <p:cNvPr id="463" name="Google Shape;463;p47"/>
          <p:cNvSpPr txBox="1"/>
          <p:nvPr/>
        </p:nvSpPr>
        <p:spPr>
          <a:xfrm>
            <a:off x="6546900" y="2750700"/>
            <a:ext cx="2325600" cy="1563900"/>
          </a:xfrm>
          <a:prstGeom prst="rect">
            <a:avLst/>
          </a:prstGeom>
          <a:solidFill>
            <a:srgbClr val="D9D2E9"/>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a:solidFill>
                  <a:schemeClr val="dk1"/>
                </a:solidFill>
                <a:latin typeface="Avenir"/>
                <a:ea typeface="Avenir"/>
                <a:cs typeface="Avenir"/>
                <a:sym typeface="Avenir"/>
              </a:rPr>
              <a:t>INSTITUTE MAIL </a:t>
            </a:r>
            <a:br>
              <a:rPr lang="ca-ES" sz="1600">
                <a:solidFill>
                  <a:schemeClr val="dk1"/>
                </a:solidFill>
                <a:latin typeface="Avenir"/>
                <a:ea typeface="Avenir"/>
                <a:cs typeface="Avenir"/>
                <a:sym typeface="Avenir"/>
              </a:rPr>
            </a:br>
            <a:r>
              <a:rPr lang="en" sz="1600">
                <a:solidFill>
                  <a:schemeClr val="dk1"/>
                </a:solidFill>
                <a:latin typeface="Avenir"/>
                <a:ea typeface="Avenir"/>
                <a:cs typeface="Avenir"/>
                <a:sym typeface="Avenir"/>
              </a:rPr>
              <a:t>8 elements minimum, alphanumeric, at least one capital letter or a special character</a:t>
            </a:r>
            <a:endParaRPr sz="1600">
              <a:solidFill>
                <a:schemeClr val="dk1"/>
              </a:solidFill>
              <a:latin typeface="Avenir"/>
              <a:ea typeface="Avenir"/>
              <a:cs typeface="Avenir"/>
              <a:sym typeface="Avenir"/>
            </a:endParaRPr>
          </a:p>
        </p:txBody>
      </p:sp>
      <p:sp>
        <p:nvSpPr>
          <p:cNvPr id="464" name="Google Shape;464;p47"/>
          <p:cNvSpPr txBox="1"/>
          <p:nvPr/>
        </p:nvSpPr>
        <p:spPr>
          <a:xfrm>
            <a:off x="3246588" y="2944475"/>
            <a:ext cx="2650800" cy="1950900"/>
          </a:xfrm>
          <a:prstGeom prst="rect">
            <a:avLst/>
          </a:prstGeom>
          <a:solidFill>
            <a:srgbClr val="CFE2F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700">
                <a:solidFill>
                  <a:schemeClr val="dk1"/>
                </a:solidFill>
                <a:latin typeface="Avenir"/>
                <a:ea typeface="Avenir"/>
                <a:cs typeface="Avenir"/>
                <a:sym typeface="Avenir"/>
              </a:rPr>
              <a:t>GMAIL 8 elements minimum with uppercase, lowercase letters, numbers and special characters (as desired)</a:t>
            </a:r>
            <a:endParaRPr sz="1700">
              <a:solidFill>
                <a:schemeClr val="dk1"/>
              </a:solidFill>
              <a:latin typeface="Avenir"/>
              <a:ea typeface="Avenir"/>
              <a:cs typeface="Avenir"/>
              <a:sym typeface="Avenir"/>
            </a:endParaRPr>
          </a:p>
        </p:txBody>
      </p:sp>
      <p:sp>
        <p:nvSpPr>
          <p:cNvPr id="465" name="Google Shape;465;p47"/>
          <p:cNvSpPr txBox="1"/>
          <p:nvPr/>
        </p:nvSpPr>
        <p:spPr>
          <a:xfrm>
            <a:off x="765300" y="4077750"/>
            <a:ext cx="2268300" cy="1280700"/>
          </a:xfrm>
          <a:prstGeom prst="rect">
            <a:avLst/>
          </a:prstGeom>
          <a:solidFill>
            <a:srgbClr val="FCE5CD"/>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a:solidFill>
                  <a:schemeClr val="dk1"/>
                </a:solidFill>
                <a:latin typeface="Avenir"/>
                <a:ea typeface="Avenir"/>
                <a:cs typeface="Avenir"/>
                <a:sym typeface="Avenir"/>
              </a:rPr>
              <a:t>CHILDREN'S MAIL 8 elements, 4 capital letters followed by 4 numbers</a:t>
            </a:r>
            <a:endParaRPr sz="1600">
              <a:solidFill>
                <a:schemeClr val="dk1"/>
              </a:solidFill>
              <a:latin typeface="Avenir"/>
              <a:ea typeface="Avenir"/>
              <a:cs typeface="Avenir"/>
              <a:sym typeface="Avenir"/>
            </a:endParaRPr>
          </a:p>
        </p:txBody>
      </p:sp>
      <p:sp>
        <p:nvSpPr>
          <p:cNvPr id="466" name="Google Shape;466;p47"/>
          <p:cNvSpPr txBox="1"/>
          <p:nvPr/>
        </p:nvSpPr>
        <p:spPr>
          <a:xfrm>
            <a:off x="6338800" y="4644150"/>
            <a:ext cx="2268300" cy="714300"/>
          </a:xfrm>
          <a:prstGeom prst="rect">
            <a:avLst/>
          </a:prstGeom>
          <a:solidFill>
            <a:srgbClr val="D9EAD3"/>
          </a:solid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en" sz="1600">
                <a:solidFill>
                  <a:schemeClr val="dk1"/>
                </a:solidFill>
                <a:latin typeface="Avenir"/>
                <a:ea typeface="Avenir"/>
                <a:cs typeface="Avenir"/>
                <a:sym typeface="Avenir"/>
              </a:rPr>
              <a:t>BANK PIN </a:t>
            </a:r>
            <a:br>
              <a:rPr lang="ca-ES" sz="1600">
                <a:solidFill>
                  <a:schemeClr val="dk1"/>
                </a:solidFill>
                <a:latin typeface="Avenir"/>
                <a:ea typeface="Avenir"/>
                <a:cs typeface="Avenir"/>
                <a:sym typeface="Avenir"/>
              </a:rPr>
            </a:br>
            <a:r>
              <a:rPr lang="en" sz="1600">
                <a:solidFill>
                  <a:schemeClr val="dk1"/>
                </a:solidFill>
                <a:latin typeface="Avenir"/>
                <a:ea typeface="Avenir"/>
                <a:cs typeface="Avenir"/>
                <a:sym typeface="Avenir"/>
              </a:rPr>
              <a:t>8 lowercase letters</a:t>
            </a:r>
            <a:endParaRPr sz="1600">
              <a:solidFill>
                <a:schemeClr val="dk1"/>
              </a:solidFill>
              <a:latin typeface="Avenir"/>
              <a:ea typeface="Avenir"/>
              <a:cs typeface="Avenir"/>
              <a:sym typeface="Avenir"/>
            </a:endParaRPr>
          </a:p>
        </p:txBody>
      </p:sp>
      <p:sp>
        <p:nvSpPr>
          <p:cNvPr id="467" name="Google Shape;467;p47"/>
          <p:cNvSpPr txBox="1"/>
          <p:nvPr/>
        </p:nvSpPr>
        <p:spPr>
          <a:xfrm>
            <a:off x="720600" y="5529225"/>
            <a:ext cx="7905900" cy="1062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a:solidFill>
                  <a:srgbClr val="218C97"/>
                </a:solidFill>
                <a:latin typeface="Avenir"/>
                <a:ea typeface="Avenir"/>
                <a:cs typeface="Avenir"/>
                <a:sym typeface="Avenir"/>
              </a:rPr>
              <a:t>PREPARE A PRESENTATION WITH PROPOSALS ON THE INSTITUTE'S EMAIL PASSWORD: IS IT SECURE ENOUGH? CAN IT BE IMPROVED?</a:t>
            </a:r>
            <a:endParaRPr sz="1900" b="1">
              <a:solidFill>
                <a:srgbClr val="218C97"/>
              </a:solidFill>
              <a:latin typeface="Avenir"/>
              <a:ea typeface="Avenir"/>
              <a:cs typeface="Avenir"/>
              <a:sym typeface="Aveni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8"/>
          <p:cNvSpPr txBox="1"/>
          <p:nvPr/>
        </p:nvSpPr>
        <p:spPr>
          <a:xfrm>
            <a:off x="1430458" y="267446"/>
            <a:ext cx="7027742" cy="400110"/>
          </a:xfrm>
          <a:prstGeom prst="rect">
            <a:avLst/>
          </a:prstGeom>
          <a:solidFill>
            <a:srgbClr val="3DB087">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1" u="none" strike="noStrike" cap="none">
                <a:solidFill>
                  <a:schemeClr val="dk1"/>
                </a:solidFill>
                <a:latin typeface="Arial"/>
                <a:ea typeface="Arial"/>
                <a:cs typeface="Arial"/>
                <a:sym typeface="Arial"/>
              </a:rPr>
              <a:t>A priori </a:t>
            </a:r>
            <a:r>
              <a:rPr lang="en" sz="2000" b="0" i="0" u="none" strike="noStrike" cap="none">
                <a:solidFill>
                  <a:schemeClr val="dk1"/>
                </a:solidFill>
                <a:latin typeface="Arial"/>
                <a:ea typeface="Arial"/>
                <a:cs typeface="Arial"/>
                <a:sym typeface="Arial"/>
              </a:rPr>
              <a:t>map of possible developments of the situation</a:t>
            </a:r>
            <a:endParaRPr sz="1400" b="0" i="0" u="none" strike="noStrike" cap="none">
              <a:solidFill>
                <a:srgbClr val="000000"/>
              </a:solidFill>
              <a:latin typeface="Arial"/>
              <a:ea typeface="Arial"/>
              <a:cs typeface="Arial"/>
              <a:sym typeface="Arial"/>
            </a:endParaRPr>
          </a:p>
        </p:txBody>
      </p:sp>
      <p:pic>
        <p:nvPicPr>
          <p:cNvPr id="474" name="Google Shape;474;p48" descr="A diagram of text and symbols&#10;&#10;Description automatically generated"/>
          <p:cNvPicPr preferRelativeResize="0"/>
          <p:nvPr/>
        </p:nvPicPr>
        <p:blipFill rotWithShape="1">
          <a:blip r:embed="rId3">
            <a:alphaModFix/>
          </a:blip>
          <a:srcRect l="7500" t="3777" r="7499" b="4369"/>
          <a:stretch/>
        </p:blipFill>
        <p:spPr>
          <a:xfrm>
            <a:off x="289560" y="1224279"/>
            <a:ext cx="8569960" cy="520919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479"/>
        <p:cNvGrpSpPr/>
        <p:nvPr/>
      </p:nvGrpSpPr>
      <p:grpSpPr>
        <a:xfrm>
          <a:off x="0" y="0"/>
          <a:ext cx="0" cy="0"/>
          <a:chOff x="0" y="0"/>
          <a:chExt cx="0" cy="0"/>
        </a:xfrm>
      </p:grpSpPr>
      <p:sp>
        <p:nvSpPr>
          <p:cNvPr id="480" name="Google Shape;480;p49"/>
          <p:cNvSpPr txBox="1">
            <a:spLocks noGrp="1"/>
          </p:cNvSpPr>
          <p:nvPr>
            <p:ph type="body" idx="1"/>
          </p:nvPr>
        </p:nvSpPr>
        <p:spPr>
          <a:xfrm>
            <a:off x="474595" y="1159921"/>
            <a:ext cx="8397857" cy="5210233"/>
          </a:xfrm>
          <a:prstGeom prst="rect">
            <a:avLst/>
          </a:prstGeom>
          <a:noFill/>
          <a:ln>
            <a:noFill/>
          </a:ln>
        </p:spPr>
        <p:txBody>
          <a:bodyPr spcFirstLastPara="1" wrap="square" lIns="91425" tIns="45700" rIns="91425" bIns="45700" anchor="t" anchorCtr="0">
            <a:noAutofit/>
          </a:bodyPr>
          <a:lstStyle/>
          <a:p>
            <a:pPr marL="228600" lvl="0" indent="-101600" algn="l" rtl="0">
              <a:lnSpc>
                <a:spcPct val="130000"/>
              </a:lnSpc>
              <a:spcBef>
                <a:spcPts val="0"/>
              </a:spcBef>
              <a:spcAft>
                <a:spcPts val="0"/>
              </a:spcAft>
              <a:buSzPts val="2000"/>
              <a:buNone/>
            </a:pPr>
            <a:endParaRPr/>
          </a:p>
        </p:txBody>
      </p:sp>
      <p:sp>
        <p:nvSpPr>
          <p:cNvPr id="481" name="Google Shape;481;p49"/>
          <p:cNvSpPr txBox="1">
            <a:spLocks noGrp="1"/>
          </p:cNvSpPr>
          <p:nvPr>
            <p:ph type="title"/>
          </p:nvPr>
        </p:nvSpPr>
        <p:spPr>
          <a:xfrm>
            <a:off x="1078523" y="52185"/>
            <a:ext cx="7797617" cy="97412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a:p>
        </p:txBody>
      </p:sp>
      <p:pic>
        <p:nvPicPr>
          <p:cNvPr id="482" name="Google Shape;482;p49"/>
          <p:cNvPicPr preferRelativeResize="0"/>
          <p:nvPr/>
        </p:nvPicPr>
        <p:blipFill rotWithShape="1">
          <a:blip r:embed="rId3">
            <a:alphaModFix/>
          </a:blip>
          <a:srcRect/>
          <a:stretch/>
        </p:blipFill>
        <p:spPr>
          <a:xfrm rot="-5400000">
            <a:off x="1933983" y="-2362250"/>
            <a:ext cx="9719850" cy="13749100"/>
          </a:xfrm>
          <a:prstGeom prst="rect">
            <a:avLst/>
          </a:prstGeom>
          <a:noFill/>
          <a:ln>
            <a:noFill/>
          </a:ln>
        </p:spPr>
      </p:pic>
      <p:sp>
        <p:nvSpPr>
          <p:cNvPr id="483" name="Google Shape;483;p49"/>
          <p:cNvSpPr txBox="1"/>
          <p:nvPr/>
        </p:nvSpPr>
        <p:spPr>
          <a:xfrm>
            <a:off x="2279176" y="267446"/>
            <a:ext cx="4073145" cy="400110"/>
          </a:xfrm>
          <a:prstGeom prst="rect">
            <a:avLst/>
          </a:prstGeom>
          <a:solidFill>
            <a:srgbClr val="3DB087">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Arial"/>
                <a:ea typeface="Arial"/>
                <a:cs typeface="Arial"/>
                <a:sym typeface="Arial"/>
              </a:rPr>
              <a:t>Left side of the map (zoom)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488"/>
        <p:cNvGrpSpPr/>
        <p:nvPr/>
      </p:nvGrpSpPr>
      <p:grpSpPr>
        <a:xfrm>
          <a:off x="0" y="0"/>
          <a:ext cx="0" cy="0"/>
          <a:chOff x="0" y="0"/>
          <a:chExt cx="0" cy="0"/>
        </a:xfrm>
      </p:grpSpPr>
      <p:sp>
        <p:nvSpPr>
          <p:cNvPr id="489" name="Google Shape;489;p50"/>
          <p:cNvSpPr txBox="1">
            <a:spLocks noGrp="1"/>
          </p:cNvSpPr>
          <p:nvPr>
            <p:ph type="body" idx="1"/>
          </p:nvPr>
        </p:nvSpPr>
        <p:spPr>
          <a:xfrm>
            <a:off x="474595" y="1159921"/>
            <a:ext cx="8397857" cy="5210233"/>
          </a:xfrm>
          <a:prstGeom prst="rect">
            <a:avLst/>
          </a:prstGeom>
          <a:noFill/>
          <a:ln>
            <a:noFill/>
          </a:ln>
        </p:spPr>
        <p:txBody>
          <a:bodyPr spcFirstLastPara="1" wrap="square" lIns="91425" tIns="45700" rIns="91425" bIns="45700" anchor="t" anchorCtr="0">
            <a:noAutofit/>
          </a:bodyPr>
          <a:lstStyle/>
          <a:p>
            <a:pPr marL="228600" lvl="0" indent="-101600" algn="l" rtl="0">
              <a:lnSpc>
                <a:spcPct val="130000"/>
              </a:lnSpc>
              <a:spcBef>
                <a:spcPts val="0"/>
              </a:spcBef>
              <a:spcAft>
                <a:spcPts val="0"/>
              </a:spcAft>
              <a:buSzPts val="2000"/>
              <a:buNone/>
            </a:pPr>
            <a:endParaRPr/>
          </a:p>
        </p:txBody>
      </p:sp>
      <p:sp>
        <p:nvSpPr>
          <p:cNvPr id="490" name="Google Shape;490;p50"/>
          <p:cNvSpPr txBox="1">
            <a:spLocks noGrp="1"/>
          </p:cNvSpPr>
          <p:nvPr>
            <p:ph type="title"/>
          </p:nvPr>
        </p:nvSpPr>
        <p:spPr>
          <a:xfrm>
            <a:off x="1078523" y="52185"/>
            <a:ext cx="7797617" cy="974126"/>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endParaRPr/>
          </a:p>
        </p:txBody>
      </p:sp>
      <p:pic>
        <p:nvPicPr>
          <p:cNvPr id="491" name="Google Shape;491;p50"/>
          <p:cNvPicPr preferRelativeResize="0"/>
          <p:nvPr/>
        </p:nvPicPr>
        <p:blipFill rotWithShape="1">
          <a:blip r:embed="rId3">
            <a:alphaModFix/>
          </a:blip>
          <a:srcRect/>
          <a:stretch/>
        </p:blipFill>
        <p:spPr>
          <a:xfrm rot="-5400000">
            <a:off x="-2668602" y="-3126661"/>
            <a:ext cx="10374275" cy="14674809"/>
          </a:xfrm>
          <a:prstGeom prst="rect">
            <a:avLst/>
          </a:prstGeom>
          <a:noFill/>
          <a:ln>
            <a:noFill/>
          </a:ln>
        </p:spPr>
      </p:pic>
      <p:sp>
        <p:nvSpPr>
          <p:cNvPr id="492" name="Google Shape;492;p50"/>
          <p:cNvSpPr txBox="1"/>
          <p:nvPr/>
        </p:nvSpPr>
        <p:spPr>
          <a:xfrm>
            <a:off x="2885988" y="267446"/>
            <a:ext cx="3560642" cy="400110"/>
          </a:xfrm>
          <a:prstGeom prst="rect">
            <a:avLst/>
          </a:prstGeom>
          <a:solidFill>
            <a:srgbClr val="3DB087">
              <a:alpha val="14509"/>
            </a:srgbClr>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Arial"/>
                <a:ea typeface="Arial"/>
                <a:cs typeface="Arial"/>
                <a:sym typeface="Arial"/>
              </a:rPr>
              <a:t>Right side of the map (zoom)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Plaza">
  <a:themeElements>
    <a:clrScheme name="Plaza">
      <a:dk1>
        <a:srgbClr val="000000"/>
      </a:dk1>
      <a:lt1>
        <a:srgbClr val="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2260</Words>
  <Application>Microsoft Office PowerPoint</Application>
  <PresentationFormat>On-screen Show (4:3)</PresentationFormat>
  <Paragraphs>261</Paragraphs>
  <Slides>42</Slides>
  <Notes>42</Notes>
  <HiddenSlides>12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Calibri</vt:lpstr>
      <vt:lpstr>Avenir</vt:lpstr>
      <vt:lpstr>Noto Sans Symbols</vt:lpstr>
      <vt:lpstr>Century Gothic</vt:lpstr>
      <vt:lpstr>Arial</vt:lpstr>
      <vt:lpstr>Plaza</vt:lpstr>
      <vt:lpstr>Experience with a learning situation  Which padlock is more secure?  Academic year 2023-24</vt:lpstr>
      <vt:lpstr>PHASE 0. Generating question and first explorations</vt:lpstr>
      <vt:lpstr>PowerPoint Presentation</vt:lpstr>
      <vt:lpstr>PHASE 0. Generating question and first explorations</vt:lpstr>
      <vt:lpstr>PHASE 0. Generating question and first explorations</vt:lpstr>
      <vt:lpstr>PHASE 0. Generating question and first explorations</vt:lpstr>
      <vt:lpstr> Let's establish terminology to refer to padlocks </vt:lpstr>
      <vt:lpstr>PHASE 1. We count codes</vt:lpstr>
      <vt:lpstr>PHASE 1. We count codes</vt:lpstr>
      <vt:lpstr>PHASE 1. We count codes</vt:lpstr>
      <vt:lpstr>PHASE 1. We count codes</vt:lpstr>
      <vt:lpstr>PHASE 1. We count codes</vt:lpstr>
      <vt:lpstr>PHASE 1. We count codes</vt:lpstr>
      <vt:lpstr>PHASE 1. We count codes</vt:lpstr>
      <vt:lpstr>PHASE 1. We count codes</vt:lpstr>
      <vt:lpstr>PHASE 1. We count codes</vt:lpstr>
      <vt:lpstr>PHASE 1. We count codes</vt:lpstr>
      <vt:lpstr>PHASE 1. We count codes</vt:lpstr>
      <vt:lpstr>PHASE 1. We count codes</vt:lpstr>
      <vt:lpstr>PHASE 2. Validation with the padlock collection with restrictions</vt:lpstr>
      <vt:lpstr>PHASE 2. Validation with the padlock collection with restrictions</vt:lpstr>
      <vt:lpstr>PHASE 2. Validation with the padlock collection with restrictions</vt:lpstr>
      <vt:lpstr>PHASE 2. Validation with the padlock collection with restrictions</vt:lpstr>
      <vt:lpstr>PHASE 2. Validation with the padlock collection with restrictions</vt:lpstr>
      <vt:lpstr>PHASE 2. Validation with the padlock collection with restrictions</vt:lpstr>
      <vt:lpstr>PHASE 2. Validation with the padlock collection with restrictions</vt:lpstr>
      <vt:lpstr>PHASE 3. Classification of padlocks and general techniques</vt:lpstr>
      <vt:lpstr>PHASE 3. Classification of padlocks and general techniques</vt:lpstr>
      <vt:lpstr>PHASE 3. Classification of padlocks and general techniques</vt:lpstr>
      <vt:lpstr>PHASE 3. Classification of padlocks and general techniques</vt:lpstr>
      <vt:lpstr>PHASE 4. Beyond the Padlocks</vt:lpstr>
      <vt:lpstr>PHASE 4. Beyond the Padlocks</vt:lpstr>
      <vt:lpstr>PHASE 4. Beyond the Padlocks</vt:lpstr>
      <vt:lpstr>PHASE Optional. Let's be hackers!</vt:lpstr>
      <vt:lpstr>PHASE Optional. Let's be hackers!</vt:lpstr>
      <vt:lpstr>PHASE Optional. Let's be hackers!</vt:lpstr>
      <vt:lpstr>PHASE Optional. Let's be hackers!</vt:lpstr>
      <vt:lpstr>PHASE Optional. Let's be hackers!</vt:lpstr>
      <vt:lpstr>PHASE Optional. Let's be hackers!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Susana Vasquez Elias</cp:lastModifiedBy>
  <cp:revision>1</cp:revision>
  <dcterms:modified xsi:type="dcterms:W3CDTF">2025-10-16T17:37:38Z</dcterms:modified>
</cp:coreProperties>
</file>