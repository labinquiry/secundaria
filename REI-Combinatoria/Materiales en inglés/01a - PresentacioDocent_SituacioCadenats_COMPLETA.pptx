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Lst>
  <p:sldSz cy="6858000" cx="9144000"/>
  <p:notesSz cx="7099300" cy="10234600"/>
  <p:embeddedFontLst>
    <p:embeddedFont>
      <p:font typeface="Century Gothic"/>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 uri="{2D200454-40CA-4A62-9FC3-DE9A4176ACB9}">
      <p15:notesGuideLst>
        <p15:guide id="1" orient="horz" pos="3224">
          <p15:clr>
            <a:srgbClr val="A4A3A4"/>
          </p15:clr>
        </p15:guide>
        <p15:guide id="2" pos="223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notesViewPr>
    <p:cSldViewPr snapToGrid="0">
      <p:cViewPr varScale="1">
        <p:scale>
          <a:sx n="100" d="100"/>
          <a:sy n="100" d="100"/>
        </p:scale>
        <p:origin x="0" y="0"/>
      </p:cViewPr>
      <p:guideLst>
        <p:guide pos="3224" orient="horz"/>
        <p:guide pos="2236"/>
      </p:guideLst>
    </p:cSldViewPr>
  </p:notes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font" Target="fonts/CenturyGothic-regular.fntdata"/><Relationship Id="rId47" Type="http://schemas.openxmlformats.org/officeDocument/2006/relationships/slide" Target="slides/slide42.xml"/><Relationship Id="rId49" Type="http://schemas.openxmlformats.org/officeDocument/2006/relationships/font" Target="fonts/CenturyGothic-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font" Target="fonts/CenturyGothic-boldItalic.fntdata"/><Relationship Id="rId50" Type="http://schemas.openxmlformats.org/officeDocument/2006/relationships/font" Target="fonts/CenturyGothic-italic.fnt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3076363" cy="511731"/>
          </a:xfrm>
          <a:prstGeom prst="rect">
            <a:avLst/>
          </a:prstGeom>
          <a:noFill/>
          <a:ln>
            <a:noFill/>
          </a:ln>
        </p:spPr>
        <p:txBody>
          <a:bodyPr anchorCtr="0" anchor="t" bIns="47375" lIns="94750" spcFirstLastPara="1" rIns="94750" wrap="square" tIns="47375">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4021295" y="0"/>
            <a:ext cx="3076363" cy="511731"/>
          </a:xfrm>
          <a:prstGeom prst="rect">
            <a:avLst/>
          </a:prstGeom>
          <a:noFill/>
          <a:ln>
            <a:noFill/>
          </a:ln>
        </p:spPr>
        <p:txBody>
          <a:bodyPr anchorCtr="0" anchor="t" bIns="47375" lIns="94750" spcFirstLastPara="1" rIns="94750" wrap="square" tIns="47375">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1" y="9721106"/>
            <a:ext cx="3076363" cy="511731"/>
          </a:xfrm>
          <a:prstGeom prst="rect">
            <a:avLst/>
          </a:prstGeom>
          <a:noFill/>
          <a:ln>
            <a:noFill/>
          </a:ln>
        </p:spPr>
        <p:txBody>
          <a:bodyPr anchorCtr="0" anchor="b" bIns="47375" lIns="94750" spcFirstLastPara="1" rIns="94750" wrap="square" tIns="47375">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4021295" y="9721106"/>
            <a:ext cx="3076363" cy="511731"/>
          </a:xfrm>
          <a:prstGeom prst="rect">
            <a:avLst/>
          </a:prstGeom>
          <a:noFill/>
          <a:ln>
            <a:noFill/>
          </a:ln>
        </p:spPr>
        <p:txBody>
          <a:bodyPr anchorCtr="0" anchor="b" bIns="47375" lIns="94750" spcFirstLastPara="1" rIns="94750" wrap="square" tIns="47375">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ca-E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1: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 name="Google Shape;78;p1: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79" name="Google Shape;79;p1:notes"/>
          <p:cNvSpPr txBox="1"/>
          <p:nvPr>
            <p:ph idx="12" type="sldNum"/>
          </p:nvPr>
        </p:nvSpPr>
        <p:spPr>
          <a:xfrm>
            <a:off x="4021295" y="9721106"/>
            <a:ext cx="3076363" cy="511731"/>
          </a:xfrm>
          <a:prstGeom prst="rect">
            <a:avLst/>
          </a:prstGeom>
          <a:noFill/>
          <a:ln>
            <a:noFill/>
          </a:ln>
        </p:spPr>
        <p:txBody>
          <a:bodyPr anchorCtr="0" anchor="b" bIns="47375" lIns="94750" spcFirstLastPara="1" rIns="94750" wrap="square" tIns="47375">
            <a:noAutofit/>
          </a:bodyPr>
          <a:lstStyle/>
          <a:p>
            <a:pPr indent="0" lvl="0" marL="0" rtl="0" algn="r">
              <a:lnSpc>
                <a:spcPct val="100000"/>
              </a:lnSpc>
              <a:spcBef>
                <a:spcPts val="0"/>
              </a:spcBef>
              <a:spcAft>
                <a:spcPts val="0"/>
              </a:spcAft>
              <a:buSzPts val="1400"/>
              <a:buNone/>
            </a:pPr>
            <a:fld id="{00000000-1234-1234-1234-123412341234}" type="slidenum">
              <a:rPr lang="ca-E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2: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 name="Google Shape;85;p2: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0" lang="en">
                <a:solidFill>
                  <a:srgbClr val="7030A0"/>
                </a:solidFill>
                <a:latin typeface="Arial"/>
                <a:ea typeface="Arial"/>
                <a:cs typeface="Arial"/>
                <a:sym typeface="Arial"/>
              </a:rPr>
              <a:t>Security depends on the “variants” of each padlock? For example, whether they have letters, symbols, numbers, dates, etc.?</a:t>
            </a:r>
            <a:endParaRPr xmlns:a="http://schemas.openxmlformats.org/drawingml/2006/main"/>
          </a:p>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b="0">
              <a:solidFill>
                <a:srgbClr val="7030A0"/>
              </a:solidFill>
              <a:latin typeface="Arial"/>
              <a:ea typeface="Arial"/>
              <a:cs typeface="Arial"/>
              <a:sym typeface="Arial"/>
            </a:endParaRPr>
          </a:p>
          <a:p>
            <a:pPr xmlns:a="http://schemas.openxmlformats.org/drawingml/2006/main" indent="0" lvl="0" marL="0" rtl="0" algn="l">
              <a:lnSpc>
                <a:spcPct val="100000"/>
              </a:lnSpc>
              <a:spcBef>
                <a:spcPts val="0"/>
              </a:spcBef>
              <a:spcAft>
                <a:spcPts val="0"/>
              </a:spcAft>
              <a:buSzPts val="1400"/>
              <a:buNone/>
            </a:pPr>
            <a:r xmlns:a="http://schemas.openxmlformats.org/drawingml/2006/main">
              <a:rPr b="0" lang="en">
                <a:solidFill>
                  <a:srgbClr val="7030A0"/>
                </a:solidFill>
                <a:latin typeface="Arial"/>
                <a:ea typeface="Arial"/>
                <a:cs typeface="Arial"/>
                <a:sym typeface="Arial"/>
              </a:rPr>
              <a:t>Will the one with the most codes be safer?</a:t>
            </a:r>
            <a:endParaRPr xmlns:a="http://schemas.openxmlformats.org/drawingml/2006/main"/>
          </a:p>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b="0">
              <a:solidFill>
                <a:srgbClr val="7030A0"/>
              </a:solidFill>
              <a:latin typeface="Arial"/>
              <a:ea typeface="Arial"/>
              <a:cs typeface="Arial"/>
              <a:sym typeface="Arial"/>
            </a:endParaRPr>
          </a:p>
          <a:p>
            <a:pPr xmlns:a="http://schemas.openxmlformats.org/drawingml/2006/main" indent="0" lvl="0" marL="0" rtl="0" algn="l">
              <a:lnSpc>
                <a:spcPct val="100000"/>
              </a:lnSpc>
              <a:spcBef>
                <a:spcPts val="0"/>
              </a:spcBef>
              <a:spcAft>
                <a:spcPts val="0"/>
              </a:spcAft>
              <a:buSzPts val="1400"/>
              <a:buNone/>
            </a:pPr>
            <a:r xmlns:a="http://schemas.openxmlformats.org/drawingml/2006/main">
              <a:rPr b="0" lang="en">
                <a:solidFill>
                  <a:srgbClr val="7030A0"/>
                </a:solidFill>
                <a:latin typeface="Arial"/>
                <a:ea typeface="Arial"/>
                <a:cs typeface="Arial"/>
                <a:sym typeface="Arial"/>
              </a:rPr>
              <a:t>Will it depend on the skill of the “thief”?</a:t>
            </a:r>
            <a:endParaRPr xmlns:a="http://schemas.openxmlformats.org/drawingml/2006/main"/>
          </a:p>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86" name="Google Shape;86;p2:notes"/>
          <p:cNvSpPr txBox="1"/>
          <p:nvPr>
            <p:ph idx="12" type="sldNum"/>
          </p:nvPr>
        </p:nvSpPr>
        <p:spPr>
          <a:xfrm>
            <a:off x="4021295" y="9721106"/>
            <a:ext cx="3076363" cy="511731"/>
          </a:xfrm>
          <a:prstGeom prst="rect">
            <a:avLst/>
          </a:prstGeom>
          <a:noFill/>
          <a:ln>
            <a:noFill/>
          </a:ln>
        </p:spPr>
        <p:txBody>
          <a:bodyPr anchorCtr="0" anchor="b" bIns="47375" lIns="94750" spcFirstLastPara="1" rIns="94750" wrap="square" tIns="47375">
            <a:noAutofit/>
          </a:bodyPr>
          <a:lstStyle/>
          <a:p>
            <a:pPr indent="0" lvl="0" marL="0" rtl="0" algn="r">
              <a:lnSpc>
                <a:spcPct val="100000"/>
              </a:lnSpc>
              <a:spcBef>
                <a:spcPts val="0"/>
              </a:spcBef>
              <a:spcAft>
                <a:spcPts val="0"/>
              </a:spcAft>
              <a:buSzPts val="1400"/>
              <a:buNone/>
            </a:pPr>
            <a:fld id="{00000000-1234-1234-1234-123412341234}" type="slidenum">
              <a:rPr lang="ca-E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2e28721b6b2_0_0: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p:spPr>
      </p:sp>
      <p:sp>
        <p:nvSpPr>
          <p:cNvPr id="98" name="Google Shape;98;g2e28721b6b2_0_0:notes"/>
          <p:cNvSpPr txBox="1"/>
          <p:nvPr>
            <p:ph idx="1" type="body"/>
          </p:nvPr>
        </p:nvSpPr>
        <p:spPr>
          <a:xfrm>
            <a:off x="709931" y="4861442"/>
            <a:ext cx="5679300" cy="4605600"/>
          </a:xfrm>
          <a:prstGeom prst="rect">
            <a:avLst/>
          </a:prstGeom>
        </p:spPr>
        <p:txBody>
          <a:bodyPr anchorCtr="0" anchor="t" bIns="47375" lIns="94750" spcFirstLastPara="1" rIns="94750" wrap="square" tIns="47375">
            <a:noAutofit/>
          </a:bodyPr>
          <a:lstStyle/>
          <a:p>
            <a:pPr xmlns:a="http://schemas.openxmlformats.org/drawingml/2006/main" indent="0" lvl="0" marL="0" rtl="0" algn="l">
              <a:spcBef>
                <a:spcPts val="0"/>
              </a:spcBef>
              <a:spcAft>
                <a:spcPts val="0"/>
              </a:spcAft>
              <a:buNone/>
            </a:pPr>
            <a:r xmlns:a="http://schemas.openxmlformats.org/drawingml/2006/main">
              <a:t/>
            </a:r>
            <a:endParaRPr xmlns:a="http://schemas.openxmlformats.org/drawingml/2006/main"/>
          </a:p>
        </p:txBody>
      </p:sp>
      <p:sp>
        <p:nvSpPr>
          <p:cNvPr id="99" name="Google Shape;99;g2e28721b6b2_0_0:notes"/>
          <p:cNvSpPr txBox="1"/>
          <p:nvPr>
            <p:ph idx="12" type="sldNum"/>
          </p:nvPr>
        </p:nvSpPr>
        <p:spPr>
          <a:xfrm>
            <a:off x="4021295" y="9721106"/>
            <a:ext cx="3076500" cy="511800"/>
          </a:xfrm>
          <a:prstGeom prst="rect">
            <a:avLst/>
          </a:prstGeom>
        </p:spPr>
        <p:txBody>
          <a:bodyPr anchorCtr="0" anchor="b" bIns="47375" lIns="94750" spcFirstLastPara="1" rIns="94750" wrap="square" tIns="47375">
            <a:noAutofit/>
          </a:bodyPr>
          <a:lstStyle/>
          <a:p>
            <a:pPr indent="0" lvl="0" marL="0" rtl="0" algn="r">
              <a:spcBef>
                <a:spcPts val="0"/>
              </a:spcBef>
              <a:spcAft>
                <a:spcPts val="0"/>
              </a:spcAft>
              <a:buClr>
                <a:srgbClr val="000000"/>
              </a:buClr>
              <a:buSzPts val="1200"/>
              <a:buFont typeface="Arial"/>
              <a:buNone/>
            </a:pPr>
            <a:fld id="{00000000-1234-1234-1234-123412341234}" type="slidenum">
              <a:rPr lang="ca-E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3: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 name="Google Shape;110;p3: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0" lang="en">
                <a:solidFill>
                  <a:srgbClr val="7030A0"/>
                </a:solidFill>
                <a:latin typeface="Arial"/>
                <a:ea typeface="Arial"/>
                <a:cs typeface="Arial"/>
                <a:sym typeface="Arial"/>
              </a:rPr>
              <a:t>Security depends on the “variants” of each padlock? For example, whether they have letters, symbols, numbers, dates, etc.?</a:t>
            </a:r>
            <a:endParaRPr xmlns:a="http://schemas.openxmlformats.org/drawingml/2006/main"/>
          </a:p>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b="0">
              <a:solidFill>
                <a:srgbClr val="7030A0"/>
              </a:solidFill>
              <a:latin typeface="Arial"/>
              <a:ea typeface="Arial"/>
              <a:cs typeface="Arial"/>
              <a:sym typeface="Arial"/>
            </a:endParaRPr>
          </a:p>
          <a:p>
            <a:pPr xmlns:a="http://schemas.openxmlformats.org/drawingml/2006/main" indent="0" lvl="0" marL="0" rtl="0" algn="l">
              <a:lnSpc>
                <a:spcPct val="100000"/>
              </a:lnSpc>
              <a:spcBef>
                <a:spcPts val="0"/>
              </a:spcBef>
              <a:spcAft>
                <a:spcPts val="0"/>
              </a:spcAft>
              <a:buSzPts val="1400"/>
              <a:buNone/>
            </a:pPr>
            <a:r xmlns:a="http://schemas.openxmlformats.org/drawingml/2006/main">
              <a:rPr b="0" lang="en">
                <a:solidFill>
                  <a:srgbClr val="7030A0"/>
                </a:solidFill>
                <a:latin typeface="Arial"/>
                <a:ea typeface="Arial"/>
                <a:cs typeface="Arial"/>
                <a:sym typeface="Arial"/>
              </a:rPr>
              <a:t>Will the one with the most codes be safer?</a:t>
            </a:r>
            <a:endParaRPr xmlns:a="http://schemas.openxmlformats.org/drawingml/2006/main"/>
          </a:p>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b="0">
              <a:solidFill>
                <a:srgbClr val="7030A0"/>
              </a:solidFill>
              <a:latin typeface="Arial"/>
              <a:ea typeface="Arial"/>
              <a:cs typeface="Arial"/>
              <a:sym typeface="Arial"/>
            </a:endParaRPr>
          </a:p>
          <a:p>
            <a:pPr xmlns:a="http://schemas.openxmlformats.org/drawingml/2006/main" indent="0" lvl="0" marL="0" rtl="0" algn="l">
              <a:lnSpc>
                <a:spcPct val="100000"/>
              </a:lnSpc>
              <a:spcBef>
                <a:spcPts val="0"/>
              </a:spcBef>
              <a:spcAft>
                <a:spcPts val="0"/>
              </a:spcAft>
              <a:buSzPts val="1400"/>
              <a:buNone/>
            </a:pPr>
            <a:r xmlns:a="http://schemas.openxmlformats.org/drawingml/2006/main">
              <a:rPr b="0" lang="en">
                <a:solidFill>
                  <a:srgbClr val="7030A0"/>
                </a:solidFill>
                <a:latin typeface="Arial"/>
                <a:ea typeface="Arial"/>
                <a:cs typeface="Arial"/>
                <a:sym typeface="Arial"/>
              </a:rPr>
              <a:t>Will it depend on the skill of the “thief”?</a:t>
            </a:r>
            <a:endParaRPr xmlns:a="http://schemas.openxmlformats.org/drawingml/2006/main"/>
          </a:p>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111" name="Google Shape;111;p3:notes"/>
          <p:cNvSpPr txBox="1"/>
          <p:nvPr>
            <p:ph idx="12" type="sldNum"/>
          </p:nvPr>
        </p:nvSpPr>
        <p:spPr>
          <a:xfrm>
            <a:off x="4021295" y="9721106"/>
            <a:ext cx="3076363" cy="511731"/>
          </a:xfrm>
          <a:prstGeom prst="rect">
            <a:avLst/>
          </a:prstGeom>
          <a:noFill/>
          <a:ln>
            <a:noFill/>
          </a:ln>
        </p:spPr>
        <p:txBody>
          <a:bodyPr anchorCtr="0" anchor="b" bIns="47375" lIns="94750" spcFirstLastPara="1" rIns="94750" wrap="square" tIns="47375">
            <a:noAutofit/>
          </a:bodyPr>
          <a:lstStyle/>
          <a:p>
            <a:pPr indent="0" lvl="0" marL="0" rtl="0" algn="r">
              <a:lnSpc>
                <a:spcPct val="100000"/>
              </a:lnSpc>
              <a:spcBef>
                <a:spcPts val="0"/>
              </a:spcBef>
              <a:spcAft>
                <a:spcPts val="0"/>
              </a:spcAft>
              <a:buSzPts val="1400"/>
              <a:buNone/>
            </a:pPr>
            <a:fld id="{00000000-1234-1234-1234-123412341234}" type="slidenum">
              <a:rPr lang="ca-E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p4: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 name="Google Shape;122;p4: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lang="en"/>
              <a:t>Some examples of questions…</a:t>
            </a:r>
            <a:endParaRPr xmlns:a="http://schemas.openxmlformats.org/drawingml/2006/main"/>
          </a:p>
        </p:txBody>
      </p:sp>
      <p:sp>
        <p:nvSpPr>
          <p:cNvPr id="123" name="Google Shape;123;p4:notes"/>
          <p:cNvSpPr txBox="1"/>
          <p:nvPr>
            <p:ph idx="12" type="sldNum"/>
          </p:nvPr>
        </p:nvSpPr>
        <p:spPr>
          <a:xfrm>
            <a:off x="4021295" y="9721106"/>
            <a:ext cx="3076363" cy="511731"/>
          </a:xfrm>
          <a:prstGeom prst="rect">
            <a:avLst/>
          </a:prstGeom>
          <a:noFill/>
          <a:ln>
            <a:noFill/>
          </a:ln>
        </p:spPr>
        <p:txBody>
          <a:bodyPr anchorCtr="0" anchor="b" bIns="47375" lIns="94750" spcFirstLastPara="1" rIns="94750" wrap="square" tIns="47375">
            <a:noAutofit/>
          </a:bodyPr>
          <a:lstStyle/>
          <a:p>
            <a:pPr indent="0" lvl="0" marL="0" rtl="0" algn="r">
              <a:lnSpc>
                <a:spcPct val="100000"/>
              </a:lnSpc>
              <a:spcBef>
                <a:spcPts val="0"/>
              </a:spcBef>
              <a:spcAft>
                <a:spcPts val="0"/>
              </a:spcAft>
              <a:buSzPts val="1400"/>
              <a:buNone/>
            </a:pPr>
            <a:fld id="{00000000-1234-1234-1234-123412341234}" type="slidenum">
              <a:rPr lang="ca-E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1ff9b61dd67_1_0: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 name="Google Shape;131;g1ff9b61dd67_1_0: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lang="en"/>
              <a:t>Some examples of questions…</a:t>
            </a:r>
            <a:endParaRPr xmlns:a="http://schemas.openxmlformats.org/drawingml/2006/main"/>
          </a:p>
        </p:txBody>
      </p:sp>
      <p:sp>
        <p:nvSpPr>
          <p:cNvPr id="132" name="Google Shape;132;g1ff9b61dd67_1_0:notes"/>
          <p:cNvSpPr txBox="1"/>
          <p:nvPr>
            <p:ph idx="12" type="sldNum"/>
          </p:nvPr>
        </p:nvSpPr>
        <p:spPr>
          <a:xfrm>
            <a:off x="4021295" y="9721106"/>
            <a:ext cx="3076500" cy="511800"/>
          </a:xfrm>
          <a:prstGeom prst="rect">
            <a:avLst/>
          </a:prstGeom>
          <a:noFill/>
          <a:ln>
            <a:noFill/>
          </a:ln>
        </p:spPr>
        <p:txBody>
          <a:bodyPr anchorCtr="0" anchor="b" bIns="47375" lIns="94750" spcFirstLastPara="1" rIns="94750" wrap="square" tIns="47375">
            <a:noAutofit/>
          </a:bodyPr>
          <a:lstStyle/>
          <a:p>
            <a:pPr indent="0" lvl="0" marL="0" rtl="0" algn="r">
              <a:lnSpc>
                <a:spcPct val="100000"/>
              </a:lnSpc>
              <a:spcBef>
                <a:spcPts val="0"/>
              </a:spcBef>
              <a:spcAft>
                <a:spcPts val="0"/>
              </a:spcAft>
              <a:buSzPts val="1400"/>
              <a:buNone/>
            </a:pPr>
            <a:fld id="{00000000-1234-1234-1234-123412341234}" type="slidenum">
              <a:rPr lang="ca-E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2cfa7dab9e5_0_1: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141" name="Google Shape;141;g2cfa7dab9e5_0_1: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6: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6: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150" name="Google Shape;150;p6:notes"/>
          <p:cNvSpPr txBox="1"/>
          <p:nvPr>
            <p:ph idx="12" type="sldNum"/>
          </p:nvPr>
        </p:nvSpPr>
        <p:spPr>
          <a:xfrm>
            <a:off x="4021295" y="9721106"/>
            <a:ext cx="3076363" cy="511731"/>
          </a:xfrm>
          <a:prstGeom prst="rect">
            <a:avLst/>
          </a:prstGeom>
          <a:noFill/>
          <a:ln>
            <a:noFill/>
          </a:ln>
        </p:spPr>
        <p:txBody>
          <a:bodyPr anchorCtr="0" anchor="b" bIns="47375" lIns="94750" spcFirstLastPara="1" rIns="94750" wrap="square" tIns="47375">
            <a:noAutofit/>
          </a:bodyPr>
          <a:lstStyle/>
          <a:p>
            <a:pPr indent="0" lvl="0" marL="0" rtl="0" algn="r">
              <a:lnSpc>
                <a:spcPct val="100000"/>
              </a:lnSpc>
              <a:spcBef>
                <a:spcPts val="0"/>
              </a:spcBef>
              <a:spcAft>
                <a:spcPts val="0"/>
              </a:spcAft>
              <a:buSzPts val="1400"/>
              <a:buNone/>
            </a:pPr>
            <a:fld id="{00000000-1234-1234-1234-123412341234}" type="slidenum">
              <a:rPr lang="ca-E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2cfa7dab9e5_0_169: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157" name="Google Shape;157;g2cfa7dab9e5_0_169: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8: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175" name="Google Shape;175;p8: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9: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183" name="Google Shape;183;p9: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1: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193" name="Google Shape;193;p11: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12: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201" name="Google Shape;201;p12: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13: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211" name="Google Shape;211;p13: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g2cfa7dab9e5_0_255: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221" name="Google Shape;221;g2cfa7dab9e5_0_255: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2e1838c6fd1_0_0: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g2e1838c6fd1_0_0: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230" name="Google Shape;230;g2e1838c6fd1_0_0:notes"/>
          <p:cNvSpPr txBox="1"/>
          <p:nvPr>
            <p:ph idx="12" type="sldNum"/>
          </p:nvPr>
        </p:nvSpPr>
        <p:spPr>
          <a:xfrm>
            <a:off x="4021295" y="9721106"/>
            <a:ext cx="3076500" cy="511800"/>
          </a:xfrm>
          <a:prstGeom prst="rect">
            <a:avLst/>
          </a:prstGeom>
          <a:noFill/>
          <a:ln>
            <a:noFill/>
          </a:ln>
        </p:spPr>
        <p:txBody>
          <a:bodyPr anchorCtr="0" anchor="b" bIns="47375" lIns="94750" spcFirstLastPara="1" rIns="94750" wrap="square" tIns="47375">
            <a:noAutofit/>
          </a:bodyPr>
          <a:lstStyle/>
          <a:p>
            <a:pPr indent="0" lvl="0" marL="0" rtl="0" algn="r">
              <a:lnSpc>
                <a:spcPct val="100000"/>
              </a:lnSpc>
              <a:spcBef>
                <a:spcPts val="0"/>
              </a:spcBef>
              <a:spcAft>
                <a:spcPts val="0"/>
              </a:spcAft>
              <a:buSzPts val="1400"/>
              <a:buNone/>
            </a:pPr>
            <a:fld id="{00000000-1234-1234-1234-123412341234}" type="slidenum">
              <a:rPr lang="ca-E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14: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237" name="Google Shape;237;p14: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2cfa7dab9e5_0_75: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244" name="Google Shape;244;g2cfa7dab9e5_0_75: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2cfa7dab9e5_0_91: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261" name="Google Shape;261;g2cfa7dab9e5_0_91: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7: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p17: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272" name="Google Shape;272;p17:notes"/>
          <p:cNvSpPr txBox="1"/>
          <p:nvPr>
            <p:ph idx="12" type="sldNum"/>
          </p:nvPr>
        </p:nvSpPr>
        <p:spPr>
          <a:xfrm>
            <a:off x="4021295" y="9721106"/>
            <a:ext cx="3076363" cy="511731"/>
          </a:xfrm>
          <a:prstGeom prst="rect">
            <a:avLst/>
          </a:prstGeom>
          <a:noFill/>
          <a:ln>
            <a:noFill/>
          </a:ln>
        </p:spPr>
        <p:txBody>
          <a:bodyPr anchorCtr="0" anchor="b" bIns="47375" lIns="94750" spcFirstLastPara="1" rIns="94750" wrap="square" tIns="47375">
            <a:noAutofit/>
          </a:bodyPr>
          <a:lstStyle/>
          <a:p>
            <a:pPr indent="0" lvl="0" marL="0" rtl="0" algn="r">
              <a:lnSpc>
                <a:spcPct val="100000"/>
              </a:lnSpc>
              <a:spcBef>
                <a:spcPts val="0"/>
              </a:spcBef>
              <a:spcAft>
                <a:spcPts val="0"/>
              </a:spcAft>
              <a:buSzPts val="1400"/>
              <a:buNone/>
            </a:pPr>
            <a:fld id="{00000000-1234-1234-1234-123412341234}" type="slidenum">
              <a:rPr lang="ca-E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p18: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280" name="Google Shape;280;p18: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p19: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293" name="Google Shape;293;p19: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p20: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5" name="Google Shape;305;p20: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306" name="Google Shape;306;p20:notes"/>
          <p:cNvSpPr txBox="1"/>
          <p:nvPr>
            <p:ph idx="12" type="sldNum"/>
          </p:nvPr>
        </p:nvSpPr>
        <p:spPr>
          <a:xfrm>
            <a:off x="4021295" y="9721106"/>
            <a:ext cx="3076363" cy="511731"/>
          </a:xfrm>
          <a:prstGeom prst="rect">
            <a:avLst/>
          </a:prstGeom>
          <a:noFill/>
          <a:ln>
            <a:noFill/>
          </a:ln>
        </p:spPr>
        <p:txBody>
          <a:bodyPr anchorCtr="0" anchor="b" bIns="47375" lIns="94750" spcFirstLastPara="1" rIns="94750" wrap="square" tIns="47375">
            <a:noAutofit/>
          </a:bodyPr>
          <a:lstStyle/>
          <a:p>
            <a:pPr indent="0" lvl="0" marL="0" rtl="0" algn="r">
              <a:lnSpc>
                <a:spcPct val="100000"/>
              </a:lnSpc>
              <a:spcBef>
                <a:spcPts val="0"/>
              </a:spcBef>
              <a:spcAft>
                <a:spcPts val="0"/>
              </a:spcAft>
              <a:buSzPts val="1400"/>
              <a:buNone/>
            </a:pPr>
            <a:fld id="{00000000-1234-1234-1234-123412341234}" type="slidenum">
              <a:rPr lang="ca-E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g2cfa7dab9e5_0_330: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314" name="Google Shape;314;g2cfa7dab9e5_0_330: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2cfa7dab9e5_0_354: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339" name="Google Shape;339;g2cfa7dab9e5_0_354: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2cfa7dab9e5_0_360: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346" name="Google Shape;346;g2cfa7dab9e5_0_360: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2cfa7dab9e5_0_604: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3" name="Google Shape;353;g2cfa7dab9e5_0_604: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354" name="Google Shape;354;g2cfa7dab9e5_0_604:notes"/>
          <p:cNvSpPr txBox="1"/>
          <p:nvPr>
            <p:ph idx="12" type="sldNum"/>
          </p:nvPr>
        </p:nvSpPr>
        <p:spPr>
          <a:xfrm>
            <a:off x="4021295" y="9721106"/>
            <a:ext cx="3076500" cy="511800"/>
          </a:xfrm>
          <a:prstGeom prst="rect">
            <a:avLst/>
          </a:prstGeom>
          <a:noFill/>
          <a:ln>
            <a:noFill/>
          </a:ln>
        </p:spPr>
        <p:txBody>
          <a:bodyPr anchorCtr="0" anchor="b" bIns="47375" lIns="94750" spcFirstLastPara="1" rIns="94750" wrap="square" tIns="47375">
            <a:noAutofit/>
          </a:bodyPr>
          <a:lstStyle/>
          <a:p>
            <a:pPr indent="0" lvl="0" marL="0" rtl="0" algn="r">
              <a:lnSpc>
                <a:spcPct val="100000"/>
              </a:lnSpc>
              <a:spcBef>
                <a:spcPts val="0"/>
              </a:spcBef>
              <a:spcAft>
                <a:spcPts val="0"/>
              </a:spcAft>
              <a:buSzPts val="1400"/>
              <a:buNone/>
            </a:pPr>
            <a:fld id="{00000000-1234-1234-1234-123412341234}" type="slidenum">
              <a:rPr lang="ca-E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g2cfa7dab9e5_0_612: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362" name="Google Shape;362;g2cfa7dab9e5_0_612: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2cfa7dab9e5_0_618: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368" name="Google Shape;368;g2cfa7dab9e5_0_618: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2cfa7dab9e5_0_625: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376" name="Google Shape;376;g2cfa7dab9e5_0_625: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2cfa7dab9e5_0_632: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2" name="Google Shape;382;g2cfa7dab9e5_0_632: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383" name="Google Shape;383;g2cfa7dab9e5_0_632:notes"/>
          <p:cNvSpPr txBox="1"/>
          <p:nvPr>
            <p:ph idx="12" type="sldNum"/>
          </p:nvPr>
        </p:nvSpPr>
        <p:spPr>
          <a:xfrm>
            <a:off x="4021295" y="9721106"/>
            <a:ext cx="3076500" cy="511800"/>
          </a:xfrm>
          <a:prstGeom prst="rect">
            <a:avLst/>
          </a:prstGeom>
          <a:noFill/>
          <a:ln>
            <a:noFill/>
          </a:ln>
        </p:spPr>
        <p:txBody>
          <a:bodyPr anchorCtr="0" anchor="b" bIns="47375" lIns="94750" spcFirstLastPara="1" rIns="94750" wrap="square" tIns="47375">
            <a:noAutofit/>
          </a:bodyPr>
          <a:lstStyle/>
          <a:p>
            <a:pPr indent="0" lvl="0" marL="0" rtl="0" algn="r">
              <a:lnSpc>
                <a:spcPct val="100000"/>
              </a:lnSpc>
              <a:spcBef>
                <a:spcPts val="0"/>
              </a:spcBef>
              <a:spcAft>
                <a:spcPts val="0"/>
              </a:spcAft>
              <a:buSzPts val="1400"/>
              <a:buNone/>
            </a:pPr>
            <a:fld id="{00000000-1234-1234-1234-123412341234}" type="slidenum">
              <a:rPr lang="ca-E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g2cfa7dab9e5_0_644: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392" name="Google Shape;392;g2cfa7dab9e5_0_644: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g2cfa7dab9e5_0_658: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402" name="Google Shape;402;g2cfa7dab9e5_0_658: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g2cfa7dab9e5_0_552: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2" name="Google Shape;412;g2cfa7dab9e5_0_552: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413" name="Google Shape;413;g2cfa7dab9e5_0_552:notes"/>
          <p:cNvSpPr txBox="1"/>
          <p:nvPr>
            <p:ph idx="12" type="sldNum"/>
          </p:nvPr>
        </p:nvSpPr>
        <p:spPr>
          <a:xfrm>
            <a:off x="4021295" y="9721106"/>
            <a:ext cx="3076500" cy="511800"/>
          </a:xfrm>
          <a:prstGeom prst="rect">
            <a:avLst/>
          </a:prstGeom>
          <a:noFill/>
          <a:ln>
            <a:noFill/>
          </a:ln>
        </p:spPr>
        <p:txBody>
          <a:bodyPr anchorCtr="0" anchor="b" bIns="47375" lIns="94750" spcFirstLastPara="1" rIns="94750" wrap="square" tIns="47375">
            <a:noAutofit/>
          </a:bodyPr>
          <a:lstStyle/>
          <a:p>
            <a:pPr indent="0" lvl="0" marL="0" rtl="0" algn="r">
              <a:lnSpc>
                <a:spcPct val="100000"/>
              </a:lnSpc>
              <a:spcBef>
                <a:spcPts val="0"/>
              </a:spcBef>
              <a:spcAft>
                <a:spcPts val="0"/>
              </a:spcAft>
              <a:buSzPts val="1400"/>
              <a:buNone/>
            </a:pPr>
            <a:fld id="{00000000-1234-1234-1234-123412341234}" type="slidenum">
              <a:rPr lang="ca-E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2cfa7dab9e5_0_559: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420" name="Google Shape;420;g2cfa7dab9e5_0_559: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g2cfa7dab9e5_0_570: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lang="en"/>
              <a:t>Alternative if you want to include the XTEC case</a:t>
            </a:r>
            <a:endParaRPr xmlns:a="http://schemas.openxmlformats.org/drawingml/2006/main"/>
          </a:p>
        </p:txBody>
      </p:sp>
      <p:sp>
        <p:nvSpPr>
          <p:cNvPr id="432" name="Google Shape;432;g2cfa7dab9e5_0_570: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g2cfa7dab9e5_0_582: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445" name="Google Shape;445;g2cfa7dab9e5_0_582: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g2cfa7dab9e5_0_588: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452" name="Google Shape;452;g2cfa7dab9e5_0_588: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g2cfa7dab9e5_0_593:notes"/>
          <p:cNvSpPr txBox="1"/>
          <p:nvPr>
            <p:ph idx="1" type="body"/>
          </p:nvPr>
        </p:nvSpPr>
        <p:spPr>
          <a:xfrm>
            <a:off x="709931" y="4861442"/>
            <a:ext cx="5679300" cy="4605600"/>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458" name="Google Shape;458;g2cfa7dab9e5_0_593:notes"/>
          <p:cNvSpPr/>
          <p:nvPr>
            <p:ph idx="2" type="sldImg"/>
          </p:nvPr>
        </p:nvSpPr>
        <p:spPr>
          <a:xfrm>
            <a:off x="992188" y="768350"/>
            <a:ext cx="5115000" cy="3837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p27: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0" name="Google Shape;470;p27: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lang="en"/>
              <a:t>You are unsure whether to include this one or another.</a:t>
            </a:r>
            <a:endParaRPr xmlns:a="http://schemas.openxmlformats.org/drawingml/2006/main"/>
          </a:p>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a:p>
            <a:pPr xmlns:a="http://schemas.openxmlformats.org/drawingml/2006/main" indent="0" lvl="0" marL="0" rtl="0" algn="l">
              <a:lnSpc>
                <a:spcPct val="100000"/>
              </a:lnSpc>
              <a:spcBef>
                <a:spcPts val="0"/>
              </a:spcBef>
              <a:spcAft>
                <a:spcPts val="0"/>
              </a:spcAft>
              <a:buSzPts val="1400"/>
              <a:buNone/>
            </a:pPr>
            <a:r xmlns:a="http://schemas.openxmlformats.org/drawingml/2006/main">
              <a:rPr lang="en"/>
              <a:t>Susana, do you have any really cool maps that correspond to the second version of the REI? On which padlock is it more secure? Notice that the one included in Part 2 starts from another generative Q.</a:t>
            </a:r>
            <a:endParaRPr xmlns:a="http://schemas.openxmlformats.org/drawingml/2006/main"/>
          </a:p>
        </p:txBody>
      </p:sp>
      <p:sp>
        <p:nvSpPr>
          <p:cNvPr id="471" name="Google Shape;471;p27:notes"/>
          <p:cNvSpPr txBox="1"/>
          <p:nvPr>
            <p:ph idx="12" type="sldNum"/>
          </p:nvPr>
        </p:nvSpPr>
        <p:spPr>
          <a:xfrm>
            <a:off x="4021295" y="9721106"/>
            <a:ext cx="3076363" cy="511731"/>
          </a:xfrm>
          <a:prstGeom prst="rect">
            <a:avLst/>
          </a:prstGeom>
          <a:noFill/>
          <a:ln>
            <a:noFill/>
          </a:ln>
        </p:spPr>
        <p:txBody>
          <a:bodyPr anchorCtr="0" anchor="b" bIns="47375" lIns="94750" spcFirstLastPara="1" rIns="94750" wrap="square" tIns="47375">
            <a:noAutofit/>
          </a:bodyPr>
          <a:lstStyle/>
          <a:p>
            <a:pPr indent="0" lvl="0" marL="0" rtl="0" algn="r">
              <a:lnSpc>
                <a:spcPct val="100000"/>
              </a:lnSpc>
              <a:spcBef>
                <a:spcPts val="0"/>
              </a:spcBef>
              <a:spcAft>
                <a:spcPts val="0"/>
              </a:spcAft>
              <a:buSzPts val="1400"/>
              <a:buNone/>
            </a:pPr>
            <a:fld id="{00000000-1234-1234-1234-123412341234}" type="slidenum">
              <a:rPr lang="ca-E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p28: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7" name="Google Shape;477;p28: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marR="0" rtl="0" algn="l">
              <a:lnSpc>
                <a:spcPct val="100000"/>
              </a:lnSpc>
              <a:spcBef>
                <a:spcPts val="0"/>
              </a:spcBef>
              <a:spcAft>
                <a:spcPts val="0"/>
              </a:spcAft>
              <a:buClr>
                <a:schemeClr val="dk1"/>
              </a:buClr>
              <a:buSzPts val="1200"/>
              <a:buFont typeface="Calibri"/>
              <a:buNone/>
            </a:pPr>
            <a:r xmlns:a="http://schemas.openxmlformats.org/drawingml/2006/main">
              <a:rPr lang="en"/>
              <a:t>You are unsure whether to include this one or another.</a:t>
            </a:r>
            <a:endParaRPr xmlns:a="http://schemas.openxmlformats.org/drawingml/2006/main"/>
          </a:p>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478" name="Google Shape;478;p28:notes"/>
          <p:cNvSpPr txBox="1"/>
          <p:nvPr>
            <p:ph idx="12" type="sldNum"/>
          </p:nvPr>
        </p:nvSpPr>
        <p:spPr>
          <a:xfrm>
            <a:off x="4021295" y="9721106"/>
            <a:ext cx="3076363" cy="511731"/>
          </a:xfrm>
          <a:prstGeom prst="rect">
            <a:avLst/>
          </a:prstGeom>
          <a:noFill/>
          <a:ln>
            <a:noFill/>
          </a:ln>
        </p:spPr>
        <p:txBody>
          <a:bodyPr anchorCtr="0" anchor="b" bIns="47375" lIns="94750" spcFirstLastPara="1" rIns="94750" wrap="square" tIns="47375">
            <a:noAutofit/>
          </a:bodyPr>
          <a:lstStyle/>
          <a:p>
            <a:pPr indent="0" lvl="0" marL="0" rtl="0" algn="r">
              <a:lnSpc>
                <a:spcPct val="100000"/>
              </a:lnSpc>
              <a:spcBef>
                <a:spcPts val="0"/>
              </a:spcBef>
              <a:spcAft>
                <a:spcPts val="0"/>
              </a:spcAft>
              <a:buSzPts val="1400"/>
              <a:buNone/>
            </a:pPr>
            <a:fld id="{00000000-1234-1234-1234-123412341234}" type="slidenum">
              <a:rPr lang="ca-E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29:notes"/>
          <p:cNvSpPr/>
          <p:nvPr>
            <p:ph idx="2" type="sldImg"/>
          </p:nvPr>
        </p:nvSpPr>
        <p:spPr>
          <a:xfrm>
            <a:off x="992188" y="768350"/>
            <a:ext cx="5114925" cy="3836988"/>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6" name="Google Shape;486;p29:notes"/>
          <p:cNvSpPr txBox="1"/>
          <p:nvPr>
            <p:ph idx="1" type="body"/>
          </p:nvPr>
        </p:nvSpPr>
        <p:spPr>
          <a:xfrm>
            <a:off x="709931" y="4861442"/>
            <a:ext cx="5679440" cy="4605576"/>
          </a:xfrm>
          <a:prstGeom prst="rect">
            <a:avLst/>
          </a:prstGeom>
          <a:noFill/>
          <a:ln>
            <a:noFill/>
          </a:ln>
        </p:spPr>
        <p:txBody>
          <a:bodyPr anchorCtr="0" anchor="t" bIns="47375" lIns="94750" spcFirstLastPara="1" rIns="94750" wrap="square" tIns="47375">
            <a:noAutofit/>
          </a:bodyPr>
          <a:lstStyle/>
          <a:p>
            <a:pPr xmlns:a="http://schemas.openxmlformats.org/drawingml/2006/main" indent="0" lvl="0" marL="0" marR="0" rtl="0" algn="l">
              <a:lnSpc>
                <a:spcPct val="100000"/>
              </a:lnSpc>
              <a:spcBef>
                <a:spcPts val="0"/>
              </a:spcBef>
              <a:spcAft>
                <a:spcPts val="0"/>
              </a:spcAft>
              <a:buClr>
                <a:schemeClr val="dk1"/>
              </a:buClr>
              <a:buSzPts val="1200"/>
              <a:buFont typeface="Calibri"/>
              <a:buNone/>
            </a:pPr>
            <a:r xmlns:a="http://schemas.openxmlformats.org/drawingml/2006/main">
              <a:rPr lang="en"/>
              <a:t>You are unsure whether to include this one or another.</a:t>
            </a:r>
            <a:endParaRPr xmlns:a="http://schemas.openxmlformats.org/drawingml/2006/main"/>
          </a:p>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sp>
        <p:nvSpPr>
          <p:cNvPr id="487" name="Google Shape;487;p29:notes"/>
          <p:cNvSpPr txBox="1"/>
          <p:nvPr>
            <p:ph idx="12" type="sldNum"/>
          </p:nvPr>
        </p:nvSpPr>
        <p:spPr>
          <a:xfrm>
            <a:off x="4021295" y="9721106"/>
            <a:ext cx="3076363" cy="511731"/>
          </a:xfrm>
          <a:prstGeom prst="rect">
            <a:avLst/>
          </a:prstGeom>
          <a:noFill/>
          <a:ln>
            <a:noFill/>
          </a:ln>
        </p:spPr>
        <p:txBody>
          <a:bodyPr anchorCtr="0" anchor="b" bIns="47375" lIns="94750" spcFirstLastPara="1" rIns="94750" wrap="square" tIns="47375">
            <a:noAutofit/>
          </a:bodyPr>
          <a:lstStyle/>
          <a:p>
            <a:pPr indent="0" lvl="0" marL="0" rtl="0" algn="r">
              <a:lnSpc>
                <a:spcPct val="100000"/>
              </a:lnSpc>
              <a:spcBef>
                <a:spcPts val="0"/>
              </a:spcBef>
              <a:spcAft>
                <a:spcPts val="0"/>
              </a:spcAft>
              <a:buSzPts val="1400"/>
              <a:buNone/>
            </a:pPr>
            <a:fld id="{00000000-1234-1234-1234-123412341234}" type="slidenum">
              <a:rPr lang="ca-E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5.png"/><Relationship Id="rId5"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67.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2.png"/><Relationship Id="rId8" Type="http://schemas.openxmlformats.org/officeDocument/2006/relationships/image" Target="../media/image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1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image" Target="../media/image39.png"/><Relationship Id="rId5" Type="http://schemas.openxmlformats.org/officeDocument/2006/relationships/image" Target="../media/image8.png"/><Relationship Id="rId6"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13" name="Shape 13"/>
        <p:cNvGrpSpPr/>
        <p:nvPr/>
      </p:nvGrpSpPr>
      <p:grpSpPr>
        <a:xfrm>
          <a:off x="0" y="0"/>
          <a:ext cx="0" cy="0"/>
          <a:chOff x="0" y="0"/>
          <a:chExt cx="0" cy="0"/>
        </a:xfrm>
      </p:grpSpPr>
      <p:sp>
        <p:nvSpPr>
          <p:cNvPr id="14" name="Google Shape;14;p2"/>
          <p:cNvSpPr/>
          <p:nvPr/>
        </p:nvSpPr>
        <p:spPr>
          <a:xfrm>
            <a:off x="1795269" y="268288"/>
            <a:ext cx="7061395" cy="909694"/>
          </a:xfrm>
          <a:prstGeom prst="rect">
            <a:avLst/>
          </a:prstGeom>
          <a:solidFill>
            <a:srgbClr val="7030A0">
              <a:alpha val="9411"/>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Century Gothic"/>
              <a:ea typeface="Century Gothic"/>
              <a:cs typeface="Century Gothic"/>
              <a:sym typeface="Century Gothic"/>
            </a:endParaRPr>
          </a:p>
        </p:txBody>
      </p:sp>
      <p:sp>
        <p:nvSpPr>
          <p:cNvPr id="15" name="Google Shape;15;p2"/>
          <p:cNvSpPr txBox="1"/>
          <p:nvPr>
            <p:ph type="ctrTitle"/>
          </p:nvPr>
        </p:nvSpPr>
        <p:spPr>
          <a:xfrm>
            <a:off x="1794838" y="1617740"/>
            <a:ext cx="7061395" cy="2783208"/>
          </a:xfrm>
          <a:prstGeom prst="rect">
            <a:avLst/>
          </a:prstGeom>
          <a:noFill/>
          <a:ln>
            <a:noFill/>
          </a:ln>
        </p:spPr>
        <p:txBody>
          <a:bodyPr anchorCtr="0" anchor="b" bIns="45700" lIns="91425" spcFirstLastPara="1" rIns="91425" wrap="square" tIns="45700">
            <a:normAutofit/>
          </a:bodyPr>
          <a:lstStyle>
            <a:lvl1pPr lvl="0" algn="ctr">
              <a:lnSpc>
                <a:spcPct val="100000"/>
              </a:lnSpc>
              <a:spcBef>
                <a:spcPts val="0"/>
              </a:spcBef>
              <a:spcAft>
                <a:spcPts val="0"/>
              </a:spcAft>
              <a:buClr>
                <a:srgbClr val="7030A0"/>
              </a:buClr>
              <a:buSzPts val="3000"/>
              <a:buFont typeface="Avenir"/>
              <a:buNone/>
              <a:defRPr sz="3000">
                <a:solidFill>
                  <a:srgbClr val="7030A0"/>
                </a:solidFill>
                <a:latin typeface="Avenir"/>
                <a:ea typeface="Avenir"/>
                <a:cs typeface="Avenir"/>
                <a:sym typeface="Avenir"/>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 name="Google Shape;16;p2"/>
          <p:cNvSpPr txBox="1"/>
          <p:nvPr>
            <p:ph idx="1" type="subTitle"/>
          </p:nvPr>
        </p:nvSpPr>
        <p:spPr>
          <a:xfrm>
            <a:off x="1794838" y="4400950"/>
            <a:ext cx="7061397" cy="1955401"/>
          </a:xfrm>
          <a:prstGeom prst="rect">
            <a:avLst/>
          </a:prstGeom>
          <a:noFill/>
          <a:ln>
            <a:noFill/>
          </a:ln>
        </p:spPr>
        <p:txBody>
          <a:bodyPr anchorCtr="0" anchor="t" bIns="45700" lIns="91425" spcFirstLastPara="1" rIns="91425" wrap="square" tIns="45700">
            <a:normAutofit/>
          </a:bodyPr>
          <a:lstStyle>
            <a:lvl1pPr lvl="0" algn="ctr">
              <a:lnSpc>
                <a:spcPct val="130000"/>
              </a:lnSpc>
              <a:spcBef>
                <a:spcPts val="0"/>
              </a:spcBef>
              <a:spcAft>
                <a:spcPts val="0"/>
              </a:spcAft>
              <a:buClr>
                <a:schemeClr val="accent1"/>
              </a:buClr>
              <a:buSzPts val="2000"/>
              <a:buFont typeface="Noto Sans Symbols"/>
              <a:buNone/>
              <a:defRPr b="0" sz="2000">
                <a:solidFill>
                  <a:schemeClr val="dk2"/>
                </a:solidFill>
                <a:latin typeface="Avenir"/>
                <a:ea typeface="Avenir"/>
                <a:cs typeface="Avenir"/>
                <a:sym typeface="Avenir"/>
              </a:defRPr>
            </a:lvl1pPr>
            <a:lvl2pPr lvl="1" algn="ctr">
              <a:lnSpc>
                <a:spcPct val="130000"/>
              </a:lnSpc>
              <a:spcBef>
                <a:spcPts val="600"/>
              </a:spcBef>
              <a:spcAft>
                <a:spcPts val="0"/>
              </a:spcAft>
              <a:buSzPts val="1800"/>
              <a:buNone/>
              <a:defRPr>
                <a:solidFill>
                  <a:srgbClr val="888888"/>
                </a:solidFill>
              </a:defRPr>
            </a:lvl2pPr>
            <a:lvl3pPr lvl="2" algn="ctr">
              <a:lnSpc>
                <a:spcPct val="130000"/>
              </a:lnSpc>
              <a:spcBef>
                <a:spcPts val="600"/>
              </a:spcBef>
              <a:spcAft>
                <a:spcPts val="0"/>
              </a:spcAft>
              <a:buSzPts val="1600"/>
              <a:buNone/>
              <a:defRPr>
                <a:solidFill>
                  <a:srgbClr val="888888"/>
                </a:solidFill>
              </a:defRPr>
            </a:lvl3pPr>
            <a:lvl4pPr lvl="3" algn="ctr">
              <a:lnSpc>
                <a:spcPct val="130000"/>
              </a:lnSpc>
              <a:spcBef>
                <a:spcPts val="600"/>
              </a:spcBef>
              <a:spcAft>
                <a:spcPts val="0"/>
              </a:spcAft>
              <a:buSzPts val="1400"/>
              <a:buNone/>
              <a:defRPr>
                <a:solidFill>
                  <a:srgbClr val="888888"/>
                </a:solidFill>
              </a:defRPr>
            </a:lvl4pPr>
            <a:lvl5pPr lvl="4" algn="ctr">
              <a:lnSpc>
                <a:spcPct val="130000"/>
              </a:lnSpc>
              <a:spcBef>
                <a:spcPts val="600"/>
              </a:spcBef>
              <a:spcAft>
                <a:spcPts val="0"/>
              </a:spcAft>
              <a:buSzPts val="12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pic>
        <p:nvPicPr>
          <p:cNvPr id="17" name="Google Shape;17;p2"/>
          <p:cNvPicPr preferRelativeResize="0"/>
          <p:nvPr/>
        </p:nvPicPr>
        <p:blipFill rotWithShape="1">
          <a:blip r:embed="rId2">
            <a:alphaModFix amt="20000"/>
          </a:blip>
          <a:srcRect b="0" l="0" r="0" t="0"/>
          <a:stretch/>
        </p:blipFill>
        <p:spPr>
          <a:xfrm>
            <a:off x="387532" y="562359"/>
            <a:ext cx="588145" cy="588145"/>
          </a:xfrm>
          <a:prstGeom prst="rect">
            <a:avLst/>
          </a:prstGeom>
          <a:noFill/>
          <a:ln>
            <a:noFill/>
          </a:ln>
        </p:spPr>
      </p:pic>
      <p:pic>
        <p:nvPicPr>
          <p:cNvPr id="18" name="Google Shape;18;p2"/>
          <p:cNvPicPr preferRelativeResize="0"/>
          <p:nvPr/>
        </p:nvPicPr>
        <p:blipFill rotWithShape="1">
          <a:blip r:embed="rId3">
            <a:alphaModFix amt="20000"/>
          </a:blip>
          <a:srcRect b="0" l="0" r="0" t="0"/>
          <a:stretch/>
        </p:blipFill>
        <p:spPr>
          <a:xfrm rot="2700000">
            <a:off x="942910" y="354419"/>
            <a:ext cx="415881" cy="415881"/>
          </a:xfrm>
          <a:prstGeom prst="rect">
            <a:avLst/>
          </a:prstGeom>
          <a:noFill/>
          <a:ln>
            <a:noFill/>
          </a:ln>
        </p:spPr>
      </p:pic>
      <p:pic>
        <p:nvPicPr>
          <p:cNvPr id="19" name="Google Shape;19;p2"/>
          <p:cNvPicPr preferRelativeResize="0"/>
          <p:nvPr/>
        </p:nvPicPr>
        <p:blipFill rotWithShape="1">
          <a:blip r:embed="rId4">
            <a:alphaModFix amt="20000"/>
          </a:blip>
          <a:srcRect b="0" l="0" r="0" t="0"/>
          <a:stretch/>
        </p:blipFill>
        <p:spPr>
          <a:xfrm rot="8047801">
            <a:off x="1189032" y="715026"/>
            <a:ext cx="568525" cy="503756"/>
          </a:xfrm>
          <a:prstGeom prst="rect">
            <a:avLst/>
          </a:prstGeom>
          <a:noFill/>
          <a:ln>
            <a:noFill/>
          </a:ln>
        </p:spPr>
      </p:pic>
      <p:pic>
        <p:nvPicPr>
          <p:cNvPr descr="Imatge que conté Font, Gràfics, logotip, blanc&#10;&#10;Descripció generada automàticament" id="20" name="Google Shape;20;p2"/>
          <p:cNvPicPr preferRelativeResize="0"/>
          <p:nvPr/>
        </p:nvPicPr>
        <p:blipFill rotWithShape="1">
          <a:blip r:embed="rId5">
            <a:alphaModFix/>
          </a:blip>
          <a:srcRect b="0" l="0" r="0" t="0"/>
          <a:stretch/>
        </p:blipFill>
        <p:spPr>
          <a:xfrm>
            <a:off x="7341151" y="6539487"/>
            <a:ext cx="907100" cy="274950"/>
          </a:xfrm>
          <a:prstGeom prst="rect">
            <a:avLst/>
          </a:prstGeom>
          <a:noFill/>
          <a:ln>
            <a:noFill/>
          </a:ln>
        </p:spPr>
      </p:pic>
      <p:pic>
        <p:nvPicPr>
          <p:cNvPr id="21" name="Google Shape;21;p2"/>
          <p:cNvPicPr preferRelativeResize="0"/>
          <p:nvPr/>
        </p:nvPicPr>
        <p:blipFill rotWithShape="1">
          <a:blip r:embed="rId4">
            <a:alphaModFix amt="20000"/>
          </a:blip>
          <a:srcRect b="0" l="0" r="0" t="0"/>
          <a:stretch/>
        </p:blipFill>
        <p:spPr>
          <a:xfrm rot="8718243">
            <a:off x="7231658" y="6584561"/>
            <a:ext cx="218986" cy="194038"/>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2" name="Shape 22"/>
        <p:cNvGrpSpPr/>
        <p:nvPr/>
      </p:nvGrpSpPr>
      <p:grpSpPr>
        <a:xfrm>
          <a:off x="0" y="0"/>
          <a:ext cx="0" cy="0"/>
          <a:chOff x="0" y="0"/>
          <a:chExt cx="0" cy="0"/>
        </a:xfrm>
      </p:grpSpPr>
      <p:sp>
        <p:nvSpPr>
          <p:cNvPr id="23" name="Google Shape;23;p3"/>
          <p:cNvSpPr txBox="1"/>
          <p:nvPr>
            <p:ph idx="1" type="body"/>
          </p:nvPr>
        </p:nvSpPr>
        <p:spPr>
          <a:xfrm>
            <a:off x="460394" y="1247036"/>
            <a:ext cx="8397857" cy="2143372"/>
          </a:xfrm>
          <a:prstGeom prst="rect">
            <a:avLst/>
          </a:prstGeom>
          <a:noFill/>
          <a:ln>
            <a:noFill/>
          </a:ln>
        </p:spPr>
        <p:txBody>
          <a:bodyPr anchorCtr="0" anchor="t" bIns="45700" lIns="91425" spcFirstLastPara="1" rIns="91425" wrap="square" tIns="45700">
            <a:noAutofit/>
          </a:bodyPr>
          <a:lstStyle>
            <a:lvl1pPr indent="-355600" lvl="0" marL="457200" algn="l">
              <a:lnSpc>
                <a:spcPct val="130000"/>
              </a:lnSpc>
              <a:spcBef>
                <a:spcPts val="300"/>
              </a:spcBef>
              <a:spcAft>
                <a:spcPts val="0"/>
              </a:spcAft>
              <a:buSzPts val="2000"/>
              <a:buChar char="◼"/>
              <a:defRPr sz="2000"/>
            </a:lvl1pPr>
            <a:lvl2pPr indent="-342900" lvl="1" marL="914400" algn="l">
              <a:lnSpc>
                <a:spcPct val="130000"/>
              </a:lnSpc>
              <a:spcBef>
                <a:spcPts val="300"/>
              </a:spcBef>
              <a:spcAft>
                <a:spcPts val="0"/>
              </a:spcAft>
              <a:buSzPts val="1800"/>
              <a:buChar char="▪"/>
              <a:defRPr sz="1800"/>
            </a:lvl2pPr>
            <a:lvl3pPr indent="-330200" lvl="2" marL="1371600" algn="l">
              <a:lnSpc>
                <a:spcPct val="130000"/>
              </a:lnSpc>
              <a:spcBef>
                <a:spcPts val="300"/>
              </a:spcBef>
              <a:spcAft>
                <a:spcPts val="0"/>
              </a:spcAft>
              <a:buSzPts val="1600"/>
              <a:buChar char="o"/>
              <a:defRPr sz="1600"/>
            </a:lvl3pPr>
            <a:lvl4pPr indent="-317500" lvl="3" marL="1828800" algn="l">
              <a:lnSpc>
                <a:spcPct val="130000"/>
              </a:lnSpc>
              <a:spcBef>
                <a:spcPts val="300"/>
              </a:spcBef>
              <a:spcAft>
                <a:spcPts val="0"/>
              </a:spcAft>
              <a:buSzPts val="1400"/>
              <a:buChar char="◼"/>
              <a:defRPr sz="1400"/>
            </a:lvl4pPr>
            <a:lvl5pPr indent="-304800" lvl="4" marL="2286000" algn="l">
              <a:lnSpc>
                <a:spcPct val="130000"/>
              </a:lnSpc>
              <a:spcBef>
                <a:spcPts val="300"/>
              </a:spcBef>
              <a:spcAft>
                <a:spcPts val="0"/>
              </a:spcAft>
              <a:buSzPts val="1200"/>
              <a:buChar char="▪"/>
              <a:defRPr sz="1200"/>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descr="Imatge que conté Font, Gràfics, logotip, blanc&#10;&#10;Descripció generada automàticament" id="24" name="Google Shape;24;p3"/>
          <p:cNvPicPr preferRelativeResize="0"/>
          <p:nvPr/>
        </p:nvPicPr>
        <p:blipFill rotWithShape="1">
          <a:blip r:embed="rId2">
            <a:alphaModFix/>
          </a:blip>
          <a:srcRect b="0" l="0" r="0" t="0"/>
          <a:stretch/>
        </p:blipFill>
        <p:spPr>
          <a:xfrm>
            <a:off x="7851289" y="511669"/>
            <a:ext cx="1052957" cy="319161"/>
          </a:xfrm>
          <a:prstGeom prst="rect">
            <a:avLst/>
          </a:prstGeom>
          <a:noFill/>
          <a:ln>
            <a:noFill/>
          </a:ln>
        </p:spPr>
      </p:pic>
      <p:sp>
        <p:nvSpPr>
          <p:cNvPr id="25" name="Google Shape;25;p3"/>
          <p:cNvSpPr txBox="1"/>
          <p:nvPr>
            <p:ph type="title"/>
          </p:nvPr>
        </p:nvSpPr>
        <p:spPr>
          <a:xfrm>
            <a:off x="474595" y="318728"/>
            <a:ext cx="7767779" cy="64033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26" name="Google Shape;26;p3"/>
          <p:cNvPicPr preferRelativeResize="0"/>
          <p:nvPr/>
        </p:nvPicPr>
        <p:blipFill rotWithShape="1">
          <a:blip r:embed="rId3">
            <a:alphaModFix amt="20000"/>
          </a:blip>
          <a:srcRect b="0" l="0" r="0" t="0"/>
          <a:stretch/>
        </p:blipFill>
        <p:spPr>
          <a:xfrm rot="-9079080">
            <a:off x="7716644" y="538584"/>
            <a:ext cx="230868" cy="204566"/>
          </a:xfrm>
          <a:prstGeom prst="rect">
            <a:avLst/>
          </a:prstGeom>
          <a:noFill/>
          <a:ln>
            <a:noFill/>
          </a:ln>
        </p:spPr>
      </p:pic>
      <p:pic>
        <p:nvPicPr>
          <p:cNvPr id="27" name="Google Shape;27;p3"/>
          <p:cNvPicPr preferRelativeResize="0"/>
          <p:nvPr/>
        </p:nvPicPr>
        <p:blipFill rotWithShape="1">
          <a:blip r:embed="rId4">
            <a:alphaModFix amt="20000"/>
          </a:blip>
          <a:srcRect b="0" l="0" r="0" t="0"/>
          <a:stretch/>
        </p:blipFill>
        <p:spPr>
          <a:xfrm rot="3366168">
            <a:off x="625062" y="4589345"/>
            <a:ext cx="2238710" cy="1102649"/>
          </a:xfrm>
          <a:prstGeom prst="rect">
            <a:avLst/>
          </a:prstGeom>
          <a:noFill/>
          <a:ln>
            <a:noFill/>
          </a:ln>
        </p:spPr>
      </p:pic>
      <p:pic>
        <p:nvPicPr>
          <p:cNvPr id="28" name="Google Shape;28;p3"/>
          <p:cNvPicPr preferRelativeResize="0"/>
          <p:nvPr/>
        </p:nvPicPr>
        <p:blipFill rotWithShape="1">
          <a:blip r:embed="rId5">
            <a:alphaModFix amt="20000"/>
          </a:blip>
          <a:srcRect b="0" l="0" r="0" t="0"/>
          <a:stretch/>
        </p:blipFill>
        <p:spPr>
          <a:xfrm>
            <a:off x="3290501" y="1020435"/>
            <a:ext cx="2986372" cy="2986372"/>
          </a:xfrm>
          <a:prstGeom prst="rect">
            <a:avLst/>
          </a:prstGeom>
          <a:noFill/>
          <a:ln>
            <a:noFill/>
          </a:ln>
        </p:spPr>
      </p:pic>
      <p:pic>
        <p:nvPicPr>
          <p:cNvPr id="29" name="Google Shape;29;p3"/>
          <p:cNvPicPr preferRelativeResize="0"/>
          <p:nvPr/>
        </p:nvPicPr>
        <p:blipFill rotWithShape="1">
          <a:blip r:embed="rId3">
            <a:alphaModFix amt="20000"/>
          </a:blip>
          <a:srcRect b="0" l="0" r="0" t="0"/>
          <a:stretch/>
        </p:blipFill>
        <p:spPr>
          <a:xfrm rot="8718243">
            <a:off x="6657026" y="4592831"/>
            <a:ext cx="2312471" cy="2049024"/>
          </a:xfrm>
          <a:prstGeom prst="rect">
            <a:avLst/>
          </a:prstGeom>
          <a:noFill/>
          <a:ln>
            <a:noFill/>
          </a:ln>
        </p:spPr>
      </p:pic>
      <p:pic>
        <p:nvPicPr>
          <p:cNvPr id="30" name="Google Shape;30;p3"/>
          <p:cNvPicPr preferRelativeResize="0"/>
          <p:nvPr/>
        </p:nvPicPr>
        <p:blipFill rotWithShape="1">
          <a:blip r:embed="rId6">
            <a:alphaModFix amt="20000"/>
          </a:blip>
          <a:srcRect b="0" l="0" r="0" t="0"/>
          <a:stretch/>
        </p:blipFill>
        <p:spPr>
          <a:xfrm rot="2700000">
            <a:off x="7042460" y="1506115"/>
            <a:ext cx="1617659" cy="1617659"/>
          </a:xfrm>
          <a:prstGeom prst="rect">
            <a:avLst/>
          </a:prstGeom>
          <a:noFill/>
          <a:ln>
            <a:noFill/>
          </a:ln>
        </p:spPr>
      </p:pic>
      <p:pic>
        <p:nvPicPr>
          <p:cNvPr id="31" name="Google Shape;31;p3"/>
          <p:cNvPicPr preferRelativeResize="0"/>
          <p:nvPr/>
        </p:nvPicPr>
        <p:blipFill rotWithShape="1">
          <a:blip r:embed="rId7">
            <a:alphaModFix amt="20000"/>
          </a:blip>
          <a:srcRect b="0" l="0" r="0" t="0"/>
          <a:stretch/>
        </p:blipFill>
        <p:spPr>
          <a:xfrm>
            <a:off x="3813489" y="4311578"/>
            <a:ext cx="2012976" cy="2227694"/>
          </a:xfrm>
          <a:prstGeom prst="rect">
            <a:avLst/>
          </a:prstGeom>
          <a:noFill/>
          <a:ln>
            <a:noFill/>
          </a:ln>
        </p:spPr>
      </p:pic>
      <p:pic>
        <p:nvPicPr>
          <p:cNvPr id="32" name="Google Shape;32;p3"/>
          <p:cNvPicPr preferRelativeResize="0"/>
          <p:nvPr/>
        </p:nvPicPr>
        <p:blipFill rotWithShape="1">
          <a:blip r:embed="rId8">
            <a:alphaModFix amt="20000"/>
          </a:blip>
          <a:srcRect b="0" l="0" r="0" t="0"/>
          <a:stretch/>
        </p:blipFill>
        <p:spPr>
          <a:xfrm rot="-1281876">
            <a:off x="-8279" y="1428163"/>
            <a:ext cx="2862791" cy="1431396"/>
          </a:xfrm>
          <a:prstGeom prst="rect">
            <a:avLst/>
          </a:prstGeom>
          <a:noFill/>
          <a:ln>
            <a:noFill/>
          </a:ln>
        </p:spPr>
      </p:pic>
      <p:sp>
        <p:nvSpPr>
          <p:cNvPr id="33" name="Google Shape;33;p3"/>
          <p:cNvSpPr txBox="1"/>
          <p:nvPr>
            <p:ph idx="2" type="body"/>
          </p:nvPr>
        </p:nvSpPr>
        <p:spPr>
          <a:xfrm>
            <a:off x="455625" y="3568848"/>
            <a:ext cx="8397857" cy="2143372"/>
          </a:xfrm>
          <a:prstGeom prst="rect">
            <a:avLst/>
          </a:prstGeom>
          <a:noFill/>
          <a:ln>
            <a:noFill/>
          </a:ln>
        </p:spPr>
        <p:txBody>
          <a:bodyPr anchorCtr="0" anchor="t" bIns="45700" lIns="91425" spcFirstLastPara="1" rIns="91425" wrap="square" tIns="45700">
            <a:noAutofit/>
          </a:bodyPr>
          <a:lstStyle>
            <a:lvl1pPr indent="-355600" lvl="0" marL="457200" algn="l">
              <a:lnSpc>
                <a:spcPct val="130000"/>
              </a:lnSpc>
              <a:spcBef>
                <a:spcPts val="300"/>
              </a:spcBef>
              <a:spcAft>
                <a:spcPts val="0"/>
              </a:spcAft>
              <a:buSzPts val="2000"/>
              <a:buChar char="◼"/>
              <a:defRPr sz="2000"/>
            </a:lvl1pPr>
            <a:lvl2pPr indent="-342900" lvl="1" marL="914400" algn="l">
              <a:lnSpc>
                <a:spcPct val="130000"/>
              </a:lnSpc>
              <a:spcBef>
                <a:spcPts val="300"/>
              </a:spcBef>
              <a:spcAft>
                <a:spcPts val="0"/>
              </a:spcAft>
              <a:buSzPts val="1800"/>
              <a:buChar char="▪"/>
              <a:defRPr sz="1800"/>
            </a:lvl2pPr>
            <a:lvl3pPr indent="-330200" lvl="2" marL="1371600" algn="l">
              <a:lnSpc>
                <a:spcPct val="130000"/>
              </a:lnSpc>
              <a:spcBef>
                <a:spcPts val="300"/>
              </a:spcBef>
              <a:spcAft>
                <a:spcPts val="0"/>
              </a:spcAft>
              <a:buSzPts val="1600"/>
              <a:buChar char="o"/>
              <a:defRPr sz="1600"/>
            </a:lvl3pPr>
            <a:lvl4pPr indent="-317500" lvl="3" marL="1828800" algn="l">
              <a:lnSpc>
                <a:spcPct val="130000"/>
              </a:lnSpc>
              <a:spcBef>
                <a:spcPts val="300"/>
              </a:spcBef>
              <a:spcAft>
                <a:spcPts val="0"/>
              </a:spcAft>
              <a:buSzPts val="1400"/>
              <a:buChar char="◼"/>
              <a:defRPr sz="1400"/>
            </a:lvl4pPr>
            <a:lvl5pPr indent="-304800" lvl="4" marL="2286000" algn="l">
              <a:lnSpc>
                <a:spcPct val="130000"/>
              </a:lnSpc>
              <a:spcBef>
                <a:spcPts val="300"/>
              </a:spcBef>
              <a:spcAft>
                <a:spcPts val="0"/>
              </a:spcAft>
              <a:buSzPts val="1200"/>
              <a:buChar char="▪"/>
              <a:defRPr sz="1200"/>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cxnSp>
        <p:nvCxnSpPr>
          <p:cNvPr id="34" name="Google Shape;34;p3"/>
          <p:cNvCxnSpPr/>
          <p:nvPr/>
        </p:nvCxnSpPr>
        <p:spPr>
          <a:xfrm>
            <a:off x="474595" y="976406"/>
            <a:ext cx="8397857" cy="0"/>
          </a:xfrm>
          <a:prstGeom prst="straightConnector1">
            <a:avLst/>
          </a:prstGeom>
          <a:noFill/>
          <a:ln cap="flat" cmpd="sng" w="25400">
            <a:solidFill>
              <a:srgbClr val="7F7F7F"/>
            </a:solidFill>
            <a:prstDash val="solid"/>
            <a:round/>
            <a:headEnd len="sm" w="sm" type="none"/>
            <a:tailEnd len="sm" w="sm" type="none"/>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and Content">
  <p:cSld name="3_Title and Content">
    <p:spTree>
      <p:nvGrpSpPr>
        <p:cNvPr id="35" name="Shape 35"/>
        <p:cNvGrpSpPr/>
        <p:nvPr/>
      </p:nvGrpSpPr>
      <p:grpSpPr>
        <a:xfrm>
          <a:off x="0" y="0"/>
          <a:ext cx="0" cy="0"/>
          <a:chOff x="0" y="0"/>
          <a:chExt cx="0" cy="0"/>
        </a:xfrm>
      </p:grpSpPr>
      <p:pic>
        <p:nvPicPr>
          <p:cNvPr descr="Imatge que conté Font, Gràfics, logotip, blanc&#10;&#10;Descripció generada automàticament" id="36" name="Google Shape;36;p4"/>
          <p:cNvPicPr preferRelativeResize="0"/>
          <p:nvPr/>
        </p:nvPicPr>
        <p:blipFill rotWithShape="1">
          <a:blip r:embed="rId2">
            <a:alphaModFix/>
          </a:blip>
          <a:srcRect b="0" l="0" r="0" t="0"/>
          <a:stretch/>
        </p:blipFill>
        <p:spPr>
          <a:xfrm>
            <a:off x="7851289" y="511669"/>
            <a:ext cx="1052957" cy="319161"/>
          </a:xfrm>
          <a:prstGeom prst="rect">
            <a:avLst/>
          </a:prstGeom>
          <a:noFill/>
          <a:ln>
            <a:noFill/>
          </a:ln>
        </p:spPr>
      </p:pic>
      <p:sp>
        <p:nvSpPr>
          <p:cNvPr id="37" name="Google Shape;37;p4"/>
          <p:cNvSpPr txBox="1"/>
          <p:nvPr>
            <p:ph type="title"/>
          </p:nvPr>
        </p:nvSpPr>
        <p:spPr>
          <a:xfrm>
            <a:off x="474595" y="318728"/>
            <a:ext cx="7767779" cy="64033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38" name="Google Shape;38;p4"/>
          <p:cNvPicPr preferRelativeResize="0"/>
          <p:nvPr/>
        </p:nvPicPr>
        <p:blipFill rotWithShape="1">
          <a:blip r:embed="rId3">
            <a:alphaModFix amt="20000"/>
          </a:blip>
          <a:srcRect b="0" l="0" r="0" t="0"/>
          <a:stretch/>
        </p:blipFill>
        <p:spPr>
          <a:xfrm rot="-9079080">
            <a:off x="7716644" y="538584"/>
            <a:ext cx="230868" cy="204566"/>
          </a:xfrm>
          <a:prstGeom prst="rect">
            <a:avLst/>
          </a:prstGeom>
          <a:noFill/>
          <a:ln>
            <a:noFill/>
          </a:ln>
        </p:spPr>
      </p:pic>
      <p:pic>
        <p:nvPicPr>
          <p:cNvPr id="39" name="Google Shape;39;p4"/>
          <p:cNvPicPr preferRelativeResize="0"/>
          <p:nvPr/>
        </p:nvPicPr>
        <p:blipFill rotWithShape="1">
          <a:blip r:embed="rId3">
            <a:alphaModFix amt="20000"/>
          </a:blip>
          <a:srcRect b="0" l="0" r="0" t="0"/>
          <a:stretch/>
        </p:blipFill>
        <p:spPr>
          <a:xfrm rot="8718243">
            <a:off x="6695053" y="4581109"/>
            <a:ext cx="2312471" cy="2049024"/>
          </a:xfrm>
          <a:prstGeom prst="rect">
            <a:avLst/>
          </a:prstGeom>
          <a:noFill/>
          <a:ln>
            <a:noFill/>
          </a:ln>
        </p:spPr>
      </p:pic>
      <p:sp>
        <p:nvSpPr>
          <p:cNvPr id="40" name="Google Shape;40;p4"/>
          <p:cNvSpPr txBox="1"/>
          <p:nvPr>
            <p:ph idx="1" type="body"/>
          </p:nvPr>
        </p:nvSpPr>
        <p:spPr>
          <a:xfrm>
            <a:off x="4760847" y="1223429"/>
            <a:ext cx="4111605" cy="4996438"/>
          </a:xfrm>
          <a:prstGeom prst="rect">
            <a:avLst/>
          </a:prstGeom>
          <a:noFill/>
          <a:ln>
            <a:noFill/>
          </a:ln>
        </p:spPr>
        <p:txBody>
          <a:bodyPr anchorCtr="0" anchor="t" bIns="45700" lIns="91425" spcFirstLastPara="1" rIns="91425" wrap="square" tIns="45700">
            <a:noAutofit/>
          </a:bodyPr>
          <a:lstStyle>
            <a:lvl1pPr indent="-336550" lvl="0" marL="457200" algn="l">
              <a:lnSpc>
                <a:spcPct val="130000"/>
              </a:lnSpc>
              <a:spcBef>
                <a:spcPts val="300"/>
              </a:spcBef>
              <a:spcAft>
                <a:spcPts val="0"/>
              </a:spcAft>
              <a:buClr>
                <a:srgbClr val="3DB087"/>
              </a:buClr>
              <a:buSzPts val="1700"/>
              <a:buChar char="◼"/>
              <a:defRPr sz="1700"/>
            </a:lvl1pPr>
            <a:lvl2pPr indent="-317500" lvl="1" marL="914400" algn="l">
              <a:lnSpc>
                <a:spcPct val="130000"/>
              </a:lnSpc>
              <a:spcBef>
                <a:spcPts val="300"/>
              </a:spcBef>
              <a:spcAft>
                <a:spcPts val="0"/>
              </a:spcAft>
              <a:buSzPts val="1400"/>
              <a:buChar char="▪"/>
              <a:defRPr sz="1400"/>
            </a:lvl2pPr>
            <a:lvl3pPr indent="-317500" lvl="2" marL="1371600" algn="l">
              <a:lnSpc>
                <a:spcPct val="130000"/>
              </a:lnSpc>
              <a:spcBef>
                <a:spcPts val="300"/>
              </a:spcBef>
              <a:spcAft>
                <a:spcPts val="0"/>
              </a:spcAft>
              <a:buSzPts val="1400"/>
              <a:buChar char="o"/>
              <a:defRPr sz="1400"/>
            </a:lvl3pPr>
            <a:lvl4pPr indent="-317500" lvl="3" marL="1828800" algn="l">
              <a:lnSpc>
                <a:spcPct val="130000"/>
              </a:lnSpc>
              <a:spcBef>
                <a:spcPts val="300"/>
              </a:spcBef>
              <a:spcAft>
                <a:spcPts val="0"/>
              </a:spcAft>
              <a:buSzPts val="1400"/>
              <a:buChar char="◼"/>
              <a:defRPr sz="1400"/>
            </a:lvl4pPr>
            <a:lvl5pPr indent="-317500" lvl="4" marL="2286000" algn="l">
              <a:lnSpc>
                <a:spcPct val="130000"/>
              </a:lnSpc>
              <a:spcBef>
                <a:spcPts val="300"/>
              </a:spcBef>
              <a:spcAft>
                <a:spcPts val="0"/>
              </a:spcAft>
              <a:buSzPts val="1400"/>
              <a:buChar char="▪"/>
              <a:defRPr sz="1400"/>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cxnSp>
        <p:nvCxnSpPr>
          <p:cNvPr id="41" name="Google Shape;41;p4"/>
          <p:cNvCxnSpPr/>
          <p:nvPr/>
        </p:nvCxnSpPr>
        <p:spPr>
          <a:xfrm>
            <a:off x="474595" y="976406"/>
            <a:ext cx="8397857" cy="0"/>
          </a:xfrm>
          <a:prstGeom prst="straightConnector1">
            <a:avLst/>
          </a:prstGeom>
          <a:noFill/>
          <a:ln cap="flat" cmpd="sng" w="25400">
            <a:solidFill>
              <a:srgbClr val="7F7F7F"/>
            </a:solidFill>
            <a:prstDash val="solid"/>
            <a:round/>
            <a:headEnd len="sm" w="sm" type="none"/>
            <a:tailEnd len="sm" w="sm" type="none"/>
          </a:ln>
        </p:spPr>
      </p:cxnSp>
      <p:pic>
        <p:nvPicPr>
          <p:cNvPr id="42" name="Google Shape;42;p4"/>
          <p:cNvPicPr preferRelativeResize="0"/>
          <p:nvPr/>
        </p:nvPicPr>
        <p:blipFill rotWithShape="1">
          <a:blip r:embed="rId4">
            <a:alphaModFix amt="20000"/>
          </a:blip>
          <a:srcRect b="0" l="0" r="0" t="0"/>
          <a:stretch/>
        </p:blipFill>
        <p:spPr>
          <a:xfrm rot="5400000">
            <a:off x="-469939" y="1858192"/>
            <a:ext cx="5582573" cy="3853698"/>
          </a:xfrm>
          <a:prstGeom prst="rect">
            <a:avLst/>
          </a:prstGeom>
          <a:noFill/>
          <a:ln>
            <a:noFill/>
          </a:ln>
        </p:spPr>
      </p:pic>
      <p:sp>
        <p:nvSpPr>
          <p:cNvPr id="43" name="Google Shape;43;p4"/>
          <p:cNvSpPr txBox="1"/>
          <p:nvPr>
            <p:ph idx="2" type="body"/>
          </p:nvPr>
        </p:nvSpPr>
        <p:spPr>
          <a:xfrm>
            <a:off x="460395" y="1207479"/>
            <a:ext cx="4111605" cy="4996438"/>
          </a:xfrm>
          <a:prstGeom prst="rect">
            <a:avLst/>
          </a:prstGeom>
          <a:noFill/>
          <a:ln>
            <a:noFill/>
          </a:ln>
        </p:spPr>
        <p:txBody>
          <a:bodyPr anchorCtr="0" anchor="t" bIns="45700" lIns="91425" spcFirstLastPara="1" rIns="91425" wrap="square" tIns="45700">
            <a:noAutofit/>
          </a:bodyPr>
          <a:lstStyle>
            <a:lvl1pPr indent="-336550" lvl="0" marL="457200" algn="l">
              <a:lnSpc>
                <a:spcPct val="130000"/>
              </a:lnSpc>
              <a:spcBef>
                <a:spcPts val="300"/>
              </a:spcBef>
              <a:spcAft>
                <a:spcPts val="0"/>
              </a:spcAft>
              <a:buSzPts val="1700"/>
              <a:buChar char="◼"/>
              <a:defRPr sz="1700"/>
            </a:lvl1pPr>
            <a:lvl2pPr indent="-317500" lvl="1" marL="914400" algn="l">
              <a:lnSpc>
                <a:spcPct val="130000"/>
              </a:lnSpc>
              <a:spcBef>
                <a:spcPts val="300"/>
              </a:spcBef>
              <a:spcAft>
                <a:spcPts val="0"/>
              </a:spcAft>
              <a:buSzPts val="1400"/>
              <a:buChar char="▪"/>
              <a:defRPr sz="1400"/>
            </a:lvl2pPr>
            <a:lvl3pPr indent="-317500" lvl="2" marL="1371600" algn="l">
              <a:lnSpc>
                <a:spcPct val="130000"/>
              </a:lnSpc>
              <a:spcBef>
                <a:spcPts val="300"/>
              </a:spcBef>
              <a:spcAft>
                <a:spcPts val="0"/>
              </a:spcAft>
              <a:buSzPts val="1400"/>
              <a:buChar char="o"/>
              <a:defRPr sz="1400"/>
            </a:lvl3pPr>
            <a:lvl4pPr indent="-317500" lvl="3" marL="1828800" algn="l">
              <a:lnSpc>
                <a:spcPct val="130000"/>
              </a:lnSpc>
              <a:spcBef>
                <a:spcPts val="300"/>
              </a:spcBef>
              <a:spcAft>
                <a:spcPts val="0"/>
              </a:spcAft>
              <a:buSzPts val="1400"/>
              <a:buChar char="◼"/>
              <a:defRPr sz="1400"/>
            </a:lvl4pPr>
            <a:lvl5pPr indent="-317500" lvl="4" marL="2286000" algn="l">
              <a:lnSpc>
                <a:spcPct val="130000"/>
              </a:lnSpc>
              <a:spcBef>
                <a:spcPts val="300"/>
              </a:spcBef>
              <a:spcAft>
                <a:spcPts val="0"/>
              </a:spcAft>
              <a:buSzPts val="1400"/>
              <a:buChar char="▪"/>
              <a:defRPr sz="1400"/>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itle and Content">
  <p:cSld name="4_Title and Content">
    <p:spTree>
      <p:nvGrpSpPr>
        <p:cNvPr id="44" name="Shape 44"/>
        <p:cNvGrpSpPr/>
        <p:nvPr/>
      </p:nvGrpSpPr>
      <p:grpSpPr>
        <a:xfrm>
          <a:off x="0" y="0"/>
          <a:ext cx="0" cy="0"/>
          <a:chOff x="0" y="0"/>
          <a:chExt cx="0" cy="0"/>
        </a:xfrm>
      </p:grpSpPr>
      <p:sp>
        <p:nvSpPr>
          <p:cNvPr id="45" name="Google Shape;45;p5"/>
          <p:cNvSpPr txBox="1"/>
          <p:nvPr>
            <p:ph idx="1" type="body"/>
          </p:nvPr>
        </p:nvSpPr>
        <p:spPr>
          <a:xfrm>
            <a:off x="460394" y="1247036"/>
            <a:ext cx="8397857" cy="2143372"/>
          </a:xfrm>
          <a:prstGeom prst="rect">
            <a:avLst/>
          </a:prstGeom>
          <a:noFill/>
          <a:ln>
            <a:noFill/>
          </a:ln>
        </p:spPr>
        <p:txBody>
          <a:bodyPr anchorCtr="0" anchor="t" bIns="45700" lIns="91425" spcFirstLastPara="1" rIns="91425" wrap="square" tIns="45700">
            <a:noAutofit/>
          </a:bodyPr>
          <a:lstStyle>
            <a:lvl1pPr indent="-355600" lvl="0" marL="457200" algn="l">
              <a:lnSpc>
                <a:spcPct val="130000"/>
              </a:lnSpc>
              <a:spcBef>
                <a:spcPts val="300"/>
              </a:spcBef>
              <a:spcAft>
                <a:spcPts val="0"/>
              </a:spcAft>
              <a:buSzPts val="2000"/>
              <a:buChar char="◼"/>
              <a:defRPr sz="2000"/>
            </a:lvl1pPr>
            <a:lvl2pPr indent="-342900" lvl="1" marL="914400" algn="l">
              <a:lnSpc>
                <a:spcPct val="130000"/>
              </a:lnSpc>
              <a:spcBef>
                <a:spcPts val="300"/>
              </a:spcBef>
              <a:spcAft>
                <a:spcPts val="0"/>
              </a:spcAft>
              <a:buSzPts val="1800"/>
              <a:buChar char="▪"/>
              <a:defRPr sz="1800"/>
            </a:lvl2pPr>
            <a:lvl3pPr indent="-330200" lvl="2" marL="1371600" algn="l">
              <a:lnSpc>
                <a:spcPct val="130000"/>
              </a:lnSpc>
              <a:spcBef>
                <a:spcPts val="300"/>
              </a:spcBef>
              <a:spcAft>
                <a:spcPts val="0"/>
              </a:spcAft>
              <a:buSzPts val="1600"/>
              <a:buChar char="o"/>
              <a:defRPr sz="1600"/>
            </a:lvl3pPr>
            <a:lvl4pPr indent="-317500" lvl="3" marL="1828800" algn="l">
              <a:lnSpc>
                <a:spcPct val="130000"/>
              </a:lnSpc>
              <a:spcBef>
                <a:spcPts val="300"/>
              </a:spcBef>
              <a:spcAft>
                <a:spcPts val="0"/>
              </a:spcAft>
              <a:buSzPts val="1400"/>
              <a:buChar char="◼"/>
              <a:defRPr sz="1400"/>
            </a:lvl4pPr>
            <a:lvl5pPr indent="-304800" lvl="4" marL="2286000" algn="l">
              <a:lnSpc>
                <a:spcPct val="130000"/>
              </a:lnSpc>
              <a:spcBef>
                <a:spcPts val="300"/>
              </a:spcBef>
              <a:spcAft>
                <a:spcPts val="0"/>
              </a:spcAft>
              <a:buSzPts val="1200"/>
              <a:buChar char="▪"/>
              <a:defRPr sz="1200"/>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descr="Imatge que conté Font, Gràfics, logotip, blanc&#10;&#10;Descripció generada automàticament" id="46" name="Google Shape;46;p5"/>
          <p:cNvPicPr preferRelativeResize="0"/>
          <p:nvPr/>
        </p:nvPicPr>
        <p:blipFill rotWithShape="1">
          <a:blip r:embed="rId2">
            <a:alphaModFix/>
          </a:blip>
          <a:srcRect b="0" l="0" r="0" t="0"/>
          <a:stretch/>
        </p:blipFill>
        <p:spPr>
          <a:xfrm>
            <a:off x="7851289" y="511669"/>
            <a:ext cx="1052957" cy="319161"/>
          </a:xfrm>
          <a:prstGeom prst="rect">
            <a:avLst/>
          </a:prstGeom>
          <a:noFill/>
          <a:ln>
            <a:noFill/>
          </a:ln>
        </p:spPr>
      </p:pic>
      <p:sp>
        <p:nvSpPr>
          <p:cNvPr id="47" name="Google Shape;47;p5"/>
          <p:cNvSpPr txBox="1"/>
          <p:nvPr>
            <p:ph type="title"/>
          </p:nvPr>
        </p:nvSpPr>
        <p:spPr>
          <a:xfrm>
            <a:off x="474595" y="318728"/>
            <a:ext cx="7767779" cy="64033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48" name="Google Shape;48;p5"/>
          <p:cNvPicPr preferRelativeResize="0"/>
          <p:nvPr/>
        </p:nvPicPr>
        <p:blipFill rotWithShape="1">
          <a:blip r:embed="rId3">
            <a:alphaModFix amt="20000"/>
          </a:blip>
          <a:srcRect b="0" l="0" r="0" t="0"/>
          <a:stretch/>
        </p:blipFill>
        <p:spPr>
          <a:xfrm rot="-9079080">
            <a:off x="7716644" y="538584"/>
            <a:ext cx="230868" cy="204566"/>
          </a:xfrm>
          <a:prstGeom prst="rect">
            <a:avLst/>
          </a:prstGeom>
          <a:noFill/>
          <a:ln>
            <a:noFill/>
          </a:ln>
        </p:spPr>
      </p:pic>
      <p:pic>
        <p:nvPicPr>
          <p:cNvPr id="49" name="Google Shape;49;p5"/>
          <p:cNvPicPr preferRelativeResize="0"/>
          <p:nvPr/>
        </p:nvPicPr>
        <p:blipFill rotWithShape="1">
          <a:blip r:embed="rId4">
            <a:alphaModFix amt="20000"/>
          </a:blip>
          <a:srcRect b="0" l="0" r="0" t="0"/>
          <a:stretch/>
        </p:blipFill>
        <p:spPr>
          <a:xfrm rot="8718243">
            <a:off x="5833867" y="2178551"/>
            <a:ext cx="3695700" cy="3631779"/>
          </a:xfrm>
          <a:prstGeom prst="rect">
            <a:avLst/>
          </a:prstGeom>
          <a:noFill/>
          <a:ln>
            <a:noFill/>
          </a:ln>
        </p:spPr>
      </p:pic>
      <p:sp>
        <p:nvSpPr>
          <p:cNvPr id="50" name="Google Shape;50;p5"/>
          <p:cNvSpPr txBox="1"/>
          <p:nvPr>
            <p:ph idx="2" type="body"/>
          </p:nvPr>
        </p:nvSpPr>
        <p:spPr>
          <a:xfrm>
            <a:off x="460394" y="3679311"/>
            <a:ext cx="8397857" cy="2143372"/>
          </a:xfrm>
          <a:prstGeom prst="rect">
            <a:avLst/>
          </a:prstGeom>
          <a:noFill/>
          <a:ln>
            <a:noFill/>
          </a:ln>
        </p:spPr>
        <p:txBody>
          <a:bodyPr anchorCtr="0" anchor="t" bIns="45700" lIns="91425" spcFirstLastPara="1" rIns="91425" wrap="square" tIns="45700">
            <a:noAutofit/>
          </a:bodyPr>
          <a:lstStyle>
            <a:lvl1pPr indent="-355600" lvl="0" marL="457200" algn="l">
              <a:lnSpc>
                <a:spcPct val="130000"/>
              </a:lnSpc>
              <a:spcBef>
                <a:spcPts val="300"/>
              </a:spcBef>
              <a:spcAft>
                <a:spcPts val="0"/>
              </a:spcAft>
              <a:buSzPts val="2000"/>
              <a:buChar char="◼"/>
              <a:defRPr sz="2000"/>
            </a:lvl1pPr>
            <a:lvl2pPr indent="-342900" lvl="1" marL="914400" algn="l">
              <a:lnSpc>
                <a:spcPct val="130000"/>
              </a:lnSpc>
              <a:spcBef>
                <a:spcPts val="300"/>
              </a:spcBef>
              <a:spcAft>
                <a:spcPts val="0"/>
              </a:spcAft>
              <a:buSzPts val="1800"/>
              <a:buChar char="▪"/>
              <a:defRPr sz="1800"/>
            </a:lvl2pPr>
            <a:lvl3pPr indent="-330200" lvl="2" marL="1371600" algn="l">
              <a:lnSpc>
                <a:spcPct val="130000"/>
              </a:lnSpc>
              <a:spcBef>
                <a:spcPts val="300"/>
              </a:spcBef>
              <a:spcAft>
                <a:spcPts val="0"/>
              </a:spcAft>
              <a:buSzPts val="1600"/>
              <a:buChar char="o"/>
              <a:defRPr sz="1600"/>
            </a:lvl3pPr>
            <a:lvl4pPr indent="-317500" lvl="3" marL="1828800" algn="l">
              <a:lnSpc>
                <a:spcPct val="130000"/>
              </a:lnSpc>
              <a:spcBef>
                <a:spcPts val="300"/>
              </a:spcBef>
              <a:spcAft>
                <a:spcPts val="0"/>
              </a:spcAft>
              <a:buSzPts val="1400"/>
              <a:buChar char="◼"/>
              <a:defRPr sz="1400"/>
            </a:lvl4pPr>
            <a:lvl5pPr indent="-304800" lvl="4" marL="2286000" algn="l">
              <a:lnSpc>
                <a:spcPct val="130000"/>
              </a:lnSpc>
              <a:spcBef>
                <a:spcPts val="300"/>
              </a:spcBef>
              <a:spcAft>
                <a:spcPts val="0"/>
              </a:spcAft>
              <a:buSzPts val="1200"/>
              <a:buChar char="▪"/>
              <a:defRPr sz="1200"/>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cxnSp>
        <p:nvCxnSpPr>
          <p:cNvPr id="51" name="Google Shape;51;p5"/>
          <p:cNvCxnSpPr/>
          <p:nvPr/>
        </p:nvCxnSpPr>
        <p:spPr>
          <a:xfrm>
            <a:off x="474595" y="976406"/>
            <a:ext cx="8397857" cy="0"/>
          </a:xfrm>
          <a:prstGeom prst="straightConnector1">
            <a:avLst/>
          </a:prstGeom>
          <a:noFill/>
          <a:ln cap="flat" cmpd="sng" w="25400">
            <a:solidFill>
              <a:srgbClr val="7F7F7F"/>
            </a:solidFill>
            <a:prstDash val="solid"/>
            <a:round/>
            <a:headEnd len="sm" w="sm" type="none"/>
            <a:tailEnd len="sm" w="sm" type="none"/>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52" name="Shape 52"/>
        <p:cNvGrpSpPr/>
        <p:nvPr/>
      </p:nvGrpSpPr>
      <p:grpSpPr>
        <a:xfrm>
          <a:off x="0" y="0"/>
          <a:ext cx="0" cy="0"/>
          <a:chOff x="0" y="0"/>
          <a:chExt cx="0" cy="0"/>
        </a:xfrm>
      </p:grpSpPr>
      <p:sp>
        <p:nvSpPr>
          <p:cNvPr id="53" name="Google Shape;53;p6"/>
          <p:cNvSpPr/>
          <p:nvPr/>
        </p:nvSpPr>
        <p:spPr>
          <a:xfrm flipH="1" rot="10800000">
            <a:off x="474664" y="1027113"/>
            <a:ext cx="8383587" cy="61912"/>
          </a:xfrm>
          <a:prstGeom prst="rect">
            <a:avLst/>
          </a:prstGeom>
          <a:solidFill>
            <a:srgbClr val="7030A0">
              <a:alpha val="9411"/>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Century Gothic"/>
              <a:ea typeface="Century Gothic"/>
              <a:cs typeface="Century Gothic"/>
              <a:sym typeface="Century Gothic"/>
            </a:endParaRPr>
          </a:p>
        </p:txBody>
      </p:sp>
      <p:sp>
        <p:nvSpPr>
          <p:cNvPr id="54" name="Google Shape;54;p6"/>
          <p:cNvSpPr txBox="1"/>
          <p:nvPr>
            <p:ph idx="1" type="body"/>
          </p:nvPr>
        </p:nvSpPr>
        <p:spPr>
          <a:xfrm>
            <a:off x="474595" y="1159921"/>
            <a:ext cx="8397857" cy="5210233"/>
          </a:xfrm>
          <a:prstGeom prst="rect">
            <a:avLst/>
          </a:prstGeom>
          <a:noFill/>
          <a:ln>
            <a:noFill/>
          </a:ln>
        </p:spPr>
        <p:txBody>
          <a:bodyPr anchorCtr="0" anchor="t" bIns="45700" lIns="91425" spcFirstLastPara="1" rIns="91425" wrap="square" tIns="45700">
            <a:noAutofit/>
          </a:bodyPr>
          <a:lstStyle>
            <a:lvl1pPr indent="-355600" lvl="0" marL="457200" algn="l">
              <a:lnSpc>
                <a:spcPct val="130000"/>
              </a:lnSpc>
              <a:spcBef>
                <a:spcPts val="300"/>
              </a:spcBef>
              <a:spcAft>
                <a:spcPts val="0"/>
              </a:spcAft>
              <a:buSzPts val="2000"/>
              <a:buChar char="◼"/>
              <a:defRPr sz="2000"/>
            </a:lvl1pPr>
            <a:lvl2pPr indent="-342900" lvl="1" marL="914400" algn="l">
              <a:lnSpc>
                <a:spcPct val="130000"/>
              </a:lnSpc>
              <a:spcBef>
                <a:spcPts val="300"/>
              </a:spcBef>
              <a:spcAft>
                <a:spcPts val="0"/>
              </a:spcAft>
              <a:buSzPts val="1800"/>
              <a:buChar char="▪"/>
              <a:defRPr sz="1800"/>
            </a:lvl2pPr>
            <a:lvl3pPr indent="-330200" lvl="2" marL="1371600" algn="l">
              <a:lnSpc>
                <a:spcPct val="130000"/>
              </a:lnSpc>
              <a:spcBef>
                <a:spcPts val="300"/>
              </a:spcBef>
              <a:spcAft>
                <a:spcPts val="0"/>
              </a:spcAft>
              <a:buSzPts val="1600"/>
              <a:buChar char="o"/>
              <a:defRPr sz="1600"/>
            </a:lvl3pPr>
            <a:lvl4pPr indent="-317500" lvl="3" marL="1828800" algn="l">
              <a:lnSpc>
                <a:spcPct val="130000"/>
              </a:lnSpc>
              <a:spcBef>
                <a:spcPts val="300"/>
              </a:spcBef>
              <a:spcAft>
                <a:spcPts val="0"/>
              </a:spcAft>
              <a:buSzPts val="1400"/>
              <a:buChar char="◼"/>
              <a:defRPr sz="1400"/>
            </a:lvl4pPr>
            <a:lvl5pPr indent="-304800" lvl="4" marL="2286000" algn="l">
              <a:lnSpc>
                <a:spcPct val="130000"/>
              </a:lnSpc>
              <a:spcBef>
                <a:spcPts val="300"/>
              </a:spcBef>
              <a:spcAft>
                <a:spcPts val="0"/>
              </a:spcAft>
              <a:buSzPts val="1200"/>
              <a:buChar char="▪"/>
              <a:defRPr sz="1200"/>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id="55" name="Google Shape;55;p6"/>
          <p:cNvPicPr preferRelativeResize="0"/>
          <p:nvPr/>
        </p:nvPicPr>
        <p:blipFill rotWithShape="1">
          <a:blip r:embed="rId2">
            <a:alphaModFix amt="20000"/>
          </a:blip>
          <a:srcRect b="0" l="0" r="0" t="0"/>
          <a:stretch/>
        </p:blipFill>
        <p:spPr>
          <a:xfrm>
            <a:off x="189283" y="366717"/>
            <a:ext cx="588145" cy="588145"/>
          </a:xfrm>
          <a:prstGeom prst="rect">
            <a:avLst/>
          </a:prstGeom>
          <a:noFill/>
          <a:ln>
            <a:noFill/>
          </a:ln>
        </p:spPr>
      </p:pic>
      <p:pic>
        <p:nvPicPr>
          <p:cNvPr id="56" name="Google Shape;56;p6"/>
          <p:cNvPicPr preferRelativeResize="0"/>
          <p:nvPr/>
        </p:nvPicPr>
        <p:blipFill rotWithShape="1">
          <a:blip r:embed="rId3">
            <a:alphaModFix amt="20000"/>
          </a:blip>
          <a:srcRect b="0" l="0" r="0" t="0"/>
          <a:stretch/>
        </p:blipFill>
        <p:spPr>
          <a:xfrm rot="2700000">
            <a:off x="744661" y="158777"/>
            <a:ext cx="415881" cy="415881"/>
          </a:xfrm>
          <a:prstGeom prst="rect">
            <a:avLst/>
          </a:prstGeom>
          <a:noFill/>
          <a:ln>
            <a:noFill/>
          </a:ln>
        </p:spPr>
      </p:pic>
      <p:sp>
        <p:nvSpPr>
          <p:cNvPr id="57" name="Google Shape;57;p6"/>
          <p:cNvSpPr txBox="1"/>
          <p:nvPr>
            <p:ph type="title"/>
          </p:nvPr>
        </p:nvSpPr>
        <p:spPr>
          <a:xfrm>
            <a:off x="1090246" y="366717"/>
            <a:ext cx="7767779" cy="640330"/>
          </a:xfrm>
          <a:prstGeom prst="rect">
            <a:avLst/>
          </a:prstGeom>
          <a:noFill/>
          <a:ln>
            <a:noFill/>
          </a:ln>
        </p:spPr>
        <p:txBody>
          <a:bodyPr anchorCtr="0" anchor="b" bIns="45700" lIns="91425" spcFirstLastPara="1" rIns="91425" wrap="square" tIns="45700">
            <a:noAutofit/>
          </a:bodyPr>
          <a:lstStyle>
            <a:lvl1pPr lvl="0" algn="l">
              <a:lnSpc>
                <a:spcPct val="100000"/>
              </a:lnSpc>
              <a:spcBef>
                <a:spcPts val="0"/>
              </a:spcBef>
              <a:spcAft>
                <a:spcPts val="0"/>
              </a:spcAft>
              <a:buSzPts val="1400"/>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descr="Imatge que conté Font, Gràfics, logotip, blanc&#10;&#10;Descripció generada automàticament" id="58" name="Google Shape;58;p6"/>
          <p:cNvPicPr preferRelativeResize="0"/>
          <p:nvPr/>
        </p:nvPicPr>
        <p:blipFill rotWithShape="1">
          <a:blip r:embed="rId4">
            <a:alphaModFix/>
          </a:blip>
          <a:srcRect b="0" l="0" r="0" t="0"/>
          <a:stretch/>
        </p:blipFill>
        <p:spPr>
          <a:xfrm>
            <a:off x="7341151" y="6539487"/>
            <a:ext cx="907100" cy="274950"/>
          </a:xfrm>
          <a:prstGeom prst="rect">
            <a:avLst/>
          </a:prstGeom>
          <a:noFill/>
          <a:ln>
            <a:noFill/>
          </a:ln>
        </p:spPr>
      </p:pic>
      <p:pic>
        <p:nvPicPr>
          <p:cNvPr id="59" name="Google Shape;59;p6"/>
          <p:cNvPicPr preferRelativeResize="0"/>
          <p:nvPr/>
        </p:nvPicPr>
        <p:blipFill rotWithShape="1">
          <a:blip r:embed="rId5">
            <a:alphaModFix amt="20000"/>
          </a:blip>
          <a:srcRect b="0" l="0" r="0" t="0"/>
          <a:stretch/>
        </p:blipFill>
        <p:spPr>
          <a:xfrm rot="8718243">
            <a:off x="7231658" y="6584561"/>
            <a:ext cx="218986" cy="194038"/>
          </a:xfrm>
          <a:prstGeom prst="rect">
            <a:avLst/>
          </a:prstGeom>
          <a:noFill/>
          <a:ln>
            <a:noFill/>
          </a:ln>
        </p:spPr>
      </p:pic>
      <p:cxnSp>
        <p:nvCxnSpPr>
          <p:cNvPr id="60" name="Google Shape;60;p6"/>
          <p:cNvCxnSpPr/>
          <p:nvPr/>
        </p:nvCxnSpPr>
        <p:spPr>
          <a:xfrm>
            <a:off x="457200" y="6463030"/>
            <a:ext cx="8305800" cy="1588"/>
          </a:xfrm>
          <a:prstGeom prst="straightConnector1">
            <a:avLst/>
          </a:prstGeom>
          <a:noFill/>
          <a:ln cap="flat" cmpd="sng" w="25400">
            <a:solidFill>
              <a:srgbClr val="7F7F7F"/>
            </a:solidFill>
            <a:prstDash val="solid"/>
            <a:round/>
            <a:headEnd len="sm" w="sm" type="none"/>
            <a:tailEnd len="sm" w="sm" type="none"/>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de título" type="title">
  <p:cSld name="TITLE">
    <p:spTree>
      <p:nvGrpSpPr>
        <p:cNvPr id="61" name="Shape 61"/>
        <p:cNvGrpSpPr/>
        <p:nvPr/>
      </p:nvGrpSpPr>
      <p:grpSpPr>
        <a:xfrm>
          <a:off x="0" y="0"/>
          <a:ext cx="0" cy="0"/>
          <a:chOff x="0" y="0"/>
          <a:chExt cx="0" cy="0"/>
        </a:xfrm>
      </p:grpSpPr>
      <p:sp>
        <p:nvSpPr>
          <p:cNvPr id="62" name="Google Shape;62;p7"/>
          <p:cNvSpPr txBox="1"/>
          <p:nvPr>
            <p:ph type="ctrTitle"/>
          </p:nvPr>
        </p:nvSpPr>
        <p:spPr>
          <a:xfrm>
            <a:off x="1143000" y="1122363"/>
            <a:ext cx="6858000" cy="2387600"/>
          </a:xfrm>
          <a:prstGeom prst="rect">
            <a:avLst/>
          </a:prstGeom>
          <a:noFill/>
          <a:ln>
            <a:noFill/>
          </a:ln>
        </p:spPr>
        <p:txBody>
          <a:bodyPr anchorCtr="0" anchor="b" bIns="45700" lIns="91425" spcFirstLastPara="1" rIns="91425" wrap="square" tIns="45700">
            <a:noAutofit/>
          </a:bodyPr>
          <a:lstStyle>
            <a:lvl1pPr lvl="0" algn="ctr">
              <a:lnSpc>
                <a:spcPct val="100000"/>
              </a:lnSpc>
              <a:spcBef>
                <a:spcPts val="0"/>
              </a:spcBef>
              <a:spcAft>
                <a:spcPts val="0"/>
              </a:spcAft>
              <a:buSzPts val="1400"/>
              <a:buNone/>
              <a:defRPr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7"/>
          <p:cNvSpPr txBox="1"/>
          <p:nvPr>
            <p:ph idx="1" type="subTitle"/>
          </p:nvPr>
        </p:nvSpPr>
        <p:spPr>
          <a:xfrm>
            <a:off x="1143000" y="3602038"/>
            <a:ext cx="6858000" cy="1655762"/>
          </a:xfrm>
          <a:prstGeom prst="rect">
            <a:avLst/>
          </a:prstGeom>
          <a:noFill/>
          <a:ln>
            <a:noFill/>
          </a:ln>
        </p:spPr>
        <p:txBody>
          <a:bodyPr anchorCtr="0" anchor="t" bIns="45700" lIns="91425" spcFirstLastPara="1" rIns="91425" wrap="square" tIns="45700">
            <a:noAutofit/>
          </a:bodyPr>
          <a:lstStyle>
            <a:lvl1pPr lvl="0" algn="ctr">
              <a:lnSpc>
                <a:spcPct val="130000"/>
              </a:lnSpc>
              <a:spcBef>
                <a:spcPts val="1800"/>
              </a:spcBef>
              <a:spcAft>
                <a:spcPts val="0"/>
              </a:spcAft>
              <a:buSzPts val="1800"/>
              <a:buNone/>
              <a:defRPr sz="1800"/>
            </a:lvl1pPr>
            <a:lvl2pPr lvl="1" algn="ctr">
              <a:lnSpc>
                <a:spcPct val="130000"/>
              </a:lnSpc>
              <a:spcBef>
                <a:spcPts val="600"/>
              </a:spcBef>
              <a:spcAft>
                <a:spcPts val="0"/>
              </a:spcAft>
              <a:buSzPts val="1500"/>
              <a:buNone/>
              <a:defRPr sz="1500"/>
            </a:lvl2pPr>
            <a:lvl3pPr lvl="2" algn="ctr">
              <a:lnSpc>
                <a:spcPct val="130000"/>
              </a:lnSpc>
              <a:spcBef>
                <a:spcPts val="600"/>
              </a:spcBef>
              <a:spcAft>
                <a:spcPts val="0"/>
              </a:spcAft>
              <a:buSzPts val="1350"/>
              <a:buNone/>
              <a:defRPr sz="1350"/>
            </a:lvl3pPr>
            <a:lvl4pPr lvl="3" algn="ctr">
              <a:lnSpc>
                <a:spcPct val="130000"/>
              </a:lnSpc>
              <a:spcBef>
                <a:spcPts val="600"/>
              </a:spcBef>
              <a:spcAft>
                <a:spcPts val="0"/>
              </a:spcAft>
              <a:buSzPts val="1200"/>
              <a:buNone/>
              <a:defRPr sz="1200"/>
            </a:lvl4pPr>
            <a:lvl5pPr lvl="4" algn="ctr">
              <a:lnSpc>
                <a:spcPct val="130000"/>
              </a:lnSpc>
              <a:spcBef>
                <a:spcPts val="600"/>
              </a:spcBef>
              <a:spcAft>
                <a:spcPts val="0"/>
              </a:spcAft>
              <a:buSzPts val="1200"/>
              <a:buNone/>
              <a:defRPr sz="1200"/>
            </a:lvl5pPr>
            <a:lvl6pPr lvl="5" algn="ctr">
              <a:lnSpc>
                <a:spcPct val="100000"/>
              </a:lnSpc>
              <a:spcBef>
                <a:spcPts val="240"/>
              </a:spcBef>
              <a:spcAft>
                <a:spcPts val="0"/>
              </a:spcAft>
              <a:buClr>
                <a:schemeClr val="dk1"/>
              </a:buClr>
              <a:buSzPts val="1200"/>
              <a:buNone/>
              <a:defRPr sz="1200"/>
            </a:lvl6pPr>
            <a:lvl7pPr lvl="6" algn="ctr">
              <a:lnSpc>
                <a:spcPct val="100000"/>
              </a:lnSpc>
              <a:spcBef>
                <a:spcPts val="240"/>
              </a:spcBef>
              <a:spcAft>
                <a:spcPts val="0"/>
              </a:spcAft>
              <a:buClr>
                <a:schemeClr val="dk1"/>
              </a:buClr>
              <a:buSzPts val="1200"/>
              <a:buNone/>
              <a:defRPr sz="1200"/>
            </a:lvl7pPr>
            <a:lvl8pPr lvl="7" algn="ctr">
              <a:lnSpc>
                <a:spcPct val="100000"/>
              </a:lnSpc>
              <a:spcBef>
                <a:spcPts val="240"/>
              </a:spcBef>
              <a:spcAft>
                <a:spcPts val="0"/>
              </a:spcAft>
              <a:buClr>
                <a:schemeClr val="dk1"/>
              </a:buClr>
              <a:buSzPts val="1200"/>
              <a:buNone/>
              <a:defRPr sz="1200"/>
            </a:lvl8pPr>
            <a:lvl9pPr lvl="8" algn="ctr">
              <a:lnSpc>
                <a:spcPct val="100000"/>
              </a:lnSpc>
              <a:spcBef>
                <a:spcPts val="240"/>
              </a:spcBef>
              <a:spcAft>
                <a:spcPts val="0"/>
              </a:spcAft>
              <a:buClr>
                <a:schemeClr val="dk1"/>
              </a:buClr>
              <a:buSzPts val="1200"/>
              <a:buNone/>
              <a:defRPr sz="1200"/>
            </a:lvl9pPr>
          </a:lstStyle>
          <a:p/>
        </p:txBody>
      </p:sp>
      <p:sp>
        <p:nvSpPr>
          <p:cNvPr id="64" name="Google Shape;64;p7"/>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9pPr>
          </a:lstStyle>
          <a:p/>
        </p:txBody>
      </p:sp>
      <p:sp>
        <p:nvSpPr>
          <p:cNvPr id="65" name="Google Shape;65;p7"/>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9pPr>
          </a:lstStyle>
          <a:p/>
        </p:txBody>
      </p:sp>
      <p:sp>
        <p:nvSpPr>
          <p:cNvPr id="66" name="Google Shape;66;p7"/>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0" lvl="0"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entury Gothic"/>
                <a:ea typeface="Century Gothic"/>
                <a:cs typeface="Century Gothic"/>
                <a:sym typeface="Century Gothic"/>
              </a:defRPr>
            </a:lvl1pPr>
            <a:lvl2pPr indent="0" lvl="1"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entury Gothic"/>
                <a:ea typeface="Century Gothic"/>
                <a:cs typeface="Century Gothic"/>
                <a:sym typeface="Century Gothic"/>
              </a:defRPr>
            </a:lvl2pPr>
            <a:lvl3pPr indent="0" lvl="2"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entury Gothic"/>
                <a:ea typeface="Century Gothic"/>
                <a:cs typeface="Century Gothic"/>
                <a:sym typeface="Century Gothic"/>
              </a:defRPr>
            </a:lvl3pPr>
            <a:lvl4pPr indent="0" lvl="3"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entury Gothic"/>
                <a:ea typeface="Century Gothic"/>
                <a:cs typeface="Century Gothic"/>
                <a:sym typeface="Century Gothic"/>
              </a:defRPr>
            </a:lvl4pPr>
            <a:lvl5pPr indent="0" lvl="4"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entury Gothic"/>
                <a:ea typeface="Century Gothic"/>
                <a:cs typeface="Century Gothic"/>
                <a:sym typeface="Century Gothic"/>
              </a:defRPr>
            </a:lvl5pPr>
            <a:lvl6pPr indent="0" lvl="5"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entury Gothic"/>
                <a:ea typeface="Century Gothic"/>
                <a:cs typeface="Century Gothic"/>
                <a:sym typeface="Century Gothic"/>
              </a:defRPr>
            </a:lvl6pPr>
            <a:lvl7pPr indent="0" lvl="6"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entury Gothic"/>
                <a:ea typeface="Century Gothic"/>
                <a:cs typeface="Century Gothic"/>
                <a:sym typeface="Century Gothic"/>
              </a:defRPr>
            </a:lvl7pPr>
            <a:lvl8pPr indent="0" lvl="7"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entury Gothic"/>
                <a:ea typeface="Century Gothic"/>
                <a:cs typeface="Century Gothic"/>
                <a:sym typeface="Century Gothic"/>
              </a:defRPr>
            </a:lvl8pPr>
            <a:lvl9pPr indent="0" lvl="8" marL="0" marR="0" rtl="0" algn="l">
              <a:lnSpc>
                <a:spcPct val="100000"/>
              </a:lnSpc>
              <a:spcBef>
                <a:spcPts val="0"/>
              </a:spcBef>
              <a:spcAft>
                <a:spcPts val="0"/>
              </a:spcAft>
              <a:buClr>
                <a:srgbClr val="000000"/>
              </a:buClr>
              <a:buSzPts val="1800"/>
              <a:buFont typeface="Arial"/>
              <a:buNone/>
              <a:defRPr b="0" i="0" sz="1800" u="none" cap="none" strike="noStrike">
                <a:solidFill>
                  <a:schemeClr val="dk1"/>
                </a:solidFill>
                <a:latin typeface="Century Gothic"/>
                <a:ea typeface="Century Gothic"/>
                <a:cs typeface="Century Gothic"/>
                <a:sym typeface="Century Gothic"/>
              </a:defRPr>
            </a:lvl9pPr>
          </a:lstStyle>
          <a:p>
            <a:pPr indent="0" lvl="0" marL="0" rtl="0" algn="l">
              <a:spcBef>
                <a:spcPts val="0"/>
              </a:spcBef>
              <a:spcAft>
                <a:spcPts val="0"/>
              </a:spcAft>
              <a:buNone/>
            </a:pPr>
            <a:fld id="{00000000-1234-1234-1234-123412341234}" type="slidenum">
              <a:rPr lang="ca-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spTree>
      <p:nvGrpSpPr>
        <p:cNvPr id="67" name="Shape 67"/>
        <p:cNvGrpSpPr/>
        <p:nvPr/>
      </p:nvGrpSpPr>
      <p:grpSpPr>
        <a:xfrm>
          <a:off x="0" y="0"/>
          <a:ext cx="0" cy="0"/>
          <a:chOff x="0" y="0"/>
          <a:chExt cx="0" cy="0"/>
        </a:xfrm>
      </p:grpSpPr>
      <p:sp>
        <p:nvSpPr>
          <p:cNvPr id="68" name="Google Shape;68;p8"/>
          <p:cNvSpPr/>
          <p:nvPr/>
        </p:nvSpPr>
        <p:spPr>
          <a:xfrm flipH="1" rot="10800000">
            <a:off x="474664" y="1027113"/>
            <a:ext cx="8383587" cy="61912"/>
          </a:xfrm>
          <a:prstGeom prst="rect">
            <a:avLst/>
          </a:prstGeom>
          <a:solidFill>
            <a:srgbClr val="7030A0">
              <a:alpha val="9411"/>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Century Gothic"/>
              <a:ea typeface="Century Gothic"/>
              <a:cs typeface="Century Gothic"/>
              <a:sym typeface="Century Gothic"/>
            </a:endParaRPr>
          </a:p>
        </p:txBody>
      </p:sp>
      <p:sp>
        <p:nvSpPr>
          <p:cNvPr id="69" name="Google Shape;69;p8"/>
          <p:cNvSpPr txBox="1"/>
          <p:nvPr>
            <p:ph idx="1" type="body"/>
          </p:nvPr>
        </p:nvSpPr>
        <p:spPr>
          <a:xfrm>
            <a:off x="474595" y="1159921"/>
            <a:ext cx="8383431" cy="5210233"/>
          </a:xfrm>
          <a:prstGeom prst="rect">
            <a:avLst/>
          </a:prstGeom>
          <a:noFill/>
          <a:ln>
            <a:noFill/>
          </a:ln>
        </p:spPr>
        <p:txBody>
          <a:bodyPr anchorCtr="0" anchor="ctr" bIns="45700" lIns="91425" spcFirstLastPara="1" rIns="91425" wrap="square" tIns="45700">
            <a:noAutofit/>
          </a:bodyPr>
          <a:lstStyle>
            <a:lvl1pPr indent="-381000" lvl="0" marL="457200" algn="l">
              <a:lnSpc>
                <a:spcPct val="130000"/>
              </a:lnSpc>
              <a:spcBef>
                <a:spcPts val="600"/>
              </a:spcBef>
              <a:spcAft>
                <a:spcPts val="0"/>
              </a:spcAft>
              <a:buSzPts val="2400"/>
              <a:buFont typeface="Century Gothic"/>
              <a:buAutoNum type="romanUcPeriod"/>
              <a:defRPr sz="2400"/>
            </a:lvl1pPr>
            <a:lvl2pPr indent="-355600" lvl="1" marL="914400" algn="l">
              <a:lnSpc>
                <a:spcPct val="130000"/>
              </a:lnSpc>
              <a:spcBef>
                <a:spcPts val="600"/>
              </a:spcBef>
              <a:spcAft>
                <a:spcPts val="0"/>
              </a:spcAft>
              <a:buSzPts val="2000"/>
              <a:buFont typeface="Century Gothic"/>
              <a:buAutoNum type="romanUcPeriod"/>
              <a:defRPr sz="2000"/>
            </a:lvl2pPr>
            <a:lvl3pPr indent="-342900" lvl="2" marL="1371600" algn="l">
              <a:lnSpc>
                <a:spcPct val="130000"/>
              </a:lnSpc>
              <a:spcBef>
                <a:spcPts val="600"/>
              </a:spcBef>
              <a:spcAft>
                <a:spcPts val="0"/>
              </a:spcAft>
              <a:buSzPts val="1800"/>
              <a:buFont typeface="Century Gothic"/>
              <a:buAutoNum type="romanUcPeriod"/>
              <a:defRPr sz="1800"/>
            </a:lvl3pPr>
            <a:lvl4pPr indent="-330200" lvl="3" marL="1828800" algn="l">
              <a:lnSpc>
                <a:spcPct val="130000"/>
              </a:lnSpc>
              <a:spcBef>
                <a:spcPts val="600"/>
              </a:spcBef>
              <a:spcAft>
                <a:spcPts val="0"/>
              </a:spcAft>
              <a:buSzPts val="1600"/>
              <a:buFont typeface="Century Gothic"/>
              <a:buAutoNum type="romanUcPeriod"/>
              <a:defRPr sz="1600"/>
            </a:lvl4pPr>
            <a:lvl5pPr indent="-317500" lvl="4" marL="2286000" algn="l">
              <a:lnSpc>
                <a:spcPct val="130000"/>
              </a:lnSpc>
              <a:spcBef>
                <a:spcPts val="600"/>
              </a:spcBef>
              <a:spcAft>
                <a:spcPts val="0"/>
              </a:spcAft>
              <a:buSzPts val="1400"/>
              <a:buFont typeface="Century Gothic"/>
              <a:buAutoNum type="romanUcPeriod"/>
              <a:defRPr sz="1400"/>
            </a:lvl5pPr>
            <a:lvl6pPr indent="-342900" lvl="5" marL="2743200" algn="l">
              <a:lnSpc>
                <a:spcPct val="100000"/>
              </a:lnSpc>
              <a:spcBef>
                <a:spcPts val="60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id="70" name="Google Shape;70;p8"/>
          <p:cNvPicPr preferRelativeResize="0"/>
          <p:nvPr/>
        </p:nvPicPr>
        <p:blipFill rotWithShape="1">
          <a:blip r:embed="rId2">
            <a:alphaModFix amt="20000"/>
          </a:blip>
          <a:srcRect b="0" l="0" r="0" t="0"/>
          <a:stretch/>
        </p:blipFill>
        <p:spPr>
          <a:xfrm>
            <a:off x="189283" y="366717"/>
            <a:ext cx="588145" cy="588145"/>
          </a:xfrm>
          <a:prstGeom prst="rect">
            <a:avLst/>
          </a:prstGeom>
          <a:noFill/>
          <a:ln>
            <a:noFill/>
          </a:ln>
        </p:spPr>
      </p:pic>
      <p:pic>
        <p:nvPicPr>
          <p:cNvPr id="71" name="Google Shape;71;p8"/>
          <p:cNvPicPr preferRelativeResize="0"/>
          <p:nvPr/>
        </p:nvPicPr>
        <p:blipFill rotWithShape="1">
          <a:blip r:embed="rId3">
            <a:alphaModFix amt="20000"/>
          </a:blip>
          <a:srcRect b="0" l="0" r="0" t="0"/>
          <a:stretch/>
        </p:blipFill>
        <p:spPr>
          <a:xfrm rot="2700000">
            <a:off x="744661" y="158777"/>
            <a:ext cx="415881" cy="415881"/>
          </a:xfrm>
          <a:prstGeom prst="rect">
            <a:avLst/>
          </a:prstGeom>
          <a:noFill/>
          <a:ln>
            <a:noFill/>
          </a:ln>
        </p:spPr>
      </p:pic>
      <p:pic>
        <p:nvPicPr>
          <p:cNvPr id="72" name="Google Shape;72;p8"/>
          <p:cNvPicPr preferRelativeResize="0"/>
          <p:nvPr/>
        </p:nvPicPr>
        <p:blipFill rotWithShape="1">
          <a:blip r:embed="rId4">
            <a:alphaModFix/>
          </a:blip>
          <a:srcRect b="0" l="0" r="0" t="0"/>
          <a:stretch/>
        </p:blipFill>
        <p:spPr>
          <a:xfrm>
            <a:off x="457201" y="6504318"/>
            <a:ext cx="967551" cy="308202"/>
          </a:xfrm>
          <a:prstGeom prst="rect">
            <a:avLst/>
          </a:prstGeom>
          <a:noFill/>
          <a:ln>
            <a:noFill/>
          </a:ln>
        </p:spPr>
      </p:pic>
      <p:pic>
        <p:nvPicPr>
          <p:cNvPr descr="Imatge que conté Font, Gràfics, logotip, blanc&#10;&#10;Descripció generada automàticament" id="73" name="Google Shape;73;p8"/>
          <p:cNvPicPr preferRelativeResize="0"/>
          <p:nvPr/>
        </p:nvPicPr>
        <p:blipFill rotWithShape="1">
          <a:blip r:embed="rId5">
            <a:alphaModFix/>
          </a:blip>
          <a:srcRect b="0" l="0" r="0" t="0"/>
          <a:stretch/>
        </p:blipFill>
        <p:spPr>
          <a:xfrm>
            <a:off x="7341151" y="6504318"/>
            <a:ext cx="907100" cy="274950"/>
          </a:xfrm>
          <a:prstGeom prst="rect">
            <a:avLst/>
          </a:prstGeom>
          <a:noFill/>
          <a:ln>
            <a:noFill/>
          </a:ln>
        </p:spPr>
      </p:pic>
      <p:sp>
        <p:nvSpPr>
          <p:cNvPr id="74" name="Google Shape;74;p8"/>
          <p:cNvSpPr txBox="1"/>
          <p:nvPr>
            <p:ph type="title"/>
          </p:nvPr>
        </p:nvSpPr>
        <p:spPr>
          <a:xfrm>
            <a:off x="1097119" y="366717"/>
            <a:ext cx="7388352" cy="640330"/>
          </a:xfrm>
          <a:prstGeom prst="rect">
            <a:avLst/>
          </a:prstGeom>
          <a:noFill/>
          <a:ln>
            <a:noFill/>
          </a:ln>
        </p:spPr>
        <p:txBody>
          <a:bodyPr anchorCtr="0" anchor="b" bIns="45700" lIns="91425" spcFirstLastPara="1" rIns="91425" wrap="square" tIns="45700">
            <a:noAutofit/>
          </a:bodyPr>
          <a:lstStyle>
            <a:lvl1pPr lvl="0" algn="l">
              <a:lnSpc>
                <a:spcPct val="100000"/>
              </a:lnSpc>
              <a:spcBef>
                <a:spcPts val="0"/>
              </a:spcBef>
              <a:spcAft>
                <a:spcPts val="0"/>
              </a:spcAft>
              <a:buSzPts val="1400"/>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75" name="Google Shape;75;p8"/>
          <p:cNvPicPr preferRelativeResize="0"/>
          <p:nvPr/>
        </p:nvPicPr>
        <p:blipFill rotWithShape="1">
          <a:blip r:embed="rId6">
            <a:alphaModFix amt="20000"/>
          </a:blip>
          <a:srcRect b="0" l="0" r="0" t="0"/>
          <a:stretch/>
        </p:blipFill>
        <p:spPr>
          <a:xfrm rot="8718243">
            <a:off x="7231658" y="6549392"/>
            <a:ext cx="218986" cy="194038"/>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457200" y="914400"/>
            <a:ext cx="8305800" cy="11430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2800" u="none" cap="none" strike="noStrike">
                <a:solidFill>
                  <a:srgbClr val="7030A0"/>
                </a:solidFill>
                <a:latin typeface="Avenir"/>
                <a:ea typeface="Avenir"/>
                <a:cs typeface="Avenir"/>
                <a:sym typeface="Avenir"/>
              </a:defRPr>
            </a:lvl1pPr>
            <a:lvl2pPr lvl="1" marR="0" rtl="0" algn="l">
              <a:lnSpc>
                <a:spcPct val="100000"/>
              </a:lnSpc>
              <a:spcBef>
                <a:spcPts val="0"/>
              </a:spcBef>
              <a:spcAft>
                <a:spcPts val="0"/>
              </a:spcAft>
              <a:buClr>
                <a:srgbClr val="000000"/>
              </a:buClr>
              <a:buSzPts val="1400"/>
              <a:buFont typeface="Arial"/>
              <a:buNone/>
              <a:defRPr b="0" i="0" sz="4000" u="none" cap="none" strike="noStrike">
                <a:solidFill>
                  <a:schemeClr val="accent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4000" u="none" cap="none" strike="noStrike">
                <a:solidFill>
                  <a:schemeClr val="accent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4000" u="none" cap="none" strike="noStrike">
                <a:solidFill>
                  <a:schemeClr val="accent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4000" u="none" cap="none" strike="noStrike">
                <a:solidFill>
                  <a:schemeClr val="accent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4000" u="none" cap="none" strike="noStrike">
                <a:solidFill>
                  <a:schemeClr val="accent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4000" u="none" cap="none" strike="noStrike">
                <a:solidFill>
                  <a:schemeClr val="accent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4000" u="none" cap="none" strike="noStrike">
                <a:solidFill>
                  <a:schemeClr val="accent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4000" u="none" cap="none" strike="noStrike">
                <a:solidFill>
                  <a:schemeClr val="accent1"/>
                </a:solidFill>
                <a:latin typeface="Calibri"/>
                <a:ea typeface="Calibri"/>
                <a:cs typeface="Calibri"/>
                <a:sym typeface="Calibri"/>
              </a:defRPr>
            </a:lvl9pPr>
          </a:lstStyle>
          <a:p/>
        </p:txBody>
      </p:sp>
      <p:sp>
        <p:nvSpPr>
          <p:cNvPr id="11" name="Google Shape;11;p1"/>
          <p:cNvSpPr txBox="1"/>
          <p:nvPr>
            <p:ph idx="1" type="body"/>
          </p:nvPr>
        </p:nvSpPr>
        <p:spPr>
          <a:xfrm>
            <a:off x="457200" y="2209800"/>
            <a:ext cx="8305800" cy="4224338"/>
          </a:xfrm>
          <a:prstGeom prst="rect">
            <a:avLst/>
          </a:prstGeom>
          <a:noFill/>
          <a:ln>
            <a:noFill/>
          </a:ln>
        </p:spPr>
        <p:txBody>
          <a:bodyPr anchorCtr="0" anchor="t" bIns="45700" lIns="91425" spcFirstLastPara="1" rIns="91425" wrap="square" tIns="45700">
            <a:noAutofit/>
          </a:bodyPr>
          <a:lstStyle>
            <a:lvl1pPr indent="-355600" lvl="0" marL="457200" marR="0" rtl="0" algn="l">
              <a:lnSpc>
                <a:spcPct val="130000"/>
              </a:lnSpc>
              <a:spcBef>
                <a:spcPts val="1800"/>
              </a:spcBef>
              <a:spcAft>
                <a:spcPts val="0"/>
              </a:spcAft>
              <a:buClr>
                <a:srgbClr val="7030A0"/>
              </a:buClr>
              <a:buSzPts val="2000"/>
              <a:buFont typeface="Noto Sans Symbols"/>
              <a:buChar char="◼"/>
              <a:defRPr b="0" i="0" sz="2000" u="none" cap="none" strike="noStrike">
                <a:solidFill>
                  <a:schemeClr val="dk1"/>
                </a:solidFill>
                <a:latin typeface="Avenir"/>
                <a:ea typeface="Avenir"/>
                <a:cs typeface="Avenir"/>
                <a:sym typeface="Avenir"/>
              </a:defRPr>
            </a:lvl1pPr>
            <a:lvl2pPr indent="-342900" lvl="1" marL="914400" marR="0" rtl="0" algn="l">
              <a:lnSpc>
                <a:spcPct val="130000"/>
              </a:lnSpc>
              <a:spcBef>
                <a:spcPts val="600"/>
              </a:spcBef>
              <a:spcAft>
                <a:spcPts val="0"/>
              </a:spcAft>
              <a:buClr>
                <a:schemeClr val="accent6"/>
              </a:buClr>
              <a:buSzPts val="1800"/>
              <a:buFont typeface="Noto Sans Symbols"/>
              <a:buChar char="▪"/>
              <a:defRPr b="0" i="0" sz="1800" u="none" cap="none" strike="noStrike">
                <a:solidFill>
                  <a:schemeClr val="dk2"/>
                </a:solidFill>
                <a:latin typeface="Avenir"/>
                <a:ea typeface="Avenir"/>
                <a:cs typeface="Avenir"/>
                <a:sym typeface="Avenir"/>
              </a:defRPr>
            </a:lvl2pPr>
            <a:lvl3pPr indent="-330200" lvl="2" marL="1371600" marR="0" rtl="0" algn="l">
              <a:lnSpc>
                <a:spcPct val="130000"/>
              </a:lnSpc>
              <a:spcBef>
                <a:spcPts val="600"/>
              </a:spcBef>
              <a:spcAft>
                <a:spcPts val="0"/>
              </a:spcAft>
              <a:buClr>
                <a:srgbClr val="7030A0"/>
              </a:buClr>
              <a:buSzPts val="1600"/>
              <a:buFont typeface="Courier New"/>
              <a:buChar char="o"/>
              <a:defRPr b="0" i="0" sz="1600" u="none" cap="none" strike="noStrike">
                <a:solidFill>
                  <a:schemeClr val="dk2"/>
                </a:solidFill>
                <a:latin typeface="Avenir"/>
                <a:ea typeface="Avenir"/>
                <a:cs typeface="Avenir"/>
                <a:sym typeface="Avenir"/>
              </a:defRPr>
            </a:lvl3pPr>
            <a:lvl4pPr indent="-317500" lvl="3" marL="1828800" marR="0" rtl="0" algn="l">
              <a:lnSpc>
                <a:spcPct val="130000"/>
              </a:lnSpc>
              <a:spcBef>
                <a:spcPts val="600"/>
              </a:spcBef>
              <a:spcAft>
                <a:spcPts val="0"/>
              </a:spcAft>
              <a:buClr>
                <a:srgbClr val="4D0000"/>
              </a:buClr>
              <a:buSzPts val="1400"/>
              <a:buFont typeface="Noto Sans Symbols"/>
              <a:buChar char="◼"/>
              <a:defRPr b="0" i="0" sz="1400" u="none" cap="none" strike="noStrike">
                <a:solidFill>
                  <a:schemeClr val="dk2"/>
                </a:solidFill>
                <a:latin typeface="Avenir"/>
                <a:ea typeface="Avenir"/>
                <a:cs typeface="Avenir"/>
                <a:sym typeface="Avenir"/>
              </a:defRPr>
            </a:lvl4pPr>
            <a:lvl5pPr indent="-304800" lvl="4" marL="2286000" marR="0" rtl="0" algn="l">
              <a:lnSpc>
                <a:spcPct val="130000"/>
              </a:lnSpc>
              <a:spcBef>
                <a:spcPts val="600"/>
              </a:spcBef>
              <a:spcAft>
                <a:spcPts val="0"/>
              </a:spcAft>
              <a:buClr>
                <a:srgbClr val="7030A0"/>
              </a:buClr>
              <a:buSzPts val="1200"/>
              <a:buFont typeface="Noto Sans Symbols"/>
              <a:buChar char="▪"/>
              <a:defRPr b="0" i="0" sz="1200" u="none" cap="none" strike="noStrike">
                <a:solidFill>
                  <a:schemeClr val="dk2"/>
                </a:solidFill>
                <a:latin typeface="Avenir"/>
                <a:ea typeface="Avenir"/>
                <a:cs typeface="Avenir"/>
                <a:sym typeface="Avenir"/>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entury Gothic"/>
                <a:ea typeface="Century Gothic"/>
                <a:cs typeface="Century Gothic"/>
                <a:sym typeface="Century Gothic"/>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entury Gothic"/>
                <a:ea typeface="Century Gothic"/>
                <a:cs typeface="Century Gothic"/>
                <a:sym typeface="Century Gothic"/>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entury Gothic"/>
                <a:ea typeface="Century Gothic"/>
                <a:cs typeface="Century Gothic"/>
                <a:sym typeface="Century Gothic"/>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entury Gothic"/>
                <a:ea typeface="Century Gothic"/>
                <a:cs typeface="Century Gothic"/>
                <a:sym typeface="Century Gothic"/>
              </a:defRPr>
            </a:lvl9pPr>
          </a:lstStyle>
          <a:p/>
        </p:txBody>
      </p:sp>
      <p:sp>
        <p:nvSpPr>
          <p:cNvPr id="12" name="Google Shape;12;p1"/>
          <p:cNvSpPr txBox="1"/>
          <p:nvPr/>
        </p:nvSpPr>
        <p:spPr>
          <a:xfrm>
            <a:off x="8061326" y="6531168"/>
            <a:ext cx="701675" cy="276999"/>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ca-ES" sz="1200" u="none" cap="none" strike="noStrike">
                <a:solidFill>
                  <a:srgbClr val="000000"/>
                </a:solidFill>
                <a:latin typeface="Arial"/>
                <a:ea typeface="Arial"/>
                <a:cs typeface="Arial"/>
                <a:sym typeface="Arial"/>
              </a:rPr>
              <a:t>‹#›</a:t>
            </a:fld>
            <a:endParaRPr b="0" i="0" sz="1200" u="none" cap="none" strike="noStrike">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50.png"/><Relationship Id="rId4" Type="http://schemas.openxmlformats.org/officeDocument/2006/relationships/image" Target="../media/image27.png"/><Relationship Id="rId5" Type="http://schemas.openxmlformats.org/officeDocument/2006/relationships/image" Target="../media/image16.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3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0.png"/><Relationship Id="rId4" Type="http://schemas.openxmlformats.org/officeDocument/2006/relationships/image" Target="../media/image27.png"/><Relationship Id="rId5" Type="http://schemas.openxmlformats.org/officeDocument/2006/relationships/image" Target="../media/image16.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image1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0.png"/><Relationship Id="rId4" Type="http://schemas.openxmlformats.org/officeDocument/2006/relationships/image" Target="../media/image27.png"/><Relationship Id="rId5" Type="http://schemas.openxmlformats.org/officeDocument/2006/relationships/image" Target="../media/image16.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3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5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27.png"/><Relationship Id="rId4" Type="http://schemas.openxmlformats.org/officeDocument/2006/relationships/image" Target="../media/image34.jpg"/><Relationship Id="rId5" Type="http://schemas.openxmlformats.org/officeDocument/2006/relationships/hyperlink" Target="https://youtu.be/zSUG5iQniSc"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46.jpg"/><Relationship Id="rId5" Type="http://schemas.openxmlformats.org/officeDocument/2006/relationships/hyperlink" Target="https://youtu.be/9IAfqFGM56w?t=153" TargetMode="External"/><Relationship Id="rId6" Type="http://schemas.openxmlformats.org/officeDocument/2006/relationships/hyperlink" Target="https://youtu.be/9IAfqFGM56w?t=15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hyperlink" Target="https://youtu.be/9IAfqFGM56w?t=153" TargetMode="External"/><Relationship Id="rId4" Type="http://schemas.openxmlformats.org/officeDocument/2006/relationships/hyperlink" Target="https://youtu.be/ednwKwSu7dw" TargetMode="External"/><Relationship Id="rId5" Type="http://schemas.openxmlformats.org/officeDocument/2006/relationships/image" Target="../media/image13.png"/><Relationship Id="rId6" Type="http://schemas.openxmlformats.org/officeDocument/2006/relationships/image" Target="../media/image4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image" Target="../media/image3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 Id="rId3" Type="http://schemas.openxmlformats.org/officeDocument/2006/relationships/image" Target="../media/image15.jpg"/><Relationship Id="rId4" Type="http://schemas.openxmlformats.org/officeDocument/2006/relationships/image" Target="../media/image50.png"/><Relationship Id="rId5" Type="http://schemas.openxmlformats.org/officeDocument/2006/relationships/image" Target="../media/image16.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15.jpg"/><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62.png"/><Relationship Id="rId4" Type="http://schemas.openxmlformats.org/officeDocument/2006/relationships/image" Target="../media/image61.png"/><Relationship Id="rId5" Type="http://schemas.openxmlformats.org/officeDocument/2006/relationships/image" Target="../media/image37.png"/><Relationship Id="rId6" Type="http://schemas.openxmlformats.org/officeDocument/2006/relationships/image" Target="../media/image55.png"/><Relationship Id="rId7"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37.png"/><Relationship Id="rId4" Type="http://schemas.openxmlformats.org/officeDocument/2006/relationships/image" Target="../media/image59.png"/><Relationship Id="rId5" Type="http://schemas.openxmlformats.org/officeDocument/2006/relationships/image" Target="../media/image5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50.png"/><Relationship Id="rId4" Type="http://schemas.openxmlformats.org/officeDocument/2006/relationships/image" Target="../media/image27.png"/><Relationship Id="rId5" Type="http://schemas.openxmlformats.org/officeDocument/2006/relationships/image" Target="../media/image41.png"/><Relationship Id="rId6" Type="http://schemas.openxmlformats.org/officeDocument/2006/relationships/image" Target="../media/image12.png"/><Relationship Id="rId7"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5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4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7.png"/><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63.png"/><Relationship Id="rId4" Type="http://schemas.openxmlformats.org/officeDocument/2006/relationships/image" Target="../media/image4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5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58.png"/><Relationship Id="rId4" Type="http://schemas.openxmlformats.org/officeDocument/2006/relationships/image" Target="../media/image56.jpg"/><Relationship Id="rId5"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 Id="rId3" Type="http://schemas.openxmlformats.org/officeDocument/2006/relationships/image" Target="../media/image15.jpg"/><Relationship Id="rId4" Type="http://schemas.openxmlformats.org/officeDocument/2006/relationships/image" Target="../media/image58.png"/><Relationship Id="rId5" Type="http://schemas.openxmlformats.org/officeDocument/2006/relationships/image" Target="../media/image56.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 Id="rId3" Type="http://schemas.openxmlformats.org/officeDocument/2006/relationships/image" Target="../media/image15.jpg"/><Relationship Id="rId4" Type="http://schemas.openxmlformats.org/officeDocument/2006/relationships/image" Target="../media/image66.png"/><Relationship Id="rId5" Type="http://schemas.openxmlformats.org/officeDocument/2006/relationships/image" Target="../media/image47.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5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 Id="rId3" Type="http://schemas.openxmlformats.org/officeDocument/2006/relationships/image" Target="../media/image1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9"/>
          <p:cNvSpPr txBox="1"/>
          <p:nvPr>
            <p:ph type="ctrTitle"/>
          </p:nvPr>
        </p:nvSpPr>
        <p:spPr>
          <a:xfrm>
            <a:off x="1794838" y="1287200"/>
            <a:ext cx="7061395" cy="2440412"/>
          </a:xfrm>
          <a:prstGeom prst="rect">
            <a:avLst/>
          </a:prstGeom>
          <a:noFill/>
          <a:ln>
            <a:noFill/>
          </a:ln>
        </p:spPr>
        <p:txBody>
          <a:bodyPr anchorCtr="0" anchor="b" bIns="45700" lIns="91425" spcFirstLastPara="1" rIns="91425" wrap="square" tIns="45700">
            <a:normAutofit fontScale="90000"/>
          </a:bodyPr>
          <a:lstStyle/>
          <a:p>
            <a:pPr xmlns:a="http://schemas.openxmlformats.org/drawingml/2006/main" indent="0" lvl="0" marL="0" rtl="0" algn="ctr">
              <a:lnSpc>
                <a:spcPct val="150000"/>
              </a:lnSpc>
              <a:spcBef>
                <a:spcPts val="0"/>
              </a:spcBef>
              <a:spcAft>
                <a:spcPts val="0"/>
              </a:spcAft>
              <a:buClr>
                <a:srgbClr val="595959"/>
              </a:buClr>
              <a:buSzPct val="100000"/>
              <a:buFont typeface="Avenir"/>
              <a:buNone/>
            </a:pPr>
            <a:r xmlns:a="http://schemas.openxmlformats.org/drawingml/2006/main">
              <a:rPr lang="en" sz="2700">
                <a:solidFill>
                  <a:srgbClr val="595959"/>
                </a:solidFill>
              </a:rPr>
              <a:t>Experience with a learning situation </a:t>
            </a:r>
            <a:br xmlns:a="http://schemas.openxmlformats.org/drawingml/2006/main">
              <a:rPr lang="ca-ES" sz="3600"/>
            </a:br>
            <a:r xmlns:a="http://schemas.openxmlformats.org/drawingml/2006/main">
              <a:rPr lang="en" sz="3600"/>
              <a:t>Which padlock is more secure? </a:t>
            </a:r>
            <a:br xmlns:a="http://schemas.openxmlformats.org/drawingml/2006/main">
              <a:rPr lang="ca-ES" sz="3600"/>
            </a:br>
            <a:r xmlns:a="http://schemas.openxmlformats.org/drawingml/2006/main">
              <a:rPr lang="en" sz="2700">
                <a:solidFill>
                  <a:srgbClr val="595959"/>
                </a:solidFill>
              </a:rPr>
              <a:t>Academic year 2023-24</a:t>
            </a:r>
            <a:endParaRPr xmlns:a="http://schemas.openxmlformats.org/drawingml/2006/main" sz="3600"/>
          </a:p>
        </p:txBody>
      </p:sp>
      <p:pic>
        <p:nvPicPr>
          <p:cNvPr id="82" name="Google Shape;82;p9"/>
          <p:cNvPicPr preferRelativeResize="0"/>
          <p:nvPr/>
        </p:nvPicPr>
        <p:blipFill rotWithShape="1">
          <a:blip r:embed="rId3">
            <a:alphaModFix/>
          </a:blip>
          <a:srcRect b="82560" l="0" r="0" t="0"/>
          <a:stretch/>
        </p:blipFill>
        <p:spPr>
          <a:xfrm>
            <a:off x="3543301" y="3914319"/>
            <a:ext cx="3786188" cy="234686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0"/>
          <p:cNvSpPr txBox="1"/>
          <p:nvPr>
            <p:ph idx="1" type="body"/>
          </p:nvPr>
        </p:nvSpPr>
        <p:spPr>
          <a:xfrm>
            <a:off x="460394" y="1247036"/>
            <a:ext cx="8397900" cy="2143500"/>
          </a:xfrm>
          <a:prstGeom prst="rect">
            <a:avLst/>
          </a:prstGeom>
          <a:noFill/>
          <a:ln>
            <a:noFill/>
          </a:ln>
        </p:spPr>
        <p:txBody>
          <a:bodyPr anchorCtr="0" anchor="t" bIns="45700" lIns="91425" spcFirstLastPara="1" rIns="91425" wrap="square" tIns="45700">
            <a:noAutofit/>
          </a:bodyPr>
          <a:lstStyle/>
          <a:p>
            <a:pPr xmlns:a="http://schemas.openxmlformats.org/drawingml/2006/main" indent="0" lvl="0" marL="0" rtl="0" algn="l">
              <a:lnSpc>
                <a:spcPct val="130000"/>
              </a:lnSpc>
              <a:spcBef>
                <a:spcPts val="0"/>
              </a:spcBef>
              <a:spcAft>
                <a:spcPts val="0"/>
              </a:spcAft>
              <a:buSzPts val="2200"/>
              <a:buNone/>
            </a:pPr>
            <a:r xmlns:a="http://schemas.openxmlformats.org/drawingml/2006/main">
              <a:rPr b="1" lang="en" sz="2200">
                <a:solidFill>
                  <a:srgbClr val="262626"/>
                </a:solidFill>
              </a:rPr>
              <a:t>Starting question:</a:t>
            </a:r>
            <a:endParaRPr xmlns:a="http://schemas.openxmlformats.org/drawingml/2006/main"/>
          </a:p>
          <a:p>
            <a:pPr xmlns:a="http://schemas.openxmlformats.org/drawingml/2006/main" indent="0" lvl="0" marL="0" rtl="0" algn="l">
              <a:lnSpc>
                <a:spcPct val="130000"/>
              </a:lnSpc>
              <a:spcBef>
                <a:spcPts val="600"/>
              </a:spcBef>
              <a:spcAft>
                <a:spcPts val="0"/>
              </a:spcAft>
              <a:buSzPts val="2200"/>
              <a:buNone/>
            </a:pPr>
            <a:r xmlns:a="http://schemas.openxmlformats.org/drawingml/2006/main">
              <a:rPr lang="en" sz="2200">
                <a:solidFill>
                  <a:srgbClr val="262626"/>
                </a:solidFill>
              </a:rPr>
              <a:t>Of the following collection of padlocks, which padlock is the most secure?</a:t>
            </a:r>
            <a:endParaRPr xmlns:a="http://schemas.openxmlformats.org/drawingml/2006/main"/>
          </a:p>
          <a:p>
            <a:pPr xmlns:a="http://schemas.openxmlformats.org/drawingml/2006/main" indent="-101600" lvl="0" marL="228600" rtl="0" algn="l">
              <a:lnSpc>
                <a:spcPct val="130000"/>
              </a:lnSpc>
              <a:spcBef>
                <a:spcPts val="600"/>
              </a:spcBef>
              <a:spcAft>
                <a:spcPts val="0"/>
              </a:spcAft>
              <a:buSzPts val="2000"/>
              <a:buNone/>
            </a:pPr>
            <a:r xmlns:a="http://schemas.openxmlformats.org/drawingml/2006/main">
              <a:t/>
            </a:r>
            <a:endParaRPr xmlns:a="http://schemas.openxmlformats.org/drawingml/2006/main"/>
          </a:p>
        </p:txBody>
      </p:sp>
      <p:sp>
        <p:nvSpPr>
          <p:cNvPr id="89" name="Google Shape;89;p10"/>
          <p:cNvSpPr txBox="1"/>
          <p:nvPr>
            <p:ph type="title"/>
          </p:nvPr>
        </p:nvSpPr>
        <p:spPr>
          <a:xfrm>
            <a:off x="474595" y="318728"/>
            <a:ext cx="7767779" cy="64033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a:t>PHASE 0. </a:t>
            </a:r>
            <a:r xmlns:a="http://schemas.openxmlformats.org/drawingml/2006/main">
              <a:rPr lang="en"/>
              <a:t>Generating question and first explorations</a:t>
            </a:r>
            <a:endParaRPr xmlns:a="http://schemas.openxmlformats.org/drawingml/2006/main"/>
          </a:p>
        </p:txBody>
      </p:sp>
      <p:sp>
        <p:nvSpPr>
          <p:cNvPr id="90" name="Google Shape;90;p10"/>
          <p:cNvSpPr/>
          <p:nvPr/>
        </p:nvSpPr>
        <p:spPr>
          <a:xfrm>
            <a:off x="1466800" y="2454475"/>
            <a:ext cx="1644505" cy="1481850"/>
          </a:xfrm>
          <a:custGeom>
            <a:rect b="b" l="l" r="r" t="t"/>
            <a:pathLst>
              <a:path extrusionOk="0" h="2782816" w="2539776">
                <a:moveTo>
                  <a:pt x="0" y="0"/>
                </a:moveTo>
                <a:lnTo>
                  <a:pt x="2539776" y="0"/>
                </a:lnTo>
                <a:lnTo>
                  <a:pt x="2539776" y="2782816"/>
                </a:lnTo>
                <a:lnTo>
                  <a:pt x="0" y="2782816"/>
                </a:lnTo>
                <a:lnTo>
                  <a:pt x="0" y="0"/>
                </a:lnTo>
                <a:close/>
              </a:path>
            </a:pathLst>
          </a:custGeom>
          <a:blipFill rotWithShape="1">
            <a:blip r:embed="rId3">
              <a:alphaModFix/>
            </a:blip>
            <a:stretch>
              <a:fillRect b="-3439" l="-3613" r="-78247" t="-15236"/>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sp>
        <p:nvSpPr>
          <p:cNvPr id="91" name="Google Shape;91;p10"/>
          <p:cNvSpPr/>
          <p:nvPr/>
        </p:nvSpPr>
        <p:spPr>
          <a:xfrm>
            <a:off x="1329852" y="4402125"/>
            <a:ext cx="1974608" cy="1769106"/>
          </a:xfrm>
          <a:custGeom>
            <a:rect b="b" l="l" r="r" t="t"/>
            <a:pathLst>
              <a:path extrusionOk="0" h="3573952" w="3573952">
                <a:moveTo>
                  <a:pt x="0" y="0"/>
                </a:moveTo>
                <a:lnTo>
                  <a:pt x="3573951" y="0"/>
                </a:lnTo>
                <a:lnTo>
                  <a:pt x="3573951" y="3573951"/>
                </a:lnTo>
                <a:lnTo>
                  <a:pt x="0" y="3573951"/>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sp>
        <p:nvSpPr>
          <p:cNvPr id="92" name="Google Shape;92;p10"/>
          <p:cNvSpPr/>
          <p:nvPr/>
        </p:nvSpPr>
        <p:spPr>
          <a:xfrm>
            <a:off x="5500625" y="2454062"/>
            <a:ext cx="1460664" cy="1482685"/>
          </a:xfrm>
          <a:custGeom>
            <a:rect b="b" l="l" r="r" t="t"/>
            <a:pathLst>
              <a:path extrusionOk="0" h="2936009" w="2936009">
                <a:moveTo>
                  <a:pt x="0" y="0"/>
                </a:moveTo>
                <a:lnTo>
                  <a:pt x="2936009" y="0"/>
                </a:lnTo>
                <a:lnTo>
                  <a:pt x="2936009" y="2936010"/>
                </a:lnTo>
                <a:lnTo>
                  <a:pt x="0" y="2936010"/>
                </a:lnTo>
                <a:lnTo>
                  <a:pt x="0" y="0"/>
                </a:lnTo>
                <a:close/>
              </a:path>
            </a:pathLst>
          </a:cu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sp>
        <p:nvSpPr>
          <p:cNvPr id="93" name="Google Shape;93;p10"/>
          <p:cNvSpPr/>
          <p:nvPr/>
        </p:nvSpPr>
        <p:spPr>
          <a:xfrm rot="7209785">
            <a:off x="6279230" y="4157922"/>
            <a:ext cx="1191646" cy="1995452"/>
          </a:xfrm>
          <a:custGeom>
            <a:rect b="b" l="l" r="r" t="t"/>
            <a:pathLst>
              <a:path extrusionOk="0" h="3672953" w="2157687">
                <a:moveTo>
                  <a:pt x="0" y="0"/>
                </a:moveTo>
                <a:lnTo>
                  <a:pt x="2157688" y="0"/>
                </a:lnTo>
                <a:lnTo>
                  <a:pt x="2157688" y="3672953"/>
                </a:lnTo>
                <a:lnTo>
                  <a:pt x="0" y="3672953"/>
                </a:lnTo>
                <a:lnTo>
                  <a:pt x="0" y="0"/>
                </a:lnTo>
                <a:close/>
              </a:path>
            </a:pathLst>
          </a:custGeom>
          <a:blipFill rotWithShape="1">
            <a:blip r:embed="rId6">
              <a:alphaModFix/>
            </a:blip>
            <a:stretch>
              <a:fillRect b="-8695" l="0" r="-99956" t="-8767"/>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sp>
        <p:nvSpPr>
          <p:cNvPr id="94" name="Google Shape;94;p10"/>
          <p:cNvSpPr/>
          <p:nvPr/>
        </p:nvSpPr>
        <p:spPr>
          <a:xfrm>
            <a:off x="3363854" y="2280848"/>
            <a:ext cx="1645268" cy="1638114"/>
          </a:xfrm>
          <a:custGeom>
            <a:rect b="b" l="l" r="r" t="t"/>
            <a:pathLst>
              <a:path extrusionOk="0" h="2861335" w="2861335">
                <a:moveTo>
                  <a:pt x="0" y="0"/>
                </a:moveTo>
                <a:lnTo>
                  <a:pt x="2861335" y="0"/>
                </a:lnTo>
                <a:lnTo>
                  <a:pt x="2861335" y="2861336"/>
                </a:lnTo>
                <a:lnTo>
                  <a:pt x="0" y="2861336"/>
                </a:lnTo>
                <a:lnTo>
                  <a:pt x="0" y="0"/>
                </a:lnTo>
                <a:close/>
              </a:path>
            </a:pathLst>
          </a:custGeom>
          <a:blipFill rotWithShape="1">
            <a:blip r:embed="rId7">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pic>
        <p:nvPicPr>
          <p:cNvPr id="95" name="Google Shape;95;p10"/>
          <p:cNvPicPr preferRelativeResize="0"/>
          <p:nvPr/>
        </p:nvPicPr>
        <p:blipFill>
          <a:blip r:embed="rId8">
            <a:alphaModFix/>
          </a:blip>
          <a:stretch>
            <a:fillRect/>
          </a:stretch>
        </p:blipFill>
        <p:spPr>
          <a:xfrm>
            <a:off x="3685850" y="4519802"/>
            <a:ext cx="1645275" cy="1533748"/>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1"/>
          <p:cNvSpPr txBox="1"/>
          <p:nvPr>
            <p:ph type="title"/>
          </p:nvPr>
        </p:nvSpPr>
        <p:spPr>
          <a:xfrm>
            <a:off x="1097119" y="366717"/>
            <a:ext cx="7388400" cy="640200"/>
          </a:xfrm>
          <a:prstGeom prst="rect">
            <a:avLst/>
          </a:prstGeom>
        </p:spPr>
        <p:txBody>
          <a:bodyPr anchorCtr="0" anchor="b" bIns="45700" lIns="91425" spcFirstLastPara="1" rIns="91425" wrap="square" tIns="45700">
            <a:noAutofit/>
          </a:bodyPr>
          <a:lstStyle/>
          <a:p>
            <a:pPr xmlns:a="http://schemas.openxmlformats.org/drawingml/2006/main" indent="0" lvl="0" marL="0" rtl="0" algn="l">
              <a:spcBef>
                <a:spcPts val="0"/>
              </a:spcBef>
              <a:spcAft>
                <a:spcPts val="0"/>
              </a:spcAft>
              <a:buNone/>
            </a:pPr>
            <a:r xmlns:a="http://schemas.openxmlformats.org/drawingml/2006/main">
              <a:t/>
            </a:r>
            <a:endParaRPr xmlns:a="http://schemas.openxmlformats.org/drawingml/2006/main"/>
          </a:p>
        </p:txBody>
      </p:sp>
      <p:sp>
        <p:nvSpPr>
          <p:cNvPr id="102" name="Google Shape;102;p11"/>
          <p:cNvSpPr/>
          <p:nvPr/>
        </p:nvSpPr>
        <p:spPr>
          <a:xfrm>
            <a:off x="1466800" y="2454475"/>
            <a:ext cx="1644505" cy="1481850"/>
          </a:xfrm>
          <a:custGeom>
            <a:rect b="b" l="l" r="r" t="t"/>
            <a:pathLst>
              <a:path extrusionOk="0" h="2782816" w="2539776">
                <a:moveTo>
                  <a:pt x="0" y="0"/>
                </a:moveTo>
                <a:lnTo>
                  <a:pt x="2539776" y="0"/>
                </a:lnTo>
                <a:lnTo>
                  <a:pt x="2539776" y="2782816"/>
                </a:lnTo>
                <a:lnTo>
                  <a:pt x="0" y="2782816"/>
                </a:lnTo>
                <a:lnTo>
                  <a:pt x="0" y="0"/>
                </a:lnTo>
                <a:close/>
              </a:path>
            </a:pathLst>
          </a:custGeom>
          <a:blipFill rotWithShape="1">
            <a:blip r:embed="rId3">
              <a:alphaModFix/>
            </a:blip>
            <a:stretch>
              <a:fillRect b="-3439" l="-3609" r="-78247" t="-15239"/>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sp>
        <p:nvSpPr>
          <p:cNvPr id="103" name="Google Shape;103;p11"/>
          <p:cNvSpPr/>
          <p:nvPr/>
        </p:nvSpPr>
        <p:spPr>
          <a:xfrm>
            <a:off x="1329852" y="4402125"/>
            <a:ext cx="1974608" cy="1769106"/>
          </a:xfrm>
          <a:custGeom>
            <a:rect b="b" l="l" r="r" t="t"/>
            <a:pathLst>
              <a:path extrusionOk="0" h="3573952" w="3573952">
                <a:moveTo>
                  <a:pt x="0" y="0"/>
                </a:moveTo>
                <a:lnTo>
                  <a:pt x="3573951" y="0"/>
                </a:lnTo>
                <a:lnTo>
                  <a:pt x="3573951" y="3573951"/>
                </a:lnTo>
                <a:lnTo>
                  <a:pt x="0" y="3573951"/>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sp>
        <p:nvSpPr>
          <p:cNvPr id="104" name="Google Shape;104;p11"/>
          <p:cNvSpPr/>
          <p:nvPr/>
        </p:nvSpPr>
        <p:spPr>
          <a:xfrm>
            <a:off x="5500625" y="2454062"/>
            <a:ext cx="1460664" cy="1482685"/>
          </a:xfrm>
          <a:custGeom>
            <a:rect b="b" l="l" r="r" t="t"/>
            <a:pathLst>
              <a:path extrusionOk="0" h="2936009" w="2936009">
                <a:moveTo>
                  <a:pt x="0" y="0"/>
                </a:moveTo>
                <a:lnTo>
                  <a:pt x="2936009" y="0"/>
                </a:lnTo>
                <a:lnTo>
                  <a:pt x="2936009" y="2936010"/>
                </a:lnTo>
                <a:lnTo>
                  <a:pt x="0" y="2936010"/>
                </a:lnTo>
                <a:lnTo>
                  <a:pt x="0" y="0"/>
                </a:lnTo>
                <a:close/>
              </a:path>
            </a:pathLst>
          </a:cu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sp>
        <p:nvSpPr>
          <p:cNvPr id="105" name="Google Shape;105;p11"/>
          <p:cNvSpPr/>
          <p:nvPr/>
        </p:nvSpPr>
        <p:spPr>
          <a:xfrm rot="7209785">
            <a:off x="6279230" y="4157922"/>
            <a:ext cx="1191646" cy="1995452"/>
          </a:xfrm>
          <a:custGeom>
            <a:rect b="b" l="l" r="r" t="t"/>
            <a:pathLst>
              <a:path extrusionOk="0" h="3672953" w="2157687">
                <a:moveTo>
                  <a:pt x="0" y="0"/>
                </a:moveTo>
                <a:lnTo>
                  <a:pt x="2157688" y="0"/>
                </a:lnTo>
                <a:lnTo>
                  <a:pt x="2157688" y="3672953"/>
                </a:lnTo>
                <a:lnTo>
                  <a:pt x="0" y="3672953"/>
                </a:lnTo>
                <a:lnTo>
                  <a:pt x="0" y="0"/>
                </a:lnTo>
                <a:close/>
              </a:path>
            </a:pathLst>
          </a:custGeom>
          <a:blipFill rotWithShape="1">
            <a:blip r:embed="rId6">
              <a:alphaModFix/>
            </a:blip>
            <a:stretch>
              <a:fillRect b="-8689" l="0" r="-99956" t="-8769"/>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sp>
        <p:nvSpPr>
          <p:cNvPr id="106" name="Google Shape;106;p11"/>
          <p:cNvSpPr/>
          <p:nvPr/>
        </p:nvSpPr>
        <p:spPr>
          <a:xfrm>
            <a:off x="3363854" y="2280848"/>
            <a:ext cx="1645268" cy="1638114"/>
          </a:xfrm>
          <a:custGeom>
            <a:rect b="b" l="l" r="r" t="t"/>
            <a:pathLst>
              <a:path extrusionOk="0" h="2861335" w="2861335">
                <a:moveTo>
                  <a:pt x="0" y="0"/>
                </a:moveTo>
                <a:lnTo>
                  <a:pt x="2861335" y="0"/>
                </a:lnTo>
                <a:lnTo>
                  <a:pt x="2861335" y="2861336"/>
                </a:lnTo>
                <a:lnTo>
                  <a:pt x="0" y="2861336"/>
                </a:lnTo>
                <a:lnTo>
                  <a:pt x="0" y="0"/>
                </a:lnTo>
                <a:close/>
              </a:path>
            </a:pathLst>
          </a:custGeom>
          <a:blipFill rotWithShape="1">
            <a:blip r:embed="rId7">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pic>
        <p:nvPicPr>
          <p:cNvPr id="107" name="Google Shape;107;p11"/>
          <p:cNvPicPr preferRelativeResize="0"/>
          <p:nvPr/>
        </p:nvPicPr>
        <p:blipFill>
          <a:blip r:embed="rId8">
            <a:alphaModFix/>
          </a:blip>
          <a:stretch>
            <a:fillRect/>
          </a:stretch>
        </p:blipFill>
        <p:spPr>
          <a:xfrm>
            <a:off x="3685850" y="4519802"/>
            <a:ext cx="1645275" cy="1533748"/>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2"/>
          <p:cNvSpPr txBox="1"/>
          <p:nvPr>
            <p:ph type="title"/>
          </p:nvPr>
        </p:nvSpPr>
        <p:spPr>
          <a:xfrm>
            <a:off x="474595" y="318728"/>
            <a:ext cx="7767779" cy="64033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a:t>PHASE 0. </a:t>
            </a:r>
            <a:r xmlns:a="http://schemas.openxmlformats.org/drawingml/2006/main">
              <a:rPr lang="en"/>
              <a:t>Generating question and first explorations</a:t>
            </a:r>
            <a:endParaRPr xmlns:a="http://schemas.openxmlformats.org/drawingml/2006/main"/>
          </a:p>
        </p:txBody>
      </p:sp>
      <p:sp>
        <p:nvSpPr>
          <p:cNvPr id="114" name="Google Shape;114;p12"/>
          <p:cNvSpPr txBox="1"/>
          <p:nvPr>
            <p:ph idx="2" type="body"/>
          </p:nvPr>
        </p:nvSpPr>
        <p:spPr>
          <a:xfrm>
            <a:off x="460393" y="3684884"/>
            <a:ext cx="8397857" cy="2143372"/>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SzPts val="2000"/>
              <a:buChar char="◼"/>
            </a:pPr>
            <a:r xmlns:a="http://schemas.openxmlformats.org/drawingml/2006/main">
              <a:rPr lang="en"/>
              <a:t>Collection of the first shower of questions from students...</a:t>
            </a:r>
            <a:endParaRPr xmlns:a="http://schemas.openxmlformats.org/drawingml/2006/main"/>
          </a:p>
          <a:p>
            <a:pPr xmlns:a="http://schemas.openxmlformats.org/drawingml/2006/main" indent="0" lvl="0" marL="0" rtl="0" algn="l">
              <a:lnSpc>
                <a:spcPct val="130000"/>
              </a:lnSpc>
              <a:spcBef>
                <a:spcPts val="600"/>
              </a:spcBef>
              <a:spcAft>
                <a:spcPts val="0"/>
              </a:spcAft>
              <a:buSzPts val="2000"/>
              <a:buNone/>
            </a:pPr>
            <a:r xmlns:a="http://schemas.openxmlformats.org/drawingml/2006/main">
              <a:t/>
            </a:r>
            <a:endParaRPr xmlns:a="http://schemas.openxmlformats.org/drawingml/2006/main"/>
          </a:p>
        </p:txBody>
      </p:sp>
      <p:pic>
        <p:nvPicPr>
          <p:cNvPr descr="Imagen que contiene tabla, interior, diferente, artículos&#10;&#10;Descripción generada automáticamente" id="115" name="Google Shape;115;p12"/>
          <p:cNvPicPr preferRelativeResize="0"/>
          <p:nvPr/>
        </p:nvPicPr>
        <p:blipFill rotWithShape="1">
          <a:blip r:embed="rId3">
            <a:alphaModFix/>
          </a:blip>
          <a:srcRect b="21350" l="0" r="0" t="0"/>
          <a:stretch/>
        </p:blipFill>
        <p:spPr>
          <a:xfrm>
            <a:off x="1958168" y="2379867"/>
            <a:ext cx="5227664" cy="1114671"/>
          </a:xfrm>
          <a:prstGeom prst="rect">
            <a:avLst/>
          </a:prstGeom>
          <a:noFill/>
          <a:ln>
            <a:noFill/>
          </a:ln>
        </p:spPr>
      </p:pic>
      <p:grpSp>
        <p:nvGrpSpPr>
          <p:cNvPr id="116" name="Google Shape;116;p12"/>
          <p:cNvGrpSpPr/>
          <p:nvPr/>
        </p:nvGrpSpPr>
        <p:grpSpPr>
          <a:xfrm>
            <a:off x="3043237" y="4418863"/>
            <a:ext cx="3543301" cy="1890600"/>
            <a:chOff x="276050" y="2037969"/>
            <a:chExt cx="3908035" cy="2343443"/>
          </a:xfrm>
        </p:grpSpPr>
        <p:pic>
          <p:nvPicPr>
            <p:cNvPr descr="Free Vectors | whiteboard frame" id="117" name="Google Shape;117;p12"/>
            <p:cNvPicPr preferRelativeResize="0"/>
            <p:nvPr/>
          </p:nvPicPr>
          <p:blipFill rotWithShape="1">
            <a:blip r:embed="rId4">
              <a:alphaModFix/>
            </a:blip>
            <a:srcRect b="0" l="0" r="0" t="0"/>
            <a:stretch/>
          </p:blipFill>
          <p:spPr>
            <a:xfrm>
              <a:off x="276050" y="2037969"/>
              <a:ext cx="3908035" cy="2343443"/>
            </a:xfrm>
            <a:prstGeom prst="rect">
              <a:avLst/>
            </a:prstGeom>
            <a:noFill/>
            <a:ln>
              <a:noFill/>
            </a:ln>
          </p:spPr>
        </p:pic>
        <p:sp>
          <p:nvSpPr>
            <p:cNvPr id="118" name="Google Shape;118;p12"/>
            <p:cNvSpPr/>
            <p:nvPr/>
          </p:nvSpPr>
          <p:spPr>
            <a:xfrm>
              <a:off x="471524" y="2273891"/>
              <a:ext cx="3605035" cy="252942"/>
            </a:xfrm>
            <a:custGeom>
              <a:rect b="b" l="l" r="r" t="t"/>
              <a:pathLst>
                <a:path extrusionOk="0" h="252942" w="3605035">
                  <a:moveTo>
                    <a:pt x="0" y="0"/>
                  </a:moveTo>
                  <a:cubicBezTo>
                    <a:pt x="144409" y="-35405"/>
                    <a:pt x="287784" y="10178"/>
                    <a:pt x="551055" y="0"/>
                  </a:cubicBezTo>
                  <a:cubicBezTo>
                    <a:pt x="814326" y="-10178"/>
                    <a:pt x="867533" y="10017"/>
                    <a:pt x="1102111" y="0"/>
                  </a:cubicBezTo>
                  <a:cubicBezTo>
                    <a:pt x="1336689" y="-10017"/>
                    <a:pt x="1500061" y="2803"/>
                    <a:pt x="1689216" y="0"/>
                  </a:cubicBezTo>
                  <a:cubicBezTo>
                    <a:pt x="1878372" y="-2803"/>
                    <a:pt x="2012354" y="36077"/>
                    <a:pt x="2096070" y="0"/>
                  </a:cubicBezTo>
                  <a:cubicBezTo>
                    <a:pt x="2179786" y="-36077"/>
                    <a:pt x="2370763" y="45257"/>
                    <a:pt x="2502924" y="0"/>
                  </a:cubicBezTo>
                  <a:cubicBezTo>
                    <a:pt x="2635085" y="-45257"/>
                    <a:pt x="2833321" y="5221"/>
                    <a:pt x="2945829" y="0"/>
                  </a:cubicBezTo>
                  <a:cubicBezTo>
                    <a:pt x="3058338" y="-5221"/>
                    <a:pt x="3345857" y="52023"/>
                    <a:pt x="3605035" y="0"/>
                  </a:cubicBezTo>
                  <a:cubicBezTo>
                    <a:pt x="3610275" y="118271"/>
                    <a:pt x="3577656" y="132151"/>
                    <a:pt x="3605035" y="252942"/>
                  </a:cubicBezTo>
                  <a:cubicBezTo>
                    <a:pt x="3461733" y="274017"/>
                    <a:pt x="3260523" y="247583"/>
                    <a:pt x="3090030" y="252942"/>
                  </a:cubicBezTo>
                  <a:cubicBezTo>
                    <a:pt x="2919538" y="258301"/>
                    <a:pt x="2779029" y="208099"/>
                    <a:pt x="2538975" y="252942"/>
                  </a:cubicBezTo>
                  <a:cubicBezTo>
                    <a:pt x="2298921" y="297785"/>
                    <a:pt x="2298725" y="203876"/>
                    <a:pt x="2096070" y="252942"/>
                  </a:cubicBezTo>
                  <a:cubicBezTo>
                    <a:pt x="1893415" y="302008"/>
                    <a:pt x="1732520" y="230001"/>
                    <a:pt x="1581065" y="252942"/>
                  </a:cubicBezTo>
                  <a:cubicBezTo>
                    <a:pt x="1429611" y="275883"/>
                    <a:pt x="1325803" y="209123"/>
                    <a:pt x="1138161" y="252942"/>
                  </a:cubicBezTo>
                  <a:cubicBezTo>
                    <a:pt x="950519" y="296761"/>
                    <a:pt x="832095" y="207270"/>
                    <a:pt x="731307" y="252942"/>
                  </a:cubicBezTo>
                  <a:cubicBezTo>
                    <a:pt x="630519" y="298614"/>
                    <a:pt x="359530" y="204252"/>
                    <a:pt x="0" y="252942"/>
                  </a:cubicBezTo>
                  <a:cubicBezTo>
                    <a:pt x="-11559" y="191620"/>
                    <a:pt x="22941" y="74138"/>
                    <a:pt x="0" y="0"/>
                  </a:cubicBezTo>
                  <a:close/>
                </a:path>
              </a:pathLst>
            </a:custGeom>
            <a:no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b="1" i="0" sz="1800" u="none" cap="none" strike="noStrike">
                <a:solidFill>
                  <a:srgbClr val="7030A0"/>
                </a:solidFill>
                <a:latin typeface="Arial"/>
                <a:ea typeface="Arial"/>
                <a:cs typeface="Arial"/>
                <a:sym typeface="Arial"/>
              </a:endParaRPr>
            </a:p>
          </p:txBody>
        </p:sp>
      </p:grpSp>
      <p:sp>
        <p:nvSpPr>
          <p:cNvPr id="119" name="Google Shape;119;p12"/>
          <p:cNvSpPr txBox="1"/>
          <p:nvPr>
            <p:ph idx="1" type="body"/>
          </p:nvPr>
        </p:nvSpPr>
        <p:spPr>
          <a:xfrm>
            <a:off x="460394" y="1247036"/>
            <a:ext cx="8397900" cy="2143500"/>
          </a:xfrm>
          <a:prstGeom prst="rect">
            <a:avLst/>
          </a:prstGeom>
          <a:noFill/>
          <a:ln>
            <a:noFill/>
          </a:ln>
        </p:spPr>
        <p:txBody>
          <a:bodyPr anchorCtr="0" anchor="t" bIns="45700" lIns="91425" spcFirstLastPara="1" rIns="91425" wrap="square" tIns="45700">
            <a:noAutofit/>
          </a:bodyPr>
          <a:lstStyle/>
          <a:p>
            <a:pPr xmlns:a="http://schemas.openxmlformats.org/drawingml/2006/main" indent="0" lvl="0" marL="0" rtl="0" algn="l">
              <a:lnSpc>
                <a:spcPct val="130000"/>
              </a:lnSpc>
              <a:spcBef>
                <a:spcPts val="0"/>
              </a:spcBef>
              <a:spcAft>
                <a:spcPts val="0"/>
              </a:spcAft>
              <a:buSzPts val="2200"/>
              <a:buNone/>
            </a:pPr>
            <a:r xmlns:a="http://schemas.openxmlformats.org/drawingml/2006/main">
              <a:rPr b="1" lang="en" sz="2200">
                <a:solidFill>
                  <a:srgbClr val="262626"/>
                </a:solidFill>
              </a:rPr>
              <a:t>Starting question:</a:t>
            </a:r>
            <a:endParaRPr xmlns:a="http://schemas.openxmlformats.org/drawingml/2006/main"/>
          </a:p>
          <a:p>
            <a:pPr xmlns:a="http://schemas.openxmlformats.org/drawingml/2006/main" indent="0" lvl="0" marL="0" rtl="0" algn="l">
              <a:lnSpc>
                <a:spcPct val="130000"/>
              </a:lnSpc>
              <a:spcBef>
                <a:spcPts val="600"/>
              </a:spcBef>
              <a:spcAft>
                <a:spcPts val="0"/>
              </a:spcAft>
              <a:buSzPts val="2200"/>
              <a:buNone/>
            </a:pPr>
            <a:r xmlns:a="http://schemas.openxmlformats.org/drawingml/2006/main">
              <a:rPr lang="en" sz="2200">
                <a:solidFill>
                  <a:srgbClr val="262626"/>
                </a:solidFill>
              </a:rPr>
              <a:t>Of the following collection of padlocks, which padlock is the most secure?</a:t>
            </a:r>
            <a:endParaRPr xmlns:a="http://schemas.openxmlformats.org/drawingml/2006/main"/>
          </a:p>
          <a:p>
            <a:pPr xmlns:a="http://schemas.openxmlformats.org/drawingml/2006/main" indent="-101600" lvl="0" marL="228600" rtl="0" algn="l">
              <a:lnSpc>
                <a:spcPct val="130000"/>
              </a:lnSpc>
              <a:spcBef>
                <a:spcPts val="600"/>
              </a:spcBef>
              <a:spcAft>
                <a:spcPts val="0"/>
              </a:spcAft>
              <a:buSzPts val="2000"/>
              <a:buNone/>
            </a:pPr>
            <a:r xmlns:a="http://schemas.openxmlformats.org/drawingml/2006/main">
              <a:t/>
            </a:r>
            <a:endParaRPr xmlns:a="http://schemas.openxmlformats.org/drawingml/2006/main"/>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3"/>
          <p:cNvSpPr txBox="1"/>
          <p:nvPr>
            <p:ph type="title"/>
          </p:nvPr>
        </p:nvSpPr>
        <p:spPr>
          <a:xfrm>
            <a:off x="474595" y="318728"/>
            <a:ext cx="7767779" cy="64033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a:t>PHASE 0. </a:t>
            </a:r>
            <a:r xmlns:a="http://schemas.openxmlformats.org/drawingml/2006/main">
              <a:rPr lang="en"/>
              <a:t>Generating question and first explorations</a:t>
            </a:r>
            <a:endParaRPr xmlns:a="http://schemas.openxmlformats.org/drawingml/2006/main"/>
          </a:p>
        </p:txBody>
      </p:sp>
      <p:grpSp>
        <p:nvGrpSpPr>
          <p:cNvPr id="126" name="Google Shape;126;p13"/>
          <p:cNvGrpSpPr/>
          <p:nvPr/>
        </p:nvGrpSpPr>
        <p:grpSpPr>
          <a:xfrm>
            <a:off x="240812" y="318759"/>
            <a:ext cx="8619953" cy="5989372"/>
            <a:chOff x="276050" y="2037969"/>
            <a:chExt cx="3908035" cy="2343443"/>
          </a:xfrm>
        </p:grpSpPr>
        <p:pic>
          <p:nvPicPr>
            <p:cNvPr descr="Free Vectors | whiteboard frame" id="127" name="Google Shape;127;p13"/>
            <p:cNvPicPr preferRelativeResize="0"/>
            <p:nvPr/>
          </p:nvPicPr>
          <p:blipFill rotWithShape="1">
            <a:blip r:embed="rId3">
              <a:alphaModFix/>
            </a:blip>
            <a:srcRect b="0" l="0" r="0" t="0"/>
            <a:stretch/>
          </p:blipFill>
          <p:spPr>
            <a:xfrm>
              <a:off x="276050" y="2037969"/>
              <a:ext cx="3908035" cy="2343443"/>
            </a:xfrm>
            <a:prstGeom prst="rect">
              <a:avLst/>
            </a:prstGeom>
            <a:noFill/>
            <a:ln>
              <a:noFill/>
            </a:ln>
          </p:spPr>
        </p:pic>
        <p:sp>
          <p:nvSpPr>
            <p:cNvPr id="128" name="Google Shape;128;p13"/>
            <p:cNvSpPr/>
            <p:nvPr/>
          </p:nvSpPr>
          <p:spPr>
            <a:xfrm>
              <a:off x="471524" y="2273891"/>
              <a:ext cx="3605035" cy="252942"/>
            </a:xfrm>
            <a:custGeom>
              <a:rect b="b" l="l" r="r" t="t"/>
              <a:pathLst>
                <a:path extrusionOk="0" h="252942" w="3605035">
                  <a:moveTo>
                    <a:pt x="0" y="0"/>
                  </a:moveTo>
                  <a:cubicBezTo>
                    <a:pt x="144409" y="-35405"/>
                    <a:pt x="287784" y="10178"/>
                    <a:pt x="551055" y="0"/>
                  </a:cubicBezTo>
                  <a:cubicBezTo>
                    <a:pt x="814326" y="-10178"/>
                    <a:pt x="867533" y="10017"/>
                    <a:pt x="1102111" y="0"/>
                  </a:cubicBezTo>
                  <a:cubicBezTo>
                    <a:pt x="1336689" y="-10017"/>
                    <a:pt x="1500061" y="2803"/>
                    <a:pt x="1689216" y="0"/>
                  </a:cubicBezTo>
                  <a:cubicBezTo>
                    <a:pt x="1878372" y="-2803"/>
                    <a:pt x="2012354" y="36077"/>
                    <a:pt x="2096070" y="0"/>
                  </a:cubicBezTo>
                  <a:cubicBezTo>
                    <a:pt x="2179786" y="-36077"/>
                    <a:pt x="2370763" y="45257"/>
                    <a:pt x="2502924" y="0"/>
                  </a:cubicBezTo>
                  <a:cubicBezTo>
                    <a:pt x="2635085" y="-45257"/>
                    <a:pt x="2833321" y="5221"/>
                    <a:pt x="2945829" y="0"/>
                  </a:cubicBezTo>
                  <a:cubicBezTo>
                    <a:pt x="3058338" y="-5221"/>
                    <a:pt x="3345857" y="52023"/>
                    <a:pt x="3605035" y="0"/>
                  </a:cubicBezTo>
                  <a:cubicBezTo>
                    <a:pt x="3610275" y="118271"/>
                    <a:pt x="3577656" y="132151"/>
                    <a:pt x="3605035" y="252942"/>
                  </a:cubicBezTo>
                  <a:cubicBezTo>
                    <a:pt x="3461733" y="274017"/>
                    <a:pt x="3260523" y="247583"/>
                    <a:pt x="3090030" y="252942"/>
                  </a:cubicBezTo>
                  <a:cubicBezTo>
                    <a:pt x="2919538" y="258301"/>
                    <a:pt x="2779029" y="208099"/>
                    <a:pt x="2538975" y="252942"/>
                  </a:cubicBezTo>
                  <a:cubicBezTo>
                    <a:pt x="2298921" y="297785"/>
                    <a:pt x="2298725" y="203876"/>
                    <a:pt x="2096070" y="252942"/>
                  </a:cubicBezTo>
                  <a:cubicBezTo>
                    <a:pt x="1893415" y="302008"/>
                    <a:pt x="1732520" y="230001"/>
                    <a:pt x="1581065" y="252942"/>
                  </a:cubicBezTo>
                  <a:cubicBezTo>
                    <a:pt x="1429611" y="275883"/>
                    <a:pt x="1325803" y="209123"/>
                    <a:pt x="1138161" y="252942"/>
                  </a:cubicBezTo>
                  <a:cubicBezTo>
                    <a:pt x="950519" y="296761"/>
                    <a:pt x="832095" y="207270"/>
                    <a:pt x="731307" y="252942"/>
                  </a:cubicBezTo>
                  <a:cubicBezTo>
                    <a:pt x="630519" y="298614"/>
                    <a:pt x="359530" y="204252"/>
                    <a:pt x="0" y="252942"/>
                  </a:cubicBezTo>
                  <a:cubicBezTo>
                    <a:pt x="-11559" y="191620"/>
                    <a:pt x="22941" y="74138"/>
                    <a:pt x="0" y="0"/>
                  </a:cubicBezTo>
                  <a:close/>
                </a:path>
              </a:pathLst>
            </a:custGeom>
            <a:no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b="1" i="0" sz="1800" u="none" cap="none" strike="noStrike">
                <a:solidFill>
                  <a:srgbClr val="7030A0"/>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33" name="Shape 133"/>
        <p:cNvGrpSpPr/>
        <p:nvPr/>
      </p:nvGrpSpPr>
      <p:grpSpPr>
        <a:xfrm>
          <a:off x="0" y="0"/>
          <a:ext cx="0" cy="0"/>
          <a:chOff x="0" y="0"/>
          <a:chExt cx="0" cy="0"/>
        </a:xfrm>
      </p:grpSpPr>
      <p:sp>
        <p:nvSpPr>
          <p:cNvPr id="134" name="Google Shape;134;p14"/>
          <p:cNvSpPr txBox="1"/>
          <p:nvPr>
            <p:ph type="title"/>
          </p:nvPr>
        </p:nvSpPr>
        <p:spPr>
          <a:xfrm>
            <a:off x="474595" y="318728"/>
            <a:ext cx="7767900" cy="64020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a:t>PHASE 0. </a:t>
            </a:r>
            <a:r xmlns:a="http://schemas.openxmlformats.org/drawingml/2006/main">
              <a:rPr lang="en"/>
              <a:t>Generating question and first explorations</a:t>
            </a:r>
            <a:endParaRPr xmlns:a="http://schemas.openxmlformats.org/drawingml/2006/main"/>
          </a:p>
        </p:txBody>
      </p:sp>
      <p:grpSp>
        <p:nvGrpSpPr>
          <p:cNvPr id="135" name="Google Shape;135;p14"/>
          <p:cNvGrpSpPr/>
          <p:nvPr/>
        </p:nvGrpSpPr>
        <p:grpSpPr>
          <a:xfrm>
            <a:off x="714363" y="1300216"/>
            <a:ext cx="7767610" cy="5029263"/>
            <a:chOff x="276050" y="2037969"/>
            <a:chExt cx="3908035" cy="2343443"/>
          </a:xfrm>
        </p:grpSpPr>
        <p:pic>
          <p:nvPicPr>
            <p:cNvPr descr="Free Vectors | whiteboard frame" id="136" name="Google Shape;136;p14"/>
            <p:cNvPicPr preferRelativeResize="0"/>
            <p:nvPr/>
          </p:nvPicPr>
          <p:blipFill rotWithShape="1">
            <a:blip r:embed="rId3">
              <a:alphaModFix/>
            </a:blip>
            <a:srcRect b="0" l="0" r="0" t="0"/>
            <a:stretch/>
          </p:blipFill>
          <p:spPr>
            <a:xfrm>
              <a:off x="276050" y="2037969"/>
              <a:ext cx="3908035" cy="2343443"/>
            </a:xfrm>
            <a:prstGeom prst="rect">
              <a:avLst/>
            </a:prstGeom>
            <a:noFill/>
            <a:ln>
              <a:noFill/>
            </a:ln>
          </p:spPr>
        </p:pic>
        <p:sp>
          <p:nvSpPr>
            <p:cNvPr id="137" name="Google Shape;137;p14"/>
            <p:cNvSpPr/>
            <p:nvPr/>
          </p:nvSpPr>
          <p:spPr>
            <a:xfrm>
              <a:off x="471524" y="2273891"/>
              <a:ext cx="3605035" cy="252942"/>
            </a:xfrm>
            <a:custGeom>
              <a:rect b="b" l="l" r="r" t="t"/>
              <a:pathLst>
                <a:path extrusionOk="0" h="252942" w="3605035">
                  <a:moveTo>
                    <a:pt x="0" y="0"/>
                  </a:moveTo>
                  <a:cubicBezTo>
                    <a:pt x="144409" y="-35405"/>
                    <a:pt x="287784" y="10178"/>
                    <a:pt x="551055" y="0"/>
                  </a:cubicBezTo>
                  <a:cubicBezTo>
                    <a:pt x="814326" y="-10178"/>
                    <a:pt x="867533" y="10017"/>
                    <a:pt x="1102111" y="0"/>
                  </a:cubicBezTo>
                  <a:cubicBezTo>
                    <a:pt x="1336689" y="-10017"/>
                    <a:pt x="1500061" y="2803"/>
                    <a:pt x="1689216" y="0"/>
                  </a:cubicBezTo>
                  <a:cubicBezTo>
                    <a:pt x="1878372" y="-2803"/>
                    <a:pt x="2012354" y="36077"/>
                    <a:pt x="2096070" y="0"/>
                  </a:cubicBezTo>
                  <a:cubicBezTo>
                    <a:pt x="2179786" y="-36077"/>
                    <a:pt x="2370763" y="45257"/>
                    <a:pt x="2502924" y="0"/>
                  </a:cubicBezTo>
                  <a:cubicBezTo>
                    <a:pt x="2635085" y="-45257"/>
                    <a:pt x="2833321" y="5221"/>
                    <a:pt x="2945829" y="0"/>
                  </a:cubicBezTo>
                  <a:cubicBezTo>
                    <a:pt x="3058338" y="-5221"/>
                    <a:pt x="3345857" y="52023"/>
                    <a:pt x="3605035" y="0"/>
                  </a:cubicBezTo>
                  <a:cubicBezTo>
                    <a:pt x="3610275" y="118271"/>
                    <a:pt x="3577656" y="132151"/>
                    <a:pt x="3605035" y="252942"/>
                  </a:cubicBezTo>
                  <a:cubicBezTo>
                    <a:pt x="3461733" y="274017"/>
                    <a:pt x="3260523" y="247583"/>
                    <a:pt x="3090030" y="252942"/>
                  </a:cubicBezTo>
                  <a:cubicBezTo>
                    <a:pt x="2919538" y="258301"/>
                    <a:pt x="2779029" y="208099"/>
                    <a:pt x="2538975" y="252942"/>
                  </a:cubicBezTo>
                  <a:cubicBezTo>
                    <a:pt x="2298921" y="297785"/>
                    <a:pt x="2298725" y="203876"/>
                    <a:pt x="2096070" y="252942"/>
                  </a:cubicBezTo>
                  <a:cubicBezTo>
                    <a:pt x="1893415" y="302008"/>
                    <a:pt x="1732520" y="230001"/>
                    <a:pt x="1581065" y="252942"/>
                  </a:cubicBezTo>
                  <a:cubicBezTo>
                    <a:pt x="1429611" y="275883"/>
                    <a:pt x="1325803" y="209123"/>
                    <a:pt x="1138161" y="252942"/>
                  </a:cubicBezTo>
                  <a:cubicBezTo>
                    <a:pt x="950519" y="296761"/>
                    <a:pt x="832095" y="207270"/>
                    <a:pt x="731307" y="252942"/>
                  </a:cubicBezTo>
                  <a:cubicBezTo>
                    <a:pt x="630519" y="298614"/>
                    <a:pt x="359530" y="204252"/>
                    <a:pt x="0" y="252942"/>
                  </a:cubicBezTo>
                  <a:cubicBezTo>
                    <a:pt x="-11559" y="191620"/>
                    <a:pt x="22941" y="74138"/>
                    <a:pt x="0" y="0"/>
                  </a:cubicBezTo>
                  <a:close/>
                </a:path>
              </a:pathLst>
            </a:custGeom>
            <a:no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b="1" i="0" sz="1800" u="none" cap="none" strike="noStrike">
                <a:solidFill>
                  <a:srgbClr val="7030A0"/>
                </a:solidFill>
                <a:latin typeface="Arial"/>
                <a:ea typeface="Arial"/>
                <a:cs typeface="Arial"/>
                <a:sym typeface="Arial"/>
              </a:endParaRPr>
            </a:p>
          </p:txBody>
        </p:sp>
      </p:grpSp>
      <p:sp>
        <p:nvSpPr>
          <p:cNvPr id="138" name="Google Shape;138;p14"/>
          <p:cNvSpPr txBox="1"/>
          <p:nvPr/>
        </p:nvSpPr>
        <p:spPr>
          <a:xfrm>
            <a:off x="1278696" y="1843950"/>
            <a:ext cx="6686700" cy="3447900"/>
          </a:xfrm>
          <a:prstGeom prst="rect">
            <a:avLst/>
          </a:prstGeom>
          <a:noFill/>
          <a:ln>
            <a:noFill/>
          </a:ln>
        </p:spPr>
        <p:txBody>
          <a:bodyPr anchorCtr="0" anchor="t" bIns="45700" lIns="91425" spcFirstLastPara="1" rIns="91425" wrap="square" tIns="45700">
            <a:spAutoFit/>
          </a:bodyPr>
          <a:lstStyle/>
          <a:p>
            <a:pPr xmlns:a="http://schemas.openxmlformats.org/drawingml/2006/main" indent="0" lvl="0" marL="0" marR="0" rtl="0" algn="ctr">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b="0" i="0" sz="1800" u="none" cap="none" strike="noStrike">
              <a:solidFill>
                <a:srgbClr val="7030A0"/>
              </a:solidFill>
              <a:latin typeface="Arial"/>
              <a:ea typeface="Arial"/>
              <a:cs typeface="Arial"/>
              <a:sym typeface="Arial"/>
            </a:endParaRPr>
          </a:p>
          <a:p>
            <a:pPr xmlns:a="http://schemas.openxmlformats.org/drawingml/2006/main" indent="0" lvl="0" marL="0" marR="0" rtl="0" algn="ctr">
              <a:lnSpc>
                <a:spcPct val="100000"/>
              </a:lnSpc>
              <a:spcBef>
                <a:spcPts val="0"/>
              </a:spcBef>
              <a:spcAft>
                <a:spcPts val="0"/>
              </a:spcAft>
              <a:buClr>
                <a:srgbClr val="000000"/>
              </a:buClr>
              <a:buSzPts val="1800"/>
              <a:buFont typeface="Arial"/>
              <a:buNone/>
            </a:pPr>
            <a:r xmlns:a="http://schemas.openxmlformats.org/drawingml/2006/main">
              <a:rPr i="0" lang="en" sz="1800" u="none" cap="none" strike="noStrike">
                <a:solidFill>
                  <a:srgbClr val="7030A0"/>
                </a:solidFill>
                <a:latin typeface="Avenir"/>
                <a:ea typeface="Avenir"/>
                <a:cs typeface="Avenir"/>
                <a:sym typeface="Avenir"/>
              </a:rPr>
              <a:t>Security depends on the “variants” of each padlock? For example, whether they have letters, symbols, numbers, dates, etc.?</a:t>
            </a:r>
            <a:endParaRPr xmlns:a="http://schemas.openxmlformats.org/drawingml/2006/main" i="0" sz="1400" u="none" cap="none" strike="noStrike">
              <a:solidFill>
                <a:srgbClr val="000000"/>
              </a:solidFill>
              <a:latin typeface="Avenir"/>
              <a:ea typeface="Avenir"/>
              <a:cs typeface="Avenir"/>
              <a:sym typeface="Avenir"/>
            </a:endParaRPr>
          </a:p>
          <a:p>
            <a:pPr xmlns:a="http://schemas.openxmlformats.org/drawingml/2006/main" indent="0" lvl="0" marL="0" marR="0" rtl="0" algn="ctr">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i="0" sz="1800" u="none" cap="none" strike="noStrike">
              <a:solidFill>
                <a:srgbClr val="7030A0"/>
              </a:solidFill>
              <a:latin typeface="Avenir"/>
              <a:ea typeface="Avenir"/>
              <a:cs typeface="Avenir"/>
              <a:sym typeface="Avenir"/>
            </a:endParaRPr>
          </a:p>
          <a:p>
            <a:pPr xmlns:a="http://schemas.openxmlformats.org/drawingml/2006/main" indent="0" lvl="0" marL="0" marR="0" rtl="0" algn="ctr">
              <a:lnSpc>
                <a:spcPct val="100000"/>
              </a:lnSpc>
              <a:spcBef>
                <a:spcPts val="0"/>
              </a:spcBef>
              <a:spcAft>
                <a:spcPts val="0"/>
              </a:spcAft>
              <a:buClr>
                <a:srgbClr val="000000"/>
              </a:buClr>
              <a:buSzPts val="1800"/>
              <a:buFont typeface="Arial"/>
              <a:buNone/>
            </a:pPr>
            <a:r xmlns:a="http://schemas.openxmlformats.org/drawingml/2006/main">
              <a:rPr i="0" lang="en" sz="1800" u="none" cap="none" strike="noStrike">
                <a:solidFill>
                  <a:srgbClr val="7030A0"/>
                </a:solidFill>
                <a:latin typeface="Avenir"/>
                <a:ea typeface="Avenir"/>
                <a:cs typeface="Avenir"/>
                <a:sym typeface="Avenir"/>
              </a:rPr>
              <a:t>Will the one with the most codes be safer?</a:t>
            </a:r>
            <a:endParaRPr xmlns:a="http://schemas.openxmlformats.org/drawingml/2006/main" i="0" sz="1400" u="none" cap="none" strike="noStrike">
              <a:solidFill>
                <a:srgbClr val="000000"/>
              </a:solidFill>
              <a:latin typeface="Avenir"/>
              <a:ea typeface="Avenir"/>
              <a:cs typeface="Avenir"/>
              <a:sym typeface="Avenir"/>
            </a:endParaRPr>
          </a:p>
          <a:p>
            <a:pPr xmlns:a="http://schemas.openxmlformats.org/drawingml/2006/main" indent="0" lvl="0" marL="0" marR="0" rtl="0" algn="ctr">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i="0" sz="1800" u="none" cap="none" strike="noStrike">
              <a:solidFill>
                <a:srgbClr val="7030A0"/>
              </a:solidFill>
              <a:latin typeface="Avenir"/>
              <a:ea typeface="Avenir"/>
              <a:cs typeface="Avenir"/>
              <a:sym typeface="Avenir"/>
            </a:endParaRPr>
          </a:p>
          <a:p>
            <a:pPr xmlns:a="http://schemas.openxmlformats.org/drawingml/2006/main" indent="0" lvl="0" marL="0" marR="0" rtl="0" algn="ctr">
              <a:lnSpc>
                <a:spcPct val="100000"/>
              </a:lnSpc>
              <a:spcBef>
                <a:spcPts val="0"/>
              </a:spcBef>
              <a:spcAft>
                <a:spcPts val="0"/>
              </a:spcAft>
              <a:buClr>
                <a:srgbClr val="000000"/>
              </a:buClr>
              <a:buSzPts val="1800"/>
              <a:buFont typeface="Arial"/>
              <a:buNone/>
            </a:pPr>
            <a:r xmlns:a="http://schemas.openxmlformats.org/drawingml/2006/main">
              <a:rPr i="0" lang="en" sz="1800" u="none" cap="none" strike="noStrike">
                <a:solidFill>
                  <a:srgbClr val="7030A0"/>
                </a:solidFill>
                <a:latin typeface="Avenir"/>
                <a:ea typeface="Avenir"/>
                <a:cs typeface="Avenir"/>
                <a:sym typeface="Avenir"/>
              </a:rPr>
              <a:t>Will it depend on the skill of the “thief”?</a:t>
            </a:r>
            <a:endParaRPr xmlns:a="http://schemas.openxmlformats.org/drawingml/2006/main" i="0" sz="1400" u="none" cap="none" strike="noStrike">
              <a:solidFill>
                <a:srgbClr val="000000"/>
              </a:solidFill>
              <a:latin typeface="Avenir"/>
              <a:ea typeface="Avenir"/>
              <a:cs typeface="Avenir"/>
              <a:sym typeface="Avenir"/>
            </a:endParaRPr>
          </a:p>
          <a:p>
            <a:pPr xmlns:a="http://schemas.openxmlformats.org/drawingml/2006/main" indent="0" lvl="0" marL="0" marR="0" rtl="0" algn="ctr">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i="0" sz="1800" u="none" cap="none" strike="noStrike">
              <a:solidFill>
                <a:srgbClr val="7030A0"/>
              </a:solidFill>
              <a:latin typeface="Avenir"/>
              <a:ea typeface="Avenir"/>
              <a:cs typeface="Avenir"/>
              <a:sym typeface="Avenir"/>
            </a:endParaRPr>
          </a:p>
          <a:p>
            <a:pPr xmlns:a="http://schemas.openxmlformats.org/drawingml/2006/main" indent="0" lvl="0" marL="0" marR="0" rtl="0" algn="ctr">
              <a:lnSpc>
                <a:spcPct val="100000"/>
              </a:lnSpc>
              <a:spcBef>
                <a:spcPts val="0"/>
              </a:spcBef>
              <a:spcAft>
                <a:spcPts val="0"/>
              </a:spcAft>
              <a:buClr>
                <a:srgbClr val="000000"/>
              </a:buClr>
              <a:buSzPts val="1800"/>
              <a:buFont typeface="Arial"/>
              <a:buNone/>
            </a:pPr>
            <a:r xmlns:a="http://schemas.openxmlformats.org/drawingml/2006/main">
              <a:rPr i="0" lang="en" sz="1800" u="none" cap="none" strike="noStrike">
                <a:solidFill>
                  <a:srgbClr val="7030A0"/>
                </a:solidFill>
                <a:latin typeface="Avenir"/>
                <a:ea typeface="Avenir"/>
                <a:cs typeface="Avenir"/>
                <a:sym typeface="Avenir"/>
              </a:rPr>
              <a:t>It seems that the most secure padlock will be the one with </a:t>
            </a:r>
            <a:r xmlns:a="http://schemas.openxmlformats.org/drawingml/2006/main">
              <a:rPr b="1" i="0" lang="en" sz="1800" u="none" cap="none" strike="noStrike">
                <a:solidFill>
                  <a:srgbClr val="7030A0"/>
                </a:solidFill>
                <a:latin typeface="Avenir"/>
                <a:ea typeface="Avenir"/>
                <a:cs typeface="Avenir"/>
                <a:sym typeface="Avenir"/>
              </a:rPr>
              <a:t>the most codes </a:t>
            </a:r>
            <a:r xmlns:a="http://schemas.openxmlformats.org/drawingml/2006/main">
              <a:rPr i="0" lang="en" sz="1800" u="none" cap="none" strike="noStrike">
                <a:solidFill>
                  <a:srgbClr val="7030A0"/>
                </a:solidFill>
                <a:latin typeface="Avenir"/>
                <a:ea typeface="Avenir"/>
                <a:cs typeface="Avenir"/>
                <a:sym typeface="Avenir"/>
              </a:rPr>
              <a:t>...</a:t>
            </a:r>
            <a:endParaRPr xmlns:a="http://schemas.openxmlformats.org/drawingml/2006/main" i="0" sz="1400" u="none" cap="none" strike="noStrike">
              <a:solidFill>
                <a:srgbClr val="000000"/>
              </a:solidFill>
              <a:latin typeface="Avenir"/>
              <a:ea typeface="Avenir"/>
              <a:cs typeface="Avenir"/>
              <a:sym typeface="Avenir"/>
            </a:endParaRPr>
          </a:p>
          <a:p>
            <a:pPr xmlns:a="http://schemas.openxmlformats.org/drawingml/2006/main" indent="0" lvl="0" marL="0" marR="0" rtl="0" algn="ctr">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i="0" sz="1800" u="none" cap="none" strike="noStrike">
              <a:solidFill>
                <a:srgbClr val="7030A0"/>
              </a:solidFill>
              <a:latin typeface="Avenir"/>
              <a:ea typeface="Avenir"/>
              <a:cs typeface="Avenir"/>
              <a:sym typeface="Avenir"/>
            </a:endParaRPr>
          </a:p>
          <a:p>
            <a:pPr xmlns:a="http://schemas.openxmlformats.org/drawingml/2006/main" indent="0" lvl="0" marL="0" marR="0" rtl="0" algn="ctr">
              <a:lnSpc>
                <a:spcPct val="100000"/>
              </a:lnSpc>
              <a:spcBef>
                <a:spcPts val="0"/>
              </a:spcBef>
              <a:spcAft>
                <a:spcPts val="0"/>
              </a:spcAft>
              <a:buClr>
                <a:srgbClr val="000000"/>
              </a:buClr>
              <a:buSzPts val="2000"/>
              <a:buFont typeface="Arial"/>
              <a:buNone/>
            </a:pPr>
            <a:r xmlns:a="http://schemas.openxmlformats.org/drawingml/2006/main">
              <a:rPr b="1" i="0" lang="en" sz="2000" u="none" cap="none" strike="noStrike">
                <a:solidFill>
                  <a:srgbClr val="7030A0"/>
                </a:solidFill>
                <a:latin typeface="Avenir"/>
                <a:ea typeface="Avenir"/>
                <a:cs typeface="Avenir"/>
                <a:sym typeface="Avenir"/>
              </a:rPr>
              <a:t>Q1: How many codes does each padlock support?</a:t>
            </a:r>
            <a:endParaRPr xmlns:a="http://schemas.openxmlformats.org/drawingml/2006/main" i="0" sz="1400" u="none" cap="none" strike="noStrike">
              <a:solidFill>
                <a:srgbClr val="000000"/>
              </a:solidFill>
              <a:latin typeface="Avenir"/>
              <a:ea typeface="Avenir"/>
              <a:cs typeface="Avenir"/>
              <a:sym typeface="Aveni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15"/>
          <p:cNvSpPr txBox="1"/>
          <p:nvPr>
            <p:ph type="title"/>
          </p:nvPr>
        </p:nvSpPr>
        <p:spPr>
          <a:xfrm>
            <a:off x="474595" y="318728"/>
            <a:ext cx="7767900" cy="64020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br xmlns:a="http://schemas.openxmlformats.org/drawingml/2006/main">
              <a:rPr lang="ca-ES" sz="2200"/>
            </a:br>
            <a:r xmlns:a="http://schemas.openxmlformats.org/drawingml/2006/main">
              <a:rPr lang="en" sz="2200"/>
              <a:t>Let's establish terminology to refer to padlocks</a:t>
            </a:r>
            <a:br xmlns:a="http://schemas.openxmlformats.org/drawingml/2006/main">
              <a:rPr lang="ca-ES" sz="2200"/>
            </a:br>
            <a:endParaRPr xmlns:a="http://schemas.openxmlformats.org/drawingml/2006/main" sz="2200"/>
          </a:p>
        </p:txBody>
      </p:sp>
      <p:sp>
        <p:nvSpPr>
          <p:cNvPr id="144" name="Google Shape;144;p15"/>
          <p:cNvSpPr txBox="1"/>
          <p:nvPr>
            <p:ph idx="1" type="body"/>
          </p:nvPr>
        </p:nvSpPr>
        <p:spPr>
          <a:xfrm>
            <a:off x="5414775" y="1207487"/>
            <a:ext cx="3414600" cy="4548300"/>
          </a:xfrm>
          <a:prstGeom prst="rect">
            <a:avLst/>
          </a:prstGeom>
          <a:noFill/>
          <a:ln>
            <a:noFill/>
          </a:ln>
        </p:spPr>
        <p:txBody>
          <a:bodyPr anchorCtr="0" anchor="t" bIns="45700" lIns="91425" spcFirstLastPara="1" rIns="91425" wrap="square" tIns="45700">
            <a:noAutofit/>
          </a:bodyPr>
          <a:lstStyle/>
          <a:p>
            <a:pPr xmlns:a="http://schemas.openxmlformats.org/drawingml/2006/main" indent="0" lvl="0" marL="0" rtl="0" algn="l">
              <a:lnSpc>
                <a:spcPct val="200000"/>
              </a:lnSpc>
              <a:spcBef>
                <a:spcPts val="0"/>
              </a:spcBef>
              <a:spcAft>
                <a:spcPts val="0"/>
              </a:spcAft>
              <a:buNone/>
            </a:pPr>
            <a:r xmlns:a="http://schemas.openxmlformats.org/drawingml/2006/main">
              <a:rPr b="1" lang="en">
                <a:solidFill>
                  <a:srgbClr val="3DB087"/>
                </a:solidFill>
              </a:rPr>
              <a:t>Example</a:t>
            </a:r>
            <a:endParaRPr xmlns:a="http://schemas.openxmlformats.org/drawingml/2006/main" b="1">
              <a:solidFill>
                <a:srgbClr val="3DB087"/>
              </a:solidFill>
            </a:endParaRPr>
          </a:p>
          <a:p>
            <a:pPr xmlns:a="http://schemas.openxmlformats.org/drawingml/2006/main" indent="-231775" lvl="0" marL="228600" rtl="0" algn="l">
              <a:lnSpc>
                <a:spcPct val="130000"/>
              </a:lnSpc>
              <a:spcBef>
                <a:spcPts val="0"/>
              </a:spcBef>
              <a:spcAft>
                <a:spcPts val="0"/>
              </a:spcAft>
              <a:buClr>
                <a:srgbClr val="3DB087"/>
              </a:buClr>
              <a:buSzPts val="1700"/>
              <a:buChar char="◼"/>
            </a:pPr>
            <a:r xmlns:a="http://schemas.openxmlformats.org/drawingml/2006/main">
              <a:rPr b="1" lang="en" sz="1700">
                <a:solidFill>
                  <a:srgbClr val="3DB087"/>
                </a:solidFill>
              </a:rPr>
              <a:t>Code: </a:t>
            </a:r>
            <a:r xmlns:a="http://schemas.openxmlformats.org/drawingml/2006/main">
              <a:rPr lang="en"/>
              <a:t>0000, 1 </a:t>
            </a:r>
            <a:r xmlns:a="http://schemas.openxmlformats.org/drawingml/2006/main">
              <a:rPr lang="en" sz="1700"/>
              <a:t>234, 2930, </a:t>
            </a:r>
            <a:r xmlns:a="http://schemas.openxmlformats.org/drawingml/2006/main">
              <a:rPr lang="en"/>
              <a:t>9750 </a:t>
            </a:r>
            <a:r xmlns:a="http://schemas.openxmlformats.org/drawingml/2006/main">
              <a:rPr lang="en" sz="1700"/>
              <a:t>, ... among other possibilities.</a:t>
            </a:r>
            <a:endParaRPr xmlns:a="http://schemas.openxmlformats.org/drawingml/2006/main" sz="1700"/>
          </a:p>
          <a:p>
            <a:pPr xmlns:a="http://schemas.openxmlformats.org/drawingml/2006/main" indent="0" lvl="0" marL="0" rtl="0" algn="l">
              <a:lnSpc>
                <a:spcPct val="130000"/>
              </a:lnSpc>
              <a:spcBef>
                <a:spcPts val="0"/>
              </a:spcBef>
              <a:spcAft>
                <a:spcPts val="0"/>
              </a:spcAft>
              <a:buNone/>
            </a:pPr>
            <a:r xmlns:a="http://schemas.openxmlformats.org/drawingml/2006/main">
              <a:t/>
            </a:r>
            <a:endParaRPr xmlns:a="http://schemas.openxmlformats.org/drawingml/2006/main"/>
          </a:p>
          <a:p>
            <a:pPr xmlns:a="http://schemas.openxmlformats.org/drawingml/2006/main" indent="-231775" lvl="0" marL="228600" rtl="0" algn="l">
              <a:spcBef>
                <a:spcPts val="600"/>
              </a:spcBef>
              <a:spcAft>
                <a:spcPts val="0"/>
              </a:spcAft>
              <a:buSzPts val="1700"/>
              <a:buChar char="◼"/>
            </a:pPr>
            <a:r xmlns:a="http://schemas.openxmlformats.org/drawingml/2006/main">
              <a:rPr b="1" lang="en">
                <a:solidFill>
                  <a:srgbClr val="3DB087"/>
                </a:solidFill>
              </a:rPr>
              <a:t>Password: </a:t>
            </a:r>
            <a:r xmlns:a="http://schemas.openxmlformats.org/drawingml/2006/main">
              <a:rPr lang="en"/>
              <a:t>4921 (Because when we enter it, it opens)</a:t>
            </a:r>
            <a:endParaRPr xmlns:a="http://schemas.openxmlformats.org/drawingml/2006/main"/>
          </a:p>
          <a:p>
            <a:pPr xmlns:a="http://schemas.openxmlformats.org/drawingml/2006/main" indent="0" lvl="0" marL="0" rtl="0" algn="l">
              <a:lnSpc>
                <a:spcPct val="200000"/>
              </a:lnSpc>
              <a:spcBef>
                <a:spcPts val="0"/>
              </a:spcBef>
              <a:spcAft>
                <a:spcPts val="0"/>
              </a:spcAft>
              <a:buNone/>
            </a:pPr>
            <a:r xmlns:a="http://schemas.openxmlformats.org/drawingml/2006/main">
              <a:t/>
            </a:r>
            <a:endParaRPr xmlns:a="http://schemas.openxmlformats.org/drawingml/2006/main"/>
          </a:p>
          <a:p>
            <a:pPr xmlns:a="http://schemas.openxmlformats.org/drawingml/2006/main" indent="-231775" lvl="0" marL="228600" rtl="0" algn="l">
              <a:spcBef>
                <a:spcPts val="600"/>
              </a:spcBef>
              <a:spcAft>
                <a:spcPts val="0"/>
              </a:spcAft>
              <a:buSzPts val="1700"/>
              <a:buChar char="◼"/>
            </a:pPr>
            <a:r xmlns:a="http://schemas.openxmlformats.org/drawingml/2006/main">
              <a:rPr lang="en">
                <a:solidFill>
                  <a:srgbClr val="3DB087"/>
                </a:solidFill>
              </a:rPr>
              <a:t>Box: </a:t>
            </a:r>
            <a:r xmlns:a="http://schemas.openxmlformats.org/drawingml/2006/main">
              <a:rPr lang="en"/>
              <a:t>It has 4 boxes. Each space where we insert a number between 0 and 9.</a:t>
            </a:r>
            <a:endParaRPr xmlns:a="http://schemas.openxmlformats.org/drawingml/2006/main"/>
          </a:p>
          <a:p>
            <a:pPr xmlns:a="http://schemas.openxmlformats.org/drawingml/2006/main" indent="0" lvl="0" marL="0" rtl="0" algn="l">
              <a:lnSpc>
                <a:spcPct val="200000"/>
              </a:lnSpc>
              <a:spcBef>
                <a:spcPts val="0"/>
              </a:spcBef>
              <a:spcAft>
                <a:spcPts val="0"/>
              </a:spcAft>
              <a:buNone/>
            </a:pPr>
            <a:r xmlns:a="http://schemas.openxmlformats.org/drawingml/2006/main">
              <a:t/>
            </a:r>
            <a:endParaRPr xmlns:a="http://schemas.openxmlformats.org/drawingml/2006/main"/>
          </a:p>
          <a:p>
            <a:pPr xmlns:a="http://schemas.openxmlformats.org/drawingml/2006/main" indent="-231775" lvl="0" marL="228600" rtl="0" algn="l">
              <a:lnSpc>
                <a:spcPct val="130000"/>
              </a:lnSpc>
              <a:spcBef>
                <a:spcPts val="0"/>
              </a:spcBef>
              <a:spcAft>
                <a:spcPts val="0"/>
              </a:spcAft>
              <a:buSzPts val="1700"/>
              <a:buChar char="◼"/>
            </a:pPr>
            <a:r xmlns:a="http://schemas.openxmlformats.org/drawingml/2006/main">
              <a:rPr lang="en">
                <a:solidFill>
                  <a:srgbClr val="3DB087"/>
                </a:solidFill>
              </a:rPr>
              <a:t>Code Elements </a:t>
            </a:r>
            <a:r xmlns:a="http://schemas.openxmlformats.org/drawingml/2006/main">
              <a:rPr lang="en"/>
              <a:t>: Code 1234 has 4 elements: 1, 2, 3 and 4.</a:t>
            </a:r>
            <a:endParaRPr xmlns:a="http://schemas.openxmlformats.org/drawingml/2006/main"/>
          </a:p>
          <a:p>
            <a:pPr xmlns:a="http://schemas.openxmlformats.org/drawingml/2006/main" indent="0" lvl="0" marL="457200" rtl="0" algn="l">
              <a:lnSpc>
                <a:spcPct val="130000"/>
              </a:lnSpc>
              <a:spcBef>
                <a:spcPts val="600"/>
              </a:spcBef>
              <a:spcAft>
                <a:spcPts val="0"/>
              </a:spcAft>
              <a:buNone/>
            </a:pPr>
            <a:r xmlns:a="http://schemas.openxmlformats.org/drawingml/2006/main">
              <a:t/>
            </a:r>
            <a:endParaRPr xmlns:a="http://schemas.openxmlformats.org/drawingml/2006/main" b="1">
              <a:solidFill>
                <a:srgbClr val="3DB087"/>
              </a:solidFill>
            </a:endParaRPr>
          </a:p>
          <a:p>
            <a:pPr xmlns:a="http://schemas.openxmlformats.org/drawingml/2006/main" indent="0" lvl="0" marL="457200" rtl="0" algn="l">
              <a:lnSpc>
                <a:spcPct val="130000"/>
              </a:lnSpc>
              <a:spcBef>
                <a:spcPts val="600"/>
              </a:spcBef>
              <a:spcAft>
                <a:spcPts val="0"/>
              </a:spcAft>
              <a:buNone/>
            </a:pPr>
            <a:r xmlns:a="http://schemas.openxmlformats.org/drawingml/2006/main">
              <a:t/>
            </a:r>
            <a:endParaRPr xmlns:a="http://schemas.openxmlformats.org/drawingml/2006/main" b="1">
              <a:solidFill>
                <a:srgbClr val="3DB087"/>
              </a:solidFill>
            </a:endParaRPr>
          </a:p>
          <a:p>
            <a:pPr xmlns:a="http://schemas.openxmlformats.org/drawingml/2006/main" indent="-231775" lvl="0" marL="228600" rtl="0" algn="l">
              <a:lnSpc>
                <a:spcPct val="130000"/>
              </a:lnSpc>
              <a:spcBef>
                <a:spcPts val="600"/>
              </a:spcBef>
              <a:spcAft>
                <a:spcPts val="0"/>
              </a:spcAft>
              <a:buClr>
                <a:srgbClr val="3DB087"/>
              </a:buClr>
              <a:buSzPts val="1700"/>
              <a:buChar char="◼"/>
            </a:pPr>
            <a:r xmlns:a="http://schemas.openxmlformats.org/drawingml/2006/main">
              <a:t/>
            </a:r>
            <a:endParaRPr xmlns:a="http://schemas.openxmlformats.org/drawingml/2006/main"/>
          </a:p>
        </p:txBody>
      </p:sp>
      <p:sp>
        <p:nvSpPr>
          <p:cNvPr id="145" name="Google Shape;145;p15"/>
          <p:cNvSpPr txBox="1"/>
          <p:nvPr>
            <p:ph idx="2" type="body"/>
          </p:nvPr>
        </p:nvSpPr>
        <p:spPr>
          <a:xfrm>
            <a:off x="384195" y="1207479"/>
            <a:ext cx="4111500" cy="4996500"/>
          </a:xfrm>
          <a:prstGeom prst="rect">
            <a:avLst/>
          </a:prstGeom>
          <a:noFill/>
          <a:ln>
            <a:noFill/>
          </a:ln>
        </p:spPr>
        <p:txBody>
          <a:bodyPr anchorCtr="0" anchor="t" bIns="45700" lIns="91425" spcFirstLastPara="1" rIns="91425" wrap="square" tIns="45700">
            <a:noAutofit/>
          </a:bodyPr>
          <a:lstStyle/>
          <a:p>
            <a:pPr xmlns:a="http://schemas.openxmlformats.org/drawingml/2006/main" indent="0" lvl="0" marL="0" rtl="0" algn="l">
              <a:lnSpc>
                <a:spcPct val="130000"/>
              </a:lnSpc>
              <a:spcBef>
                <a:spcPts val="0"/>
              </a:spcBef>
              <a:spcAft>
                <a:spcPts val="0"/>
              </a:spcAft>
              <a:buSzPts val="1700"/>
              <a:buNone/>
            </a:pPr>
            <a:r xmlns:a="http://schemas.openxmlformats.org/drawingml/2006/main">
              <a:rPr b="1" lang="en" sz="1700"/>
              <a:t>Words to add to the glossary</a:t>
            </a:r>
            <a:endParaRPr xmlns:a="http://schemas.openxmlformats.org/drawingml/2006/main" b="1"/>
          </a:p>
          <a:p>
            <a:pPr xmlns:a="http://schemas.openxmlformats.org/drawingml/2006/main" indent="-336550" lvl="0" marL="450000" rtl="0" algn="l">
              <a:lnSpc>
                <a:spcPct val="130000"/>
              </a:lnSpc>
              <a:spcBef>
                <a:spcPts val="1000"/>
              </a:spcBef>
              <a:spcAft>
                <a:spcPts val="0"/>
              </a:spcAft>
              <a:buSzPts val="1700"/>
              <a:buChar char="◼"/>
            </a:pPr>
            <a:r xmlns:a="http://schemas.openxmlformats.org/drawingml/2006/main">
              <a:rPr b="1" lang="en" sz="1700">
                <a:solidFill>
                  <a:srgbClr val="7030A0"/>
                </a:solidFill>
              </a:rPr>
              <a:t>Code: </a:t>
            </a:r>
            <a:r xmlns:a="http://schemas.openxmlformats.org/drawingml/2006/main">
              <a:rPr lang="en" sz="1700"/>
              <a:t>Possible password that can be entered into the padlock.</a:t>
            </a:r>
            <a:endParaRPr xmlns:a="http://schemas.openxmlformats.org/drawingml/2006/main" sz="1700"/>
          </a:p>
          <a:p>
            <a:pPr xmlns:a="http://schemas.openxmlformats.org/drawingml/2006/main" indent="0" lvl="0" marL="457200" rtl="0" algn="l">
              <a:spcBef>
                <a:spcPts val="600"/>
              </a:spcBef>
              <a:spcAft>
                <a:spcPts val="0"/>
              </a:spcAft>
              <a:buNone/>
            </a:pPr>
            <a:r xmlns:a="http://schemas.openxmlformats.org/drawingml/2006/main">
              <a:t/>
            </a:r>
            <a:endParaRPr xmlns:a="http://schemas.openxmlformats.org/drawingml/2006/main"/>
          </a:p>
          <a:p>
            <a:pPr xmlns:a="http://schemas.openxmlformats.org/drawingml/2006/main" indent="-336550" lvl="0" marL="450000" rtl="0" algn="l">
              <a:spcBef>
                <a:spcPts val="600"/>
              </a:spcBef>
              <a:spcAft>
                <a:spcPts val="0"/>
              </a:spcAft>
              <a:buSzPts val="1700"/>
              <a:buChar char="◼"/>
            </a:pPr>
            <a:r xmlns:a="http://schemas.openxmlformats.org/drawingml/2006/main">
              <a:rPr b="1" lang="en">
                <a:solidFill>
                  <a:srgbClr val="7030A0"/>
                </a:solidFill>
              </a:rPr>
              <a:t>Password: </a:t>
            </a:r>
            <a:r xmlns:a="http://schemas.openxmlformats.org/drawingml/2006/main">
              <a:rPr lang="en"/>
              <a:t>Correct code. When we enter it, the padlock opens.</a:t>
            </a:r>
            <a:endParaRPr xmlns:a="http://schemas.openxmlformats.org/drawingml/2006/main"/>
          </a:p>
          <a:p>
            <a:pPr xmlns:a="http://schemas.openxmlformats.org/drawingml/2006/main" indent="0" lvl="0" marL="0" rtl="0" algn="l">
              <a:lnSpc>
                <a:spcPct val="130000"/>
              </a:lnSpc>
              <a:spcBef>
                <a:spcPts val="600"/>
              </a:spcBef>
              <a:spcAft>
                <a:spcPts val="0"/>
              </a:spcAft>
              <a:buNone/>
            </a:pPr>
            <a:r xmlns:a="http://schemas.openxmlformats.org/drawingml/2006/main">
              <a:t/>
            </a:r>
            <a:endParaRPr xmlns:a="http://schemas.openxmlformats.org/drawingml/2006/main"/>
          </a:p>
          <a:p>
            <a:pPr xmlns:a="http://schemas.openxmlformats.org/drawingml/2006/main" indent="-336550" lvl="0" marL="450000" rtl="0" algn="l">
              <a:spcBef>
                <a:spcPts val="600"/>
              </a:spcBef>
              <a:spcAft>
                <a:spcPts val="0"/>
              </a:spcAft>
              <a:buSzPts val="1700"/>
              <a:buChar char="◼"/>
            </a:pPr>
            <a:r xmlns:a="http://schemas.openxmlformats.org/drawingml/2006/main">
              <a:rPr b="1" lang="en">
                <a:solidFill>
                  <a:srgbClr val="7030A0"/>
                </a:solidFill>
              </a:rPr>
              <a:t>Box: </a:t>
            </a:r>
            <a:r xmlns:a="http://schemas.openxmlformats.org/drawingml/2006/main">
              <a:rPr lang="en"/>
              <a:t>Space (physical or not) in the padlock where the elements of the code are entered.</a:t>
            </a:r>
            <a:endParaRPr xmlns:a="http://schemas.openxmlformats.org/drawingml/2006/main"/>
          </a:p>
          <a:p>
            <a:pPr xmlns:a="http://schemas.openxmlformats.org/drawingml/2006/main" indent="0" lvl="0" marL="0" rtl="0" algn="l">
              <a:lnSpc>
                <a:spcPct val="130000"/>
              </a:lnSpc>
              <a:spcBef>
                <a:spcPts val="600"/>
              </a:spcBef>
              <a:spcAft>
                <a:spcPts val="0"/>
              </a:spcAft>
              <a:buNone/>
            </a:pPr>
            <a:r xmlns:a="http://schemas.openxmlformats.org/drawingml/2006/main">
              <a:t/>
            </a:r>
            <a:endParaRPr xmlns:a="http://schemas.openxmlformats.org/drawingml/2006/main"/>
          </a:p>
          <a:p>
            <a:pPr xmlns:a="http://schemas.openxmlformats.org/drawingml/2006/main" indent="-336550" lvl="0" marL="450000" rtl="0" algn="l">
              <a:lnSpc>
                <a:spcPct val="130000"/>
              </a:lnSpc>
              <a:spcBef>
                <a:spcPts val="600"/>
              </a:spcBef>
              <a:spcAft>
                <a:spcPts val="0"/>
              </a:spcAft>
              <a:buSzPts val="1700"/>
              <a:buChar char="◼"/>
            </a:pPr>
            <a:r xmlns:a="http://schemas.openxmlformats.org/drawingml/2006/main">
              <a:rPr lang="en">
                <a:solidFill>
                  <a:srgbClr val="7030A0"/>
                </a:solidFill>
              </a:rPr>
              <a:t>Code elements </a:t>
            </a:r>
            <a:r xmlns:a="http://schemas.openxmlformats.org/drawingml/2006/main">
              <a:rPr lang="en"/>
              <a:t>: numbers, letters, symbols,... that make up a code.</a:t>
            </a:r>
            <a:endParaRPr xmlns:a="http://schemas.openxmlformats.org/drawingml/2006/main"/>
          </a:p>
          <a:p>
            <a:pPr xmlns:a="http://schemas.openxmlformats.org/drawingml/2006/main" indent="0" lvl="0" marL="457200" rtl="0" algn="l">
              <a:lnSpc>
                <a:spcPct val="130000"/>
              </a:lnSpc>
              <a:spcBef>
                <a:spcPts val="600"/>
              </a:spcBef>
              <a:spcAft>
                <a:spcPts val="0"/>
              </a:spcAft>
              <a:buNone/>
            </a:pPr>
            <a:r xmlns:a="http://schemas.openxmlformats.org/drawingml/2006/main">
              <a:t/>
            </a:r>
            <a:endParaRPr xmlns:a="http://schemas.openxmlformats.org/drawingml/2006/main"/>
          </a:p>
          <a:p>
            <a:pPr xmlns:a="http://schemas.openxmlformats.org/drawingml/2006/main" indent="-120650" lvl="0" marL="228600" rtl="0" algn="l">
              <a:lnSpc>
                <a:spcPct val="130000"/>
              </a:lnSpc>
              <a:spcBef>
                <a:spcPts val="600"/>
              </a:spcBef>
              <a:spcAft>
                <a:spcPts val="0"/>
              </a:spcAft>
              <a:buSzPts val="1700"/>
              <a:buNone/>
            </a:pPr>
            <a:r xmlns:a="http://schemas.openxmlformats.org/drawingml/2006/main">
              <a:t/>
            </a:r>
            <a:endParaRPr xmlns:a="http://schemas.openxmlformats.org/drawingml/2006/main"/>
          </a:p>
        </p:txBody>
      </p:sp>
      <p:sp>
        <p:nvSpPr>
          <p:cNvPr id="146" name="Google Shape;146;p15"/>
          <p:cNvSpPr/>
          <p:nvPr/>
        </p:nvSpPr>
        <p:spPr>
          <a:xfrm>
            <a:off x="4218707" y="3699083"/>
            <a:ext cx="1386409" cy="1275837"/>
          </a:xfrm>
          <a:custGeom>
            <a:rect b="b" l="l" r="r" t="t"/>
            <a:pathLst>
              <a:path extrusionOk="0" h="3402231" w="3402231">
                <a:moveTo>
                  <a:pt x="0" y="0"/>
                </a:moveTo>
                <a:lnTo>
                  <a:pt x="3402231" y="0"/>
                </a:lnTo>
                <a:lnTo>
                  <a:pt x="3402231" y="3402232"/>
                </a:lnTo>
                <a:lnTo>
                  <a:pt x="0" y="3402232"/>
                </a:lnTo>
                <a:lnTo>
                  <a:pt x="0" y="0"/>
                </a:lnTo>
                <a:close/>
              </a:path>
            </a:pathLst>
          </a:custGeom>
          <a:blipFill rotWithShape="1">
            <a:blip r:embed="rId3">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0" i="0" sz="16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6"/>
          <p:cNvSpPr txBox="1"/>
          <p:nvPr>
            <p:ph idx="1" type="body"/>
          </p:nvPr>
        </p:nvSpPr>
        <p:spPr>
          <a:xfrm>
            <a:off x="373071" y="1932836"/>
            <a:ext cx="8397857" cy="2143372"/>
          </a:xfrm>
          <a:prstGeom prst="rect">
            <a:avLst/>
          </a:prstGeom>
          <a:noFill/>
          <a:ln>
            <a:noFill/>
          </a:ln>
        </p:spPr>
        <p:txBody>
          <a:bodyPr anchorCtr="0" anchor="t" bIns="45700" lIns="91425" spcFirstLastPara="1" rIns="91425" wrap="square" tIns="45700">
            <a:noAutofit/>
          </a:bodyPr>
          <a:lstStyle/>
          <a:p>
            <a:pPr xmlns:a="http://schemas.openxmlformats.org/drawingml/2006/main" indent="0" lvl="0" marL="0" rtl="0" algn="ctr">
              <a:lnSpc>
                <a:spcPct val="130000"/>
              </a:lnSpc>
              <a:spcBef>
                <a:spcPts val="0"/>
              </a:spcBef>
              <a:spcAft>
                <a:spcPts val="0"/>
              </a:spcAft>
              <a:buSzPts val="2800"/>
              <a:buNone/>
            </a:pPr>
            <a:r xmlns:a="http://schemas.openxmlformats.org/drawingml/2006/main">
              <a:rPr b="1" i="1" lang="en" sz="2800"/>
              <a:t>Q </a:t>
            </a:r>
            <a:r xmlns:a="http://schemas.openxmlformats.org/drawingml/2006/main">
              <a:rPr b="1" baseline="-25000" lang="en" sz="2800"/>
              <a:t>1 </a:t>
            </a:r>
            <a:r xmlns:a="http://schemas.openxmlformats.org/drawingml/2006/main">
              <a:rPr b="1" lang="en" sz="2800"/>
              <a:t>: How many different codes does each padlock support?</a:t>
            </a:r>
            <a:endParaRPr xmlns:a="http://schemas.openxmlformats.org/drawingml/2006/main"/>
          </a:p>
          <a:p>
            <a:pPr xmlns:a="http://schemas.openxmlformats.org/drawingml/2006/main" indent="-101600" lvl="0" marL="228600" rtl="0" algn="l">
              <a:lnSpc>
                <a:spcPct val="130000"/>
              </a:lnSpc>
              <a:spcBef>
                <a:spcPts val="600"/>
              </a:spcBef>
              <a:spcAft>
                <a:spcPts val="0"/>
              </a:spcAft>
              <a:buSzPts val="2000"/>
              <a:buNone/>
            </a:pPr>
            <a:r xmlns:a="http://schemas.openxmlformats.org/drawingml/2006/main">
              <a:t/>
            </a:r>
            <a:endParaRPr xmlns:a="http://schemas.openxmlformats.org/drawingml/2006/main"/>
          </a:p>
        </p:txBody>
      </p:sp>
      <p:sp>
        <p:nvSpPr>
          <p:cNvPr id="153" name="Google Shape;153;p16"/>
          <p:cNvSpPr txBox="1"/>
          <p:nvPr>
            <p:ph type="title"/>
          </p:nvPr>
        </p:nvSpPr>
        <p:spPr>
          <a:xfrm>
            <a:off x="474595" y="318728"/>
            <a:ext cx="7767779" cy="64033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a:t>PHASE 1. </a:t>
            </a:r>
            <a:r xmlns:a="http://schemas.openxmlformats.org/drawingml/2006/main">
              <a:rPr lang="en"/>
              <a:t>We count codes</a:t>
            </a:r>
            <a:endParaRPr xmlns:a="http://schemas.openxmlformats.org/drawingml/2006/main"/>
          </a:p>
        </p:txBody>
      </p:sp>
      <p:pic>
        <p:nvPicPr>
          <p:cNvPr descr="Imagen que contiene tabla, interior, diferente, artículos&#10;&#10;Descripción generada automáticamente" id="154" name="Google Shape;154;p16"/>
          <p:cNvPicPr preferRelativeResize="0"/>
          <p:nvPr/>
        </p:nvPicPr>
        <p:blipFill rotWithShape="1">
          <a:blip r:embed="rId3">
            <a:alphaModFix/>
          </a:blip>
          <a:srcRect b="21350" l="0" r="0" t="0"/>
          <a:stretch/>
        </p:blipFill>
        <p:spPr>
          <a:xfrm>
            <a:off x="1465919" y="2933084"/>
            <a:ext cx="6212162" cy="132459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17"/>
          <p:cNvSpPr txBox="1"/>
          <p:nvPr>
            <p:ph idx="1" type="body"/>
          </p:nvPr>
        </p:nvSpPr>
        <p:spPr>
          <a:xfrm>
            <a:off x="460394" y="1247036"/>
            <a:ext cx="8397900" cy="2143500"/>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SzPts val="2000"/>
              <a:buChar char="◼"/>
            </a:pPr>
            <a:r xmlns:a="http://schemas.openxmlformats.org/drawingml/2006/main">
              <a:rPr b="1" lang="en" sz="2000"/>
              <a:t>Q1: </a:t>
            </a:r>
            <a:r xmlns:a="http://schemas.openxmlformats.org/drawingml/2006/main">
              <a:rPr lang="en" sz="2000"/>
              <a:t>How many different codes does each padlock support?</a:t>
            </a:r>
            <a:endParaRPr xmlns:a="http://schemas.openxmlformats.org/drawingml/2006/main"/>
          </a:p>
          <a:p>
            <a:pPr xmlns:a="http://schemas.openxmlformats.org/drawingml/2006/main" indent="-228600" lvl="1" marL="457200" rtl="0" algn="l">
              <a:lnSpc>
                <a:spcPct val="130000"/>
              </a:lnSpc>
              <a:spcBef>
                <a:spcPts val="600"/>
              </a:spcBef>
              <a:spcAft>
                <a:spcPts val="0"/>
              </a:spcAft>
              <a:buSzPts val="1800"/>
              <a:buFont typeface="Avenir"/>
              <a:buChar char="▪"/>
            </a:pPr>
            <a:r xmlns:a="http://schemas.openxmlformats.org/drawingml/2006/main">
              <a:rPr lang="en" sz="1800">
                <a:solidFill>
                  <a:srgbClr val="000000"/>
                </a:solidFill>
              </a:rPr>
              <a:t>Each working group is responsible for one of the locks.</a:t>
            </a:r>
            <a:endParaRPr xmlns:a="http://schemas.openxmlformats.org/drawingml/2006/main"/>
          </a:p>
          <a:p>
            <a:pPr xmlns:a="http://schemas.openxmlformats.org/drawingml/2006/main" indent="-114300" lvl="1" marL="457200" rtl="0" algn="l">
              <a:lnSpc>
                <a:spcPct val="130000"/>
              </a:lnSpc>
              <a:spcBef>
                <a:spcPts val="600"/>
              </a:spcBef>
              <a:spcAft>
                <a:spcPts val="0"/>
              </a:spcAft>
              <a:buSzPts val="1800"/>
              <a:buNone/>
            </a:pPr>
            <a:r xmlns:a="http://schemas.openxmlformats.org/drawingml/2006/main">
              <a:t/>
            </a:r>
            <a:endParaRPr xmlns:a="http://schemas.openxmlformats.org/drawingml/2006/main"/>
          </a:p>
        </p:txBody>
      </p:sp>
      <p:sp>
        <p:nvSpPr>
          <p:cNvPr id="160" name="Google Shape;160;p17"/>
          <p:cNvSpPr txBox="1"/>
          <p:nvPr>
            <p:ph type="title"/>
          </p:nvPr>
        </p:nvSpPr>
        <p:spPr>
          <a:xfrm>
            <a:off x="474595" y="318728"/>
            <a:ext cx="7767900" cy="64020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a:t>PHASE 1. </a:t>
            </a:r>
            <a:r xmlns:a="http://schemas.openxmlformats.org/drawingml/2006/main">
              <a:rPr lang="en"/>
              <a:t>We count codes</a:t>
            </a:r>
            <a:endParaRPr xmlns:a="http://schemas.openxmlformats.org/drawingml/2006/main"/>
          </a:p>
        </p:txBody>
      </p:sp>
      <p:sp>
        <p:nvSpPr>
          <p:cNvPr id="161" name="Google Shape;161;p17"/>
          <p:cNvSpPr txBox="1"/>
          <p:nvPr/>
        </p:nvSpPr>
        <p:spPr>
          <a:xfrm>
            <a:off x="788425" y="2391075"/>
            <a:ext cx="4376400" cy="338700"/>
          </a:xfrm>
          <a:prstGeom prst="rect">
            <a:avLst/>
          </a:prstGeom>
          <a:solidFill>
            <a:srgbClr val="E0E0E0"/>
          </a:solid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i="0" lang="en" sz="1600" u="none" cap="none" strike="noStrike">
                <a:solidFill>
                  <a:srgbClr val="000000"/>
                </a:solidFill>
                <a:latin typeface="Avenir"/>
                <a:ea typeface="Avenir"/>
                <a:cs typeface="Avenir"/>
                <a:sym typeface="Avenir"/>
              </a:rPr>
              <a:t>Padlock 1: </a:t>
            </a:r>
            <a:r xmlns:a="http://schemas.openxmlformats.org/drawingml/2006/main">
              <a:rPr i="0" lang="en" sz="1600" u="none" cap="none" strike="noStrike">
                <a:solidFill>
                  <a:srgbClr val="000000"/>
                </a:solidFill>
                <a:latin typeface="Avenir"/>
                <a:ea typeface="Avenir"/>
                <a:cs typeface="Avenir"/>
                <a:sym typeface="Avenir"/>
              </a:rPr>
              <a:t>Padlock </a:t>
            </a:r>
            <a:r xmlns:a="http://schemas.openxmlformats.org/drawingml/2006/main">
              <a:rPr lang="en" sz="1600">
                <a:latin typeface="Avenir"/>
                <a:ea typeface="Avenir"/>
                <a:cs typeface="Avenir"/>
                <a:sym typeface="Avenir"/>
              </a:rPr>
              <a:t>with numeric code</a:t>
            </a:r>
            <a:endParaRPr xmlns:a="http://schemas.openxmlformats.org/drawingml/2006/main" i="0" sz="1400" u="none" cap="none" strike="noStrike">
              <a:solidFill>
                <a:srgbClr val="000000"/>
              </a:solidFill>
              <a:latin typeface="Avenir"/>
              <a:ea typeface="Avenir"/>
              <a:cs typeface="Avenir"/>
              <a:sym typeface="Avenir"/>
            </a:endParaRPr>
          </a:p>
        </p:txBody>
      </p:sp>
      <p:sp>
        <p:nvSpPr>
          <p:cNvPr id="162" name="Google Shape;162;p17"/>
          <p:cNvSpPr txBox="1"/>
          <p:nvPr/>
        </p:nvSpPr>
        <p:spPr>
          <a:xfrm>
            <a:off x="788346" y="2898824"/>
            <a:ext cx="4144500" cy="338700"/>
          </a:xfrm>
          <a:prstGeom prst="rect">
            <a:avLst/>
          </a:prstGeom>
          <a:solidFill>
            <a:srgbClr val="FFAAAA"/>
          </a:solid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i="0" lang="en" sz="1600" u="none" cap="none" strike="noStrike">
                <a:solidFill>
                  <a:srgbClr val="000000"/>
                </a:solidFill>
                <a:latin typeface="Avenir"/>
                <a:ea typeface="Avenir"/>
                <a:cs typeface="Avenir"/>
                <a:sym typeface="Avenir"/>
              </a:rPr>
              <a:t>Padlock 2: </a:t>
            </a:r>
            <a:r xmlns:a="http://schemas.openxmlformats.org/drawingml/2006/main">
              <a:rPr i="0" lang="en" sz="1600" u="none" cap="none" strike="noStrike">
                <a:solidFill>
                  <a:srgbClr val="000000"/>
                </a:solidFill>
                <a:latin typeface="Avenir"/>
                <a:ea typeface="Avenir"/>
                <a:cs typeface="Avenir"/>
                <a:sym typeface="Avenir"/>
              </a:rPr>
              <a:t>Push-button padlock</a:t>
            </a:r>
            <a:endParaRPr xmlns:a="http://schemas.openxmlformats.org/drawingml/2006/main" i="0" sz="1400" u="none" cap="none" strike="noStrike">
              <a:solidFill>
                <a:srgbClr val="000000"/>
              </a:solidFill>
              <a:latin typeface="Avenir"/>
              <a:ea typeface="Avenir"/>
              <a:cs typeface="Avenir"/>
              <a:sym typeface="Avenir"/>
            </a:endParaRPr>
          </a:p>
        </p:txBody>
      </p:sp>
      <p:sp>
        <p:nvSpPr>
          <p:cNvPr id="163" name="Google Shape;163;p17"/>
          <p:cNvSpPr txBox="1"/>
          <p:nvPr/>
        </p:nvSpPr>
        <p:spPr>
          <a:xfrm>
            <a:off x="788302" y="3487006"/>
            <a:ext cx="4144500" cy="338700"/>
          </a:xfrm>
          <a:prstGeom prst="rect">
            <a:avLst/>
          </a:prstGeom>
          <a:solidFill>
            <a:srgbClr val="30A034">
              <a:alpha val="14510"/>
            </a:srgbClr>
          </a:solid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i="0" lang="en" sz="1600" u="none" cap="none" strike="noStrike">
                <a:solidFill>
                  <a:srgbClr val="000000"/>
                </a:solidFill>
                <a:latin typeface="Avenir"/>
                <a:ea typeface="Avenir"/>
                <a:cs typeface="Avenir"/>
                <a:sym typeface="Avenir"/>
              </a:rPr>
              <a:t>Padlock 4: </a:t>
            </a:r>
            <a:r xmlns:a="http://schemas.openxmlformats.org/drawingml/2006/main">
              <a:rPr i="0" lang="en" sz="1600" u="none" cap="none" strike="noStrike">
                <a:solidFill>
                  <a:srgbClr val="000000"/>
                </a:solidFill>
                <a:latin typeface="Avenir"/>
                <a:ea typeface="Avenir"/>
                <a:cs typeface="Avenir"/>
                <a:sym typeface="Avenir"/>
              </a:rPr>
              <a:t>Word padlock</a:t>
            </a:r>
            <a:endParaRPr xmlns:a="http://schemas.openxmlformats.org/drawingml/2006/main" i="0" sz="1400" u="none" cap="none" strike="noStrike">
              <a:solidFill>
                <a:srgbClr val="000000"/>
              </a:solidFill>
              <a:latin typeface="Avenir"/>
              <a:ea typeface="Avenir"/>
              <a:cs typeface="Avenir"/>
              <a:sym typeface="Avenir"/>
            </a:endParaRPr>
          </a:p>
        </p:txBody>
      </p:sp>
      <p:sp>
        <p:nvSpPr>
          <p:cNvPr id="164" name="Google Shape;164;p17"/>
          <p:cNvSpPr txBox="1"/>
          <p:nvPr/>
        </p:nvSpPr>
        <p:spPr>
          <a:xfrm>
            <a:off x="778452" y="4056060"/>
            <a:ext cx="4164300" cy="338700"/>
          </a:xfrm>
          <a:prstGeom prst="rect">
            <a:avLst/>
          </a:prstGeom>
          <a:solidFill>
            <a:srgbClr val="FFAAAA">
              <a:alpha val="48240"/>
            </a:srgbClr>
          </a:solid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i="0" lang="en" sz="1600" u="none" cap="none" strike="noStrike">
                <a:solidFill>
                  <a:srgbClr val="000000"/>
                </a:solidFill>
                <a:latin typeface="Avenir"/>
                <a:ea typeface="Avenir"/>
                <a:cs typeface="Avenir"/>
                <a:sym typeface="Avenir"/>
              </a:rPr>
              <a:t>Padlock 5: </a:t>
            </a:r>
            <a:r xmlns:a="http://schemas.openxmlformats.org/drawingml/2006/main">
              <a:rPr i="0" lang="en" sz="1600" u="none" cap="none" strike="noStrike">
                <a:solidFill>
                  <a:srgbClr val="000000"/>
                </a:solidFill>
                <a:latin typeface="Avenir"/>
                <a:ea typeface="Avenir"/>
                <a:cs typeface="Avenir"/>
                <a:sym typeface="Avenir"/>
              </a:rPr>
              <a:t>Directional padlock</a:t>
            </a:r>
            <a:endParaRPr xmlns:a="http://schemas.openxmlformats.org/drawingml/2006/main" i="0" sz="1400" u="none" cap="none" strike="noStrike">
              <a:solidFill>
                <a:srgbClr val="000000"/>
              </a:solidFill>
              <a:latin typeface="Avenir"/>
              <a:ea typeface="Avenir"/>
              <a:cs typeface="Avenir"/>
              <a:sym typeface="Avenir"/>
            </a:endParaRPr>
          </a:p>
        </p:txBody>
      </p:sp>
      <p:sp>
        <p:nvSpPr>
          <p:cNvPr id="165" name="Google Shape;165;p17"/>
          <p:cNvSpPr txBox="1"/>
          <p:nvPr/>
        </p:nvSpPr>
        <p:spPr>
          <a:xfrm>
            <a:off x="778442" y="4625088"/>
            <a:ext cx="4102500" cy="338700"/>
          </a:xfrm>
          <a:prstGeom prst="rect">
            <a:avLst/>
          </a:prstGeom>
          <a:solidFill>
            <a:srgbClr val="7030A0">
              <a:alpha val="14510"/>
            </a:srgbClr>
          </a:solid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i="0" lang="en" sz="1600" u="none" cap="none" strike="noStrike">
                <a:solidFill>
                  <a:srgbClr val="000000"/>
                </a:solidFill>
                <a:latin typeface="Avenir"/>
                <a:ea typeface="Avenir"/>
                <a:cs typeface="Avenir"/>
                <a:sym typeface="Avenir"/>
              </a:rPr>
              <a:t>Padlock 6: </a:t>
            </a:r>
            <a:r xmlns:a="http://schemas.openxmlformats.org/drawingml/2006/main">
              <a:rPr i="0" lang="en" sz="1600" u="none" cap="none" strike="noStrike">
                <a:solidFill>
                  <a:srgbClr val="000000"/>
                </a:solidFill>
                <a:latin typeface="Avenir"/>
                <a:ea typeface="Avenir"/>
                <a:cs typeface="Avenir"/>
                <a:sym typeface="Avenir"/>
              </a:rPr>
              <a:t>Safe Padlock</a:t>
            </a:r>
            <a:endParaRPr xmlns:a="http://schemas.openxmlformats.org/drawingml/2006/main" i="0" sz="1400" u="none" cap="none" strike="noStrike">
              <a:solidFill>
                <a:srgbClr val="000000"/>
              </a:solidFill>
              <a:latin typeface="Avenir"/>
              <a:ea typeface="Avenir"/>
              <a:cs typeface="Avenir"/>
              <a:sym typeface="Avenir"/>
            </a:endParaRPr>
          </a:p>
        </p:txBody>
      </p:sp>
      <p:sp>
        <p:nvSpPr>
          <p:cNvPr id="166" name="Google Shape;166;p17"/>
          <p:cNvSpPr/>
          <p:nvPr/>
        </p:nvSpPr>
        <p:spPr>
          <a:xfrm>
            <a:off x="5628056" y="2226000"/>
            <a:ext cx="1161948" cy="1266181"/>
          </a:xfrm>
          <a:custGeom>
            <a:rect b="b" l="l" r="r" t="t"/>
            <a:pathLst>
              <a:path extrusionOk="0" h="2782816" w="2539776">
                <a:moveTo>
                  <a:pt x="0" y="0"/>
                </a:moveTo>
                <a:lnTo>
                  <a:pt x="2539776" y="0"/>
                </a:lnTo>
                <a:lnTo>
                  <a:pt x="2539776" y="2782816"/>
                </a:lnTo>
                <a:lnTo>
                  <a:pt x="0" y="2782816"/>
                </a:lnTo>
                <a:lnTo>
                  <a:pt x="0" y="0"/>
                </a:lnTo>
                <a:close/>
              </a:path>
            </a:pathLst>
          </a:custGeom>
          <a:blipFill rotWithShape="1">
            <a:blip r:embed="rId3">
              <a:alphaModFix/>
            </a:blip>
            <a:stretch>
              <a:fillRect b="-3439" l="-3609" r="-78247" t="-15239"/>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sp>
        <p:nvSpPr>
          <p:cNvPr id="167" name="Google Shape;167;p17"/>
          <p:cNvSpPr/>
          <p:nvPr/>
        </p:nvSpPr>
        <p:spPr>
          <a:xfrm>
            <a:off x="7068075" y="2582215"/>
            <a:ext cx="1420646" cy="1375972"/>
          </a:xfrm>
          <a:custGeom>
            <a:rect b="b" l="l" r="r" t="t"/>
            <a:pathLst>
              <a:path extrusionOk="0" h="3573952" w="3573952">
                <a:moveTo>
                  <a:pt x="0" y="0"/>
                </a:moveTo>
                <a:lnTo>
                  <a:pt x="3573951" y="0"/>
                </a:lnTo>
                <a:lnTo>
                  <a:pt x="3573951" y="3573951"/>
                </a:lnTo>
                <a:lnTo>
                  <a:pt x="0" y="3573951"/>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sp>
        <p:nvSpPr>
          <p:cNvPr id="168" name="Google Shape;168;p17"/>
          <p:cNvSpPr/>
          <p:nvPr/>
        </p:nvSpPr>
        <p:spPr>
          <a:xfrm>
            <a:off x="7068081" y="3880840"/>
            <a:ext cx="998243" cy="1056963"/>
          </a:xfrm>
          <a:custGeom>
            <a:rect b="b" l="l" r="r" t="t"/>
            <a:pathLst>
              <a:path extrusionOk="0" h="2936009" w="2936009">
                <a:moveTo>
                  <a:pt x="0" y="0"/>
                </a:moveTo>
                <a:lnTo>
                  <a:pt x="2936009" y="0"/>
                </a:lnTo>
                <a:lnTo>
                  <a:pt x="2936009" y="2936010"/>
                </a:lnTo>
                <a:lnTo>
                  <a:pt x="0" y="2936010"/>
                </a:lnTo>
                <a:lnTo>
                  <a:pt x="0" y="0"/>
                </a:lnTo>
                <a:close/>
              </a:path>
            </a:pathLst>
          </a:cu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sp>
        <p:nvSpPr>
          <p:cNvPr id="169" name="Google Shape;169;p17"/>
          <p:cNvSpPr/>
          <p:nvPr/>
        </p:nvSpPr>
        <p:spPr>
          <a:xfrm rot="7204115">
            <a:off x="7825486" y="1242583"/>
            <a:ext cx="828991" cy="1456761"/>
          </a:xfrm>
          <a:custGeom>
            <a:rect b="b" l="l" r="r" t="t"/>
            <a:pathLst>
              <a:path extrusionOk="0" h="3672953" w="2157687">
                <a:moveTo>
                  <a:pt x="0" y="0"/>
                </a:moveTo>
                <a:lnTo>
                  <a:pt x="2157688" y="0"/>
                </a:lnTo>
                <a:lnTo>
                  <a:pt x="2157688" y="3672953"/>
                </a:lnTo>
                <a:lnTo>
                  <a:pt x="0" y="3672953"/>
                </a:lnTo>
                <a:lnTo>
                  <a:pt x="0" y="0"/>
                </a:lnTo>
                <a:close/>
              </a:path>
            </a:pathLst>
          </a:custGeom>
          <a:blipFill rotWithShape="1">
            <a:blip r:embed="rId6">
              <a:alphaModFix/>
            </a:blip>
            <a:stretch>
              <a:fillRect b="-8689" l="0" r="-99956" t="-8769"/>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sp>
        <p:nvSpPr>
          <p:cNvPr id="170" name="Google Shape;170;p17"/>
          <p:cNvSpPr/>
          <p:nvPr/>
        </p:nvSpPr>
        <p:spPr>
          <a:xfrm>
            <a:off x="7203352" y="5098183"/>
            <a:ext cx="1423514" cy="1430668"/>
          </a:xfrm>
          <a:custGeom>
            <a:rect b="b" l="l" r="r" t="t"/>
            <a:pathLst>
              <a:path extrusionOk="0" h="2861335" w="2861335">
                <a:moveTo>
                  <a:pt x="0" y="0"/>
                </a:moveTo>
                <a:lnTo>
                  <a:pt x="2861335" y="0"/>
                </a:lnTo>
                <a:lnTo>
                  <a:pt x="2861335" y="2861336"/>
                </a:lnTo>
                <a:lnTo>
                  <a:pt x="0" y="2861336"/>
                </a:lnTo>
                <a:lnTo>
                  <a:pt x="0" y="0"/>
                </a:lnTo>
                <a:close/>
              </a:path>
            </a:pathLst>
          </a:custGeom>
          <a:blipFill rotWithShape="1">
            <a:blip r:embed="rId7">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pic>
        <p:nvPicPr>
          <p:cNvPr id="171" name="Google Shape;171;p17"/>
          <p:cNvPicPr preferRelativeResize="0"/>
          <p:nvPr/>
        </p:nvPicPr>
        <p:blipFill>
          <a:blip r:embed="rId8">
            <a:alphaModFix/>
          </a:blip>
          <a:stretch>
            <a:fillRect/>
          </a:stretch>
        </p:blipFill>
        <p:spPr>
          <a:xfrm>
            <a:off x="5583127" y="5099601"/>
            <a:ext cx="1251275" cy="1166450"/>
          </a:xfrm>
          <a:prstGeom prst="rect">
            <a:avLst/>
          </a:prstGeom>
          <a:noFill/>
          <a:ln>
            <a:noFill/>
          </a:ln>
        </p:spPr>
      </p:pic>
      <p:sp>
        <p:nvSpPr>
          <p:cNvPr id="172" name="Google Shape;172;p17"/>
          <p:cNvSpPr txBox="1"/>
          <p:nvPr/>
        </p:nvSpPr>
        <p:spPr>
          <a:xfrm>
            <a:off x="778442" y="5111238"/>
            <a:ext cx="4102500" cy="338700"/>
          </a:xfrm>
          <a:prstGeom prst="rect">
            <a:avLst/>
          </a:prstGeom>
          <a:solidFill>
            <a:srgbClr val="CFE2F3"/>
          </a:solid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i="0" lang="en" sz="1600" u="none" cap="none" strike="noStrike">
                <a:solidFill>
                  <a:srgbClr val="000000"/>
                </a:solidFill>
                <a:latin typeface="Avenir"/>
                <a:ea typeface="Avenir"/>
                <a:cs typeface="Avenir"/>
                <a:sym typeface="Avenir"/>
              </a:rPr>
              <a:t>Padlock </a:t>
            </a:r>
            <a:r xmlns:a="http://schemas.openxmlformats.org/drawingml/2006/main">
              <a:rPr b="1" lang="en" sz="1600">
                <a:latin typeface="Avenir"/>
                <a:ea typeface="Avenir"/>
                <a:cs typeface="Avenir"/>
                <a:sym typeface="Avenir"/>
              </a:rPr>
              <a:t>7 </a:t>
            </a:r>
            <a:r xmlns:a="http://schemas.openxmlformats.org/drawingml/2006/main">
              <a:rPr b="1" i="0" lang="en" sz="1600" u="none" cap="none" strike="noStrike">
                <a:solidFill>
                  <a:srgbClr val="000000"/>
                </a:solidFill>
                <a:latin typeface="Avenir"/>
                <a:ea typeface="Avenir"/>
                <a:cs typeface="Avenir"/>
                <a:sym typeface="Avenir"/>
              </a:rPr>
              <a:t>: </a:t>
            </a:r>
            <a:r xmlns:a="http://schemas.openxmlformats.org/drawingml/2006/main">
              <a:rPr lang="en" sz="1600">
                <a:latin typeface="Avenir"/>
                <a:ea typeface="Avenir"/>
                <a:cs typeface="Avenir"/>
                <a:sym typeface="Avenir"/>
              </a:rPr>
              <a:t>Mixed code </a:t>
            </a:r>
            <a:endParaRPr xmlns:a="http://schemas.openxmlformats.org/drawingml/2006/main" i="0" sz="1400" u="none" cap="none" strike="noStrike">
              <a:solidFill>
                <a:srgbClr val="000000"/>
              </a:solidFill>
              <a:latin typeface="Avenir"/>
              <a:ea typeface="Avenir"/>
              <a:cs typeface="Avenir"/>
              <a:sym typeface="Avenir"/>
            </a:endParaRPr>
            <a:r xmlns:a="http://schemas.openxmlformats.org/drawingml/2006/main">
              <a:rPr i="0" lang="en" sz="1600" u="none" cap="none" strike="noStrike">
                <a:solidFill>
                  <a:srgbClr val="000000"/>
                </a:solidFill>
                <a:latin typeface="Avenir"/>
                <a:ea typeface="Avenir"/>
                <a:cs typeface="Avenir"/>
                <a:sym typeface="Avenir"/>
              </a:rPr>
              <a:t>padlock</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18"/>
          <p:cNvSpPr txBox="1"/>
          <p:nvPr>
            <p:ph type="title"/>
          </p:nvPr>
        </p:nvSpPr>
        <p:spPr>
          <a:xfrm>
            <a:off x="474595" y="318728"/>
            <a:ext cx="7767779" cy="64033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a:t>PHASE 1. </a:t>
            </a:r>
            <a:r xmlns:a="http://schemas.openxmlformats.org/drawingml/2006/main">
              <a:rPr lang="en"/>
              <a:t>We count codes</a:t>
            </a:r>
            <a:endParaRPr xmlns:a="http://schemas.openxmlformats.org/drawingml/2006/main"/>
          </a:p>
        </p:txBody>
      </p:sp>
      <p:sp>
        <p:nvSpPr>
          <p:cNvPr id="178" name="Google Shape;178;p18"/>
          <p:cNvSpPr txBox="1"/>
          <p:nvPr/>
        </p:nvSpPr>
        <p:spPr>
          <a:xfrm>
            <a:off x="528983" y="1290357"/>
            <a:ext cx="4757392" cy="369332"/>
          </a:xfrm>
          <a:prstGeom prst="rect">
            <a:avLst/>
          </a:prstGeom>
          <a:solidFill>
            <a:srgbClr val="E0E0E0"/>
          </a:solid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rPr b="1" i="0" lang="en" sz="1800" u="none" cap="none" strike="noStrike">
                <a:solidFill>
                  <a:srgbClr val="000000"/>
                </a:solidFill>
                <a:latin typeface="Arial"/>
                <a:ea typeface="Arial"/>
                <a:cs typeface="Arial"/>
                <a:sym typeface="Arial"/>
              </a:rPr>
              <a:t>Padlock 1: </a:t>
            </a:r>
            <a:r xmlns:a="http://schemas.openxmlformats.org/drawingml/2006/main">
              <a:rPr b="0" i="0" lang="en" sz="1800" u="none" cap="none" strike="noStrike">
                <a:solidFill>
                  <a:srgbClr val="000000"/>
                </a:solidFill>
                <a:latin typeface="Arial"/>
                <a:ea typeface="Arial"/>
                <a:cs typeface="Arial"/>
                <a:sym typeface="Arial"/>
              </a:rPr>
              <a:t>Roulette numbering padlock</a:t>
            </a:r>
            <a:endParaRPr xmlns:a="http://schemas.openxmlformats.org/drawingml/2006/main" b="0" i="0" sz="1400" u="none" cap="none" strike="noStrike">
              <a:solidFill>
                <a:srgbClr val="000000"/>
              </a:solidFill>
              <a:latin typeface="Arial"/>
              <a:ea typeface="Arial"/>
              <a:cs typeface="Arial"/>
              <a:sym typeface="Arial"/>
            </a:endParaRPr>
          </a:p>
        </p:txBody>
      </p:sp>
      <p:sp>
        <p:nvSpPr>
          <p:cNvPr id="179" name="Google Shape;179;p18"/>
          <p:cNvSpPr/>
          <p:nvPr/>
        </p:nvSpPr>
        <p:spPr>
          <a:xfrm>
            <a:off x="6672262" y="2329449"/>
            <a:ext cx="1671638" cy="2199102"/>
          </a:xfrm>
          <a:custGeom>
            <a:rect b="b" l="l" r="r" t="t"/>
            <a:pathLst>
              <a:path extrusionOk="0" h="2782816" w="2539776">
                <a:moveTo>
                  <a:pt x="0" y="0"/>
                </a:moveTo>
                <a:lnTo>
                  <a:pt x="2539776" y="0"/>
                </a:lnTo>
                <a:lnTo>
                  <a:pt x="2539776" y="2782816"/>
                </a:lnTo>
                <a:lnTo>
                  <a:pt x="0" y="2782816"/>
                </a:lnTo>
                <a:lnTo>
                  <a:pt x="0" y="0"/>
                </a:lnTo>
                <a:close/>
              </a:path>
            </a:pathLst>
          </a:custGeom>
          <a:blipFill rotWithShape="1">
            <a:blip r:embed="rId3">
              <a:alphaModFix/>
            </a:blip>
            <a:stretch>
              <a:fillRect b="-3439" l="-3613" r="-78247" t="-15236"/>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sp>
        <p:nvSpPr>
          <p:cNvPr id="180" name="Google Shape;180;p18"/>
          <p:cNvSpPr txBox="1"/>
          <p:nvPr>
            <p:ph idx="1" type="body"/>
          </p:nvPr>
        </p:nvSpPr>
        <p:spPr>
          <a:xfrm>
            <a:off x="528983" y="1844261"/>
            <a:ext cx="4757392" cy="4299363"/>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SzPts val="1800"/>
              <a:buChar char="◼"/>
            </a:pPr>
            <a:r xmlns:a="http://schemas.openxmlformats.org/drawingml/2006/main">
              <a:rPr lang="en" sz="1800"/>
              <a:t>You can choose any 4-digit password.</a:t>
            </a:r>
            <a:endParaRPr xmlns:a="http://schemas.openxmlformats.org/drawingml/2006/main"/>
          </a:p>
          <a:p>
            <a:pPr xmlns:a="http://schemas.openxmlformats.org/drawingml/2006/main" indent="-228600" lvl="0" marL="228600" rtl="0" algn="l">
              <a:lnSpc>
                <a:spcPct val="130000"/>
              </a:lnSpc>
              <a:spcBef>
                <a:spcPts val="600"/>
              </a:spcBef>
              <a:spcAft>
                <a:spcPts val="0"/>
              </a:spcAft>
              <a:buSzPts val="1800"/>
              <a:buChar char="◼"/>
            </a:pPr>
            <a:r xmlns:a="http://schemas.openxmlformats.org/drawingml/2006/main">
              <a:rPr lang="en" sz="1800"/>
              <a:t>The squares are rotating discs, with 10 numbers ranging from 0 to 9.</a:t>
            </a:r>
            <a:endParaRPr xmlns:a="http://schemas.openxmlformats.org/drawingml/2006/main"/>
          </a:p>
          <a:p>
            <a:pPr xmlns:a="http://schemas.openxmlformats.org/drawingml/2006/main" indent="-228600" lvl="0" marL="228600" rtl="0" algn="l">
              <a:lnSpc>
                <a:spcPct val="130000"/>
              </a:lnSpc>
              <a:spcBef>
                <a:spcPts val="600"/>
              </a:spcBef>
              <a:spcAft>
                <a:spcPts val="0"/>
              </a:spcAft>
              <a:buSzPts val="1800"/>
              <a:buChar char="◼"/>
            </a:pPr>
            <a:r xmlns:a="http://schemas.openxmlformats.org/drawingml/2006/main">
              <a:rPr lang="en" sz="1800"/>
              <a:t>Elements or numbers can be repeated.</a:t>
            </a:r>
            <a:endParaRPr xmlns:a="http://schemas.openxmlformats.org/drawingml/2006/main"/>
          </a:p>
          <a:p>
            <a:pPr xmlns:a="http://schemas.openxmlformats.org/drawingml/2006/main" indent="-228600" lvl="0" marL="228600" rtl="0" algn="l">
              <a:lnSpc>
                <a:spcPct val="130000"/>
              </a:lnSpc>
              <a:spcBef>
                <a:spcPts val="600"/>
              </a:spcBef>
              <a:spcAft>
                <a:spcPts val="0"/>
              </a:spcAft>
              <a:buSzPts val="1800"/>
              <a:buChar char="◼"/>
            </a:pPr>
            <a:r xmlns:a="http://schemas.openxmlformats.org/drawingml/2006/main">
              <a:rPr lang="en" sz="1800"/>
              <a:t>To open the padlock, the discs must be moved so that the password appears correctly located in each of the 4 boxes.</a:t>
            </a:r>
            <a:endParaRPr xmlns:a="http://schemas.openxmlformats.org/drawingml/2006/main"/>
          </a:p>
          <a:p>
            <a:pPr xmlns:a="http://schemas.openxmlformats.org/drawingml/2006/main" indent="-114300" lvl="0" marL="228600" rtl="0" algn="l">
              <a:lnSpc>
                <a:spcPct val="130000"/>
              </a:lnSpc>
              <a:spcBef>
                <a:spcPts val="600"/>
              </a:spcBef>
              <a:spcAft>
                <a:spcPts val="0"/>
              </a:spcAft>
              <a:buSzPts val="1800"/>
              <a:buNone/>
            </a:pPr>
            <a:r xmlns:a="http://schemas.openxmlformats.org/drawingml/2006/main">
              <a:t/>
            </a:r>
            <a:endParaRPr xmlns:a="http://schemas.openxmlformats.org/drawingml/2006/main" sz="18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sp>
        <p:nvSpPr>
          <p:cNvPr id="185" name="Google Shape;185;p19"/>
          <p:cNvSpPr txBox="1"/>
          <p:nvPr>
            <p:ph type="title"/>
          </p:nvPr>
        </p:nvSpPr>
        <p:spPr>
          <a:xfrm>
            <a:off x="474595" y="318728"/>
            <a:ext cx="7767779" cy="64033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a:t>PHASE 1. </a:t>
            </a:r>
            <a:r xmlns:a="http://schemas.openxmlformats.org/drawingml/2006/main">
              <a:rPr lang="en"/>
              <a:t>We count codes</a:t>
            </a:r>
            <a:endParaRPr xmlns:a="http://schemas.openxmlformats.org/drawingml/2006/main"/>
          </a:p>
        </p:txBody>
      </p:sp>
      <p:sp>
        <p:nvSpPr>
          <p:cNvPr id="186" name="Google Shape;186;p19"/>
          <p:cNvSpPr txBox="1"/>
          <p:nvPr>
            <p:ph idx="1" type="body"/>
          </p:nvPr>
        </p:nvSpPr>
        <p:spPr>
          <a:xfrm>
            <a:off x="528983" y="1844261"/>
            <a:ext cx="4757392" cy="4299363"/>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Clr>
                <a:srgbClr val="595959"/>
              </a:buClr>
              <a:buSzPts val="1800"/>
              <a:buChar char="◼"/>
            </a:pPr>
            <a:r xmlns:a="http://schemas.openxmlformats.org/drawingml/2006/main">
              <a:rPr lang="en" sz="1800"/>
              <a:t>You can choose a 3-digit password.</a:t>
            </a:r>
            <a:endParaRPr xmlns:a="http://schemas.openxmlformats.org/drawingml/2006/main"/>
          </a:p>
          <a:p>
            <a:pPr xmlns:a="http://schemas.openxmlformats.org/drawingml/2006/main" indent="-228600" lvl="0" marL="228600" rtl="0" algn="l">
              <a:lnSpc>
                <a:spcPct val="130000"/>
              </a:lnSpc>
              <a:spcBef>
                <a:spcPts val="600"/>
              </a:spcBef>
              <a:spcAft>
                <a:spcPts val="0"/>
              </a:spcAft>
              <a:buClr>
                <a:srgbClr val="595959"/>
              </a:buClr>
              <a:buSzPts val="1800"/>
              <a:buChar char="◼"/>
            </a:pPr>
            <a:r xmlns:a="http://schemas.openxmlformats.org/drawingml/2006/main">
              <a:rPr lang="en" sz="1800"/>
              <a:t>The padlock does not detect the order in which we press the numbers.</a:t>
            </a:r>
            <a:endParaRPr xmlns:a="http://schemas.openxmlformats.org/drawingml/2006/main"/>
          </a:p>
          <a:p>
            <a:pPr xmlns:a="http://schemas.openxmlformats.org/drawingml/2006/main" indent="-228600" lvl="0" marL="228600" rtl="0" algn="l">
              <a:lnSpc>
                <a:spcPct val="130000"/>
              </a:lnSpc>
              <a:spcBef>
                <a:spcPts val="600"/>
              </a:spcBef>
              <a:spcAft>
                <a:spcPts val="0"/>
              </a:spcAft>
              <a:buClr>
                <a:srgbClr val="595959"/>
              </a:buClr>
              <a:buSzPts val="1800"/>
              <a:buChar char="◼"/>
            </a:pPr>
            <a:r xmlns:a="http://schemas.openxmlformats.org/drawingml/2006/main">
              <a:rPr lang="en" sz="1800"/>
              <a:t>To open it, you must slide the bottom tab.</a:t>
            </a:r>
            <a:endParaRPr xmlns:a="http://schemas.openxmlformats.org/drawingml/2006/main"/>
          </a:p>
          <a:p>
            <a:pPr xmlns:a="http://schemas.openxmlformats.org/drawingml/2006/main" indent="-114300" lvl="0" marL="228600" rtl="0" algn="l">
              <a:lnSpc>
                <a:spcPct val="130000"/>
              </a:lnSpc>
              <a:spcBef>
                <a:spcPts val="600"/>
              </a:spcBef>
              <a:spcAft>
                <a:spcPts val="0"/>
              </a:spcAft>
              <a:buSzPts val="1800"/>
              <a:buNone/>
            </a:pPr>
            <a:r xmlns:a="http://schemas.openxmlformats.org/drawingml/2006/main">
              <a:t/>
            </a:r>
            <a:endParaRPr xmlns:a="http://schemas.openxmlformats.org/drawingml/2006/main" sz="1800"/>
          </a:p>
          <a:p>
            <a:pPr xmlns:a="http://schemas.openxmlformats.org/drawingml/2006/main" indent="-114300" lvl="0" marL="228600" rtl="0" algn="l">
              <a:lnSpc>
                <a:spcPct val="130000"/>
              </a:lnSpc>
              <a:spcBef>
                <a:spcPts val="600"/>
              </a:spcBef>
              <a:spcAft>
                <a:spcPts val="0"/>
              </a:spcAft>
              <a:buSzPts val="1800"/>
              <a:buNone/>
            </a:pPr>
            <a:r xmlns:a="http://schemas.openxmlformats.org/drawingml/2006/main">
              <a:t/>
            </a:r>
            <a:endParaRPr xmlns:a="http://schemas.openxmlformats.org/drawingml/2006/main" sz="1800"/>
          </a:p>
        </p:txBody>
      </p:sp>
      <p:sp>
        <p:nvSpPr>
          <p:cNvPr id="187" name="Google Shape;187;p19"/>
          <p:cNvSpPr txBox="1"/>
          <p:nvPr/>
        </p:nvSpPr>
        <p:spPr>
          <a:xfrm>
            <a:off x="528983" y="1305698"/>
            <a:ext cx="4757392" cy="369332"/>
          </a:xfrm>
          <a:prstGeom prst="rect">
            <a:avLst/>
          </a:prstGeom>
          <a:solidFill>
            <a:srgbClr val="FFAAAA"/>
          </a:solidFill>
          <a:ln>
            <a:noFill/>
          </a:ln>
        </p:spPr>
        <p:txBody>
          <a:bodyPr anchorCtr="0" anchor="t" bIns="45700" lIns="91425" spcFirstLastPara="1" rIns="91425" wrap="square" tIns="45700">
            <a:spAutoFit/>
          </a:bodyPr>
          <a:lstStyle/>
          <a:p>
            <a:pPr xmlns:a="http://schemas.openxmlformats.org/drawingml/2006/main" indent="0" lvl="0" marL="0" marR="0" rtl="0" algn="ctr">
              <a:lnSpc>
                <a:spcPct val="100000"/>
              </a:lnSpc>
              <a:spcBef>
                <a:spcPts val="0"/>
              </a:spcBef>
              <a:spcAft>
                <a:spcPts val="0"/>
              </a:spcAft>
              <a:buClr>
                <a:srgbClr val="000000"/>
              </a:buClr>
              <a:buSzPts val="1800"/>
              <a:buFont typeface="Arial"/>
              <a:buNone/>
            </a:pPr>
            <a:r xmlns:a="http://schemas.openxmlformats.org/drawingml/2006/main">
              <a:rPr b="1" i="0" lang="en" sz="1800" u="none" cap="none" strike="noStrike">
                <a:solidFill>
                  <a:srgbClr val="000000"/>
                </a:solidFill>
                <a:latin typeface="Avenir"/>
                <a:ea typeface="Avenir"/>
                <a:cs typeface="Avenir"/>
                <a:sym typeface="Avenir"/>
              </a:rPr>
              <a:t>Padlock 2: </a:t>
            </a:r>
            <a:r xmlns:a="http://schemas.openxmlformats.org/drawingml/2006/main">
              <a:rPr i="0" lang="en" sz="1800" u="none" cap="none" strike="noStrike">
                <a:solidFill>
                  <a:srgbClr val="000000"/>
                </a:solidFill>
                <a:latin typeface="Avenir"/>
                <a:ea typeface="Avenir"/>
                <a:cs typeface="Avenir"/>
                <a:sym typeface="Avenir"/>
              </a:rPr>
              <a:t>Push-button padlock</a:t>
            </a:r>
            <a:endParaRPr xmlns:a="http://schemas.openxmlformats.org/drawingml/2006/main" i="0" sz="1400" u="none" cap="none" strike="noStrike">
              <a:solidFill>
                <a:srgbClr val="000000"/>
              </a:solidFill>
              <a:latin typeface="Avenir"/>
              <a:ea typeface="Avenir"/>
              <a:cs typeface="Avenir"/>
              <a:sym typeface="Avenir"/>
            </a:endParaRPr>
          </a:p>
        </p:txBody>
      </p:sp>
      <p:sp>
        <p:nvSpPr>
          <p:cNvPr id="188" name="Google Shape;188;p19"/>
          <p:cNvSpPr/>
          <p:nvPr/>
        </p:nvSpPr>
        <p:spPr>
          <a:xfrm>
            <a:off x="6308458" y="2338174"/>
            <a:ext cx="2187658" cy="2181651"/>
          </a:xfrm>
          <a:custGeom>
            <a:rect b="b" l="l" r="r" t="t"/>
            <a:pathLst>
              <a:path extrusionOk="0" h="3573952" w="3573952">
                <a:moveTo>
                  <a:pt x="0" y="0"/>
                </a:moveTo>
                <a:lnTo>
                  <a:pt x="3573951" y="0"/>
                </a:lnTo>
                <a:lnTo>
                  <a:pt x="3573951" y="3573951"/>
                </a:lnTo>
                <a:lnTo>
                  <a:pt x="0" y="3573951"/>
                </a:lnTo>
                <a:lnTo>
                  <a:pt x="0" y="0"/>
                </a:lnTo>
                <a:close/>
              </a:path>
            </a:pathLst>
          </a:custGeom>
          <a:blipFill rotWithShape="1">
            <a:blip r:embed="rId3">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b="0" i="0" sz="1800" u="none" cap="none" strike="noStrike">
              <a:solidFill>
                <a:schemeClr val="dk1"/>
              </a:solidFill>
              <a:latin typeface="Century Gothic"/>
              <a:ea typeface="Century Gothic"/>
              <a:cs typeface="Century Gothic"/>
              <a:sym typeface="Century Gothic"/>
            </a:endParaRPr>
          </a:p>
        </p:txBody>
      </p:sp>
      <p:pic>
        <p:nvPicPr>
          <p:cNvPr id="189" name="Google Shape;189;p19" title="Chinese Push Button Padlock decoded"/>
          <p:cNvPicPr preferRelativeResize="0"/>
          <p:nvPr/>
        </p:nvPicPr>
        <p:blipFill rotWithShape="1">
          <a:blip r:embed="rId4">
            <a:alphaModFix/>
          </a:blip>
          <a:srcRect b="0" l="0" r="0" t="0"/>
          <a:stretch/>
        </p:blipFill>
        <p:spPr>
          <a:xfrm>
            <a:off x="909244" y="4499412"/>
            <a:ext cx="3258782" cy="2026656"/>
          </a:xfrm>
          <a:prstGeom prst="rect">
            <a:avLst/>
          </a:prstGeom>
          <a:noFill/>
          <a:ln>
            <a:noFill/>
          </a:ln>
        </p:spPr>
      </p:pic>
      <p:sp>
        <p:nvSpPr>
          <p:cNvPr id="190" name="Google Shape;190;p19"/>
          <p:cNvSpPr txBox="1"/>
          <p:nvPr/>
        </p:nvSpPr>
        <p:spPr>
          <a:xfrm>
            <a:off x="4358474" y="6150175"/>
            <a:ext cx="3466800" cy="354000"/>
          </a:xfrm>
          <a:prstGeom prst="rect">
            <a:avLst/>
          </a:prstGeom>
          <a:no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xmlns:r="http://schemas.openxmlformats.org/officeDocument/2006/relationships" xmlns:ahyp="http://schemas.microsoft.com/office/drawing/2018/hyperlinkcolor">
              <a:rPr b="0" i="0" lang="en" sz="1700" u="sng" cap="none" strike="noStrike">
                <a:solidFill>
                  <a:srgbClr val="CC4125"/>
                </a:solidFill>
                <a:latin typeface="Arial"/>
                <a:ea typeface="Arial"/>
                <a:cs typeface="Arial"/>
                <a:sym typeface="Arial"/>
                <a:hlinkClick r:id="rId5">
                  <a:extLst>
                    <a:ext uri="{A12FA001-AC4F-418D-AE19-62706E023703}">
                      <ahyp:hlinkClr val="tx"/>
                    </a:ext>
                  </a:extLst>
                </a:hlinkClick>
              </a:rPr>
              <a:t>https://youtu.be/zSUG5iQniSc</a:t>
            </a:r>
            <a:endParaRPr xmlns:a="http://schemas.openxmlformats.org/drawingml/2006/main" b="0" i="0" sz="1700" u="none" cap="none" strike="noStrike">
              <a:solidFill>
                <a:srgbClr val="CC4125"/>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20"/>
          <p:cNvSpPr txBox="1"/>
          <p:nvPr>
            <p:ph type="title"/>
          </p:nvPr>
        </p:nvSpPr>
        <p:spPr>
          <a:xfrm>
            <a:off x="474595" y="318728"/>
            <a:ext cx="7767779" cy="64033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a:t>PHASE 1. </a:t>
            </a:r>
            <a:r xmlns:a="http://schemas.openxmlformats.org/drawingml/2006/main">
              <a:rPr lang="en"/>
              <a:t>We count codes</a:t>
            </a:r>
            <a:endParaRPr xmlns:a="http://schemas.openxmlformats.org/drawingml/2006/main"/>
          </a:p>
        </p:txBody>
      </p:sp>
      <p:sp>
        <p:nvSpPr>
          <p:cNvPr id="196" name="Google Shape;196;p20"/>
          <p:cNvSpPr txBox="1"/>
          <p:nvPr>
            <p:ph idx="1" type="body"/>
          </p:nvPr>
        </p:nvSpPr>
        <p:spPr>
          <a:xfrm>
            <a:off x="528983" y="1844261"/>
            <a:ext cx="4757392" cy="4299363"/>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Clr>
                <a:srgbClr val="595959"/>
              </a:buClr>
              <a:buSzPts val="1800"/>
              <a:buChar char="◼"/>
            </a:pPr>
            <a:r xmlns:a="http://schemas.openxmlformats.org/drawingml/2006/main">
              <a:rPr lang="en" sz="1800"/>
              <a:t>You can choose any password with 5-letter words.</a:t>
            </a:r>
            <a:endParaRPr xmlns:a="http://schemas.openxmlformats.org/drawingml/2006/main"/>
          </a:p>
          <a:p>
            <a:pPr xmlns:a="http://schemas.openxmlformats.org/drawingml/2006/main" indent="-228600" lvl="0" marL="228600" rtl="0" algn="l">
              <a:lnSpc>
                <a:spcPct val="130000"/>
              </a:lnSpc>
              <a:spcBef>
                <a:spcPts val="600"/>
              </a:spcBef>
              <a:spcAft>
                <a:spcPts val="0"/>
              </a:spcAft>
              <a:buClr>
                <a:srgbClr val="595959"/>
              </a:buClr>
              <a:buSzPts val="1800"/>
              <a:buChar char="◼"/>
            </a:pPr>
            <a:r xmlns:a="http://schemas.openxmlformats.org/drawingml/2006/main">
              <a:rPr lang="en" sz="1800"/>
              <a:t>Only 10 letters are available on each disc.</a:t>
            </a:r>
            <a:endParaRPr xmlns:a="http://schemas.openxmlformats.org/drawingml/2006/main"/>
          </a:p>
          <a:p>
            <a:pPr xmlns:a="http://schemas.openxmlformats.org/drawingml/2006/main" indent="-228600" lvl="0" marL="228600" rtl="0" algn="l">
              <a:lnSpc>
                <a:spcPct val="130000"/>
              </a:lnSpc>
              <a:spcBef>
                <a:spcPts val="600"/>
              </a:spcBef>
              <a:spcAft>
                <a:spcPts val="0"/>
              </a:spcAft>
              <a:buClr>
                <a:srgbClr val="595959"/>
              </a:buClr>
              <a:buSzPts val="1800"/>
              <a:buChar char="◼"/>
            </a:pPr>
            <a:r xmlns:a="http://schemas.openxmlformats.org/drawingml/2006/main">
              <a:rPr lang="en" sz="1800"/>
              <a:t>The padlock has no way of checking whether the word entered makes sense or not. Therefore, the password may be a meaningless word.</a:t>
            </a:r>
            <a:endParaRPr xmlns:a="http://schemas.openxmlformats.org/drawingml/2006/main"/>
          </a:p>
          <a:p>
            <a:pPr xmlns:a="http://schemas.openxmlformats.org/drawingml/2006/main" indent="-228600" lvl="0" marL="228600" rtl="0" algn="l">
              <a:lnSpc>
                <a:spcPct val="130000"/>
              </a:lnSpc>
              <a:spcBef>
                <a:spcPts val="600"/>
              </a:spcBef>
              <a:spcAft>
                <a:spcPts val="0"/>
              </a:spcAft>
              <a:buClr>
                <a:srgbClr val="595959"/>
              </a:buClr>
              <a:buSzPts val="1800"/>
              <a:buChar char="◼"/>
            </a:pPr>
            <a:r xmlns:a="http://schemas.openxmlformats.org/drawingml/2006/main">
              <a:rPr lang="en" sz="1800"/>
              <a:t>There are repeated lyrics on the different albums.</a:t>
            </a:r>
            <a:endParaRPr xmlns:a="http://schemas.openxmlformats.org/drawingml/2006/main"/>
          </a:p>
          <a:p>
            <a:pPr xmlns:a="http://schemas.openxmlformats.org/drawingml/2006/main" indent="-228600" lvl="0" marL="228600" rtl="0" algn="l">
              <a:lnSpc>
                <a:spcPct val="130000"/>
              </a:lnSpc>
              <a:spcBef>
                <a:spcPts val="600"/>
              </a:spcBef>
              <a:spcAft>
                <a:spcPts val="0"/>
              </a:spcAft>
              <a:buClr>
                <a:srgbClr val="595959"/>
              </a:buClr>
              <a:buSzPts val="1800"/>
              <a:buChar char="◼"/>
            </a:pPr>
            <a:r xmlns:a="http://schemas.openxmlformats.org/drawingml/2006/main">
              <a:rPr lang="en" sz="1800"/>
              <a:t>To open it, the discs must be moved so that the password appears in the position next to the tab.</a:t>
            </a:r>
            <a:endParaRPr xmlns:a="http://schemas.openxmlformats.org/drawingml/2006/main"/>
          </a:p>
          <a:p>
            <a:pPr xmlns:a="http://schemas.openxmlformats.org/drawingml/2006/main" indent="-114300" lvl="0" marL="228600" rtl="0" algn="l">
              <a:lnSpc>
                <a:spcPct val="130000"/>
              </a:lnSpc>
              <a:spcBef>
                <a:spcPts val="600"/>
              </a:spcBef>
              <a:spcAft>
                <a:spcPts val="0"/>
              </a:spcAft>
              <a:buSzPts val="1800"/>
              <a:buNone/>
            </a:pPr>
            <a:r xmlns:a="http://schemas.openxmlformats.org/drawingml/2006/main">
              <a:t/>
            </a:r>
            <a:endParaRPr xmlns:a="http://schemas.openxmlformats.org/drawingml/2006/main" sz="1800"/>
          </a:p>
        </p:txBody>
      </p:sp>
      <p:sp>
        <p:nvSpPr>
          <p:cNvPr id="197" name="Google Shape;197;p20"/>
          <p:cNvSpPr txBox="1"/>
          <p:nvPr/>
        </p:nvSpPr>
        <p:spPr>
          <a:xfrm>
            <a:off x="474595" y="1391300"/>
            <a:ext cx="4811780" cy="369332"/>
          </a:xfrm>
          <a:prstGeom prst="rect">
            <a:avLst/>
          </a:prstGeom>
          <a:solidFill>
            <a:srgbClr val="30A034">
              <a:alpha val="14510"/>
            </a:srgbClr>
          </a:solidFill>
          <a:ln>
            <a:noFill/>
          </a:ln>
        </p:spPr>
        <p:txBody>
          <a:bodyPr anchorCtr="0" anchor="t" bIns="45700" lIns="91425" spcFirstLastPara="1" rIns="91425" wrap="square" tIns="45700">
            <a:spAutoFit/>
          </a:bodyPr>
          <a:lstStyle/>
          <a:p>
            <a:pPr xmlns:a="http://schemas.openxmlformats.org/drawingml/2006/main" indent="0" lvl="0" marL="0" marR="0" rtl="0" algn="ctr">
              <a:lnSpc>
                <a:spcPct val="100000"/>
              </a:lnSpc>
              <a:spcBef>
                <a:spcPts val="0"/>
              </a:spcBef>
              <a:spcAft>
                <a:spcPts val="0"/>
              </a:spcAft>
              <a:buClr>
                <a:srgbClr val="000000"/>
              </a:buClr>
              <a:buSzPts val="1800"/>
              <a:buFont typeface="Arial"/>
              <a:buNone/>
            </a:pPr>
            <a:r xmlns:a="http://schemas.openxmlformats.org/drawingml/2006/main">
              <a:rPr b="1" i="0" lang="en" sz="1800" u="none" cap="none" strike="noStrike">
                <a:solidFill>
                  <a:srgbClr val="000000"/>
                </a:solidFill>
                <a:latin typeface="Avenir"/>
                <a:ea typeface="Avenir"/>
                <a:cs typeface="Avenir"/>
                <a:sym typeface="Avenir"/>
              </a:rPr>
              <a:t>Padlock </a:t>
            </a:r>
            <a:r xmlns:a="http://schemas.openxmlformats.org/drawingml/2006/main">
              <a:rPr b="1" lang="en" sz="1800">
                <a:latin typeface="Avenir"/>
                <a:ea typeface="Avenir"/>
                <a:cs typeface="Avenir"/>
                <a:sym typeface="Avenir"/>
              </a:rPr>
              <a:t>3 </a:t>
            </a:r>
            <a:r xmlns:a="http://schemas.openxmlformats.org/drawingml/2006/main">
              <a:rPr b="1" i="0" lang="en" sz="1800" u="none" cap="none" strike="noStrike">
                <a:solidFill>
                  <a:srgbClr val="000000"/>
                </a:solidFill>
                <a:latin typeface="Avenir"/>
                <a:ea typeface="Avenir"/>
                <a:cs typeface="Avenir"/>
                <a:sym typeface="Avenir"/>
              </a:rPr>
              <a:t>: </a:t>
            </a:r>
            <a:r xmlns:a="http://schemas.openxmlformats.org/drawingml/2006/main">
              <a:rPr i="0" lang="en" sz="1800" u="none" cap="none" strike="noStrike">
                <a:solidFill>
                  <a:srgbClr val="000000"/>
                </a:solidFill>
                <a:latin typeface="Avenir"/>
                <a:ea typeface="Avenir"/>
                <a:cs typeface="Avenir"/>
                <a:sym typeface="Avenir"/>
              </a:rPr>
              <a:t>Word padlock</a:t>
            </a:r>
            <a:endParaRPr xmlns:a="http://schemas.openxmlformats.org/drawingml/2006/main" i="0" sz="1400" u="none" cap="none" strike="noStrike">
              <a:solidFill>
                <a:srgbClr val="000000"/>
              </a:solidFill>
              <a:latin typeface="Avenir"/>
              <a:ea typeface="Avenir"/>
              <a:cs typeface="Avenir"/>
              <a:sym typeface="Avenir"/>
            </a:endParaRPr>
          </a:p>
        </p:txBody>
      </p:sp>
      <p:sp>
        <p:nvSpPr>
          <p:cNvPr id="198" name="Google Shape;198;p20"/>
          <p:cNvSpPr/>
          <p:nvPr/>
        </p:nvSpPr>
        <p:spPr>
          <a:xfrm>
            <a:off x="6418738" y="2400192"/>
            <a:ext cx="2106586" cy="2444227"/>
          </a:xfrm>
          <a:custGeom>
            <a:rect b="b" l="l" r="r" t="t"/>
            <a:pathLst>
              <a:path extrusionOk="0" h="2936009" w="2936009">
                <a:moveTo>
                  <a:pt x="0" y="0"/>
                </a:moveTo>
                <a:lnTo>
                  <a:pt x="2936009" y="0"/>
                </a:lnTo>
                <a:lnTo>
                  <a:pt x="2936009" y="2936010"/>
                </a:lnTo>
                <a:lnTo>
                  <a:pt x="0" y="2936010"/>
                </a:lnTo>
                <a:lnTo>
                  <a:pt x="0" y="0"/>
                </a:lnTo>
                <a:close/>
              </a:path>
            </a:pathLst>
          </a:custGeom>
          <a:blipFill rotWithShape="1">
            <a:blip r:embed="rId3">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b="0" i="0" sz="1800" u="none" cap="none" strike="noStrike">
              <a:solidFill>
                <a:schemeClr val="dk1"/>
              </a:solidFill>
              <a:latin typeface="Century Gothic"/>
              <a:ea typeface="Century Gothic"/>
              <a:cs typeface="Century Gothic"/>
              <a:sym typeface="Century Gothic"/>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21"/>
          <p:cNvSpPr txBox="1"/>
          <p:nvPr>
            <p:ph type="title"/>
          </p:nvPr>
        </p:nvSpPr>
        <p:spPr>
          <a:xfrm>
            <a:off x="474595" y="318728"/>
            <a:ext cx="7767779" cy="64033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a:t>PHASE 1. </a:t>
            </a:r>
            <a:r xmlns:a="http://schemas.openxmlformats.org/drawingml/2006/main">
              <a:rPr lang="en"/>
              <a:t>We count codes</a:t>
            </a:r>
            <a:endParaRPr xmlns:a="http://schemas.openxmlformats.org/drawingml/2006/main"/>
          </a:p>
        </p:txBody>
      </p:sp>
      <p:sp>
        <p:nvSpPr>
          <p:cNvPr id="204" name="Google Shape;204;p21"/>
          <p:cNvSpPr txBox="1"/>
          <p:nvPr>
            <p:ph idx="1" type="body"/>
          </p:nvPr>
        </p:nvSpPr>
        <p:spPr>
          <a:xfrm>
            <a:off x="528983" y="1558507"/>
            <a:ext cx="4757392" cy="4299363"/>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Clr>
                <a:srgbClr val="595959"/>
              </a:buClr>
              <a:buSzPts val="1800"/>
              <a:buChar char="◼"/>
            </a:pPr>
            <a:r xmlns:a="http://schemas.openxmlformats.org/drawingml/2006/main">
              <a:rPr lang="en" sz="1800"/>
              <a:t>Any 4-direction password can be chosen (up, down, right, left)</a:t>
            </a:r>
            <a:endParaRPr xmlns:a="http://schemas.openxmlformats.org/drawingml/2006/main"/>
          </a:p>
          <a:p>
            <a:pPr xmlns:a="http://schemas.openxmlformats.org/drawingml/2006/main" indent="-228600" lvl="0" marL="228600" rtl="0" algn="l">
              <a:lnSpc>
                <a:spcPct val="130000"/>
              </a:lnSpc>
              <a:spcBef>
                <a:spcPts val="600"/>
              </a:spcBef>
              <a:spcAft>
                <a:spcPts val="0"/>
              </a:spcAft>
              <a:buClr>
                <a:srgbClr val="595959"/>
              </a:buClr>
              <a:buSzPts val="1800"/>
              <a:buChar char="◼"/>
            </a:pPr>
            <a:r xmlns:a="http://schemas.openxmlformats.org/drawingml/2006/main">
              <a:rPr lang="en" sz="1800"/>
              <a:t>A password can have repeated elements.</a:t>
            </a:r>
            <a:endParaRPr xmlns:a="http://schemas.openxmlformats.org/drawingml/2006/main"/>
          </a:p>
          <a:p>
            <a:pPr xmlns:a="http://schemas.openxmlformats.org/drawingml/2006/main" indent="-228600" lvl="0" marL="228600" rtl="0" algn="l">
              <a:lnSpc>
                <a:spcPct val="130000"/>
              </a:lnSpc>
              <a:spcBef>
                <a:spcPts val="600"/>
              </a:spcBef>
              <a:spcAft>
                <a:spcPts val="0"/>
              </a:spcAft>
              <a:buClr>
                <a:srgbClr val="595959"/>
              </a:buClr>
              <a:buSzPts val="1800"/>
              <a:buChar char="◼"/>
            </a:pPr>
            <a:r xmlns:a="http://schemas.openxmlformats.org/drawingml/2006/main">
              <a:rPr lang="en" sz="1800"/>
              <a:t>To enter a new password, you must press twice against the padlock.</a:t>
            </a:r>
            <a:endParaRPr xmlns:a="http://schemas.openxmlformats.org/drawingml/2006/main"/>
          </a:p>
          <a:p>
            <a:pPr xmlns:a="http://schemas.openxmlformats.org/drawingml/2006/main" indent="-228600" lvl="0" marL="228600" rtl="0" algn="l">
              <a:lnSpc>
                <a:spcPct val="130000"/>
              </a:lnSpc>
              <a:spcBef>
                <a:spcPts val="600"/>
              </a:spcBef>
              <a:spcAft>
                <a:spcPts val="0"/>
              </a:spcAft>
              <a:buClr>
                <a:srgbClr val="595959"/>
              </a:buClr>
              <a:buSzPts val="1800"/>
              <a:buChar char="◼"/>
            </a:pPr>
            <a:r xmlns:a="http://schemas.openxmlformats.org/drawingml/2006/main">
              <a:rPr lang="en" sz="1800"/>
              <a:t>When the code is correct, the padlock can be opened.</a:t>
            </a:r>
            <a:endParaRPr xmlns:a="http://schemas.openxmlformats.org/drawingml/2006/main"/>
          </a:p>
          <a:p>
            <a:pPr xmlns:a="http://schemas.openxmlformats.org/drawingml/2006/main" indent="-114300" lvl="0" marL="228600" rtl="0" algn="l">
              <a:lnSpc>
                <a:spcPct val="130000"/>
              </a:lnSpc>
              <a:spcBef>
                <a:spcPts val="600"/>
              </a:spcBef>
              <a:spcAft>
                <a:spcPts val="0"/>
              </a:spcAft>
              <a:buClr>
                <a:srgbClr val="595959"/>
              </a:buClr>
              <a:buSzPts val="1800"/>
              <a:buNone/>
            </a:pPr>
            <a:r xmlns:a="http://schemas.openxmlformats.org/drawingml/2006/main">
              <a:t/>
            </a:r>
            <a:endParaRPr xmlns:a="http://schemas.openxmlformats.org/drawingml/2006/main" sz="1800"/>
          </a:p>
          <a:p>
            <a:pPr xmlns:a="http://schemas.openxmlformats.org/drawingml/2006/main" indent="-114300" lvl="0" marL="228600" rtl="0" algn="l">
              <a:lnSpc>
                <a:spcPct val="130000"/>
              </a:lnSpc>
              <a:spcBef>
                <a:spcPts val="600"/>
              </a:spcBef>
              <a:spcAft>
                <a:spcPts val="0"/>
              </a:spcAft>
              <a:buSzPts val="1800"/>
              <a:buNone/>
            </a:pPr>
            <a:r xmlns:a="http://schemas.openxmlformats.org/drawingml/2006/main">
              <a:t/>
            </a:r>
            <a:endParaRPr xmlns:a="http://schemas.openxmlformats.org/drawingml/2006/main" sz="1800"/>
          </a:p>
        </p:txBody>
      </p:sp>
      <p:sp>
        <p:nvSpPr>
          <p:cNvPr id="205" name="Google Shape;205;p21"/>
          <p:cNvSpPr txBox="1"/>
          <p:nvPr/>
        </p:nvSpPr>
        <p:spPr>
          <a:xfrm>
            <a:off x="474595" y="1127319"/>
            <a:ext cx="4757392" cy="369332"/>
          </a:xfrm>
          <a:prstGeom prst="rect">
            <a:avLst/>
          </a:prstGeom>
          <a:solidFill>
            <a:srgbClr val="FFAAAA">
              <a:alpha val="48235"/>
            </a:srgbClr>
          </a:solidFill>
          <a:ln>
            <a:noFill/>
          </a:ln>
        </p:spPr>
        <p:txBody>
          <a:bodyPr anchorCtr="0" anchor="t" bIns="45700" lIns="91425" spcFirstLastPara="1" rIns="91425" wrap="square" tIns="45700">
            <a:spAutoFit/>
          </a:bodyPr>
          <a:lstStyle/>
          <a:p>
            <a:pPr xmlns:a="http://schemas.openxmlformats.org/drawingml/2006/main" indent="0" lvl="0" marL="0" marR="0" rtl="0" algn="ctr">
              <a:lnSpc>
                <a:spcPct val="100000"/>
              </a:lnSpc>
              <a:spcBef>
                <a:spcPts val="0"/>
              </a:spcBef>
              <a:spcAft>
                <a:spcPts val="0"/>
              </a:spcAft>
              <a:buClr>
                <a:srgbClr val="000000"/>
              </a:buClr>
              <a:buSzPts val="1800"/>
              <a:buFont typeface="Arial"/>
              <a:buNone/>
            </a:pPr>
            <a:r xmlns:a="http://schemas.openxmlformats.org/drawingml/2006/main">
              <a:rPr b="1" i="0" lang="en" sz="1800" u="none" cap="none" strike="noStrike">
                <a:solidFill>
                  <a:srgbClr val="000000"/>
                </a:solidFill>
                <a:latin typeface="Avenir"/>
                <a:ea typeface="Avenir"/>
                <a:cs typeface="Avenir"/>
                <a:sym typeface="Avenir"/>
              </a:rPr>
              <a:t>Padlock </a:t>
            </a:r>
            <a:r xmlns:a="http://schemas.openxmlformats.org/drawingml/2006/main">
              <a:rPr b="1" lang="en" sz="1800">
                <a:latin typeface="Avenir"/>
                <a:ea typeface="Avenir"/>
                <a:cs typeface="Avenir"/>
                <a:sym typeface="Avenir"/>
              </a:rPr>
              <a:t>4 </a:t>
            </a:r>
            <a:r xmlns:a="http://schemas.openxmlformats.org/drawingml/2006/main">
              <a:rPr b="1" i="0" lang="en" sz="1800" u="none" cap="none" strike="noStrike">
                <a:solidFill>
                  <a:srgbClr val="000000"/>
                </a:solidFill>
                <a:latin typeface="Avenir"/>
                <a:ea typeface="Avenir"/>
                <a:cs typeface="Avenir"/>
                <a:sym typeface="Avenir"/>
              </a:rPr>
              <a:t>: </a:t>
            </a:r>
            <a:r xmlns:a="http://schemas.openxmlformats.org/drawingml/2006/main">
              <a:rPr i="0" lang="en" sz="1800" u="none" cap="none" strike="noStrike">
                <a:solidFill>
                  <a:srgbClr val="000000"/>
                </a:solidFill>
                <a:latin typeface="Avenir"/>
                <a:ea typeface="Avenir"/>
                <a:cs typeface="Avenir"/>
                <a:sym typeface="Avenir"/>
              </a:rPr>
              <a:t>Directional padlock</a:t>
            </a:r>
            <a:endParaRPr xmlns:a="http://schemas.openxmlformats.org/drawingml/2006/main" i="0" sz="1400" u="none" cap="none" strike="noStrike">
              <a:solidFill>
                <a:srgbClr val="000000"/>
              </a:solidFill>
              <a:latin typeface="Avenir"/>
              <a:ea typeface="Avenir"/>
              <a:cs typeface="Avenir"/>
              <a:sym typeface="Avenir"/>
            </a:endParaRPr>
          </a:p>
        </p:txBody>
      </p:sp>
      <p:sp>
        <p:nvSpPr>
          <p:cNvPr id="206" name="Google Shape;206;p21"/>
          <p:cNvSpPr/>
          <p:nvPr/>
        </p:nvSpPr>
        <p:spPr>
          <a:xfrm>
            <a:off x="6806074" y="2304871"/>
            <a:ext cx="1317119" cy="2248258"/>
          </a:xfrm>
          <a:custGeom>
            <a:rect b="b" l="l" r="r" t="t"/>
            <a:pathLst>
              <a:path extrusionOk="0" h="3672953" w="2157687">
                <a:moveTo>
                  <a:pt x="0" y="0"/>
                </a:moveTo>
                <a:lnTo>
                  <a:pt x="2157688" y="0"/>
                </a:lnTo>
                <a:lnTo>
                  <a:pt x="2157688" y="3672953"/>
                </a:lnTo>
                <a:lnTo>
                  <a:pt x="0" y="3672953"/>
                </a:lnTo>
                <a:lnTo>
                  <a:pt x="0" y="0"/>
                </a:lnTo>
                <a:close/>
              </a:path>
            </a:pathLst>
          </a:custGeom>
          <a:blipFill rotWithShape="1">
            <a:blip r:embed="rId3">
              <a:alphaModFix/>
            </a:blip>
            <a:stretch>
              <a:fillRect b="-8695" l="0" r="-99956" t="-8767"/>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b="0" i="0" sz="1800" u="none" cap="none" strike="noStrike">
              <a:solidFill>
                <a:schemeClr val="dk1"/>
              </a:solidFill>
              <a:latin typeface="Century Gothic"/>
              <a:ea typeface="Century Gothic"/>
              <a:cs typeface="Century Gothic"/>
              <a:sym typeface="Century Gothic"/>
            </a:endParaRPr>
          </a:p>
        </p:txBody>
      </p:sp>
      <p:pic>
        <p:nvPicPr>
          <p:cNvPr id="207" name="Google Shape;207;p21" title="How to Open and Reset Masterlock Speed Dial Padlock - Mediocre Coffee"/>
          <p:cNvPicPr preferRelativeResize="0"/>
          <p:nvPr/>
        </p:nvPicPr>
        <p:blipFill rotWithShape="1">
          <a:blip r:embed="rId4">
            <a:alphaModFix/>
          </a:blip>
          <a:srcRect b="0" l="0" r="0" t="0"/>
          <a:stretch/>
        </p:blipFill>
        <p:spPr>
          <a:xfrm>
            <a:off x="2436768" y="4553129"/>
            <a:ext cx="3464499" cy="2232404"/>
          </a:xfrm>
          <a:prstGeom prst="rect">
            <a:avLst/>
          </a:prstGeom>
          <a:noFill/>
          <a:ln>
            <a:noFill/>
          </a:ln>
        </p:spPr>
      </p:pic>
      <p:sp>
        <p:nvSpPr>
          <p:cNvPr id="208" name="Google Shape;208;p21">
            <a:hlinkClick r:id="rId5"/>
          </p:cNvPr>
          <p:cNvSpPr txBox="1"/>
          <p:nvPr/>
        </p:nvSpPr>
        <p:spPr>
          <a:xfrm>
            <a:off x="5901267" y="6231495"/>
            <a:ext cx="4073070" cy="307777"/>
          </a:xfrm>
          <a:prstGeom prst="rect">
            <a:avLst/>
          </a:prstGeom>
          <a:no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400"/>
              <a:buFont typeface="Arial"/>
              <a:buNone/>
            </a:pPr>
            <a:r xmlns:a="http://schemas.openxmlformats.org/drawingml/2006/main" xmlns:r="http://schemas.openxmlformats.org/officeDocument/2006/relationships">
              <a:rPr b="0" i="0" lang="en" sz="1400" u="sng" cap="none" strike="noStrike">
                <a:solidFill>
                  <a:schemeClr val="hlink"/>
                </a:solidFill>
                <a:latin typeface="Arial"/>
                <a:ea typeface="Arial"/>
                <a:cs typeface="Arial"/>
                <a:sym typeface="Arial"/>
                <a:hlinkClick r:id="rId6"/>
              </a:rPr>
              <a:t>https://youtu.be/9IAfqFGM56w?t=153</a:t>
            </a:r>
            <a:endParaRPr xmlns:a="http://schemas.openxmlformats.org/drawingml/2006/main" b="0" i="0" sz="1400" u="none" cap="none" strike="noStrike">
              <a:solidFill>
                <a:srgbClr val="595959"/>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22"/>
          <p:cNvSpPr txBox="1"/>
          <p:nvPr>
            <p:ph type="title"/>
          </p:nvPr>
        </p:nvSpPr>
        <p:spPr>
          <a:xfrm>
            <a:off x="474595" y="318728"/>
            <a:ext cx="7767779" cy="64033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a:t>PHASE 1. </a:t>
            </a:r>
            <a:r xmlns:a="http://schemas.openxmlformats.org/drawingml/2006/main">
              <a:rPr lang="en"/>
              <a:t>We count codes</a:t>
            </a:r>
            <a:endParaRPr xmlns:a="http://schemas.openxmlformats.org/drawingml/2006/main"/>
          </a:p>
        </p:txBody>
      </p:sp>
      <p:sp>
        <p:nvSpPr>
          <p:cNvPr id="214" name="Google Shape;214;p22"/>
          <p:cNvSpPr txBox="1"/>
          <p:nvPr>
            <p:ph idx="1" type="body"/>
          </p:nvPr>
        </p:nvSpPr>
        <p:spPr>
          <a:xfrm>
            <a:off x="528983" y="1685925"/>
            <a:ext cx="4757392" cy="4171945"/>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Clr>
                <a:srgbClr val="595959"/>
              </a:buClr>
              <a:buSzPts val="1800"/>
              <a:buChar char="◼"/>
            </a:pPr>
            <a:r xmlns:a="http://schemas.openxmlformats.org/drawingml/2006/main">
              <a:rPr lang="en" sz="1800"/>
              <a:t>You can choose any password with 3 numbers, between 0 and 39.</a:t>
            </a:r>
            <a:endParaRPr xmlns:a="http://schemas.openxmlformats.org/drawingml/2006/main"/>
          </a:p>
          <a:p>
            <a:pPr xmlns:a="http://schemas.openxmlformats.org/drawingml/2006/main" indent="-228600" lvl="0" marL="228600" rtl="0" algn="l">
              <a:lnSpc>
                <a:spcPct val="130000"/>
              </a:lnSpc>
              <a:spcBef>
                <a:spcPts val="600"/>
              </a:spcBef>
              <a:spcAft>
                <a:spcPts val="0"/>
              </a:spcAft>
              <a:buClr>
                <a:srgbClr val="595959"/>
              </a:buClr>
              <a:buSzPts val="1800"/>
              <a:buChar char="◼"/>
            </a:pPr>
            <a:r xmlns:a="http://schemas.openxmlformats.org/drawingml/2006/main">
              <a:rPr lang="en" sz="1800"/>
              <a:t>Password supports repeated digits</a:t>
            </a:r>
            <a:endParaRPr xmlns:a="http://schemas.openxmlformats.org/drawingml/2006/main"/>
          </a:p>
          <a:p>
            <a:pPr xmlns:a="http://schemas.openxmlformats.org/drawingml/2006/main" indent="-228600" lvl="0" marL="228600" rtl="0" algn="l">
              <a:lnSpc>
                <a:spcPct val="130000"/>
              </a:lnSpc>
              <a:spcBef>
                <a:spcPts val="600"/>
              </a:spcBef>
              <a:spcAft>
                <a:spcPts val="0"/>
              </a:spcAft>
              <a:buClr>
                <a:srgbClr val="595959"/>
              </a:buClr>
              <a:buSzPts val="1800"/>
              <a:buChar char="◼"/>
            </a:pPr>
            <a:r xmlns:a="http://schemas.openxmlformats.org/drawingml/2006/main">
              <a:rPr lang="en" sz="1800"/>
              <a:t>To enter the password: watch the video</a:t>
            </a:r>
            <a:endParaRPr xmlns:a="http://schemas.openxmlformats.org/drawingml/2006/main"/>
          </a:p>
          <a:p>
            <a:pPr xmlns:a="http://schemas.openxmlformats.org/drawingml/2006/main" indent="-114300" lvl="0" marL="228600" rtl="0" algn="l">
              <a:lnSpc>
                <a:spcPct val="130000"/>
              </a:lnSpc>
              <a:spcBef>
                <a:spcPts val="600"/>
              </a:spcBef>
              <a:spcAft>
                <a:spcPts val="0"/>
              </a:spcAft>
              <a:buClr>
                <a:srgbClr val="595959"/>
              </a:buClr>
              <a:buSzPts val="1800"/>
              <a:buNone/>
            </a:pPr>
            <a:r xmlns:a="http://schemas.openxmlformats.org/drawingml/2006/main">
              <a:t/>
            </a:r>
            <a:endParaRPr xmlns:a="http://schemas.openxmlformats.org/drawingml/2006/main" sz="1800"/>
          </a:p>
          <a:p>
            <a:pPr xmlns:a="http://schemas.openxmlformats.org/drawingml/2006/main" indent="-114300" lvl="0" marL="228600" rtl="0" algn="l">
              <a:lnSpc>
                <a:spcPct val="130000"/>
              </a:lnSpc>
              <a:spcBef>
                <a:spcPts val="600"/>
              </a:spcBef>
              <a:spcAft>
                <a:spcPts val="0"/>
              </a:spcAft>
              <a:buSzPts val="1800"/>
              <a:buNone/>
            </a:pPr>
            <a:r xmlns:a="http://schemas.openxmlformats.org/drawingml/2006/main">
              <a:t/>
            </a:r>
            <a:endParaRPr xmlns:a="http://schemas.openxmlformats.org/drawingml/2006/main" sz="1800"/>
          </a:p>
        </p:txBody>
      </p:sp>
      <p:sp>
        <p:nvSpPr>
          <p:cNvPr id="215" name="Google Shape;215;p22">
            <a:hlinkClick r:id="rId3"/>
          </p:cNvPr>
          <p:cNvSpPr txBox="1"/>
          <p:nvPr/>
        </p:nvSpPr>
        <p:spPr>
          <a:xfrm>
            <a:off x="4968463" y="5985288"/>
            <a:ext cx="4073070" cy="307777"/>
          </a:xfrm>
          <a:prstGeom prst="rect">
            <a:avLst/>
          </a:prstGeom>
          <a:no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400"/>
              <a:buFont typeface="Arial"/>
              <a:buNone/>
            </a:pPr>
            <a:r xmlns:a="http://schemas.openxmlformats.org/drawingml/2006/main" xmlns:r="http://schemas.openxmlformats.org/officeDocument/2006/relationships">
              <a:rPr b="0" i="0" lang="en" sz="1400" u="sng" cap="none" strike="noStrike">
                <a:solidFill>
                  <a:schemeClr val="hlink"/>
                </a:solidFill>
                <a:latin typeface="Arial"/>
                <a:ea typeface="Arial"/>
                <a:cs typeface="Arial"/>
                <a:sym typeface="Arial"/>
                <a:hlinkClick r:id="rId4"/>
              </a:rPr>
              <a:t>https://youtu.be/ednwKwSu7dw</a:t>
            </a:r>
            <a:r xmlns:a="http://schemas.openxmlformats.org/drawingml/2006/main">
              <a:rPr b="0" i="0" lang="en" sz="1400" u="none" cap="none" strike="noStrike">
                <a:solidFill>
                  <a:srgbClr val="595959"/>
                </a:solidFill>
                <a:latin typeface="Arial"/>
                <a:ea typeface="Arial"/>
                <a:cs typeface="Arial"/>
                <a:sym typeface="Arial"/>
              </a:rPr>
              <a:t> </a:t>
            </a:r>
            <a:endParaRPr xmlns:a="http://schemas.openxmlformats.org/drawingml/2006/main" b="0" i="0" sz="1400" u="none" cap="none" strike="noStrike">
              <a:solidFill>
                <a:srgbClr val="000000"/>
              </a:solidFill>
              <a:latin typeface="Arial"/>
              <a:ea typeface="Arial"/>
              <a:cs typeface="Arial"/>
              <a:sym typeface="Arial"/>
            </a:endParaRPr>
          </a:p>
        </p:txBody>
      </p:sp>
      <p:sp>
        <p:nvSpPr>
          <p:cNvPr id="216" name="Google Shape;216;p22"/>
          <p:cNvSpPr txBox="1"/>
          <p:nvPr/>
        </p:nvSpPr>
        <p:spPr>
          <a:xfrm>
            <a:off x="469563" y="1189175"/>
            <a:ext cx="4816812" cy="369332"/>
          </a:xfrm>
          <a:prstGeom prst="rect">
            <a:avLst/>
          </a:prstGeom>
          <a:solidFill>
            <a:srgbClr val="7030A0">
              <a:alpha val="14509"/>
            </a:srgbClr>
          </a:solidFill>
          <a:ln>
            <a:noFill/>
          </a:ln>
        </p:spPr>
        <p:txBody>
          <a:bodyPr anchorCtr="0" anchor="t" bIns="45700" lIns="91425" spcFirstLastPara="1" rIns="91425" wrap="square" tIns="45700">
            <a:spAutoFit/>
          </a:bodyPr>
          <a:lstStyle/>
          <a:p>
            <a:pPr xmlns:a="http://schemas.openxmlformats.org/drawingml/2006/main" indent="0" lvl="0" marL="0" marR="0" rtl="0" algn="ctr">
              <a:lnSpc>
                <a:spcPct val="100000"/>
              </a:lnSpc>
              <a:spcBef>
                <a:spcPts val="0"/>
              </a:spcBef>
              <a:spcAft>
                <a:spcPts val="0"/>
              </a:spcAft>
              <a:buClr>
                <a:srgbClr val="000000"/>
              </a:buClr>
              <a:buSzPts val="1800"/>
              <a:buFont typeface="Arial"/>
              <a:buNone/>
            </a:pPr>
            <a:r xmlns:a="http://schemas.openxmlformats.org/drawingml/2006/main">
              <a:rPr b="1" i="0" lang="en" sz="1800" u="none" cap="none" strike="noStrike">
                <a:solidFill>
                  <a:srgbClr val="000000"/>
                </a:solidFill>
                <a:latin typeface="Avenir"/>
                <a:ea typeface="Avenir"/>
                <a:cs typeface="Avenir"/>
                <a:sym typeface="Avenir"/>
              </a:rPr>
              <a:t>Padlock </a:t>
            </a:r>
            <a:r xmlns:a="http://schemas.openxmlformats.org/drawingml/2006/main">
              <a:rPr b="1" lang="en" sz="1800">
                <a:latin typeface="Avenir"/>
                <a:ea typeface="Avenir"/>
                <a:cs typeface="Avenir"/>
                <a:sym typeface="Avenir"/>
              </a:rPr>
              <a:t>5 </a:t>
            </a:r>
            <a:r xmlns:a="http://schemas.openxmlformats.org/drawingml/2006/main">
              <a:rPr b="1" i="0" lang="en" sz="1800" u="none" cap="none" strike="noStrike">
                <a:solidFill>
                  <a:srgbClr val="000000"/>
                </a:solidFill>
                <a:latin typeface="Avenir"/>
                <a:ea typeface="Avenir"/>
                <a:cs typeface="Avenir"/>
                <a:sym typeface="Avenir"/>
              </a:rPr>
              <a:t>: </a:t>
            </a:r>
            <a:r xmlns:a="http://schemas.openxmlformats.org/drawingml/2006/main">
              <a:rPr i="0" lang="en" sz="1800" u="none" cap="none" strike="noStrike">
                <a:solidFill>
                  <a:srgbClr val="000000"/>
                </a:solidFill>
                <a:latin typeface="Avenir"/>
                <a:ea typeface="Avenir"/>
                <a:cs typeface="Avenir"/>
                <a:sym typeface="Avenir"/>
              </a:rPr>
              <a:t>Safe Padlock</a:t>
            </a:r>
            <a:endParaRPr xmlns:a="http://schemas.openxmlformats.org/drawingml/2006/main" i="0" sz="1400" u="none" cap="none" strike="noStrike">
              <a:solidFill>
                <a:srgbClr val="000000"/>
              </a:solidFill>
              <a:latin typeface="Avenir"/>
              <a:ea typeface="Avenir"/>
              <a:cs typeface="Avenir"/>
              <a:sym typeface="Avenir"/>
            </a:endParaRPr>
          </a:p>
        </p:txBody>
      </p:sp>
      <p:sp>
        <p:nvSpPr>
          <p:cNvPr id="217" name="Google Shape;217;p22"/>
          <p:cNvSpPr/>
          <p:nvPr/>
        </p:nvSpPr>
        <p:spPr>
          <a:xfrm>
            <a:off x="6543674" y="2357437"/>
            <a:ext cx="1953957" cy="2043057"/>
          </a:xfrm>
          <a:custGeom>
            <a:rect b="b" l="l" r="r" t="t"/>
            <a:pathLst>
              <a:path extrusionOk="0" h="2861335" w="2861335">
                <a:moveTo>
                  <a:pt x="0" y="0"/>
                </a:moveTo>
                <a:lnTo>
                  <a:pt x="2861335" y="0"/>
                </a:lnTo>
                <a:lnTo>
                  <a:pt x="2861335" y="2861336"/>
                </a:lnTo>
                <a:lnTo>
                  <a:pt x="0" y="2861336"/>
                </a:lnTo>
                <a:lnTo>
                  <a:pt x="0" y="0"/>
                </a:lnTo>
                <a:close/>
              </a:path>
            </a:pathLst>
          </a:cu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b="0" i="0" sz="1800" u="none" cap="none" strike="noStrike">
              <a:solidFill>
                <a:schemeClr val="dk1"/>
              </a:solidFill>
              <a:latin typeface="Century Gothic"/>
              <a:ea typeface="Century Gothic"/>
              <a:cs typeface="Century Gothic"/>
              <a:sym typeface="Century Gothic"/>
            </a:endParaRPr>
          </a:p>
        </p:txBody>
      </p:sp>
      <p:pic>
        <p:nvPicPr>
          <p:cNvPr id="218" name="Google Shape;218;p22" title="Cómo usar candado Master Lock de combinación modelo 1500D"/>
          <p:cNvPicPr preferRelativeResize="0"/>
          <p:nvPr/>
        </p:nvPicPr>
        <p:blipFill rotWithShape="1">
          <a:blip r:embed="rId6">
            <a:alphaModFix/>
          </a:blip>
          <a:srcRect b="0" l="0" r="0" t="0"/>
          <a:stretch/>
        </p:blipFill>
        <p:spPr>
          <a:xfrm>
            <a:off x="539154" y="3771897"/>
            <a:ext cx="4419138" cy="2494861"/>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23"/>
          <p:cNvSpPr txBox="1"/>
          <p:nvPr>
            <p:ph type="title"/>
          </p:nvPr>
        </p:nvSpPr>
        <p:spPr>
          <a:xfrm>
            <a:off x="474595" y="318728"/>
            <a:ext cx="7767900" cy="64020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a:t>PHASE 1. </a:t>
            </a:r>
            <a:r xmlns:a="http://schemas.openxmlformats.org/drawingml/2006/main">
              <a:rPr lang="en"/>
              <a:t>We count codes</a:t>
            </a:r>
            <a:endParaRPr xmlns:a="http://schemas.openxmlformats.org/drawingml/2006/main"/>
          </a:p>
        </p:txBody>
      </p:sp>
      <p:sp>
        <p:nvSpPr>
          <p:cNvPr id="224" name="Google Shape;224;p23"/>
          <p:cNvSpPr txBox="1"/>
          <p:nvPr>
            <p:ph idx="1" type="body"/>
          </p:nvPr>
        </p:nvSpPr>
        <p:spPr>
          <a:xfrm>
            <a:off x="528983" y="1685925"/>
            <a:ext cx="4757400" cy="4171800"/>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Clr>
                <a:srgbClr val="595959"/>
              </a:buClr>
              <a:buSzPts val="1800"/>
              <a:buChar char="◼"/>
            </a:pPr>
            <a:r xmlns:a="http://schemas.openxmlformats.org/drawingml/2006/main">
              <a:rPr lang="en" sz="1800"/>
              <a:t>You can choose any password with 4 numbers, letters and special characters.</a:t>
            </a:r>
            <a:endParaRPr xmlns:a="http://schemas.openxmlformats.org/drawingml/2006/main"/>
          </a:p>
          <a:p>
            <a:pPr xmlns:a="http://schemas.openxmlformats.org/drawingml/2006/main" indent="-228600" lvl="0" marL="228600" rtl="0" algn="l">
              <a:lnSpc>
                <a:spcPct val="130000"/>
              </a:lnSpc>
              <a:spcBef>
                <a:spcPts val="600"/>
              </a:spcBef>
              <a:spcAft>
                <a:spcPts val="0"/>
              </a:spcAft>
              <a:buClr>
                <a:srgbClr val="595959"/>
              </a:buClr>
              <a:buSzPts val="1800"/>
              <a:buChar char="◼"/>
            </a:pPr>
            <a:r xmlns:a="http://schemas.openxmlformats.org/drawingml/2006/main">
              <a:rPr lang="en" sz="1800"/>
              <a:t>Password supports repeated elements</a:t>
            </a:r>
            <a:endParaRPr xmlns:a="http://schemas.openxmlformats.org/drawingml/2006/main" sz="1800"/>
          </a:p>
          <a:p>
            <a:pPr xmlns:a="http://schemas.openxmlformats.org/drawingml/2006/main" indent="-228600" lvl="0" marL="228600" rtl="0" algn="l">
              <a:lnSpc>
                <a:spcPct val="130000"/>
              </a:lnSpc>
              <a:spcBef>
                <a:spcPts val="600"/>
              </a:spcBef>
              <a:spcAft>
                <a:spcPts val="0"/>
              </a:spcAft>
              <a:buClr>
                <a:srgbClr val="595959"/>
              </a:buClr>
              <a:buSzPts val="1800"/>
              <a:buChar char="◼"/>
            </a:pPr>
            <a:r xmlns:a="http://schemas.openxmlformats.org/drawingml/2006/main">
              <a:rPr lang="en" sz="1800"/>
              <a:t>Only 10 items are available on each disc.</a:t>
            </a:r>
            <a:endParaRPr xmlns:a="http://schemas.openxmlformats.org/drawingml/2006/main"/>
          </a:p>
          <a:p>
            <a:pPr xmlns:a="http://schemas.openxmlformats.org/drawingml/2006/main" indent="-228600" lvl="0" marL="228600" rtl="0" algn="l">
              <a:lnSpc>
                <a:spcPct val="130000"/>
              </a:lnSpc>
              <a:spcBef>
                <a:spcPts val="600"/>
              </a:spcBef>
              <a:spcAft>
                <a:spcPts val="0"/>
              </a:spcAft>
              <a:buClr>
                <a:srgbClr val="595959"/>
              </a:buClr>
              <a:buSzPts val="1800"/>
              <a:buChar char="◼"/>
            </a:pPr>
            <a:r xmlns:a="http://schemas.openxmlformats.org/drawingml/2006/main">
              <a:rPr lang="en" sz="1800"/>
              <a:t>There are repeated elements on the different discs.</a:t>
            </a:r>
            <a:endParaRPr xmlns:a="http://schemas.openxmlformats.org/drawingml/2006/main"/>
          </a:p>
          <a:p>
            <a:pPr xmlns:a="http://schemas.openxmlformats.org/drawingml/2006/main" indent="-228600" lvl="0" marL="228600" rtl="0" algn="l">
              <a:lnSpc>
                <a:spcPct val="130000"/>
              </a:lnSpc>
              <a:spcBef>
                <a:spcPts val="600"/>
              </a:spcBef>
              <a:spcAft>
                <a:spcPts val="0"/>
              </a:spcAft>
              <a:buClr>
                <a:srgbClr val="595959"/>
              </a:buClr>
              <a:buSzPts val="1800"/>
              <a:buChar char="◼"/>
            </a:pPr>
            <a:r xmlns:a="http://schemas.openxmlformats.org/drawingml/2006/main">
              <a:rPr lang="en" sz="1800"/>
              <a:t>To open it, the discs must be moved so that the password appears in the position next to the tab.</a:t>
            </a:r>
            <a:endParaRPr xmlns:a="http://schemas.openxmlformats.org/drawingml/2006/main" sz="1800"/>
          </a:p>
          <a:p>
            <a:pPr xmlns:a="http://schemas.openxmlformats.org/drawingml/2006/main" indent="0" lvl="0" marL="457200" rtl="0" algn="l">
              <a:lnSpc>
                <a:spcPct val="130000"/>
              </a:lnSpc>
              <a:spcBef>
                <a:spcPts val="600"/>
              </a:spcBef>
              <a:spcAft>
                <a:spcPts val="0"/>
              </a:spcAft>
              <a:buNone/>
            </a:pPr>
            <a:r xmlns:a="http://schemas.openxmlformats.org/drawingml/2006/main">
              <a:t/>
            </a:r>
            <a:endParaRPr xmlns:a="http://schemas.openxmlformats.org/drawingml/2006/main"/>
          </a:p>
          <a:p>
            <a:pPr xmlns:a="http://schemas.openxmlformats.org/drawingml/2006/main" indent="-114300" lvl="0" marL="228600" rtl="0" algn="l">
              <a:lnSpc>
                <a:spcPct val="130000"/>
              </a:lnSpc>
              <a:spcBef>
                <a:spcPts val="600"/>
              </a:spcBef>
              <a:spcAft>
                <a:spcPts val="0"/>
              </a:spcAft>
              <a:buClr>
                <a:srgbClr val="595959"/>
              </a:buClr>
              <a:buSzPts val="1800"/>
              <a:buNone/>
            </a:pPr>
            <a:r xmlns:a="http://schemas.openxmlformats.org/drawingml/2006/main">
              <a:t/>
            </a:r>
            <a:endParaRPr xmlns:a="http://schemas.openxmlformats.org/drawingml/2006/main" sz="1800"/>
          </a:p>
          <a:p>
            <a:pPr xmlns:a="http://schemas.openxmlformats.org/drawingml/2006/main" indent="-114300" lvl="0" marL="228600" rtl="0" algn="l">
              <a:lnSpc>
                <a:spcPct val="130000"/>
              </a:lnSpc>
              <a:spcBef>
                <a:spcPts val="600"/>
              </a:spcBef>
              <a:spcAft>
                <a:spcPts val="0"/>
              </a:spcAft>
              <a:buSzPts val="1800"/>
              <a:buNone/>
            </a:pPr>
            <a:r xmlns:a="http://schemas.openxmlformats.org/drawingml/2006/main">
              <a:t/>
            </a:r>
            <a:endParaRPr xmlns:a="http://schemas.openxmlformats.org/drawingml/2006/main" sz="1800"/>
          </a:p>
        </p:txBody>
      </p:sp>
      <p:sp>
        <p:nvSpPr>
          <p:cNvPr id="225" name="Google Shape;225;p23"/>
          <p:cNvSpPr txBox="1"/>
          <p:nvPr/>
        </p:nvSpPr>
        <p:spPr>
          <a:xfrm>
            <a:off x="469582" y="1189175"/>
            <a:ext cx="7541400" cy="369300"/>
          </a:xfrm>
          <a:prstGeom prst="rect">
            <a:avLst/>
          </a:prstGeom>
          <a:solidFill>
            <a:srgbClr val="CFE2F3"/>
          </a:solidFill>
          <a:ln>
            <a:noFill/>
          </a:ln>
        </p:spPr>
        <p:txBody>
          <a:bodyPr anchorCtr="0" anchor="t" bIns="45700" lIns="91425" spcFirstLastPara="1" rIns="91425" wrap="square" tIns="45700">
            <a:spAutoFit/>
          </a:bodyPr>
          <a:lstStyle/>
          <a:p>
            <a:pPr xmlns:a="http://schemas.openxmlformats.org/drawingml/2006/main" indent="0" lvl="0" marL="0" marR="0" rtl="0" algn="ctr">
              <a:lnSpc>
                <a:spcPct val="100000"/>
              </a:lnSpc>
              <a:spcBef>
                <a:spcPts val="0"/>
              </a:spcBef>
              <a:spcAft>
                <a:spcPts val="0"/>
              </a:spcAft>
              <a:buClr>
                <a:srgbClr val="000000"/>
              </a:buClr>
              <a:buSzPts val="1800"/>
              <a:buFont typeface="Arial"/>
              <a:buNone/>
            </a:pPr>
            <a:r xmlns:a="http://schemas.openxmlformats.org/drawingml/2006/main">
              <a:rPr b="1" i="0" lang="en" sz="1800" u="none" cap="none" strike="noStrike">
                <a:solidFill>
                  <a:srgbClr val="000000"/>
                </a:solidFill>
                <a:latin typeface="Avenir"/>
                <a:ea typeface="Avenir"/>
                <a:cs typeface="Avenir"/>
                <a:sym typeface="Avenir"/>
              </a:rPr>
              <a:t>Padlock </a:t>
            </a:r>
            <a:r xmlns:a="http://schemas.openxmlformats.org/drawingml/2006/main">
              <a:rPr b="1" lang="en" sz="1800">
                <a:latin typeface="Avenir"/>
                <a:ea typeface="Avenir"/>
                <a:cs typeface="Avenir"/>
                <a:sym typeface="Avenir"/>
              </a:rPr>
              <a:t>6 </a:t>
            </a:r>
            <a:r xmlns:a="http://schemas.openxmlformats.org/drawingml/2006/main">
              <a:rPr b="1" i="0" lang="en" sz="1800" u="none" cap="none" strike="noStrike">
                <a:solidFill>
                  <a:srgbClr val="000000"/>
                </a:solidFill>
                <a:latin typeface="Avenir"/>
                <a:ea typeface="Avenir"/>
                <a:cs typeface="Avenir"/>
                <a:sym typeface="Avenir"/>
              </a:rPr>
              <a:t>: </a:t>
            </a:r>
            <a:r xmlns:a="http://schemas.openxmlformats.org/drawingml/2006/main">
              <a:rPr i="0" lang="en" sz="1800" u="none" cap="none" strike="noStrike">
                <a:solidFill>
                  <a:srgbClr val="000000"/>
                </a:solidFill>
                <a:latin typeface="Avenir"/>
                <a:ea typeface="Avenir"/>
                <a:cs typeface="Avenir"/>
                <a:sym typeface="Avenir"/>
              </a:rPr>
              <a:t>Padlock </a:t>
            </a:r>
            <a:r xmlns:a="http://schemas.openxmlformats.org/drawingml/2006/main">
              <a:rPr lang="en" sz="1800">
                <a:latin typeface="Avenir"/>
                <a:ea typeface="Avenir"/>
                <a:cs typeface="Avenir"/>
                <a:sym typeface="Avenir"/>
              </a:rPr>
              <a:t>with numbers, letters and special characters</a:t>
            </a:r>
            <a:endParaRPr xmlns:a="http://schemas.openxmlformats.org/drawingml/2006/main" i="0" sz="1400" u="none" cap="none" strike="noStrike">
              <a:solidFill>
                <a:srgbClr val="000000"/>
              </a:solidFill>
              <a:latin typeface="Avenir"/>
              <a:ea typeface="Avenir"/>
              <a:cs typeface="Avenir"/>
              <a:sym typeface="Avenir"/>
            </a:endParaRPr>
          </a:p>
        </p:txBody>
      </p:sp>
      <p:pic>
        <p:nvPicPr>
          <p:cNvPr id="226" name="Google Shape;226;p23"/>
          <p:cNvPicPr preferRelativeResize="0"/>
          <p:nvPr/>
        </p:nvPicPr>
        <p:blipFill>
          <a:blip r:embed="rId3">
            <a:alphaModFix/>
          </a:blip>
          <a:stretch>
            <a:fillRect/>
          </a:stretch>
        </p:blipFill>
        <p:spPr>
          <a:xfrm>
            <a:off x="6440033" y="2686303"/>
            <a:ext cx="1685925" cy="15716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24"/>
          <p:cNvSpPr txBox="1"/>
          <p:nvPr>
            <p:ph idx="1" type="body"/>
          </p:nvPr>
        </p:nvSpPr>
        <p:spPr>
          <a:xfrm>
            <a:off x="373071" y="1932836"/>
            <a:ext cx="8397900" cy="2143500"/>
          </a:xfrm>
          <a:prstGeom prst="rect">
            <a:avLst/>
          </a:prstGeom>
          <a:noFill/>
          <a:ln>
            <a:noFill/>
          </a:ln>
        </p:spPr>
        <p:txBody>
          <a:bodyPr anchorCtr="0" anchor="t" bIns="45700" lIns="91425" spcFirstLastPara="1" rIns="91425" wrap="square" tIns="45700">
            <a:noAutofit/>
          </a:bodyPr>
          <a:lstStyle/>
          <a:p>
            <a:pPr xmlns:a="http://schemas.openxmlformats.org/drawingml/2006/main" indent="0" lvl="0" marL="0" rtl="0" algn="ctr">
              <a:lnSpc>
                <a:spcPct val="130000"/>
              </a:lnSpc>
              <a:spcBef>
                <a:spcPts val="0"/>
              </a:spcBef>
              <a:spcAft>
                <a:spcPts val="0"/>
              </a:spcAft>
              <a:buSzPts val="2800"/>
              <a:buNone/>
            </a:pPr>
            <a:r xmlns:a="http://schemas.openxmlformats.org/drawingml/2006/main">
              <a:rPr b="1" i="1" lang="en" sz="2800"/>
              <a:t>Q </a:t>
            </a:r>
            <a:r xmlns:a="http://schemas.openxmlformats.org/drawingml/2006/main">
              <a:rPr b="1" baseline="-25000" lang="en" sz="2800"/>
              <a:t>1 </a:t>
            </a:r>
            <a:r xmlns:a="http://schemas.openxmlformats.org/drawingml/2006/main">
              <a:rPr b="1" lang="en" sz="2800"/>
              <a:t>: How many different codes does each padlock support?</a:t>
            </a:r>
            <a:endParaRPr xmlns:a="http://schemas.openxmlformats.org/drawingml/2006/main"/>
          </a:p>
          <a:p>
            <a:pPr xmlns:a="http://schemas.openxmlformats.org/drawingml/2006/main" indent="-101600" lvl="0" marL="228600" rtl="0" algn="l">
              <a:lnSpc>
                <a:spcPct val="130000"/>
              </a:lnSpc>
              <a:spcBef>
                <a:spcPts val="600"/>
              </a:spcBef>
              <a:spcAft>
                <a:spcPts val="0"/>
              </a:spcAft>
              <a:buSzPts val="2000"/>
              <a:buNone/>
            </a:pPr>
            <a:r xmlns:a="http://schemas.openxmlformats.org/drawingml/2006/main">
              <a:t/>
            </a:r>
            <a:endParaRPr xmlns:a="http://schemas.openxmlformats.org/drawingml/2006/main"/>
          </a:p>
        </p:txBody>
      </p:sp>
      <p:sp>
        <p:nvSpPr>
          <p:cNvPr id="233" name="Google Shape;233;p24"/>
          <p:cNvSpPr txBox="1"/>
          <p:nvPr>
            <p:ph type="title"/>
          </p:nvPr>
        </p:nvSpPr>
        <p:spPr>
          <a:xfrm>
            <a:off x="474595" y="318728"/>
            <a:ext cx="7767900" cy="64020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a:t>PHASE 1. </a:t>
            </a:r>
            <a:r xmlns:a="http://schemas.openxmlformats.org/drawingml/2006/main">
              <a:rPr lang="en"/>
              <a:t>We count codes</a:t>
            </a:r>
            <a:endParaRPr xmlns:a="http://schemas.openxmlformats.org/drawingml/2006/main"/>
          </a:p>
        </p:txBody>
      </p:sp>
      <p:pic>
        <p:nvPicPr>
          <p:cNvPr descr="Imagen que contiene tabla, interior, diferente, artículos&#10;&#10;Descripción generada automáticamente" id="234" name="Google Shape;234;p24"/>
          <p:cNvPicPr preferRelativeResize="0"/>
          <p:nvPr/>
        </p:nvPicPr>
        <p:blipFill rotWithShape="1">
          <a:blip r:embed="rId3">
            <a:alphaModFix/>
          </a:blip>
          <a:srcRect b="21352" l="0" r="0" t="0"/>
          <a:stretch/>
        </p:blipFill>
        <p:spPr>
          <a:xfrm>
            <a:off x="1465919" y="2933084"/>
            <a:ext cx="6212161" cy="1324591"/>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25"/>
          <p:cNvSpPr txBox="1"/>
          <p:nvPr>
            <p:ph idx="1" type="body"/>
          </p:nvPr>
        </p:nvSpPr>
        <p:spPr>
          <a:xfrm>
            <a:off x="460394" y="1247036"/>
            <a:ext cx="8397857" cy="2143372"/>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SzPts val="2000"/>
              <a:buFont typeface="Avenir"/>
              <a:buChar char="◼"/>
            </a:pPr>
            <a:r xmlns:a="http://schemas.openxmlformats.org/drawingml/2006/main">
              <a:rPr lang="en"/>
              <a:t>Sharing the answers found in Q1</a:t>
            </a:r>
            <a:endParaRPr xmlns:a="http://schemas.openxmlformats.org/drawingml/2006/main" b="1">
              <a:solidFill>
                <a:srgbClr val="7030A0"/>
              </a:solidFill>
            </a:endParaRPr>
          </a:p>
        </p:txBody>
      </p:sp>
      <p:sp>
        <p:nvSpPr>
          <p:cNvPr id="240" name="Google Shape;240;p25"/>
          <p:cNvSpPr txBox="1"/>
          <p:nvPr>
            <p:ph type="title"/>
          </p:nvPr>
        </p:nvSpPr>
        <p:spPr>
          <a:xfrm>
            <a:off x="474595" y="318728"/>
            <a:ext cx="7767779" cy="64033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a:t>PHASE 1. </a:t>
            </a:r>
            <a:r xmlns:a="http://schemas.openxmlformats.org/drawingml/2006/main">
              <a:rPr lang="en"/>
              <a:t>We count codes</a:t>
            </a:r>
            <a:endParaRPr xmlns:a="http://schemas.openxmlformats.org/drawingml/2006/main"/>
          </a:p>
        </p:txBody>
      </p:sp>
      <p:pic>
        <p:nvPicPr>
          <p:cNvPr descr="Free Vectors | whiteboard frame" id="241" name="Google Shape;241;p25"/>
          <p:cNvPicPr preferRelativeResize="0"/>
          <p:nvPr/>
        </p:nvPicPr>
        <p:blipFill rotWithShape="1">
          <a:blip r:embed="rId3">
            <a:alphaModFix/>
          </a:blip>
          <a:srcRect b="0" l="0" r="0" t="0"/>
          <a:stretch/>
        </p:blipFill>
        <p:spPr>
          <a:xfrm>
            <a:off x="575774" y="1814101"/>
            <a:ext cx="7540799" cy="46525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45" name="Shape 245"/>
        <p:cNvGrpSpPr/>
        <p:nvPr/>
      </p:nvGrpSpPr>
      <p:grpSpPr>
        <a:xfrm>
          <a:off x="0" y="0"/>
          <a:ext cx="0" cy="0"/>
          <a:chOff x="0" y="0"/>
          <a:chExt cx="0" cy="0"/>
        </a:xfrm>
      </p:grpSpPr>
      <p:sp>
        <p:nvSpPr>
          <p:cNvPr id="246" name="Google Shape;246;p26"/>
          <p:cNvSpPr txBox="1"/>
          <p:nvPr>
            <p:ph idx="1" type="body"/>
          </p:nvPr>
        </p:nvSpPr>
        <p:spPr>
          <a:xfrm>
            <a:off x="460394" y="1247036"/>
            <a:ext cx="8397900" cy="2143500"/>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SzPts val="2000"/>
              <a:buChar char="◼"/>
            </a:pPr>
            <a:r xmlns:a="http://schemas.openxmlformats.org/drawingml/2006/main">
              <a:rPr lang="en"/>
              <a:t>Sharing the answers found in Q1</a:t>
            </a:r>
            <a:endParaRPr xmlns:a="http://schemas.openxmlformats.org/drawingml/2006/main" b="1">
              <a:solidFill>
                <a:srgbClr val="7030A0"/>
              </a:solidFill>
            </a:endParaRPr>
          </a:p>
        </p:txBody>
      </p:sp>
      <p:sp>
        <p:nvSpPr>
          <p:cNvPr id="247" name="Google Shape;247;p26"/>
          <p:cNvSpPr txBox="1"/>
          <p:nvPr>
            <p:ph type="title"/>
          </p:nvPr>
        </p:nvSpPr>
        <p:spPr>
          <a:xfrm>
            <a:off x="474595" y="318728"/>
            <a:ext cx="7767900" cy="64020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a:t>PHASE 1. </a:t>
            </a:r>
            <a:r xmlns:a="http://schemas.openxmlformats.org/drawingml/2006/main">
              <a:rPr lang="en"/>
              <a:t>We count codes</a:t>
            </a:r>
            <a:endParaRPr xmlns:a="http://schemas.openxmlformats.org/drawingml/2006/main"/>
          </a:p>
        </p:txBody>
      </p:sp>
      <p:grpSp>
        <p:nvGrpSpPr>
          <p:cNvPr id="248" name="Google Shape;248;p26"/>
          <p:cNvGrpSpPr/>
          <p:nvPr/>
        </p:nvGrpSpPr>
        <p:grpSpPr>
          <a:xfrm>
            <a:off x="1214079" y="2025589"/>
            <a:ext cx="6288810" cy="3880039"/>
            <a:chOff x="271837" y="2031639"/>
            <a:chExt cx="3908035" cy="2343443"/>
          </a:xfrm>
        </p:grpSpPr>
        <p:pic>
          <p:nvPicPr>
            <p:cNvPr descr="Free Vectors | whiteboard frame" id="249" name="Google Shape;249;p26"/>
            <p:cNvPicPr preferRelativeResize="0"/>
            <p:nvPr/>
          </p:nvPicPr>
          <p:blipFill rotWithShape="1">
            <a:blip r:embed="rId3">
              <a:alphaModFix/>
            </a:blip>
            <a:srcRect b="0" l="0" r="0" t="0"/>
            <a:stretch/>
          </p:blipFill>
          <p:spPr>
            <a:xfrm>
              <a:off x="271837" y="2031639"/>
              <a:ext cx="3908035" cy="2343443"/>
            </a:xfrm>
            <a:prstGeom prst="rect">
              <a:avLst/>
            </a:prstGeom>
            <a:noFill/>
            <a:ln>
              <a:noFill/>
            </a:ln>
          </p:spPr>
        </p:pic>
        <p:sp>
          <p:nvSpPr>
            <p:cNvPr id="250" name="Google Shape;250;p26"/>
            <p:cNvSpPr/>
            <p:nvPr/>
          </p:nvSpPr>
          <p:spPr>
            <a:xfrm>
              <a:off x="511528" y="2357032"/>
              <a:ext cx="3605035" cy="223068"/>
            </a:xfrm>
            <a:custGeom>
              <a:rect b="b" l="l" r="r" t="t"/>
              <a:pathLst>
                <a:path extrusionOk="0" h="223068" w="3605035">
                  <a:moveTo>
                    <a:pt x="0" y="0"/>
                  </a:moveTo>
                  <a:cubicBezTo>
                    <a:pt x="144409" y="-35405"/>
                    <a:pt x="287784" y="10178"/>
                    <a:pt x="551055" y="0"/>
                  </a:cubicBezTo>
                  <a:cubicBezTo>
                    <a:pt x="814326" y="-10178"/>
                    <a:pt x="867533" y="10017"/>
                    <a:pt x="1102111" y="0"/>
                  </a:cubicBezTo>
                  <a:cubicBezTo>
                    <a:pt x="1336689" y="-10017"/>
                    <a:pt x="1500061" y="2803"/>
                    <a:pt x="1689216" y="0"/>
                  </a:cubicBezTo>
                  <a:cubicBezTo>
                    <a:pt x="1878372" y="-2803"/>
                    <a:pt x="2012354" y="36077"/>
                    <a:pt x="2096070" y="0"/>
                  </a:cubicBezTo>
                  <a:cubicBezTo>
                    <a:pt x="2179786" y="-36077"/>
                    <a:pt x="2370763" y="45257"/>
                    <a:pt x="2502924" y="0"/>
                  </a:cubicBezTo>
                  <a:cubicBezTo>
                    <a:pt x="2635085" y="-45257"/>
                    <a:pt x="2833321" y="5221"/>
                    <a:pt x="2945829" y="0"/>
                  </a:cubicBezTo>
                  <a:cubicBezTo>
                    <a:pt x="3058338" y="-5221"/>
                    <a:pt x="3345857" y="52023"/>
                    <a:pt x="3605035" y="0"/>
                  </a:cubicBezTo>
                  <a:cubicBezTo>
                    <a:pt x="3605054" y="46906"/>
                    <a:pt x="3583547" y="123447"/>
                    <a:pt x="3605035" y="223068"/>
                  </a:cubicBezTo>
                  <a:cubicBezTo>
                    <a:pt x="3461733" y="244143"/>
                    <a:pt x="3260523" y="217709"/>
                    <a:pt x="3090030" y="223068"/>
                  </a:cubicBezTo>
                  <a:cubicBezTo>
                    <a:pt x="2919538" y="228427"/>
                    <a:pt x="2779029" y="178225"/>
                    <a:pt x="2538975" y="223068"/>
                  </a:cubicBezTo>
                  <a:cubicBezTo>
                    <a:pt x="2298921" y="267911"/>
                    <a:pt x="2298725" y="174002"/>
                    <a:pt x="2096070" y="223068"/>
                  </a:cubicBezTo>
                  <a:cubicBezTo>
                    <a:pt x="1893415" y="272134"/>
                    <a:pt x="1732520" y="200127"/>
                    <a:pt x="1581065" y="223068"/>
                  </a:cubicBezTo>
                  <a:cubicBezTo>
                    <a:pt x="1429611" y="246009"/>
                    <a:pt x="1325803" y="179249"/>
                    <a:pt x="1138161" y="223068"/>
                  </a:cubicBezTo>
                  <a:cubicBezTo>
                    <a:pt x="950519" y="266887"/>
                    <a:pt x="832095" y="177396"/>
                    <a:pt x="731307" y="223068"/>
                  </a:cubicBezTo>
                  <a:cubicBezTo>
                    <a:pt x="630519" y="268740"/>
                    <a:pt x="359530" y="174378"/>
                    <a:pt x="0" y="223068"/>
                  </a:cubicBezTo>
                  <a:cubicBezTo>
                    <a:pt x="-3064" y="128565"/>
                    <a:pt x="24028" y="110757"/>
                    <a:pt x="0" y="0"/>
                  </a:cubicBezTo>
                  <a:close/>
                </a:path>
              </a:pathLst>
            </a:custGeom>
            <a:no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rPr b="1" i="0" lang="en" sz="1600" u="none" cap="none" strike="noStrike">
                  <a:solidFill>
                    <a:srgbClr val="7030A0"/>
                  </a:solidFill>
                  <a:latin typeface="Avenir"/>
                  <a:ea typeface="Avenir"/>
                  <a:cs typeface="Avenir"/>
                  <a:sym typeface="Avenir"/>
                </a:rPr>
                <a:t>There are equivalent padlocks</a:t>
              </a:r>
              <a:endParaRPr xmlns:a="http://schemas.openxmlformats.org/drawingml/2006/main" b="1" i="0" sz="1200" u="none" cap="none" strike="noStrike">
                <a:solidFill>
                  <a:srgbClr val="000000"/>
                </a:solidFill>
                <a:latin typeface="Avenir"/>
                <a:ea typeface="Avenir"/>
                <a:cs typeface="Avenir"/>
                <a:sym typeface="Avenir"/>
              </a:endParaRPr>
            </a:p>
          </p:txBody>
        </p:sp>
      </p:grpSp>
      <p:sp>
        <p:nvSpPr>
          <p:cNvPr id="251" name="Google Shape;251;p26"/>
          <p:cNvSpPr/>
          <p:nvPr/>
        </p:nvSpPr>
        <p:spPr>
          <a:xfrm>
            <a:off x="4751307" y="2179894"/>
            <a:ext cx="717487" cy="751360"/>
          </a:xfrm>
          <a:custGeom>
            <a:rect b="b" l="l" r="r" t="t"/>
            <a:pathLst>
              <a:path extrusionOk="0" h="2782816" w="2539776">
                <a:moveTo>
                  <a:pt x="0" y="0"/>
                </a:moveTo>
                <a:lnTo>
                  <a:pt x="2539776" y="0"/>
                </a:lnTo>
                <a:lnTo>
                  <a:pt x="2539776" y="2782816"/>
                </a:lnTo>
                <a:lnTo>
                  <a:pt x="0" y="2782816"/>
                </a:lnTo>
                <a:lnTo>
                  <a:pt x="0" y="0"/>
                </a:lnTo>
                <a:close/>
              </a:path>
            </a:pathLst>
          </a:custGeom>
          <a:blipFill rotWithShape="1">
            <a:blip r:embed="rId4">
              <a:alphaModFix/>
            </a:blip>
            <a:stretch>
              <a:fillRect b="-3439" l="-3609" r="-78247" t="-15239"/>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sp>
        <p:nvSpPr>
          <p:cNvPr id="252" name="Google Shape;252;p26"/>
          <p:cNvSpPr/>
          <p:nvPr/>
        </p:nvSpPr>
        <p:spPr>
          <a:xfrm>
            <a:off x="5716939" y="2208058"/>
            <a:ext cx="719322" cy="756022"/>
          </a:xfrm>
          <a:custGeom>
            <a:rect b="b" l="l" r="r" t="t"/>
            <a:pathLst>
              <a:path extrusionOk="0" h="2936009" w="2936009">
                <a:moveTo>
                  <a:pt x="0" y="0"/>
                </a:moveTo>
                <a:lnTo>
                  <a:pt x="2936009" y="0"/>
                </a:lnTo>
                <a:lnTo>
                  <a:pt x="2936009" y="2936010"/>
                </a:lnTo>
                <a:lnTo>
                  <a:pt x="0" y="2936010"/>
                </a:lnTo>
                <a:lnTo>
                  <a:pt x="0" y="0"/>
                </a:lnTo>
                <a:close/>
              </a:path>
            </a:pathLst>
          </a:cu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sp>
        <p:nvSpPr>
          <p:cNvPr id="253" name="Google Shape;253;p26"/>
          <p:cNvSpPr/>
          <p:nvPr/>
        </p:nvSpPr>
        <p:spPr>
          <a:xfrm>
            <a:off x="1599798" y="3246177"/>
            <a:ext cx="4240198" cy="369332"/>
          </a:xfrm>
          <a:custGeom>
            <a:rect b="b" l="l" r="r" t="t"/>
            <a:pathLst>
              <a:path extrusionOk="0" h="369332" w="4240198">
                <a:moveTo>
                  <a:pt x="0" y="0"/>
                </a:moveTo>
                <a:cubicBezTo>
                  <a:pt x="129873" y="-18891"/>
                  <a:pt x="361051" y="11791"/>
                  <a:pt x="572427" y="0"/>
                </a:cubicBezTo>
                <a:cubicBezTo>
                  <a:pt x="783803" y="-11791"/>
                  <a:pt x="902014" y="45349"/>
                  <a:pt x="1144853" y="0"/>
                </a:cubicBezTo>
                <a:cubicBezTo>
                  <a:pt x="1387692" y="-45349"/>
                  <a:pt x="1556747" y="48060"/>
                  <a:pt x="1759682" y="0"/>
                </a:cubicBezTo>
                <a:cubicBezTo>
                  <a:pt x="1962617" y="-48060"/>
                  <a:pt x="2003472" y="35221"/>
                  <a:pt x="2162501" y="0"/>
                </a:cubicBezTo>
                <a:cubicBezTo>
                  <a:pt x="2321530" y="-35221"/>
                  <a:pt x="2375707" y="17383"/>
                  <a:pt x="2565320" y="0"/>
                </a:cubicBezTo>
                <a:cubicBezTo>
                  <a:pt x="2754933" y="-17383"/>
                  <a:pt x="2874679" y="25254"/>
                  <a:pt x="3010541" y="0"/>
                </a:cubicBezTo>
                <a:cubicBezTo>
                  <a:pt x="3146403" y="-25254"/>
                  <a:pt x="3299887" y="21367"/>
                  <a:pt x="3455761" y="0"/>
                </a:cubicBezTo>
                <a:cubicBezTo>
                  <a:pt x="3611635" y="-21367"/>
                  <a:pt x="3955163" y="31865"/>
                  <a:pt x="4240198" y="0"/>
                </a:cubicBezTo>
                <a:cubicBezTo>
                  <a:pt x="4267740" y="164922"/>
                  <a:pt x="4205588" y="274453"/>
                  <a:pt x="4240198" y="369332"/>
                </a:cubicBezTo>
                <a:cubicBezTo>
                  <a:pt x="4126409" y="378379"/>
                  <a:pt x="3910162" y="363727"/>
                  <a:pt x="3710173" y="369332"/>
                </a:cubicBezTo>
                <a:cubicBezTo>
                  <a:pt x="3510184" y="374937"/>
                  <a:pt x="3358220" y="345226"/>
                  <a:pt x="3264952" y="369332"/>
                </a:cubicBezTo>
                <a:cubicBezTo>
                  <a:pt x="3171684" y="393438"/>
                  <a:pt x="2955274" y="349777"/>
                  <a:pt x="2734928" y="369332"/>
                </a:cubicBezTo>
                <a:cubicBezTo>
                  <a:pt x="2514582" y="388887"/>
                  <a:pt x="2415255" y="368605"/>
                  <a:pt x="2289707" y="369332"/>
                </a:cubicBezTo>
                <a:cubicBezTo>
                  <a:pt x="2164159" y="370059"/>
                  <a:pt x="2087062" y="354049"/>
                  <a:pt x="1886888" y="369332"/>
                </a:cubicBezTo>
                <a:cubicBezTo>
                  <a:pt x="1686714" y="384615"/>
                  <a:pt x="1436648" y="366972"/>
                  <a:pt x="1314461" y="369332"/>
                </a:cubicBezTo>
                <a:cubicBezTo>
                  <a:pt x="1192274" y="371692"/>
                  <a:pt x="943232" y="323689"/>
                  <a:pt x="699633" y="369332"/>
                </a:cubicBezTo>
                <a:cubicBezTo>
                  <a:pt x="456034" y="414975"/>
                  <a:pt x="154133" y="354419"/>
                  <a:pt x="0" y="369332"/>
                </a:cubicBezTo>
                <a:cubicBezTo>
                  <a:pt x="-20753" y="194689"/>
                  <a:pt x="25735" y="106778"/>
                  <a:pt x="0" y="0"/>
                </a:cubicBezTo>
                <a:close/>
              </a:path>
            </a:pathLst>
          </a:custGeom>
          <a:no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rPr b="1" i="0" lang="en" sz="1600" u="none" cap="none" strike="noStrike">
                <a:solidFill>
                  <a:srgbClr val="7030A0"/>
                </a:solidFill>
                <a:latin typeface="Avenir"/>
                <a:ea typeface="Avenir"/>
                <a:cs typeface="Avenir"/>
                <a:sym typeface="Avenir"/>
              </a:rPr>
              <a:t>There are difficult padlocks to enter the codes.</a:t>
            </a:r>
            <a:endParaRPr xmlns:a="http://schemas.openxmlformats.org/drawingml/2006/main" i="0" sz="1200" u="none" cap="none" strike="noStrike">
              <a:solidFill>
                <a:srgbClr val="000000"/>
              </a:solidFill>
              <a:latin typeface="Avenir"/>
              <a:ea typeface="Avenir"/>
              <a:cs typeface="Avenir"/>
              <a:sym typeface="Avenir"/>
            </a:endParaRPr>
          </a:p>
        </p:txBody>
      </p:sp>
      <p:sp>
        <p:nvSpPr>
          <p:cNvPr id="254" name="Google Shape;254;p26"/>
          <p:cNvSpPr/>
          <p:nvPr/>
        </p:nvSpPr>
        <p:spPr>
          <a:xfrm rot="-176140">
            <a:off x="5929255" y="2990514"/>
            <a:ext cx="421302" cy="717167"/>
          </a:xfrm>
          <a:custGeom>
            <a:rect b="b" l="l" r="r" t="t"/>
            <a:pathLst>
              <a:path extrusionOk="0" h="3672953" w="2157687">
                <a:moveTo>
                  <a:pt x="0" y="0"/>
                </a:moveTo>
                <a:lnTo>
                  <a:pt x="2157688" y="0"/>
                </a:lnTo>
                <a:lnTo>
                  <a:pt x="2157688" y="3672953"/>
                </a:lnTo>
                <a:lnTo>
                  <a:pt x="0" y="3672953"/>
                </a:lnTo>
                <a:lnTo>
                  <a:pt x="0" y="0"/>
                </a:lnTo>
                <a:close/>
              </a:path>
            </a:pathLst>
          </a:custGeom>
          <a:blipFill rotWithShape="1">
            <a:blip r:embed="rId6">
              <a:alphaModFix/>
            </a:blip>
            <a:stretch>
              <a:fillRect b="-8689" l="0" r="-99956" t="-8769"/>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sp>
        <p:nvSpPr>
          <p:cNvPr id="255" name="Google Shape;255;p26"/>
          <p:cNvSpPr/>
          <p:nvPr/>
        </p:nvSpPr>
        <p:spPr>
          <a:xfrm>
            <a:off x="6460665" y="3015819"/>
            <a:ext cx="715334" cy="693874"/>
          </a:xfrm>
          <a:custGeom>
            <a:rect b="b" l="l" r="r" t="t"/>
            <a:pathLst>
              <a:path extrusionOk="0" h="2861335" w="2861335">
                <a:moveTo>
                  <a:pt x="0" y="0"/>
                </a:moveTo>
                <a:lnTo>
                  <a:pt x="2861335" y="0"/>
                </a:lnTo>
                <a:lnTo>
                  <a:pt x="2861335" y="2861336"/>
                </a:lnTo>
                <a:lnTo>
                  <a:pt x="0" y="2861336"/>
                </a:lnTo>
                <a:lnTo>
                  <a:pt x="0" y="0"/>
                </a:lnTo>
                <a:close/>
              </a:path>
            </a:pathLst>
          </a:custGeom>
          <a:blipFill rotWithShape="1">
            <a:blip r:embed="rId7">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350"/>
              <a:buFont typeface="Arial"/>
              <a:buNone/>
            </a:pPr>
            <a:r xmlns:a="http://schemas.openxmlformats.org/drawingml/2006/main">
              <a:t/>
            </a:r>
            <a:endParaRPr xmlns:a="http://schemas.openxmlformats.org/drawingml/2006/main" b="0" i="0" sz="1350" u="none" cap="none" strike="noStrike">
              <a:solidFill>
                <a:srgbClr val="000000"/>
              </a:solidFill>
              <a:latin typeface="Calibri"/>
              <a:ea typeface="Calibri"/>
              <a:cs typeface="Calibri"/>
              <a:sym typeface="Calibri"/>
            </a:endParaRPr>
          </a:p>
        </p:txBody>
      </p:sp>
      <p:sp>
        <p:nvSpPr>
          <p:cNvPr id="256" name="Google Shape;256;p26"/>
          <p:cNvSpPr/>
          <p:nvPr/>
        </p:nvSpPr>
        <p:spPr>
          <a:xfrm>
            <a:off x="1670985" y="3825677"/>
            <a:ext cx="4240198" cy="369332"/>
          </a:xfrm>
          <a:custGeom>
            <a:rect b="b" l="l" r="r" t="t"/>
            <a:pathLst>
              <a:path extrusionOk="0" h="369332" w="4240198">
                <a:moveTo>
                  <a:pt x="0" y="0"/>
                </a:moveTo>
                <a:cubicBezTo>
                  <a:pt x="129873" y="-18891"/>
                  <a:pt x="361051" y="11791"/>
                  <a:pt x="572427" y="0"/>
                </a:cubicBezTo>
                <a:cubicBezTo>
                  <a:pt x="783803" y="-11791"/>
                  <a:pt x="902014" y="45349"/>
                  <a:pt x="1144853" y="0"/>
                </a:cubicBezTo>
                <a:cubicBezTo>
                  <a:pt x="1387692" y="-45349"/>
                  <a:pt x="1556747" y="48060"/>
                  <a:pt x="1759682" y="0"/>
                </a:cubicBezTo>
                <a:cubicBezTo>
                  <a:pt x="1962617" y="-48060"/>
                  <a:pt x="2003472" y="35221"/>
                  <a:pt x="2162501" y="0"/>
                </a:cubicBezTo>
                <a:cubicBezTo>
                  <a:pt x="2321530" y="-35221"/>
                  <a:pt x="2375707" y="17383"/>
                  <a:pt x="2565320" y="0"/>
                </a:cubicBezTo>
                <a:cubicBezTo>
                  <a:pt x="2754933" y="-17383"/>
                  <a:pt x="2874679" y="25254"/>
                  <a:pt x="3010541" y="0"/>
                </a:cubicBezTo>
                <a:cubicBezTo>
                  <a:pt x="3146403" y="-25254"/>
                  <a:pt x="3299887" y="21367"/>
                  <a:pt x="3455761" y="0"/>
                </a:cubicBezTo>
                <a:cubicBezTo>
                  <a:pt x="3611635" y="-21367"/>
                  <a:pt x="3955163" y="31865"/>
                  <a:pt x="4240198" y="0"/>
                </a:cubicBezTo>
                <a:cubicBezTo>
                  <a:pt x="4267740" y="164922"/>
                  <a:pt x="4205588" y="274453"/>
                  <a:pt x="4240198" y="369332"/>
                </a:cubicBezTo>
                <a:cubicBezTo>
                  <a:pt x="4126409" y="378379"/>
                  <a:pt x="3910162" y="363727"/>
                  <a:pt x="3710173" y="369332"/>
                </a:cubicBezTo>
                <a:cubicBezTo>
                  <a:pt x="3510184" y="374937"/>
                  <a:pt x="3358220" y="345226"/>
                  <a:pt x="3264952" y="369332"/>
                </a:cubicBezTo>
                <a:cubicBezTo>
                  <a:pt x="3171684" y="393438"/>
                  <a:pt x="2955274" y="349777"/>
                  <a:pt x="2734928" y="369332"/>
                </a:cubicBezTo>
                <a:cubicBezTo>
                  <a:pt x="2514582" y="388887"/>
                  <a:pt x="2415255" y="368605"/>
                  <a:pt x="2289707" y="369332"/>
                </a:cubicBezTo>
                <a:cubicBezTo>
                  <a:pt x="2164159" y="370059"/>
                  <a:pt x="2087062" y="354049"/>
                  <a:pt x="1886888" y="369332"/>
                </a:cubicBezTo>
                <a:cubicBezTo>
                  <a:pt x="1686714" y="384615"/>
                  <a:pt x="1436648" y="366972"/>
                  <a:pt x="1314461" y="369332"/>
                </a:cubicBezTo>
                <a:cubicBezTo>
                  <a:pt x="1192274" y="371692"/>
                  <a:pt x="943232" y="323689"/>
                  <a:pt x="699633" y="369332"/>
                </a:cubicBezTo>
                <a:cubicBezTo>
                  <a:pt x="456034" y="414975"/>
                  <a:pt x="154133" y="354419"/>
                  <a:pt x="0" y="369332"/>
                </a:cubicBezTo>
                <a:cubicBezTo>
                  <a:pt x="-20753" y="194689"/>
                  <a:pt x="25735" y="106778"/>
                  <a:pt x="0" y="0"/>
                </a:cubicBezTo>
                <a:close/>
              </a:path>
            </a:pathLst>
          </a:custGeom>
          <a:no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rPr b="1" i="0" lang="en" sz="1600" u="none" cap="none" strike="noStrike">
                <a:solidFill>
                  <a:srgbClr val="7030A0"/>
                </a:solidFill>
                <a:latin typeface="Avenir"/>
                <a:ea typeface="Avenir"/>
                <a:cs typeface="Avenir"/>
                <a:sym typeface="Avenir"/>
              </a:rPr>
              <a:t>Number of codes supported:</a:t>
            </a:r>
            <a:endParaRPr xmlns:a="http://schemas.openxmlformats.org/drawingml/2006/main" i="0" sz="1200" u="none" cap="none" strike="noStrike">
              <a:solidFill>
                <a:srgbClr val="000000"/>
              </a:solidFill>
              <a:latin typeface="Avenir"/>
              <a:ea typeface="Avenir"/>
              <a:cs typeface="Avenir"/>
              <a:sym typeface="Avenir"/>
            </a:endParaRPr>
          </a:p>
        </p:txBody>
      </p:sp>
      <p:pic>
        <p:nvPicPr>
          <p:cNvPr descr="Imagen que contiene tabla, interior, diferente, artículos&#10;&#10;Descripción generada automáticamente" id="257" name="Google Shape;257;p26"/>
          <p:cNvPicPr preferRelativeResize="0"/>
          <p:nvPr/>
        </p:nvPicPr>
        <p:blipFill rotWithShape="1">
          <a:blip r:embed="rId8">
            <a:alphaModFix/>
          </a:blip>
          <a:srcRect b="21352" l="0" r="0" t="0"/>
          <a:stretch/>
        </p:blipFill>
        <p:spPr>
          <a:xfrm>
            <a:off x="2847163" y="4297519"/>
            <a:ext cx="3449673" cy="735559"/>
          </a:xfrm>
          <a:prstGeom prst="rect">
            <a:avLst/>
          </a:prstGeom>
          <a:noFill/>
          <a:ln>
            <a:noFill/>
          </a:ln>
        </p:spPr>
      </p:pic>
      <p:sp>
        <p:nvSpPr>
          <p:cNvPr id="258" name="Google Shape;258;p26"/>
          <p:cNvSpPr/>
          <p:nvPr/>
        </p:nvSpPr>
        <p:spPr>
          <a:xfrm>
            <a:off x="2740036" y="5191095"/>
            <a:ext cx="3838571" cy="276999"/>
          </a:xfrm>
          <a:custGeom>
            <a:rect b="b" l="l" r="r" t="t"/>
            <a:pathLst>
              <a:path extrusionOk="0" h="276999" w="3838571">
                <a:moveTo>
                  <a:pt x="0" y="0"/>
                </a:moveTo>
                <a:cubicBezTo>
                  <a:pt x="144258" y="-10195"/>
                  <a:pt x="347996" y="17332"/>
                  <a:pt x="586753" y="0"/>
                </a:cubicBezTo>
                <a:cubicBezTo>
                  <a:pt x="825510" y="-17332"/>
                  <a:pt x="1054837" y="50482"/>
                  <a:pt x="1173506" y="0"/>
                </a:cubicBezTo>
                <a:cubicBezTo>
                  <a:pt x="1292175" y="-50482"/>
                  <a:pt x="1559100" y="60570"/>
                  <a:pt x="1798645" y="0"/>
                </a:cubicBezTo>
                <a:cubicBezTo>
                  <a:pt x="2038190" y="-60570"/>
                  <a:pt x="2085100" y="27002"/>
                  <a:pt x="2231855" y="0"/>
                </a:cubicBezTo>
                <a:cubicBezTo>
                  <a:pt x="2378610" y="-27002"/>
                  <a:pt x="2463208" y="29949"/>
                  <a:pt x="2665065" y="0"/>
                </a:cubicBezTo>
                <a:cubicBezTo>
                  <a:pt x="2866922" y="-29949"/>
                  <a:pt x="2901677" y="32149"/>
                  <a:pt x="3136661" y="0"/>
                </a:cubicBezTo>
                <a:cubicBezTo>
                  <a:pt x="3371645" y="-32149"/>
                  <a:pt x="3562605" y="61535"/>
                  <a:pt x="3838571" y="0"/>
                </a:cubicBezTo>
                <a:cubicBezTo>
                  <a:pt x="3861458" y="88686"/>
                  <a:pt x="3824311" y="191244"/>
                  <a:pt x="3838571" y="276999"/>
                </a:cubicBezTo>
                <a:cubicBezTo>
                  <a:pt x="3605592" y="308159"/>
                  <a:pt x="3546857" y="226793"/>
                  <a:pt x="3290204" y="276999"/>
                </a:cubicBezTo>
                <a:cubicBezTo>
                  <a:pt x="3033551" y="327205"/>
                  <a:pt x="2875950" y="250969"/>
                  <a:pt x="2703451" y="276999"/>
                </a:cubicBezTo>
                <a:cubicBezTo>
                  <a:pt x="2530952" y="303029"/>
                  <a:pt x="2414064" y="259126"/>
                  <a:pt x="2231855" y="276999"/>
                </a:cubicBezTo>
                <a:cubicBezTo>
                  <a:pt x="2049646" y="294872"/>
                  <a:pt x="1893177" y="276810"/>
                  <a:pt x="1683488" y="276999"/>
                </a:cubicBezTo>
                <a:cubicBezTo>
                  <a:pt x="1473799" y="277188"/>
                  <a:pt x="1361072" y="252739"/>
                  <a:pt x="1211892" y="276999"/>
                </a:cubicBezTo>
                <a:cubicBezTo>
                  <a:pt x="1062712" y="301259"/>
                  <a:pt x="959054" y="226961"/>
                  <a:pt x="778682" y="276999"/>
                </a:cubicBezTo>
                <a:cubicBezTo>
                  <a:pt x="598310" y="327037"/>
                  <a:pt x="198207" y="228160"/>
                  <a:pt x="0" y="276999"/>
                </a:cubicBezTo>
                <a:cubicBezTo>
                  <a:pt x="-25570" y="175731"/>
                  <a:pt x="10904" y="87461"/>
                  <a:pt x="0" y="0"/>
                </a:cubicBezTo>
                <a:close/>
              </a:path>
            </a:pathLst>
          </a:custGeom>
          <a:no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200"/>
              <a:buFont typeface="Arial"/>
              <a:buNone/>
            </a:pPr>
            <a:r xmlns:a="http://schemas.openxmlformats.org/drawingml/2006/main">
              <a:rPr i="0" lang="en" sz="1200" u="none" cap="none" strike="noStrike">
                <a:solidFill>
                  <a:srgbClr val="7030A0"/>
                </a:solidFill>
                <a:latin typeface="Avenir"/>
                <a:ea typeface="Avenir"/>
                <a:cs typeface="Avenir"/>
                <a:sym typeface="Avenir"/>
              </a:rPr>
              <a:t>10,000 – 175 – 48,000 – </a:t>
            </a:r>
            <a:r xmlns:a="http://schemas.openxmlformats.org/drawingml/2006/main">
              <a:rPr b="1" i="0" lang="en" sz="1200" u="none" cap="none" strike="noStrike">
                <a:solidFill>
                  <a:srgbClr val="FF0000"/>
                </a:solidFill>
                <a:latin typeface="Avenir"/>
                <a:ea typeface="Avenir"/>
                <a:cs typeface="Avenir"/>
                <a:sym typeface="Avenir"/>
              </a:rPr>
              <a:t>100,000</a:t>
            </a:r>
            <a:r xmlns:a="http://schemas.openxmlformats.org/drawingml/2006/main">
              <a:rPr i="0" lang="en" sz="1200" u="none" cap="none" strike="noStrike">
                <a:solidFill>
                  <a:srgbClr val="218C97"/>
                </a:solidFill>
                <a:latin typeface="Avenir"/>
                <a:ea typeface="Avenir"/>
                <a:cs typeface="Avenir"/>
                <a:sym typeface="Avenir"/>
              </a:rPr>
              <a:t> </a:t>
            </a:r>
            <a:r xmlns:a="http://schemas.openxmlformats.org/drawingml/2006/main">
              <a:rPr i="0" lang="en" sz="1200" u="none" cap="none" strike="noStrike">
                <a:solidFill>
                  <a:srgbClr val="7030A0"/>
                </a:solidFill>
                <a:latin typeface="Avenir"/>
                <a:ea typeface="Avenir"/>
                <a:cs typeface="Avenir"/>
                <a:sym typeface="Avenir"/>
              </a:rPr>
              <a:t>– 256 – 59,280</a:t>
            </a:r>
            <a:endParaRPr xmlns:a="http://schemas.openxmlformats.org/drawingml/2006/main" i="0" sz="1400" u="none" cap="none" strike="noStrike">
              <a:solidFill>
                <a:srgbClr val="000000"/>
              </a:solidFill>
              <a:latin typeface="Avenir"/>
              <a:ea typeface="Avenir"/>
              <a:cs typeface="Avenir"/>
              <a:sym typeface="Aveni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62" name="Shape 262"/>
        <p:cNvGrpSpPr/>
        <p:nvPr/>
      </p:nvGrpSpPr>
      <p:grpSpPr>
        <a:xfrm>
          <a:off x="0" y="0"/>
          <a:ext cx="0" cy="0"/>
          <a:chOff x="0" y="0"/>
          <a:chExt cx="0" cy="0"/>
        </a:xfrm>
      </p:grpSpPr>
      <p:sp>
        <p:nvSpPr>
          <p:cNvPr id="263" name="Google Shape;263;p27"/>
          <p:cNvSpPr txBox="1"/>
          <p:nvPr>
            <p:ph idx="1" type="body"/>
          </p:nvPr>
        </p:nvSpPr>
        <p:spPr>
          <a:xfrm>
            <a:off x="460394" y="1247036"/>
            <a:ext cx="8397900" cy="2143500"/>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SzPts val="2000"/>
              <a:buChar char="◼"/>
            </a:pPr>
            <a:r xmlns:a="http://schemas.openxmlformats.org/drawingml/2006/main">
              <a:rPr lang="en"/>
              <a:t>Sharing the answers found in Q1</a:t>
            </a:r>
            <a:endParaRPr xmlns:a="http://schemas.openxmlformats.org/drawingml/2006/main" b="1">
              <a:solidFill>
                <a:srgbClr val="7030A0"/>
              </a:solidFill>
            </a:endParaRPr>
          </a:p>
        </p:txBody>
      </p:sp>
      <p:sp>
        <p:nvSpPr>
          <p:cNvPr id="264" name="Google Shape;264;p27"/>
          <p:cNvSpPr txBox="1"/>
          <p:nvPr>
            <p:ph type="title"/>
          </p:nvPr>
        </p:nvSpPr>
        <p:spPr>
          <a:xfrm>
            <a:off x="474595" y="318728"/>
            <a:ext cx="7767900" cy="64020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a:t>PHASE 1. </a:t>
            </a:r>
            <a:r xmlns:a="http://schemas.openxmlformats.org/drawingml/2006/main">
              <a:rPr lang="en"/>
              <a:t>We count codes</a:t>
            </a:r>
            <a:endParaRPr xmlns:a="http://schemas.openxmlformats.org/drawingml/2006/main"/>
          </a:p>
        </p:txBody>
      </p:sp>
      <p:pic>
        <p:nvPicPr>
          <p:cNvPr descr="Free Vectors | whiteboard frame" id="265" name="Google Shape;265;p27"/>
          <p:cNvPicPr preferRelativeResize="0"/>
          <p:nvPr/>
        </p:nvPicPr>
        <p:blipFill rotWithShape="1">
          <a:blip r:embed="rId3">
            <a:alphaModFix/>
          </a:blip>
          <a:srcRect b="0" l="0" r="0" t="0"/>
          <a:stretch/>
        </p:blipFill>
        <p:spPr>
          <a:xfrm>
            <a:off x="1307132" y="2015242"/>
            <a:ext cx="6288657" cy="3880019"/>
          </a:xfrm>
          <a:prstGeom prst="rect">
            <a:avLst/>
          </a:prstGeom>
          <a:noFill/>
          <a:ln>
            <a:noFill/>
          </a:ln>
        </p:spPr>
      </p:pic>
      <p:sp>
        <p:nvSpPr>
          <p:cNvPr id="266" name="Google Shape;266;p27"/>
          <p:cNvSpPr/>
          <p:nvPr/>
        </p:nvSpPr>
        <p:spPr>
          <a:xfrm>
            <a:off x="1593802" y="2269300"/>
            <a:ext cx="5819823" cy="2862322"/>
          </a:xfrm>
          <a:custGeom>
            <a:rect b="b" l="l" r="r" t="t"/>
            <a:pathLst>
              <a:path extrusionOk="0" h="2862322" w="5819823">
                <a:moveTo>
                  <a:pt x="0" y="0"/>
                </a:moveTo>
                <a:cubicBezTo>
                  <a:pt x="279577" y="-5738"/>
                  <a:pt x="456592" y="66844"/>
                  <a:pt x="640181" y="0"/>
                </a:cubicBezTo>
                <a:cubicBezTo>
                  <a:pt x="823770" y="-66844"/>
                  <a:pt x="1118316" y="17943"/>
                  <a:pt x="1280361" y="0"/>
                </a:cubicBezTo>
                <a:cubicBezTo>
                  <a:pt x="1442406" y="-17943"/>
                  <a:pt x="1654336" y="53760"/>
                  <a:pt x="1978740" y="0"/>
                </a:cubicBezTo>
                <a:cubicBezTo>
                  <a:pt x="2303144" y="-53760"/>
                  <a:pt x="2206583" y="33795"/>
                  <a:pt x="2386127" y="0"/>
                </a:cubicBezTo>
                <a:cubicBezTo>
                  <a:pt x="2565671" y="-33795"/>
                  <a:pt x="2659227" y="18039"/>
                  <a:pt x="2793515" y="0"/>
                </a:cubicBezTo>
                <a:cubicBezTo>
                  <a:pt x="2927803" y="-18039"/>
                  <a:pt x="3029350" y="34181"/>
                  <a:pt x="3259101" y="0"/>
                </a:cubicBezTo>
                <a:cubicBezTo>
                  <a:pt x="3488852" y="-34181"/>
                  <a:pt x="3496163" y="27064"/>
                  <a:pt x="3724687" y="0"/>
                </a:cubicBezTo>
                <a:cubicBezTo>
                  <a:pt x="3953211" y="-27064"/>
                  <a:pt x="4128175" y="30854"/>
                  <a:pt x="4248471" y="0"/>
                </a:cubicBezTo>
                <a:cubicBezTo>
                  <a:pt x="4368767" y="-30854"/>
                  <a:pt x="4556665" y="48214"/>
                  <a:pt x="4772255" y="0"/>
                </a:cubicBezTo>
                <a:cubicBezTo>
                  <a:pt x="4987845" y="-48214"/>
                  <a:pt x="5116747" y="43897"/>
                  <a:pt x="5237841" y="0"/>
                </a:cubicBezTo>
                <a:cubicBezTo>
                  <a:pt x="5358935" y="-43897"/>
                  <a:pt x="5633826" y="8874"/>
                  <a:pt x="5819823" y="0"/>
                </a:cubicBezTo>
                <a:cubicBezTo>
                  <a:pt x="5869540" y="170385"/>
                  <a:pt x="5758711" y="407690"/>
                  <a:pt x="5819823" y="515218"/>
                </a:cubicBezTo>
                <a:cubicBezTo>
                  <a:pt x="5880935" y="622746"/>
                  <a:pt x="5769524" y="973364"/>
                  <a:pt x="5819823" y="1144929"/>
                </a:cubicBezTo>
                <a:cubicBezTo>
                  <a:pt x="5870122" y="1316494"/>
                  <a:pt x="5785265" y="1639818"/>
                  <a:pt x="5819823" y="1774640"/>
                </a:cubicBezTo>
                <a:cubicBezTo>
                  <a:pt x="5854381" y="1909462"/>
                  <a:pt x="5754645" y="2065284"/>
                  <a:pt x="5819823" y="2347104"/>
                </a:cubicBezTo>
                <a:cubicBezTo>
                  <a:pt x="5885001" y="2628924"/>
                  <a:pt x="5788076" y="2736476"/>
                  <a:pt x="5819823" y="2862322"/>
                </a:cubicBezTo>
                <a:cubicBezTo>
                  <a:pt x="5621668" y="2908523"/>
                  <a:pt x="5449538" y="2828405"/>
                  <a:pt x="5121444" y="2862322"/>
                </a:cubicBezTo>
                <a:cubicBezTo>
                  <a:pt x="4793350" y="2896239"/>
                  <a:pt x="4600524" y="2785754"/>
                  <a:pt x="4423065" y="2862322"/>
                </a:cubicBezTo>
                <a:cubicBezTo>
                  <a:pt x="4245606" y="2938890"/>
                  <a:pt x="4044022" y="2802707"/>
                  <a:pt x="3782885" y="2862322"/>
                </a:cubicBezTo>
                <a:cubicBezTo>
                  <a:pt x="3521748" y="2921937"/>
                  <a:pt x="3445636" y="2850265"/>
                  <a:pt x="3259101" y="2862322"/>
                </a:cubicBezTo>
                <a:cubicBezTo>
                  <a:pt x="3072566" y="2874379"/>
                  <a:pt x="3040860" y="2838280"/>
                  <a:pt x="2851713" y="2862322"/>
                </a:cubicBezTo>
                <a:cubicBezTo>
                  <a:pt x="2662566" y="2886364"/>
                  <a:pt x="2404022" y="2793588"/>
                  <a:pt x="2153335" y="2862322"/>
                </a:cubicBezTo>
                <a:cubicBezTo>
                  <a:pt x="1902648" y="2931056"/>
                  <a:pt x="1692027" y="2796983"/>
                  <a:pt x="1571352" y="2862322"/>
                </a:cubicBezTo>
                <a:cubicBezTo>
                  <a:pt x="1450677" y="2927661"/>
                  <a:pt x="1219631" y="2801192"/>
                  <a:pt x="989370" y="2862322"/>
                </a:cubicBezTo>
                <a:cubicBezTo>
                  <a:pt x="759109" y="2923452"/>
                  <a:pt x="758212" y="2818596"/>
                  <a:pt x="581982" y="2862322"/>
                </a:cubicBezTo>
                <a:cubicBezTo>
                  <a:pt x="405752" y="2906048"/>
                  <a:pt x="169224" y="2856016"/>
                  <a:pt x="0" y="2862322"/>
                </a:cubicBezTo>
                <a:cubicBezTo>
                  <a:pt x="-58119" y="2652143"/>
                  <a:pt x="40244" y="2478783"/>
                  <a:pt x="0" y="2375727"/>
                </a:cubicBezTo>
                <a:cubicBezTo>
                  <a:pt x="-40244" y="2272671"/>
                  <a:pt x="1496" y="2029896"/>
                  <a:pt x="0" y="1774640"/>
                </a:cubicBezTo>
                <a:cubicBezTo>
                  <a:pt x="-1496" y="1519384"/>
                  <a:pt x="30100" y="1386345"/>
                  <a:pt x="0" y="1144929"/>
                </a:cubicBezTo>
                <a:cubicBezTo>
                  <a:pt x="-30100" y="903513"/>
                  <a:pt x="59716" y="756524"/>
                  <a:pt x="0" y="543841"/>
                </a:cubicBezTo>
                <a:cubicBezTo>
                  <a:pt x="-59716" y="331158"/>
                  <a:pt x="35375" y="248864"/>
                  <a:pt x="0" y="0"/>
                </a:cubicBezTo>
                <a:close/>
              </a:path>
            </a:pathLst>
          </a:custGeom>
          <a:no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rPr b="1" i="0" lang="en" sz="1600" u="none" cap="none" strike="noStrike">
                <a:solidFill>
                  <a:srgbClr val="7030A0"/>
                </a:solidFill>
                <a:latin typeface="Avenir"/>
                <a:ea typeface="Avenir"/>
                <a:cs typeface="Avenir"/>
                <a:sym typeface="Avenir"/>
              </a:rPr>
              <a:t>Q1.1. What is the maximum time it would take to open each padlock?</a:t>
            </a:r>
            <a:endParaRPr xmlns:a="http://schemas.openxmlformats.org/drawingml/2006/main" i="0" sz="1200" u="none" cap="none" strike="noStrike">
              <a:solidFill>
                <a:srgbClr val="000000"/>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b="1" i="0" sz="1600" u="none" cap="none" strike="noStrike">
              <a:solidFill>
                <a:srgbClr val="218C97"/>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b="1" i="0" sz="1600" u="none" cap="none" strike="noStrike">
              <a:solidFill>
                <a:srgbClr val="218C97"/>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b="1" i="0" sz="1600" u="none" cap="none" strike="noStrike">
              <a:solidFill>
                <a:srgbClr val="218C97"/>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b="1" i="0" sz="1600" u="none" cap="none" strike="noStrike">
              <a:solidFill>
                <a:srgbClr val="218C97"/>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b="1" i="0" sz="1600" u="none" cap="none" strike="noStrike">
              <a:solidFill>
                <a:srgbClr val="218C97"/>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rPr b="1" i="0" lang="en" sz="1600" u="none" cap="none" strike="noStrike">
                <a:solidFill>
                  <a:srgbClr val="7030A0"/>
                </a:solidFill>
                <a:latin typeface="Avenir"/>
                <a:ea typeface="Avenir"/>
                <a:cs typeface="Avenir"/>
                <a:sym typeface="Avenir"/>
              </a:rPr>
              <a:t>Q1.2. Does security depend only on the number of codes?</a:t>
            </a:r>
            <a:endParaRPr xmlns:a="http://schemas.openxmlformats.org/drawingml/2006/main" i="0" sz="1200" u="none" cap="none" strike="noStrike">
              <a:solidFill>
                <a:srgbClr val="000000"/>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t/>
            </a:r>
            <a:endParaRPr xmlns:a="http://schemas.openxmlformats.org/drawingml/2006/main" b="1" i="0" sz="1600" u="none" cap="none" strike="noStrike">
              <a:solidFill>
                <a:srgbClr val="7030A0"/>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800"/>
              <a:buFont typeface="Arial"/>
              <a:buNone/>
            </a:pPr>
            <a:r xmlns:a="http://schemas.openxmlformats.org/drawingml/2006/main">
              <a:rPr b="1" i="0" lang="en" sz="1600" u="none" cap="none" strike="noStrike">
                <a:solidFill>
                  <a:srgbClr val="7030A0"/>
                </a:solidFill>
                <a:latin typeface="Avenir"/>
                <a:ea typeface="Avenir"/>
                <a:cs typeface="Avenir"/>
                <a:sym typeface="Avenir"/>
              </a:rPr>
              <a:t>Q1.3. What small modification could we make to each padlock to make it more secure?</a:t>
            </a:r>
            <a:endParaRPr xmlns:a="http://schemas.openxmlformats.org/drawingml/2006/main" i="0" sz="1200" u="none" cap="none" strike="noStrike">
              <a:solidFill>
                <a:srgbClr val="000000"/>
              </a:solidFill>
              <a:latin typeface="Avenir"/>
              <a:ea typeface="Avenir"/>
              <a:cs typeface="Avenir"/>
              <a:sym typeface="Avenir"/>
            </a:endParaRPr>
          </a:p>
        </p:txBody>
      </p:sp>
      <p:pic>
        <p:nvPicPr>
          <p:cNvPr descr="Imagen que contiene tabla, interior, diferente, artículos&#10;&#10;Descripción generada automáticamente" id="267" name="Google Shape;267;p27"/>
          <p:cNvPicPr preferRelativeResize="0"/>
          <p:nvPr/>
        </p:nvPicPr>
        <p:blipFill rotWithShape="1">
          <a:blip r:embed="rId4">
            <a:alphaModFix/>
          </a:blip>
          <a:srcRect b="21352" l="0" r="0" t="0"/>
          <a:stretch/>
        </p:blipFill>
        <p:spPr>
          <a:xfrm>
            <a:off x="2836094" y="2758892"/>
            <a:ext cx="3142718" cy="670108"/>
          </a:xfrm>
          <a:prstGeom prst="rect">
            <a:avLst/>
          </a:prstGeom>
          <a:noFill/>
          <a:ln>
            <a:noFill/>
          </a:ln>
        </p:spPr>
      </p:pic>
      <p:sp>
        <p:nvSpPr>
          <p:cNvPr id="268" name="Google Shape;268;p27"/>
          <p:cNvSpPr/>
          <p:nvPr/>
        </p:nvSpPr>
        <p:spPr>
          <a:xfrm>
            <a:off x="2802953" y="3407727"/>
            <a:ext cx="3416118" cy="276999"/>
          </a:xfrm>
          <a:custGeom>
            <a:rect b="b" l="l" r="r" t="t"/>
            <a:pathLst>
              <a:path extrusionOk="0" h="276999" w="3416118">
                <a:moveTo>
                  <a:pt x="0" y="0"/>
                </a:moveTo>
                <a:cubicBezTo>
                  <a:pt x="184732" y="-29968"/>
                  <a:pt x="466282" y="5087"/>
                  <a:pt x="603514" y="0"/>
                </a:cubicBezTo>
                <a:cubicBezTo>
                  <a:pt x="740746" y="-5087"/>
                  <a:pt x="1045753" y="9036"/>
                  <a:pt x="1207028" y="0"/>
                </a:cubicBezTo>
                <a:cubicBezTo>
                  <a:pt x="1368303" y="-9036"/>
                  <a:pt x="1552761" y="69788"/>
                  <a:pt x="1844704" y="0"/>
                </a:cubicBezTo>
                <a:cubicBezTo>
                  <a:pt x="2136647" y="-69788"/>
                  <a:pt x="2211342" y="2549"/>
                  <a:pt x="2311573" y="0"/>
                </a:cubicBezTo>
                <a:cubicBezTo>
                  <a:pt x="2411804" y="-2549"/>
                  <a:pt x="2592200" y="50199"/>
                  <a:pt x="2778443" y="0"/>
                </a:cubicBezTo>
                <a:cubicBezTo>
                  <a:pt x="2964686" y="-50199"/>
                  <a:pt x="3217853" y="3909"/>
                  <a:pt x="3416118" y="0"/>
                </a:cubicBezTo>
                <a:cubicBezTo>
                  <a:pt x="3437335" y="84690"/>
                  <a:pt x="3413343" y="161569"/>
                  <a:pt x="3416118" y="276999"/>
                </a:cubicBezTo>
                <a:cubicBezTo>
                  <a:pt x="3240218" y="299021"/>
                  <a:pt x="3044784" y="224718"/>
                  <a:pt x="2949249" y="276999"/>
                </a:cubicBezTo>
                <a:cubicBezTo>
                  <a:pt x="2853714" y="329280"/>
                  <a:pt x="2655921" y="227063"/>
                  <a:pt x="2379896" y="276999"/>
                </a:cubicBezTo>
                <a:cubicBezTo>
                  <a:pt x="2103871" y="326935"/>
                  <a:pt x="1906624" y="236211"/>
                  <a:pt x="1776381" y="276999"/>
                </a:cubicBezTo>
                <a:cubicBezTo>
                  <a:pt x="1646138" y="317787"/>
                  <a:pt x="1458371" y="232824"/>
                  <a:pt x="1275351" y="276999"/>
                </a:cubicBezTo>
                <a:cubicBezTo>
                  <a:pt x="1092331" y="321174"/>
                  <a:pt x="853542" y="210214"/>
                  <a:pt x="705998" y="276999"/>
                </a:cubicBezTo>
                <a:cubicBezTo>
                  <a:pt x="558454" y="343784"/>
                  <a:pt x="268649" y="261545"/>
                  <a:pt x="0" y="276999"/>
                </a:cubicBezTo>
                <a:cubicBezTo>
                  <a:pt x="-31803" y="208186"/>
                  <a:pt x="7929" y="82898"/>
                  <a:pt x="0" y="0"/>
                </a:cubicBezTo>
                <a:close/>
              </a:path>
            </a:pathLst>
          </a:custGeom>
          <a:no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200"/>
              <a:buFont typeface="Arial"/>
              <a:buNone/>
            </a:pPr>
            <a:r xmlns:a="http://schemas.openxmlformats.org/drawingml/2006/main">
              <a:rPr b="0" i="0" lang="en" sz="1200" u="none" cap="none" strike="noStrike">
                <a:solidFill>
                  <a:srgbClr val="7030A0"/>
                </a:solidFill>
                <a:latin typeface="Arial"/>
                <a:ea typeface="Arial"/>
                <a:cs typeface="Arial"/>
                <a:sym typeface="Arial"/>
              </a:rPr>
              <a:t>10h – 8min – 30h – 50h – 42min – </a:t>
            </a:r>
            <a:r xmlns:a="http://schemas.openxmlformats.org/drawingml/2006/main">
              <a:rPr b="1" i="0" lang="en" sz="1200" u="none" cap="none" strike="noStrike">
                <a:solidFill>
                  <a:srgbClr val="FF0000"/>
                </a:solidFill>
                <a:latin typeface="Arial"/>
                <a:ea typeface="Arial"/>
                <a:cs typeface="Arial"/>
                <a:sym typeface="Arial"/>
              </a:rPr>
              <a:t>80h</a:t>
            </a:r>
            <a:r xmlns:a="http://schemas.openxmlformats.org/drawingml/2006/main">
              <a:rPr b="0" i="0" lang="en" sz="1200" u="none" cap="none" strike="noStrike">
                <a:solidFill>
                  <a:srgbClr val="218C97"/>
                </a:solidFill>
                <a:latin typeface="Arial"/>
                <a:ea typeface="Arial"/>
                <a:cs typeface="Arial"/>
                <a:sym typeface="Arial"/>
              </a:rPr>
              <a:t>   </a:t>
            </a:r>
            <a:endParaRPr xmlns:a="http://schemas.openxmlformats.org/drawingml/2006/main" b="0" i="0" sz="1400" u="none" cap="none" strike="noStrike">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28"/>
          <p:cNvSpPr txBox="1"/>
          <p:nvPr>
            <p:ph idx="1" type="body"/>
          </p:nvPr>
        </p:nvSpPr>
        <p:spPr>
          <a:xfrm>
            <a:off x="329409" y="1681628"/>
            <a:ext cx="8485179" cy="2143372"/>
          </a:xfrm>
          <a:prstGeom prst="rect">
            <a:avLst/>
          </a:prstGeom>
          <a:noFill/>
          <a:ln>
            <a:noFill/>
          </a:ln>
        </p:spPr>
        <p:txBody>
          <a:bodyPr anchorCtr="0" anchor="t" bIns="45700" lIns="91425" spcFirstLastPara="1" rIns="91425" wrap="square" tIns="45700">
            <a:noAutofit/>
          </a:bodyPr>
          <a:lstStyle/>
          <a:p>
            <a:pPr xmlns:a="http://schemas.openxmlformats.org/drawingml/2006/main" indent="0" lvl="0" marL="0" rtl="0" algn="ctr">
              <a:lnSpc>
                <a:spcPct val="130000"/>
              </a:lnSpc>
              <a:spcBef>
                <a:spcPts val="0"/>
              </a:spcBef>
              <a:spcAft>
                <a:spcPts val="0"/>
              </a:spcAft>
              <a:buSzPts val="2800"/>
              <a:buNone/>
            </a:pPr>
            <a:r xmlns:a="http://schemas.openxmlformats.org/drawingml/2006/main">
              <a:rPr lang="en" sz="2800"/>
              <a:t>What answers and new questions have we gathered from the study prepared by the different groups on...</a:t>
            </a:r>
            <a:endParaRPr xmlns:a="http://schemas.openxmlformats.org/drawingml/2006/main"/>
          </a:p>
          <a:p>
            <a:pPr xmlns:a="http://schemas.openxmlformats.org/drawingml/2006/main" indent="0" lvl="0" marL="0" rtl="0" algn="ctr">
              <a:lnSpc>
                <a:spcPct val="130000"/>
              </a:lnSpc>
              <a:spcBef>
                <a:spcPts val="600"/>
              </a:spcBef>
              <a:spcAft>
                <a:spcPts val="0"/>
              </a:spcAft>
              <a:buSzPts val="2800"/>
              <a:buNone/>
            </a:pPr>
            <a:r xmlns:a="http://schemas.openxmlformats.org/drawingml/2006/main">
              <a:rPr b="1" i="1" lang="en" sz="2800"/>
              <a:t>Q </a:t>
            </a:r>
            <a:r xmlns:a="http://schemas.openxmlformats.org/drawingml/2006/main">
              <a:rPr b="1" baseline="-25000" lang="en" sz="2800"/>
              <a:t>1 </a:t>
            </a:r>
            <a:r xmlns:a="http://schemas.openxmlformats.org/drawingml/2006/main">
              <a:rPr b="1" lang="en" sz="2800"/>
              <a:t>: How many different codes does each padlock support?</a:t>
            </a:r>
            <a:endParaRPr xmlns:a="http://schemas.openxmlformats.org/drawingml/2006/main"/>
          </a:p>
        </p:txBody>
      </p:sp>
      <p:sp>
        <p:nvSpPr>
          <p:cNvPr id="275" name="Google Shape;275;p28"/>
          <p:cNvSpPr txBox="1"/>
          <p:nvPr>
            <p:ph type="title"/>
          </p:nvPr>
        </p:nvSpPr>
        <p:spPr>
          <a:xfrm>
            <a:off x="474595" y="318728"/>
            <a:ext cx="7640705" cy="64033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sz="2000"/>
              <a:t>PHASE 2. </a:t>
            </a:r>
            <a:r xmlns:a="http://schemas.openxmlformats.org/drawingml/2006/main">
              <a:rPr lang="en" sz="2000"/>
              <a:t>Validation with the padlock collection with restrictions</a:t>
            </a:r>
            <a:endParaRPr xmlns:a="http://schemas.openxmlformats.org/drawingml/2006/main"/>
          </a:p>
        </p:txBody>
      </p:sp>
      <p:pic>
        <p:nvPicPr>
          <p:cNvPr descr="Imagen que contiene tabla, interior, diferente, artículos&#10;&#10;Descripción generada automáticamente" id="276" name="Google Shape;276;p28"/>
          <p:cNvPicPr preferRelativeResize="0"/>
          <p:nvPr/>
        </p:nvPicPr>
        <p:blipFill rotWithShape="1">
          <a:blip r:embed="rId3">
            <a:alphaModFix/>
          </a:blip>
          <a:srcRect b="21350" l="0" r="0" t="0"/>
          <a:stretch/>
        </p:blipFill>
        <p:spPr>
          <a:xfrm>
            <a:off x="996993" y="4547571"/>
            <a:ext cx="6212161" cy="1324591"/>
          </a:xfrm>
          <a:prstGeom prst="rect">
            <a:avLst/>
          </a:prstGeom>
          <a:noFill/>
          <a:ln>
            <a:noFill/>
          </a:ln>
        </p:spPr>
      </p:pic>
      <p:pic>
        <p:nvPicPr>
          <p:cNvPr id="277" name="Google Shape;277;p28"/>
          <p:cNvPicPr preferRelativeResize="0"/>
          <p:nvPr/>
        </p:nvPicPr>
        <p:blipFill>
          <a:blip r:embed="rId4">
            <a:alphaModFix/>
          </a:blip>
          <a:stretch>
            <a:fillRect/>
          </a:stretch>
        </p:blipFill>
        <p:spPr>
          <a:xfrm>
            <a:off x="7209149" y="4746825"/>
            <a:ext cx="1147650" cy="106985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29"/>
          <p:cNvSpPr txBox="1"/>
          <p:nvPr>
            <p:ph idx="1" type="body"/>
          </p:nvPr>
        </p:nvSpPr>
        <p:spPr>
          <a:xfrm>
            <a:off x="460394" y="1247036"/>
            <a:ext cx="8397857" cy="2143372"/>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SzPts val="2000"/>
              <a:buChar char="◼"/>
            </a:pPr>
            <a:r xmlns:a="http://schemas.openxmlformats.org/drawingml/2006/main">
              <a:rPr lang="en">
                <a:solidFill>
                  <a:srgbClr val="000000"/>
                </a:solidFill>
              </a:rPr>
              <a:t>We name the different techniques </a:t>
            </a:r>
            <a:r xmlns:a="http://schemas.openxmlformats.org/drawingml/2006/main">
              <a:rPr b="1" lang="en">
                <a:solidFill>
                  <a:srgbClr val="000000"/>
                </a:solidFill>
              </a:rPr>
              <a:t>for describing the space to be counted.</a:t>
            </a:r>
            <a:endParaRPr xmlns:a="http://schemas.openxmlformats.org/drawingml/2006/main"/>
          </a:p>
          <a:p>
            <a:pPr xmlns:a="http://schemas.openxmlformats.org/drawingml/2006/main" indent="-114300" lvl="1" marL="457200" rtl="0" algn="l">
              <a:lnSpc>
                <a:spcPct val="130000"/>
              </a:lnSpc>
              <a:spcBef>
                <a:spcPts val="600"/>
              </a:spcBef>
              <a:spcAft>
                <a:spcPts val="0"/>
              </a:spcAft>
              <a:buSzPts val="1800"/>
              <a:buNone/>
            </a:pPr>
            <a:r xmlns:a="http://schemas.openxmlformats.org/drawingml/2006/main">
              <a:t/>
            </a:r>
            <a:endParaRPr xmlns:a="http://schemas.openxmlformats.org/drawingml/2006/main"/>
          </a:p>
        </p:txBody>
      </p:sp>
      <p:sp>
        <p:nvSpPr>
          <p:cNvPr id="283" name="Google Shape;283;p29"/>
          <p:cNvSpPr txBox="1"/>
          <p:nvPr>
            <p:ph type="title"/>
          </p:nvPr>
        </p:nvSpPr>
        <p:spPr>
          <a:xfrm>
            <a:off x="474595" y="318728"/>
            <a:ext cx="7767779" cy="64033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sz="2000"/>
              <a:t>PHASE 2. </a:t>
            </a:r>
            <a:r xmlns:a="http://schemas.openxmlformats.org/drawingml/2006/main">
              <a:rPr lang="en" sz="2000"/>
              <a:t>Validation with the padlock collection with restrictions</a:t>
            </a:r>
            <a:endParaRPr xmlns:a="http://schemas.openxmlformats.org/drawingml/2006/main" sz="2000"/>
          </a:p>
        </p:txBody>
      </p:sp>
      <p:pic>
        <p:nvPicPr>
          <p:cNvPr descr="Tabla&#10;&#10;Descripción generada automáticamente" id="284" name="Google Shape;284;p29"/>
          <p:cNvPicPr preferRelativeResize="0"/>
          <p:nvPr/>
        </p:nvPicPr>
        <p:blipFill rotWithShape="1">
          <a:blip r:embed="rId3">
            <a:alphaModFix/>
          </a:blip>
          <a:srcRect b="0" l="0" r="0" t="0"/>
          <a:stretch/>
        </p:blipFill>
        <p:spPr>
          <a:xfrm>
            <a:off x="709684" y="2325876"/>
            <a:ext cx="3598198" cy="1230351"/>
          </a:xfrm>
          <a:prstGeom prst="rect">
            <a:avLst/>
          </a:prstGeom>
          <a:noFill/>
          <a:ln>
            <a:noFill/>
          </a:ln>
        </p:spPr>
      </p:pic>
      <p:pic>
        <p:nvPicPr>
          <p:cNvPr id="285" name="Google Shape;285;p29"/>
          <p:cNvPicPr preferRelativeResize="0"/>
          <p:nvPr/>
        </p:nvPicPr>
        <p:blipFill rotWithShape="1">
          <a:blip r:embed="rId4">
            <a:alphaModFix/>
          </a:blip>
          <a:srcRect b="0" l="0" r="0" t="0"/>
          <a:stretch/>
        </p:blipFill>
        <p:spPr>
          <a:xfrm>
            <a:off x="917564" y="3919663"/>
            <a:ext cx="2870202" cy="2128660"/>
          </a:xfrm>
          <a:prstGeom prst="rect">
            <a:avLst/>
          </a:prstGeom>
          <a:noFill/>
          <a:ln>
            <a:noFill/>
          </a:ln>
        </p:spPr>
      </p:pic>
      <p:pic>
        <p:nvPicPr>
          <p:cNvPr descr="Imagen que contiene Diagrama&#10;&#10;Descripción generada automáticamente" id="286" name="Google Shape;286;p29"/>
          <p:cNvPicPr preferRelativeResize="0"/>
          <p:nvPr/>
        </p:nvPicPr>
        <p:blipFill rotWithShape="1">
          <a:blip r:embed="rId5">
            <a:alphaModFix/>
          </a:blip>
          <a:srcRect b="31674" l="0" r="33617" t="0"/>
          <a:stretch/>
        </p:blipFill>
        <p:spPr>
          <a:xfrm>
            <a:off x="4414298" y="4159809"/>
            <a:ext cx="2360665" cy="1945295"/>
          </a:xfrm>
          <a:prstGeom prst="rect">
            <a:avLst/>
          </a:prstGeom>
          <a:noFill/>
          <a:ln>
            <a:noFill/>
          </a:ln>
        </p:spPr>
      </p:pic>
      <p:pic>
        <p:nvPicPr>
          <p:cNvPr id="287" name="Google Shape;287;p29"/>
          <p:cNvPicPr preferRelativeResize="0"/>
          <p:nvPr/>
        </p:nvPicPr>
        <p:blipFill rotWithShape="1">
          <a:blip r:embed="rId6">
            <a:alphaModFix/>
          </a:blip>
          <a:srcRect b="0" l="0" r="0" t="0"/>
          <a:stretch/>
        </p:blipFill>
        <p:spPr>
          <a:xfrm>
            <a:off x="5141760" y="2255637"/>
            <a:ext cx="3021850" cy="1768770"/>
          </a:xfrm>
          <a:prstGeom prst="rect">
            <a:avLst/>
          </a:prstGeom>
          <a:noFill/>
          <a:ln>
            <a:noFill/>
          </a:ln>
        </p:spPr>
      </p:pic>
      <p:pic>
        <p:nvPicPr>
          <p:cNvPr id="288" name="Google Shape;288;p29"/>
          <p:cNvPicPr preferRelativeResize="0"/>
          <p:nvPr/>
        </p:nvPicPr>
        <p:blipFill rotWithShape="1">
          <a:blip r:embed="rId7">
            <a:alphaModFix/>
          </a:blip>
          <a:srcRect b="0" l="0" r="0" t="0"/>
          <a:stretch/>
        </p:blipFill>
        <p:spPr>
          <a:xfrm>
            <a:off x="7066022" y="4249318"/>
            <a:ext cx="1617584" cy="1980067"/>
          </a:xfrm>
          <a:prstGeom prst="rect">
            <a:avLst/>
          </a:prstGeom>
          <a:noFill/>
          <a:ln>
            <a:noFill/>
          </a:ln>
        </p:spPr>
      </p:pic>
      <p:sp>
        <p:nvSpPr>
          <p:cNvPr id="289" name="Google Shape;289;p29"/>
          <p:cNvSpPr txBox="1"/>
          <p:nvPr/>
        </p:nvSpPr>
        <p:spPr>
          <a:xfrm>
            <a:off x="1146714" y="1860302"/>
            <a:ext cx="6322336" cy="338554"/>
          </a:xfrm>
          <a:prstGeom prst="rect">
            <a:avLst/>
          </a:prstGeom>
          <a:solidFill>
            <a:srgbClr val="733EF6">
              <a:alpha val="14509"/>
            </a:srgbClr>
          </a:solidFill>
          <a:ln>
            <a:noFill/>
          </a:ln>
        </p:spPr>
        <p:txBody>
          <a:bodyPr anchorCtr="0" anchor="t" bIns="45700" lIns="91425" spcFirstLastPara="1" rIns="91425" wrap="square" tIns="45700">
            <a:spAutoFit/>
          </a:bodyPr>
          <a:lstStyle/>
          <a:p>
            <a:pPr xmlns:a="http://schemas.openxmlformats.org/drawingml/2006/main" indent="0" lvl="0" marL="0" marR="0" rtl="0" algn="ctr">
              <a:lnSpc>
                <a:spcPct val="100000"/>
              </a:lnSpc>
              <a:spcBef>
                <a:spcPts val="0"/>
              </a:spcBef>
              <a:spcAft>
                <a:spcPts val="0"/>
              </a:spcAft>
              <a:buClr>
                <a:srgbClr val="000000"/>
              </a:buClr>
              <a:buSzPts val="1600"/>
              <a:buFont typeface="Arial"/>
              <a:buNone/>
            </a:pPr>
            <a:r xmlns:a="http://schemas.openxmlformats.org/drawingml/2006/main">
              <a:rPr b="0" i="0" lang="en" sz="1600" u="none" cap="none" strike="noStrike">
                <a:solidFill>
                  <a:srgbClr val="000000"/>
                </a:solidFill>
                <a:latin typeface="Avenir"/>
                <a:ea typeface="Avenir"/>
                <a:cs typeface="Avenir"/>
                <a:sym typeface="Avenir"/>
              </a:rPr>
              <a:t>More or less structured </a:t>
            </a:r>
            <a:r xmlns:a="http://schemas.openxmlformats.org/drawingml/2006/main">
              <a:rPr b="1" i="0" lang="en" sz="1600" u="none" cap="none" strike="noStrike">
                <a:solidFill>
                  <a:srgbClr val="000000"/>
                </a:solidFill>
                <a:latin typeface="Avenir"/>
                <a:ea typeface="Avenir"/>
                <a:cs typeface="Avenir"/>
                <a:sym typeface="Avenir"/>
              </a:rPr>
              <a:t>lists </a:t>
            </a:r>
            <a:r xmlns:a="http://schemas.openxmlformats.org/drawingml/2006/main">
              <a:rPr b="1" i="0" lang="en" sz="1600" u="none" cap="none" strike="noStrike">
                <a:solidFill>
                  <a:srgbClr val="000000"/>
                </a:solidFill>
                <a:latin typeface="Avenir"/>
                <a:ea typeface="Avenir"/>
                <a:cs typeface="Avenir"/>
                <a:sym typeface="Avenir"/>
              </a:rPr>
              <a:t>of codes</a:t>
            </a:r>
            <a:endParaRPr xmlns:a="http://schemas.openxmlformats.org/drawingml/2006/main" b="0" i="0" sz="1400" u="none" cap="none" strike="noStrike">
              <a:solidFill>
                <a:srgbClr val="000000"/>
              </a:solidFill>
              <a:latin typeface="Arial"/>
              <a:ea typeface="Arial"/>
              <a:cs typeface="Arial"/>
              <a:sym typeface="Arial"/>
            </a:endParaRPr>
          </a:p>
        </p:txBody>
      </p:sp>
      <p:sp>
        <p:nvSpPr>
          <p:cNvPr id="290" name="Google Shape;290;p29"/>
          <p:cNvSpPr txBox="1"/>
          <p:nvPr/>
        </p:nvSpPr>
        <p:spPr>
          <a:xfrm>
            <a:off x="917564" y="6242482"/>
            <a:ext cx="3078082" cy="338554"/>
          </a:xfrm>
          <a:prstGeom prst="rect">
            <a:avLst/>
          </a:prstGeom>
          <a:solidFill>
            <a:srgbClr val="733EF6">
              <a:alpha val="14509"/>
            </a:srgbClr>
          </a:solidFill>
          <a:ln>
            <a:noFill/>
          </a:ln>
        </p:spPr>
        <p:txBody>
          <a:bodyPr anchorCtr="0" anchor="t" bIns="45700" lIns="91425" spcFirstLastPara="1" rIns="91425" wrap="square" tIns="45700">
            <a:spAutoFit/>
          </a:bodyPr>
          <a:lstStyle/>
          <a:p>
            <a:pPr xmlns:a="http://schemas.openxmlformats.org/drawingml/2006/main" indent="0" lvl="0" marL="0" marR="0" rtl="0" algn="ctr">
              <a:lnSpc>
                <a:spcPct val="100000"/>
              </a:lnSpc>
              <a:spcBef>
                <a:spcPts val="0"/>
              </a:spcBef>
              <a:spcAft>
                <a:spcPts val="0"/>
              </a:spcAft>
              <a:buClr>
                <a:srgbClr val="000000"/>
              </a:buClr>
              <a:buSzPts val="1600"/>
              <a:buFont typeface="Arial"/>
              <a:buNone/>
            </a:pPr>
            <a:r xmlns:a="http://schemas.openxmlformats.org/drawingml/2006/main">
              <a:rPr b="1" i="0" lang="en" sz="1600" u="none" cap="none" strike="noStrike">
                <a:solidFill>
                  <a:srgbClr val="000000"/>
                </a:solidFill>
                <a:latin typeface="Avenir"/>
                <a:ea typeface="Avenir"/>
                <a:cs typeface="Avenir"/>
                <a:sym typeface="Avenir"/>
              </a:rPr>
              <a:t>Tree diagram</a:t>
            </a:r>
            <a:endParaRPr xmlns:a="http://schemas.openxmlformats.org/drawingml/2006/main" b="0" i="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30"/>
          <p:cNvSpPr txBox="1"/>
          <p:nvPr>
            <p:ph idx="1" type="body"/>
          </p:nvPr>
        </p:nvSpPr>
        <p:spPr>
          <a:xfrm>
            <a:off x="460394" y="1247036"/>
            <a:ext cx="8397857" cy="2143372"/>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SzPts val="2000"/>
              <a:buChar char="◼"/>
            </a:pPr>
            <a:r xmlns:a="http://schemas.openxmlformats.org/drawingml/2006/main">
              <a:rPr lang="en">
                <a:solidFill>
                  <a:srgbClr val="000000"/>
                </a:solidFill>
              </a:rPr>
              <a:t>Let's name the different techniques </a:t>
            </a:r>
            <a:r xmlns:a="http://schemas.openxmlformats.org/drawingml/2006/main">
              <a:rPr b="1" lang="en">
                <a:solidFill>
                  <a:srgbClr val="000000"/>
                </a:solidFill>
              </a:rPr>
              <a:t>for counting codes</a:t>
            </a:r>
            <a:endParaRPr xmlns:a="http://schemas.openxmlformats.org/drawingml/2006/main"/>
          </a:p>
        </p:txBody>
      </p:sp>
      <p:pic>
        <p:nvPicPr>
          <p:cNvPr descr="Imagen que contiene Diagrama&#10;&#10;Descripción generada automáticamente" id="296" name="Google Shape;296;p30"/>
          <p:cNvPicPr preferRelativeResize="0"/>
          <p:nvPr/>
        </p:nvPicPr>
        <p:blipFill rotWithShape="1">
          <a:blip r:embed="rId3">
            <a:alphaModFix/>
          </a:blip>
          <a:srcRect b="0" l="0" r="0" t="0"/>
          <a:stretch/>
        </p:blipFill>
        <p:spPr>
          <a:xfrm>
            <a:off x="3953579" y="2215505"/>
            <a:ext cx="3914447" cy="3133996"/>
          </a:xfrm>
          <a:prstGeom prst="rect">
            <a:avLst/>
          </a:prstGeom>
          <a:noFill/>
          <a:ln>
            <a:noFill/>
          </a:ln>
        </p:spPr>
      </p:pic>
      <p:pic>
        <p:nvPicPr>
          <p:cNvPr id="297" name="Google Shape;297;p30"/>
          <p:cNvPicPr preferRelativeResize="0"/>
          <p:nvPr/>
        </p:nvPicPr>
        <p:blipFill rotWithShape="1">
          <a:blip r:embed="rId4">
            <a:alphaModFix/>
          </a:blip>
          <a:srcRect b="0" l="0" r="0" t="0"/>
          <a:stretch/>
        </p:blipFill>
        <p:spPr>
          <a:xfrm>
            <a:off x="655694" y="4827241"/>
            <a:ext cx="3353530" cy="1712031"/>
          </a:xfrm>
          <a:prstGeom prst="rect">
            <a:avLst/>
          </a:prstGeom>
          <a:noFill/>
          <a:ln>
            <a:noFill/>
          </a:ln>
        </p:spPr>
      </p:pic>
      <p:pic>
        <p:nvPicPr>
          <p:cNvPr id="298" name="Google Shape;298;p30"/>
          <p:cNvPicPr preferRelativeResize="0"/>
          <p:nvPr/>
        </p:nvPicPr>
        <p:blipFill rotWithShape="1">
          <a:blip r:embed="rId5">
            <a:alphaModFix/>
          </a:blip>
          <a:srcRect b="0" l="0" r="0" t="0"/>
          <a:stretch/>
        </p:blipFill>
        <p:spPr>
          <a:xfrm>
            <a:off x="753747" y="2378321"/>
            <a:ext cx="3056925" cy="1834155"/>
          </a:xfrm>
          <a:prstGeom prst="rect">
            <a:avLst/>
          </a:prstGeom>
          <a:noFill/>
          <a:ln>
            <a:noFill/>
          </a:ln>
        </p:spPr>
      </p:pic>
      <p:sp>
        <p:nvSpPr>
          <p:cNvPr id="299" name="Google Shape;299;p30"/>
          <p:cNvSpPr txBox="1"/>
          <p:nvPr/>
        </p:nvSpPr>
        <p:spPr>
          <a:xfrm>
            <a:off x="753747" y="1921066"/>
            <a:ext cx="3057000" cy="338700"/>
          </a:xfrm>
          <a:prstGeom prst="rect">
            <a:avLst/>
          </a:prstGeom>
          <a:solidFill>
            <a:srgbClr val="733EF6">
              <a:alpha val="14509"/>
            </a:srgbClr>
          </a:solidFill>
          <a:ln>
            <a:noFill/>
          </a:ln>
        </p:spPr>
        <p:txBody>
          <a:bodyPr anchorCtr="0" anchor="t" bIns="45700" lIns="91425" spcFirstLastPara="1" rIns="91425" wrap="square" tIns="45700">
            <a:spAutoFit/>
          </a:bodyPr>
          <a:lstStyle/>
          <a:p>
            <a:pPr xmlns:a="http://schemas.openxmlformats.org/drawingml/2006/main" indent="0" lvl="0" marL="0" marR="0" rtl="0" algn="ctr">
              <a:lnSpc>
                <a:spcPct val="100000"/>
              </a:lnSpc>
              <a:spcBef>
                <a:spcPts val="0"/>
              </a:spcBef>
              <a:spcAft>
                <a:spcPts val="0"/>
              </a:spcAft>
              <a:buClr>
                <a:srgbClr val="000000"/>
              </a:buClr>
              <a:buSzPts val="1600"/>
              <a:buFont typeface="Arial"/>
              <a:buNone/>
            </a:pPr>
            <a:r xmlns:a="http://schemas.openxmlformats.org/drawingml/2006/main">
              <a:rPr i="0" lang="en" sz="1600" u="none" cap="none" strike="noStrike">
                <a:solidFill>
                  <a:srgbClr val="000000"/>
                </a:solidFill>
                <a:latin typeface="Avenir"/>
                <a:ea typeface="Avenir"/>
                <a:cs typeface="Avenir"/>
                <a:sym typeface="Avenir"/>
              </a:rPr>
              <a:t>Options product</a:t>
            </a:r>
            <a:endParaRPr xmlns:a="http://schemas.openxmlformats.org/drawingml/2006/main" i="0" sz="1400" u="none" cap="none" strike="noStrike">
              <a:solidFill>
                <a:srgbClr val="000000"/>
              </a:solidFill>
              <a:latin typeface="Avenir"/>
              <a:ea typeface="Avenir"/>
              <a:cs typeface="Avenir"/>
              <a:sym typeface="Avenir"/>
            </a:endParaRPr>
          </a:p>
        </p:txBody>
      </p:sp>
      <p:sp>
        <p:nvSpPr>
          <p:cNvPr id="300" name="Google Shape;300;p30"/>
          <p:cNvSpPr txBox="1"/>
          <p:nvPr/>
        </p:nvSpPr>
        <p:spPr>
          <a:xfrm>
            <a:off x="6430381" y="3627701"/>
            <a:ext cx="1959900" cy="585000"/>
          </a:xfrm>
          <a:prstGeom prst="rect">
            <a:avLst/>
          </a:prstGeom>
          <a:solidFill>
            <a:srgbClr val="733EF6">
              <a:alpha val="14509"/>
            </a:srgbClr>
          </a:solidFill>
          <a:ln>
            <a:noFill/>
          </a:ln>
        </p:spPr>
        <p:txBody>
          <a:bodyPr anchorCtr="0" anchor="t" bIns="45700" lIns="91425" spcFirstLastPara="1" rIns="91425" wrap="square" tIns="45700">
            <a:spAutoFit/>
          </a:bodyPr>
          <a:lstStyle/>
          <a:p>
            <a:pPr xmlns:a="http://schemas.openxmlformats.org/drawingml/2006/main" indent="0" lvl="0" marL="0" marR="0" rtl="0" algn="ctr">
              <a:lnSpc>
                <a:spcPct val="100000"/>
              </a:lnSpc>
              <a:spcBef>
                <a:spcPts val="0"/>
              </a:spcBef>
              <a:spcAft>
                <a:spcPts val="0"/>
              </a:spcAft>
              <a:buClr>
                <a:srgbClr val="000000"/>
              </a:buClr>
              <a:buSzPts val="1600"/>
              <a:buFont typeface="Arial"/>
              <a:buNone/>
            </a:pPr>
            <a:r xmlns:a="http://schemas.openxmlformats.org/drawingml/2006/main">
              <a:rPr i="0" lang="en" sz="1600" u="none" cap="none" strike="noStrike">
                <a:solidFill>
                  <a:srgbClr val="000000"/>
                </a:solidFill>
                <a:latin typeface="Avenir"/>
                <a:ea typeface="Avenir"/>
                <a:cs typeface="Avenir"/>
                <a:sym typeface="Avenir"/>
              </a:rPr>
              <a:t>Grouping</a:t>
            </a:r>
            <a:endParaRPr xmlns:a="http://schemas.openxmlformats.org/drawingml/2006/main" i="0" sz="1400" u="none" cap="none" strike="noStrike">
              <a:solidFill>
                <a:srgbClr val="000000"/>
              </a:solidFill>
              <a:latin typeface="Avenir"/>
              <a:ea typeface="Avenir"/>
              <a:cs typeface="Avenir"/>
              <a:sym typeface="Avenir"/>
            </a:endParaRPr>
          </a:p>
          <a:p>
            <a:pPr xmlns:a="http://schemas.openxmlformats.org/drawingml/2006/main" indent="0" lvl="0" marL="0" marR="0" rtl="0" algn="ctr">
              <a:lnSpc>
                <a:spcPct val="100000"/>
              </a:lnSpc>
              <a:spcBef>
                <a:spcPts val="0"/>
              </a:spcBef>
              <a:spcAft>
                <a:spcPts val="0"/>
              </a:spcAft>
              <a:buClr>
                <a:srgbClr val="000000"/>
              </a:buClr>
              <a:buSzPts val="1600"/>
              <a:buFont typeface="Arial"/>
              <a:buNone/>
            </a:pPr>
            <a:r xmlns:a="http://schemas.openxmlformats.org/drawingml/2006/main">
              <a:rPr i="0" lang="en" sz="1600" u="none" cap="none" strike="noStrike">
                <a:solidFill>
                  <a:srgbClr val="000000"/>
                </a:solidFill>
                <a:latin typeface="Avenir"/>
                <a:ea typeface="Avenir"/>
                <a:cs typeface="Avenir"/>
                <a:sym typeface="Avenir"/>
              </a:rPr>
              <a:t>of repeated codes</a:t>
            </a:r>
            <a:endParaRPr xmlns:a="http://schemas.openxmlformats.org/drawingml/2006/main" i="0" sz="1400" u="none" cap="none" strike="noStrike">
              <a:solidFill>
                <a:srgbClr val="000000"/>
              </a:solidFill>
              <a:latin typeface="Avenir"/>
              <a:ea typeface="Avenir"/>
              <a:cs typeface="Avenir"/>
              <a:sym typeface="Avenir"/>
            </a:endParaRPr>
          </a:p>
        </p:txBody>
      </p:sp>
      <p:sp>
        <p:nvSpPr>
          <p:cNvPr id="301" name="Google Shape;301;p30"/>
          <p:cNvSpPr txBox="1"/>
          <p:nvPr/>
        </p:nvSpPr>
        <p:spPr>
          <a:xfrm>
            <a:off x="4154842" y="5954497"/>
            <a:ext cx="1959900" cy="585000"/>
          </a:xfrm>
          <a:prstGeom prst="rect">
            <a:avLst/>
          </a:prstGeom>
          <a:solidFill>
            <a:srgbClr val="733EF6">
              <a:alpha val="14509"/>
            </a:srgbClr>
          </a:solidFill>
          <a:ln>
            <a:noFill/>
          </a:ln>
        </p:spPr>
        <p:txBody>
          <a:bodyPr anchorCtr="0" anchor="t" bIns="45700" lIns="91425" spcFirstLastPara="1" rIns="91425" wrap="square" tIns="45700">
            <a:spAutoFit/>
          </a:bodyPr>
          <a:lstStyle/>
          <a:p>
            <a:pPr xmlns:a="http://schemas.openxmlformats.org/drawingml/2006/main" indent="0" lvl="0" marL="0" marR="0" rtl="0" algn="ctr">
              <a:lnSpc>
                <a:spcPct val="100000"/>
              </a:lnSpc>
              <a:spcBef>
                <a:spcPts val="0"/>
              </a:spcBef>
              <a:spcAft>
                <a:spcPts val="0"/>
              </a:spcAft>
              <a:buClr>
                <a:srgbClr val="000000"/>
              </a:buClr>
              <a:buSzPts val="1600"/>
              <a:buFont typeface="Arial"/>
              <a:buNone/>
            </a:pPr>
            <a:r xmlns:a="http://schemas.openxmlformats.org/drawingml/2006/main">
              <a:rPr i="0" lang="en" sz="1600" u="none" cap="none" strike="noStrike">
                <a:solidFill>
                  <a:srgbClr val="000000"/>
                </a:solidFill>
                <a:latin typeface="Avenir"/>
                <a:ea typeface="Avenir"/>
                <a:cs typeface="Avenir"/>
                <a:sym typeface="Avenir"/>
              </a:rPr>
              <a:t>Formula search and use</a:t>
            </a:r>
            <a:endParaRPr xmlns:a="http://schemas.openxmlformats.org/drawingml/2006/main" i="0" sz="1400" u="none" cap="none" strike="noStrike">
              <a:solidFill>
                <a:srgbClr val="000000"/>
              </a:solidFill>
              <a:latin typeface="Avenir"/>
              <a:ea typeface="Avenir"/>
              <a:cs typeface="Avenir"/>
              <a:sym typeface="Avenir"/>
            </a:endParaRPr>
          </a:p>
        </p:txBody>
      </p:sp>
      <p:sp>
        <p:nvSpPr>
          <p:cNvPr id="302" name="Google Shape;302;p30"/>
          <p:cNvSpPr txBox="1"/>
          <p:nvPr>
            <p:ph type="title"/>
          </p:nvPr>
        </p:nvSpPr>
        <p:spPr>
          <a:xfrm>
            <a:off x="474595" y="318728"/>
            <a:ext cx="7767779" cy="64033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sz="2000"/>
              <a:t>PHASE 2. </a:t>
            </a:r>
            <a:r xmlns:a="http://schemas.openxmlformats.org/drawingml/2006/main">
              <a:rPr lang="en" sz="2000"/>
              <a:t>Validation with the padlock collection with restrictions</a:t>
            </a:r>
            <a:endParaRPr xmlns:a="http://schemas.openxmlformats.org/drawingml/2006/main" sz="20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31"/>
          <p:cNvSpPr txBox="1"/>
          <p:nvPr>
            <p:ph idx="1" type="body"/>
          </p:nvPr>
        </p:nvSpPr>
        <p:spPr>
          <a:xfrm>
            <a:off x="329409" y="1681628"/>
            <a:ext cx="8485179" cy="2143372"/>
          </a:xfrm>
          <a:prstGeom prst="rect">
            <a:avLst/>
          </a:prstGeom>
          <a:noFill/>
          <a:ln>
            <a:noFill/>
          </a:ln>
        </p:spPr>
        <p:txBody>
          <a:bodyPr anchorCtr="0" anchor="t" bIns="45700" lIns="91425" spcFirstLastPara="1" rIns="91425" wrap="square" tIns="45700">
            <a:noAutofit/>
          </a:bodyPr>
          <a:lstStyle/>
          <a:p>
            <a:pPr xmlns:a="http://schemas.openxmlformats.org/drawingml/2006/main" indent="0" lvl="0" marL="0" rtl="0" algn="ctr">
              <a:lnSpc>
                <a:spcPct val="130000"/>
              </a:lnSpc>
              <a:spcBef>
                <a:spcPts val="0"/>
              </a:spcBef>
              <a:spcAft>
                <a:spcPts val="0"/>
              </a:spcAft>
              <a:buSzPts val="2800"/>
              <a:buNone/>
            </a:pPr>
            <a:r xmlns:a="http://schemas.openxmlformats.org/drawingml/2006/main">
              <a:rPr lang="en" sz="2800"/>
              <a:t>We've been given more information about the password...</a:t>
            </a:r>
            <a:endParaRPr xmlns:a="http://schemas.openxmlformats.org/drawingml/2006/main"/>
          </a:p>
          <a:p>
            <a:pPr xmlns:a="http://schemas.openxmlformats.org/drawingml/2006/main" indent="0" lvl="0" marL="0" rtl="0" algn="ctr">
              <a:lnSpc>
                <a:spcPct val="130000"/>
              </a:lnSpc>
              <a:spcBef>
                <a:spcPts val="600"/>
              </a:spcBef>
              <a:spcAft>
                <a:spcPts val="0"/>
              </a:spcAft>
              <a:buSzPts val="2800"/>
              <a:buNone/>
            </a:pPr>
            <a:r xmlns:a="http://schemas.openxmlformats.org/drawingml/2006/main">
              <a:rPr b="1" i="1" lang="en" sz="2800"/>
              <a:t>Q </a:t>
            </a:r>
            <a:r xmlns:a="http://schemas.openxmlformats.org/drawingml/2006/main">
              <a:rPr b="1" baseline="-25000" lang="en" sz="2800"/>
              <a:t>2 </a:t>
            </a:r>
            <a:r xmlns:a="http://schemas.openxmlformats.org/drawingml/2006/main">
              <a:rPr b="1" lang="en" sz="2800"/>
              <a:t>: Can we find the number of codes the padlocks now have with the new information?</a:t>
            </a:r>
            <a:endParaRPr xmlns:a="http://schemas.openxmlformats.org/drawingml/2006/main" b="1"/>
          </a:p>
        </p:txBody>
      </p:sp>
      <p:pic>
        <p:nvPicPr>
          <p:cNvPr descr="Imagen que contiene tabla, interior, diferente, artículos&#10;&#10;Descripción generada automáticamente" id="309" name="Google Shape;309;p31"/>
          <p:cNvPicPr preferRelativeResize="0"/>
          <p:nvPr/>
        </p:nvPicPr>
        <p:blipFill rotWithShape="1">
          <a:blip r:embed="rId3">
            <a:alphaModFix/>
          </a:blip>
          <a:srcRect b="21350" l="0" r="0" t="0"/>
          <a:stretch/>
        </p:blipFill>
        <p:spPr>
          <a:xfrm>
            <a:off x="1001043" y="4547571"/>
            <a:ext cx="6212161" cy="1324591"/>
          </a:xfrm>
          <a:prstGeom prst="rect">
            <a:avLst/>
          </a:prstGeom>
          <a:noFill/>
          <a:ln>
            <a:noFill/>
          </a:ln>
        </p:spPr>
      </p:pic>
      <p:sp>
        <p:nvSpPr>
          <p:cNvPr id="310" name="Google Shape;310;p31"/>
          <p:cNvSpPr txBox="1"/>
          <p:nvPr>
            <p:ph type="title"/>
          </p:nvPr>
        </p:nvSpPr>
        <p:spPr>
          <a:xfrm>
            <a:off x="474595" y="318728"/>
            <a:ext cx="7767779" cy="64033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sz="2000"/>
              <a:t>PHASE 2. </a:t>
            </a:r>
            <a:r xmlns:a="http://schemas.openxmlformats.org/drawingml/2006/main">
              <a:rPr lang="en" sz="2000"/>
              <a:t>Validation with the padlock collection with restrictions</a:t>
            </a:r>
            <a:endParaRPr xmlns:a="http://schemas.openxmlformats.org/drawingml/2006/main" sz="2000"/>
          </a:p>
        </p:txBody>
      </p:sp>
      <p:pic>
        <p:nvPicPr>
          <p:cNvPr id="311" name="Google Shape;311;p31"/>
          <p:cNvPicPr preferRelativeResize="0"/>
          <p:nvPr/>
        </p:nvPicPr>
        <p:blipFill>
          <a:blip r:embed="rId4">
            <a:alphaModFix/>
          </a:blip>
          <a:stretch>
            <a:fillRect/>
          </a:stretch>
        </p:blipFill>
        <p:spPr>
          <a:xfrm>
            <a:off x="7060796" y="4547575"/>
            <a:ext cx="1420904" cy="132457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 name="Shape 315"/>
        <p:cNvGrpSpPr/>
        <p:nvPr/>
      </p:nvGrpSpPr>
      <p:grpSpPr>
        <a:xfrm>
          <a:off x="0" y="0"/>
          <a:ext cx="0" cy="0"/>
          <a:chOff x="0" y="0"/>
          <a:chExt cx="0" cy="0"/>
        </a:xfrm>
      </p:grpSpPr>
      <p:sp>
        <p:nvSpPr>
          <p:cNvPr id="316" name="Google Shape;316;p32"/>
          <p:cNvSpPr txBox="1"/>
          <p:nvPr>
            <p:ph type="title"/>
          </p:nvPr>
        </p:nvSpPr>
        <p:spPr>
          <a:xfrm>
            <a:off x="1085850" y="318728"/>
            <a:ext cx="7786500" cy="640200"/>
          </a:xfrm>
          <a:prstGeom prst="rect">
            <a:avLst/>
          </a:prstGeom>
          <a:noFill/>
          <a:ln>
            <a:noFill/>
          </a:ln>
        </p:spPr>
        <p:txBody>
          <a:bodyPr anchorCtr="0" anchor="b"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sz="2000"/>
              <a:t>PHASE 2. </a:t>
            </a:r>
            <a:r xmlns:a="http://schemas.openxmlformats.org/drawingml/2006/main">
              <a:rPr lang="en" sz="2000"/>
              <a:t>Validation with the padlock collection with restrictions</a:t>
            </a:r>
            <a:endParaRPr xmlns:a="http://schemas.openxmlformats.org/drawingml/2006/main" sz="2000"/>
          </a:p>
        </p:txBody>
      </p:sp>
      <p:sp>
        <p:nvSpPr>
          <p:cNvPr id="317" name="Google Shape;317;p32"/>
          <p:cNvSpPr/>
          <p:nvPr/>
        </p:nvSpPr>
        <p:spPr>
          <a:xfrm rot="5400000">
            <a:off x="42832" y="1516522"/>
            <a:ext cx="1418400" cy="1219800"/>
          </a:xfrm>
          <a:prstGeom prst="roundRect">
            <a:avLst>
              <a:gd fmla="val 5407" name="adj"/>
            </a:avLst>
          </a:prstGeom>
          <a:solidFill>
            <a:srgbClr val="733EF6"/>
          </a:solidFill>
          <a:ln>
            <a:noFill/>
          </a:ln>
        </p:spPr>
        <p:txBody>
          <a:bodyPr anchorCtr="0" anchor="ctr" bIns="45700" lIns="91425" spcFirstLastPara="1" rIns="91425" wrap="square" tIns="45700">
            <a:noAutofit/>
          </a:bodyPr>
          <a:lstStyle/>
          <a:p>
            <a:pPr xmlns:a="http://schemas.openxmlformats.org/drawingml/2006/main" indent="0" lvl="0" marL="0" marR="0" rtl="0" algn="ctr">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0" i="0" sz="1600" u="none" cap="none" strike="noStrike">
              <a:solidFill>
                <a:schemeClr val="lt1"/>
              </a:solidFill>
              <a:latin typeface="Avenir"/>
              <a:ea typeface="Avenir"/>
              <a:cs typeface="Avenir"/>
              <a:sym typeface="Avenir"/>
            </a:endParaRPr>
          </a:p>
        </p:txBody>
      </p:sp>
      <p:sp>
        <p:nvSpPr>
          <p:cNvPr id="318" name="Google Shape;318;p32"/>
          <p:cNvSpPr txBox="1"/>
          <p:nvPr/>
        </p:nvSpPr>
        <p:spPr>
          <a:xfrm>
            <a:off x="1382581" y="2067056"/>
            <a:ext cx="3090600" cy="585000"/>
          </a:xfrm>
          <a:prstGeom prst="rect">
            <a:avLst/>
          </a:prstGeom>
          <a:no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0" i="0" lang="en" sz="1600" u="none" cap="none" strike="noStrike">
                <a:solidFill>
                  <a:schemeClr val="dk1"/>
                </a:solidFill>
                <a:latin typeface="Avenir"/>
                <a:ea typeface="Avenir"/>
                <a:cs typeface="Avenir"/>
                <a:sym typeface="Avenir"/>
              </a:rPr>
              <a:t>We know that the password does not contain repeated digits</a:t>
            </a:r>
            <a:endParaRPr xmlns:a="http://schemas.openxmlformats.org/drawingml/2006/main" b="0" i="0" sz="1400" u="none" cap="none" strike="noStrike">
              <a:solidFill>
                <a:srgbClr val="000000"/>
              </a:solidFill>
              <a:latin typeface="Arial"/>
              <a:ea typeface="Arial"/>
              <a:cs typeface="Arial"/>
              <a:sym typeface="Arial"/>
            </a:endParaRPr>
          </a:p>
        </p:txBody>
      </p:sp>
      <p:sp>
        <p:nvSpPr>
          <p:cNvPr id="319" name="Google Shape;319;p32"/>
          <p:cNvSpPr txBox="1"/>
          <p:nvPr/>
        </p:nvSpPr>
        <p:spPr>
          <a:xfrm>
            <a:off x="1429017" y="1435293"/>
            <a:ext cx="3433800" cy="585000"/>
          </a:xfrm>
          <a:prstGeom prst="rect">
            <a:avLst/>
          </a:prstGeom>
          <a:solidFill>
            <a:srgbClr val="7030A0">
              <a:alpha val="14510"/>
            </a:srgbClr>
          </a:solid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i="0" lang="en" sz="1600" u="none" cap="none" strike="noStrike">
                <a:solidFill>
                  <a:schemeClr val="dk1"/>
                </a:solidFill>
                <a:latin typeface="Avenir"/>
                <a:ea typeface="Avenir"/>
                <a:cs typeface="Avenir"/>
                <a:sym typeface="Avenir"/>
              </a:rPr>
              <a:t>Padlock 7: </a:t>
            </a:r>
            <a:r xmlns:a="http://schemas.openxmlformats.org/drawingml/2006/main">
              <a:rPr b="0" i="0" lang="en" sz="1600" u="none" cap="none" strike="noStrike">
                <a:solidFill>
                  <a:schemeClr val="dk1"/>
                </a:solidFill>
                <a:latin typeface="Avenir"/>
                <a:ea typeface="Avenir"/>
                <a:cs typeface="Avenir"/>
                <a:sym typeface="Avenir"/>
              </a:rPr>
              <a:t>Roulette numbering padlock (no repeats)</a:t>
            </a:r>
            <a:endParaRPr xmlns:a="http://schemas.openxmlformats.org/drawingml/2006/main" b="1" i="0" sz="1600" u="none" cap="none" strike="noStrike">
              <a:solidFill>
                <a:schemeClr val="dk1"/>
              </a:solidFill>
              <a:latin typeface="Avenir"/>
              <a:ea typeface="Avenir"/>
              <a:cs typeface="Avenir"/>
              <a:sym typeface="Avenir"/>
            </a:endParaRPr>
          </a:p>
        </p:txBody>
      </p:sp>
      <p:sp>
        <p:nvSpPr>
          <p:cNvPr id="320" name="Google Shape;320;p32"/>
          <p:cNvSpPr/>
          <p:nvPr/>
        </p:nvSpPr>
        <p:spPr>
          <a:xfrm>
            <a:off x="258010" y="1495439"/>
            <a:ext cx="1015910" cy="1224439"/>
          </a:xfrm>
          <a:custGeom>
            <a:rect b="b" l="l" r="r" t="t"/>
            <a:pathLst>
              <a:path extrusionOk="0" h="2782816" w="2539776">
                <a:moveTo>
                  <a:pt x="0" y="0"/>
                </a:moveTo>
                <a:lnTo>
                  <a:pt x="2539776" y="0"/>
                </a:lnTo>
                <a:lnTo>
                  <a:pt x="2539776" y="2782816"/>
                </a:lnTo>
                <a:lnTo>
                  <a:pt x="0" y="2782816"/>
                </a:lnTo>
                <a:lnTo>
                  <a:pt x="0" y="0"/>
                </a:lnTo>
                <a:close/>
              </a:path>
            </a:pathLst>
          </a:custGeom>
          <a:blipFill rotWithShape="1">
            <a:blip r:embed="rId3">
              <a:alphaModFix/>
            </a:blip>
            <a:stretch>
              <a:fillRect b="-3439" l="-3609" r="-78247" t="-15239"/>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0" i="0" sz="1600" u="none" cap="none" strike="noStrike">
              <a:solidFill>
                <a:schemeClr val="dk1"/>
              </a:solidFill>
              <a:latin typeface="Avenir"/>
              <a:ea typeface="Avenir"/>
              <a:cs typeface="Avenir"/>
              <a:sym typeface="Avenir"/>
            </a:endParaRPr>
          </a:p>
        </p:txBody>
      </p:sp>
      <p:sp>
        <p:nvSpPr>
          <p:cNvPr id="321" name="Google Shape;321;p32"/>
          <p:cNvSpPr txBox="1"/>
          <p:nvPr/>
        </p:nvSpPr>
        <p:spPr>
          <a:xfrm>
            <a:off x="1429017" y="3861761"/>
            <a:ext cx="3035100" cy="585000"/>
          </a:xfrm>
          <a:prstGeom prst="rect">
            <a:avLst/>
          </a:prstGeom>
          <a:no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0" i="0" lang="en" sz="1600" u="none" cap="none" strike="noStrike">
                <a:solidFill>
                  <a:schemeClr val="dk1"/>
                </a:solidFill>
                <a:latin typeface="Avenir"/>
                <a:ea typeface="Avenir"/>
                <a:cs typeface="Avenir"/>
                <a:sym typeface="Avenir"/>
              </a:rPr>
              <a:t>We know for sure that the password has </a:t>
            </a:r>
            <a:r xmlns:a="http://schemas.openxmlformats.org/drawingml/2006/main">
              <a:rPr lang="en" sz="1600">
                <a:solidFill>
                  <a:schemeClr val="dk1"/>
                </a:solidFill>
                <a:latin typeface="Avenir"/>
                <a:ea typeface="Avenir"/>
                <a:cs typeface="Avenir"/>
                <a:sym typeface="Avenir"/>
              </a:rPr>
              <a:t>4 </a:t>
            </a:r>
            <a:r xmlns:a="http://schemas.openxmlformats.org/drawingml/2006/main">
              <a:rPr b="0" i="0" lang="en" sz="1600" u="none" cap="none" strike="noStrike">
                <a:solidFill>
                  <a:schemeClr val="dk1"/>
                </a:solidFill>
                <a:latin typeface="Avenir"/>
                <a:ea typeface="Avenir"/>
                <a:cs typeface="Avenir"/>
                <a:sym typeface="Avenir"/>
              </a:rPr>
              <a:t>digits.</a:t>
            </a:r>
            <a:endParaRPr xmlns:a="http://schemas.openxmlformats.org/drawingml/2006/main" b="0" i="0" sz="1600" u="none" cap="none" strike="noStrike">
              <a:solidFill>
                <a:schemeClr val="dk1"/>
              </a:solidFill>
              <a:latin typeface="Avenir"/>
              <a:ea typeface="Avenir"/>
              <a:cs typeface="Avenir"/>
              <a:sym typeface="Avenir"/>
            </a:endParaRPr>
          </a:p>
        </p:txBody>
      </p:sp>
      <p:sp>
        <p:nvSpPr>
          <p:cNvPr id="322" name="Google Shape;322;p32"/>
          <p:cNvSpPr txBox="1"/>
          <p:nvPr/>
        </p:nvSpPr>
        <p:spPr>
          <a:xfrm>
            <a:off x="1429017" y="3189342"/>
            <a:ext cx="3275100" cy="585000"/>
          </a:xfrm>
          <a:prstGeom prst="rect">
            <a:avLst/>
          </a:prstGeom>
          <a:solidFill>
            <a:srgbClr val="7030A0">
              <a:alpha val="14510"/>
            </a:srgbClr>
          </a:solid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i="0" lang="en" sz="1600" u="none" cap="none" strike="noStrike">
                <a:solidFill>
                  <a:schemeClr val="dk1"/>
                </a:solidFill>
                <a:latin typeface="Avenir"/>
                <a:ea typeface="Avenir"/>
                <a:cs typeface="Avenir"/>
                <a:sym typeface="Avenir"/>
              </a:rPr>
              <a:t>Padlock 8: </a:t>
            </a:r>
            <a:r xmlns:a="http://schemas.openxmlformats.org/drawingml/2006/main">
              <a:rPr b="0" i="0" lang="en" sz="1600" u="none" cap="none" strike="noStrike">
                <a:solidFill>
                  <a:schemeClr val="dk1"/>
                </a:solidFill>
                <a:latin typeface="Avenir"/>
                <a:ea typeface="Avenir"/>
                <a:cs typeface="Avenir"/>
                <a:sym typeface="Avenir"/>
              </a:rPr>
              <a:t>Push-button padlock (extended)</a:t>
            </a:r>
            <a:endParaRPr xmlns:a="http://schemas.openxmlformats.org/drawingml/2006/main" b="1" i="0" sz="1600" u="none" cap="none" strike="noStrike">
              <a:solidFill>
                <a:schemeClr val="dk1"/>
              </a:solidFill>
              <a:latin typeface="Avenir"/>
              <a:ea typeface="Avenir"/>
              <a:cs typeface="Avenir"/>
              <a:sym typeface="Avenir"/>
            </a:endParaRPr>
          </a:p>
        </p:txBody>
      </p:sp>
      <p:sp>
        <p:nvSpPr>
          <p:cNvPr id="323" name="Google Shape;323;p32"/>
          <p:cNvSpPr txBox="1"/>
          <p:nvPr/>
        </p:nvSpPr>
        <p:spPr>
          <a:xfrm>
            <a:off x="1416314" y="5423484"/>
            <a:ext cx="3834900" cy="585000"/>
          </a:xfrm>
          <a:prstGeom prst="rect">
            <a:avLst/>
          </a:prstGeom>
          <a:no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0" i="0" lang="en" sz="1600" u="none" cap="none" strike="noStrike">
                <a:solidFill>
                  <a:schemeClr val="dk1"/>
                </a:solidFill>
                <a:latin typeface="Avenir"/>
                <a:ea typeface="Avenir"/>
                <a:cs typeface="Avenir"/>
                <a:sym typeface="Avenir"/>
              </a:rPr>
              <a:t>We know that neither days nor years contain repeated numbers.</a:t>
            </a:r>
            <a:endParaRPr xmlns:a="http://schemas.openxmlformats.org/drawingml/2006/main" b="0" i="0" sz="1600" u="none" cap="none" strike="noStrike">
              <a:solidFill>
                <a:schemeClr val="dk1"/>
              </a:solidFill>
              <a:latin typeface="Avenir"/>
              <a:ea typeface="Avenir"/>
              <a:cs typeface="Avenir"/>
              <a:sym typeface="Avenir"/>
            </a:endParaRPr>
          </a:p>
        </p:txBody>
      </p:sp>
      <p:sp>
        <p:nvSpPr>
          <p:cNvPr id="324" name="Google Shape;324;p32"/>
          <p:cNvSpPr txBox="1"/>
          <p:nvPr/>
        </p:nvSpPr>
        <p:spPr>
          <a:xfrm>
            <a:off x="1429017" y="4734960"/>
            <a:ext cx="3294600" cy="585000"/>
          </a:xfrm>
          <a:prstGeom prst="rect">
            <a:avLst/>
          </a:prstGeom>
          <a:solidFill>
            <a:srgbClr val="7030A0">
              <a:alpha val="14510"/>
            </a:srgbClr>
          </a:solid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i="0" lang="en" sz="1600" u="none" cap="none" strike="noStrike">
                <a:solidFill>
                  <a:schemeClr val="dk1"/>
                </a:solidFill>
                <a:latin typeface="Avenir"/>
                <a:ea typeface="Avenir"/>
                <a:cs typeface="Avenir"/>
                <a:sym typeface="Avenir"/>
              </a:rPr>
              <a:t>Padlock 9: </a:t>
            </a:r>
            <a:r xmlns:a="http://schemas.openxmlformats.org/drawingml/2006/main">
              <a:rPr b="0" i="0" lang="en" sz="1600" u="none" cap="none" strike="noStrike">
                <a:solidFill>
                  <a:schemeClr val="dk1"/>
                </a:solidFill>
                <a:latin typeface="Avenir"/>
                <a:ea typeface="Avenir"/>
                <a:cs typeface="Avenir"/>
                <a:sym typeface="Avenir"/>
              </a:rPr>
              <a:t>Date padlock (no repeats)</a:t>
            </a:r>
            <a:endParaRPr xmlns:a="http://schemas.openxmlformats.org/drawingml/2006/main" b="1" i="0" sz="1600" u="none" cap="none" strike="noStrike">
              <a:solidFill>
                <a:schemeClr val="dk1"/>
              </a:solidFill>
              <a:latin typeface="Avenir"/>
              <a:ea typeface="Avenir"/>
              <a:cs typeface="Avenir"/>
              <a:sym typeface="Avenir"/>
            </a:endParaRPr>
          </a:p>
        </p:txBody>
      </p:sp>
      <p:sp>
        <p:nvSpPr>
          <p:cNvPr id="325" name="Google Shape;325;p32"/>
          <p:cNvSpPr txBox="1"/>
          <p:nvPr/>
        </p:nvSpPr>
        <p:spPr>
          <a:xfrm>
            <a:off x="6191699" y="2853175"/>
            <a:ext cx="3028800" cy="585000"/>
          </a:xfrm>
          <a:prstGeom prst="rect">
            <a:avLst/>
          </a:prstGeom>
          <a:no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0" i="0" lang="en" sz="1600" u="none" cap="none" strike="noStrike">
                <a:solidFill>
                  <a:schemeClr val="dk1"/>
                </a:solidFill>
                <a:latin typeface="Avenir"/>
                <a:ea typeface="Avenir"/>
                <a:cs typeface="Avenir"/>
                <a:sym typeface="Avenir"/>
              </a:rPr>
              <a:t>We now know that the password does not contain repeated addresses</a:t>
            </a:r>
            <a:endParaRPr xmlns:a="http://schemas.openxmlformats.org/drawingml/2006/main" b="0" i="0" sz="1600" u="none" cap="none" strike="noStrike">
              <a:solidFill>
                <a:schemeClr val="dk1"/>
              </a:solidFill>
              <a:latin typeface="Avenir"/>
              <a:ea typeface="Avenir"/>
              <a:cs typeface="Avenir"/>
              <a:sym typeface="Avenir"/>
            </a:endParaRPr>
          </a:p>
        </p:txBody>
      </p:sp>
      <p:sp>
        <p:nvSpPr>
          <p:cNvPr id="326" name="Google Shape;326;p32"/>
          <p:cNvSpPr txBox="1"/>
          <p:nvPr/>
        </p:nvSpPr>
        <p:spPr>
          <a:xfrm>
            <a:off x="6253484" y="1960161"/>
            <a:ext cx="2748300" cy="831000"/>
          </a:xfrm>
          <a:prstGeom prst="rect">
            <a:avLst/>
          </a:prstGeom>
          <a:solidFill>
            <a:srgbClr val="7030A0">
              <a:alpha val="14510"/>
            </a:srgbClr>
          </a:solid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i="0" lang="en" sz="1600" u="none" cap="none" strike="noStrike">
                <a:solidFill>
                  <a:schemeClr val="dk1"/>
                </a:solidFill>
                <a:latin typeface="Avenir"/>
                <a:ea typeface="Avenir"/>
                <a:cs typeface="Avenir"/>
                <a:sym typeface="Avenir"/>
              </a:rPr>
              <a:t>Padlock 10: </a:t>
            </a:r>
            <a:r xmlns:a="http://schemas.openxmlformats.org/drawingml/2006/main">
              <a:rPr b="0" i="0" lang="en" sz="1600" u="none" cap="none" strike="noStrike">
                <a:solidFill>
                  <a:schemeClr val="dk1"/>
                </a:solidFill>
                <a:latin typeface="Avenir"/>
                <a:ea typeface="Avenir"/>
                <a:cs typeface="Avenir"/>
                <a:sym typeface="Avenir"/>
              </a:rPr>
              <a:t>Directional padlock (no repetitions)</a:t>
            </a:r>
            <a:endParaRPr xmlns:a="http://schemas.openxmlformats.org/drawingml/2006/main" b="1" i="0" sz="1600" u="none" cap="none" strike="noStrike">
              <a:solidFill>
                <a:schemeClr val="dk1"/>
              </a:solidFill>
              <a:latin typeface="Avenir"/>
              <a:ea typeface="Avenir"/>
              <a:cs typeface="Avenir"/>
              <a:sym typeface="Avenir"/>
            </a:endParaRPr>
          </a:p>
        </p:txBody>
      </p:sp>
      <p:sp>
        <p:nvSpPr>
          <p:cNvPr id="327" name="Google Shape;327;p32"/>
          <p:cNvSpPr/>
          <p:nvPr/>
        </p:nvSpPr>
        <p:spPr>
          <a:xfrm rot="5400000">
            <a:off x="48131" y="3127303"/>
            <a:ext cx="1418400" cy="1219800"/>
          </a:xfrm>
          <a:prstGeom prst="roundRect">
            <a:avLst>
              <a:gd fmla="val 5407" name="adj"/>
            </a:avLst>
          </a:prstGeom>
          <a:solidFill>
            <a:srgbClr val="733EF6"/>
          </a:solidFill>
          <a:ln>
            <a:noFill/>
          </a:ln>
        </p:spPr>
        <p:txBody>
          <a:bodyPr anchorCtr="0" anchor="ctr" bIns="45700" lIns="91425" spcFirstLastPara="1" rIns="91425" wrap="square" tIns="45700">
            <a:noAutofit/>
          </a:bodyPr>
          <a:lstStyle/>
          <a:p>
            <a:pPr xmlns:a="http://schemas.openxmlformats.org/drawingml/2006/main" indent="0" lvl="0" marL="0" marR="0" rtl="0" algn="ctr">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0" i="0" sz="1600" u="none" cap="none" strike="noStrike">
              <a:solidFill>
                <a:schemeClr val="lt1"/>
              </a:solidFill>
              <a:latin typeface="Avenir"/>
              <a:ea typeface="Avenir"/>
              <a:cs typeface="Avenir"/>
              <a:sym typeface="Avenir"/>
            </a:endParaRPr>
          </a:p>
        </p:txBody>
      </p:sp>
      <p:sp>
        <p:nvSpPr>
          <p:cNvPr id="328" name="Google Shape;328;p32"/>
          <p:cNvSpPr/>
          <p:nvPr/>
        </p:nvSpPr>
        <p:spPr>
          <a:xfrm rot="5400000">
            <a:off x="44965" y="4752373"/>
            <a:ext cx="1418400" cy="1219800"/>
          </a:xfrm>
          <a:prstGeom prst="roundRect">
            <a:avLst>
              <a:gd fmla="val 5407" name="adj"/>
            </a:avLst>
          </a:prstGeom>
          <a:solidFill>
            <a:srgbClr val="733EF6"/>
          </a:solidFill>
          <a:ln>
            <a:noFill/>
          </a:ln>
        </p:spPr>
        <p:txBody>
          <a:bodyPr anchorCtr="0" anchor="ctr" bIns="45700" lIns="91425" spcFirstLastPara="1" rIns="91425" wrap="square" tIns="45700">
            <a:noAutofit/>
          </a:bodyPr>
          <a:lstStyle/>
          <a:p>
            <a:pPr xmlns:a="http://schemas.openxmlformats.org/drawingml/2006/main" indent="0" lvl="0" marL="0" marR="0" rtl="0" algn="ctr">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0" i="0" sz="1600" u="none" cap="none" strike="noStrike">
              <a:solidFill>
                <a:schemeClr val="lt1"/>
              </a:solidFill>
              <a:latin typeface="Avenir"/>
              <a:ea typeface="Avenir"/>
              <a:cs typeface="Avenir"/>
              <a:sym typeface="Avenir"/>
            </a:endParaRPr>
          </a:p>
        </p:txBody>
      </p:sp>
      <p:sp>
        <p:nvSpPr>
          <p:cNvPr id="329" name="Google Shape;329;p32"/>
          <p:cNvSpPr/>
          <p:nvPr/>
        </p:nvSpPr>
        <p:spPr>
          <a:xfrm>
            <a:off x="241826" y="2945497"/>
            <a:ext cx="1072186" cy="1572539"/>
          </a:xfrm>
          <a:custGeom>
            <a:rect b="b" l="l" r="r" t="t"/>
            <a:pathLst>
              <a:path extrusionOk="0" h="3573952" w="3573952">
                <a:moveTo>
                  <a:pt x="0" y="0"/>
                </a:moveTo>
                <a:lnTo>
                  <a:pt x="3573951" y="0"/>
                </a:lnTo>
                <a:lnTo>
                  <a:pt x="3573951" y="3573951"/>
                </a:lnTo>
                <a:lnTo>
                  <a:pt x="0" y="3573951"/>
                </a:lnTo>
                <a:lnTo>
                  <a:pt x="0" y="0"/>
                </a:lnTo>
                <a:close/>
              </a:path>
            </a:pathLst>
          </a:cu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0" i="0" sz="1600" u="none" cap="none" strike="noStrike">
              <a:solidFill>
                <a:schemeClr val="dk1"/>
              </a:solidFill>
              <a:latin typeface="Avenir"/>
              <a:ea typeface="Avenir"/>
              <a:cs typeface="Avenir"/>
              <a:sym typeface="Avenir"/>
            </a:endParaRPr>
          </a:p>
        </p:txBody>
      </p:sp>
      <p:sp>
        <p:nvSpPr>
          <p:cNvPr id="330" name="Google Shape;330;p32"/>
          <p:cNvSpPr/>
          <p:nvPr/>
        </p:nvSpPr>
        <p:spPr>
          <a:xfrm>
            <a:off x="180841" y="4780096"/>
            <a:ext cx="1222386" cy="1061239"/>
          </a:xfrm>
          <a:custGeom>
            <a:rect b="b" l="l" r="r" t="t"/>
            <a:pathLst>
              <a:path extrusionOk="0" h="2703794" w="2469466">
                <a:moveTo>
                  <a:pt x="0" y="0"/>
                </a:moveTo>
                <a:lnTo>
                  <a:pt x="2469465" y="0"/>
                </a:lnTo>
                <a:lnTo>
                  <a:pt x="2469465" y="2703795"/>
                </a:lnTo>
                <a:lnTo>
                  <a:pt x="0" y="2703795"/>
                </a:lnTo>
                <a:lnTo>
                  <a:pt x="0" y="0"/>
                </a:lnTo>
                <a:close/>
              </a:path>
            </a:pathLst>
          </a:cu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0" i="0" sz="1600" u="none" cap="none" strike="noStrike">
              <a:solidFill>
                <a:schemeClr val="dk1"/>
              </a:solidFill>
              <a:latin typeface="Avenir"/>
              <a:ea typeface="Avenir"/>
              <a:cs typeface="Avenir"/>
              <a:sym typeface="Avenir"/>
            </a:endParaRPr>
          </a:p>
        </p:txBody>
      </p:sp>
      <p:sp>
        <p:nvSpPr>
          <p:cNvPr id="331" name="Google Shape;331;p32"/>
          <p:cNvSpPr/>
          <p:nvPr/>
        </p:nvSpPr>
        <p:spPr>
          <a:xfrm rot="5400000">
            <a:off x="4825172" y="2059462"/>
            <a:ext cx="1418400" cy="1219800"/>
          </a:xfrm>
          <a:prstGeom prst="roundRect">
            <a:avLst>
              <a:gd fmla="val 5407" name="adj"/>
            </a:avLst>
          </a:prstGeom>
          <a:solidFill>
            <a:srgbClr val="733EF6"/>
          </a:solidFill>
          <a:ln>
            <a:noFill/>
          </a:ln>
        </p:spPr>
        <p:txBody>
          <a:bodyPr anchorCtr="0" anchor="ctr" bIns="45700" lIns="91425" spcFirstLastPara="1" rIns="91425" wrap="square" tIns="45700">
            <a:noAutofit/>
          </a:bodyPr>
          <a:lstStyle/>
          <a:p>
            <a:pPr xmlns:a="http://schemas.openxmlformats.org/drawingml/2006/main" indent="0" lvl="0" marL="0" marR="0" rtl="0" algn="ctr">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0" i="0" sz="1600" u="none" cap="none" strike="noStrike">
              <a:solidFill>
                <a:schemeClr val="lt1"/>
              </a:solidFill>
              <a:latin typeface="Avenir"/>
              <a:ea typeface="Avenir"/>
              <a:cs typeface="Avenir"/>
              <a:sym typeface="Avenir"/>
            </a:endParaRPr>
          </a:p>
        </p:txBody>
      </p:sp>
      <p:sp>
        <p:nvSpPr>
          <p:cNvPr id="332" name="Google Shape;332;p32"/>
          <p:cNvSpPr/>
          <p:nvPr/>
        </p:nvSpPr>
        <p:spPr>
          <a:xfrm>
            <a:off x="5190450" y="1940675"/>
            <a:ext cx="733614" cy="1147798"/>
          </a:xfrm>
          <a:custGeom>
            <a:rect b="b" l="l" r="r" t="t"/>
            <a:pathLst>
              <a:path extrusionOk="0" h="3672953" w="2157687">
                <a:moveTo>
                  <a:pt x="0" y="0"/>
                </a:moveTo>
                <a:lnTo>
                  <a:pt x="2157688" y="0"/>
                </a:lnTo>
                <a:lnTo>
                  <a:pt x="2157688" y="3672953"/>
                </a:lnTo>
                <a:lnTo>
                  <a:pt x="0" y="3672953"/>
                </a:lnTo>
                <a:lnTo>
                  <a:pt x="0" y="0"/>
                </a:lnTo>
                <a:close/>
              </a:path>
            </a:pathLst>
          </a:custGeom>
          <a:blipFill rotWithShape="1">
            <a:blip r:embed="rId6">
              <a:alphaModFix/>
            </a:blip>
            <a:stretch>
              <a:fillRect b="-8689" l="0" r="-99956" t="-8769"/>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0" i="0" sz="1600" u="none" cap="none" strike="noStrike">
              <a:solidFill>
                <a:schemeClr val="dk1"/>
              </a:solidFill>
              <a:latin typeface="Avenir"/>
              <a:ea typeface="Avenir"/>
              <a:cs typeface="Avenir"/>
              <a:sym typeface="Avenir"/>
            </a:endParaRPr>
          </a:p>
        </p:txBody>
      </p:sp>
      <p:sp>
        <p:nvSpPr>
          <p:cNvPr id="333" name="Google Shape;333;p32"/>
          <p:cNvSpPr txBox="1"/>
          <p:nvPr/>
        </p:nvSpPr>
        <p:spPr>
          <a:xfrm>
            <a:off x="6253484" y="4656956"/>
            <a:ext cx="2859600" cy="585000"/>
          </a:xfrm>
          <a:prstGeom prst="rect">
            <a:avLst/>
          </a:prstGeom>
          <a:no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0" i="0" lang="en" sz="1600" u="none" cap="none" strike="noStrike">
                <a:solidFill>
                  <a:schemeClr val="dk1"/>
                </a:solidFill>
                <a:latin typeface="Avenir"/>
                <a:ea typeface="Avenir"/>
                <a:cs typeface="Avenir"/>
                <a:sym typeface="Avenir"/>
              </a:rPr>
              <a:t>We know that the password has two repeated digits</a:t>
            </a:r>
            <a:endParaRPr xmlns:a="http://schemas.openxmlformats.org/drawingml/2006/main" b="0" i="0" sz="1600" u="none" cap="none" strike="noStrike">
              <a:solidFill>
                <a:schemeClr val="dk1"/>
              </a:solidFill>
              <a:latin typeface="Avenir"/>
              <a:ea typeface="Avenir"/>
              <a:cs typeface="Avenir"/>
              <a:sym typeface="Avenir"/>
            </a:endParaRPr>
          </a:p>
        </p:txBody>
      </p:sp>
      <p:sp>
        <p:nvSpPr>
          <p:cNvPr id="334" name="Google Shape;334;p32"/>
          <p:cNvSpPr txBox="1"/>
          <p:nvPr/>
        </p:nvSpPr>
        <p:spPr>
          <a:xfrm>
            <a:off x="6253484" y="4033972"/>
            <a:ext cx="2742300" cy="585000"/>
          </a:xfrm>
          <a:prstGeom prst="rect">
            <a:avLst/>
          </a:prstGeom>
          <a:solidFill>
            <a:srgbClr val="7030A0">
              <a:alpha val="14510"/>
            </a:srgbClr>
          </a:solid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i="0" lang="en" sz="1600" u="none" cap="none" strike="noStrike">
                <a:solidFill>
                  <a:schemeClr val="dk1"/>
                </a:solidFill>
                <a:latin typeface="Avenir"/>
                <a:ea typeface="Avenir"/>
                <a:cs typeface="Avenir"/>
                <a:sym typeface="Avenir"/>
              </a:rPr>
              <a:t>Padlock 11: </a:t>
            </a:r>
            <a:r xmlns:a="http://schemas.openxmlformats.org/drawingml/2006/main">
              <a:rPr b="0" i="0" lang="en" sz="1600" u="none" cap="none" strike="noStrike">
                <a:solidFill>
                  <a:schemeClr val="dk1"/>
                </a:solidFill>
                <a:latin typeface="Avenir"/>
                <a:ea typeface="Avenir"/>
                <a:cs typeface="Avenir"/>
                <a:sym typeface="Avenir"/>
              </a:rPr>
              <a:t>Safe padlock (with repetitions)</a:t>
            </a:r>
            <a:endParaRPr xmlns:a="http://schemas.openxmlformats.org/drawingml/2006/main" b="1" i="0" sz="1600" u="none" cap="none" strike="noStrike">
              <a:solidFill>
                <a:schemeClr val="dk1"/>
              </a:solidFill>
              <a:latin typeface="Avenir"/>
              <a:ea typeface="Avenir"/>
              <a:cs typeface="Avenir"/>
              <a:sym typeface="Avenir"/>
            </a:endParaRPr>
          </a:p>
        </p:txBody>
      </p:sp>
      <p:sp>
        <p:nvSpPr>
          <p:cNvPr id="335" name="Google Shape;335;p32"/>
          <p:cNvSpPr/>
          <p:nvPr/>
        </p:nvSpPr>
        <p:spPr>
          <a:xfrm rot="5400000">
            <a:off x="4846882" y="3997988"/>
            <a:ext cx="1418400" cy="1219800"/>
          </a:xfrm>
          <a:prstGeom prst="roundRect">
            <a:avLst>
              <a:gd fmla="val 5407" name="adj"/>
            </a:avLst>
          </a:prstGeom>
          <a:solidFill>
            <a:srgbClr val="733EF6"/>
          </a:solidFill>
          <a:ln>
            <a:noFill/>
          </a:ln>
        </p:spPr>
        <p:txBody>
          <a:bodyPr anchorCtr="0" anchor="ctr" bIns="45700" lIns="91425" spcFirstLastPara="1" rIns="91425" wrap="square" tIns="45700">
            <a:noAutofit/>
          </a:bodyPr>
          <a:lstStyle/>
          <a:p>
            <a:pPr xmlns:a="http://schemas.openxmlformats.org/drawingml/2006/main" indent="0" lvl="0" marL="0" marR="0" rtl="0" algn="ctr">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0" i="0" sz="1600" u="none" cap="none" strike="noStrike">
              <a:solidFill>
                <a:schemeClr val="lt1"/>
              </a:solidFill>
              <a:latin typeface="Avenir"/>
              <a:ea typeface="Avenir"/>
              <a:cs typeface="Avenir"/>
              <a:sym typeface="Avenir"/>
            </a:endParaRPr>
          </a:p>
        </p:txBody>
      </p:sp>
      <p:sp>
        <p:nvSpPr>
          <p:cNvPr id="336" name="Google Shape;336;p32"/>
          <p:cNvSpPr/>
          <p:nvPr/>
        </p:nvSpPr>
        <p:spPr>
          <a:xfrm>
            <a:off x="5040438" y="4033571"/>
            <a:ext cx="1151687" cy="1151687"/>
          </a:xfrm>
          <a:custGeom>
            <a:rect b="b" l="l" r="r" t="t"/>
            <a:pathLst>
              <a:path extrusionOk="0" h="2861335" w="2861335">
                <a:moveTo>
                  <a:pt x="0" y="0"/>
                </a:moveTo>
                <a:lnTo>
                  <a:pt x="2861335" y="0"/>
                </a:lnTo>
                <a:lnTo>
                  <a:pt x="2861335" y="2861336"/>
                </a:lnTo>
                <a:lnTo>
                  <a:pt x="0" y="2861336"/>
                </a:lnTo>
                <a:lnTo>
                  <a:pt x="0" y="0"/>
                </a:lnTo>
                <a:close/>
              </a:path>
            </a:pathLst>
          </a:custGeom>
          <a:blipFill rotWithShape="1">
            <a:blip r:embed="rId7">
              <a:alphaModFix/>
            </a:blip>
            <a:stretch>
              <a:fillRect b="0" l="0" r="0" t="0"/>
            </a:stretch>
          </a:blip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0" i="0" sz="1600" u="none" cap="none" strike="noStrike">
              <a:solidFill>
                <a:schemeClr val="dk1"/>
              </a:solidFill>
              <a:latin typeface="Avenir"/>
              <a:ea typeface="Avenir"/>
              <a:cs typeface="Avenir"/>
              <a:sym typeface="Aveni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33"/>
          <p:cNvSpPr txBox="1"/>
          <p:nvPr>
            <p:ph type="title"/>
          </p:nvPr>
        </p:nvSpPr>
        <p:spPr>
          <a:xfrm>
            <a:off x="1085850" y="318728"/>
            <a:ext cx="7786500" cy="640200"/>
          </a:xfrm>
          <a:prstGeom prst="rect">
            <a:avLst/>
          </a:prstGeom>
          <a:noFill/>
          <a:ln>
            <a:noFill/>
          </a:ln>
        </p:spPr>
        <p:txBody>
          <a:bodyPr anchorCtr="0" anchor="b"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sz="2000"/>
              <a:t>PHASE 2. </a:t>
            </a:r>
            <a:r xmlns:a="http://schemas.openxmlformats.org/drawingml/2006/main">
              <a:rPr lang="en" sz="2000"/>
              <a:t>Validation with the padlock collection with restrictions</a:t>
            </a:r>
            <a:endParaRPr xmlns:a="http://schemas.openxmlformats.org/drawingml/2006/main" sz="2000"/>
          </a:p>
        </p:txBody>
      </p:sp>
      <p:pic>
        <p:nvPicPr>
          <p:cNvPr id="342" name="Google Shape;342;p33"/>
          <p:cNvPicPr preferRelativeResize="0"/>
          <p:nvPr/>
        </p:nvPicPr>
        <p:blipFill>
          <a:blip r:embed="rId3">
            <a:alphaModFix/>
          </a:blip>
          <a:stretch>
            <a:fillRect/>
          </a:stretch>
        </p:blipFill>
        <p:spPr>
          <a:xfrm>
            <a:off x="1995800" y="2735600"/>
            <a:ext cx="5557049" cy="2977775"/>
          </a:xfrm>
          <a:prstGeom prst="rect">
            <a:avLst/>
          </a:prstGeom>
          <a:noFill/>
          <a:ln>
            <a:noFill/>
          </a:ln>
        </p:spPr>
      </p:pic>
      <p:sp>
        <p:nvSpPr>
          <p:cNvPr id="343" name="Google Shape;343;p33"/>
          <p:cNvSpPr txBox="1"/>
          <p:nvPr/>
        </p:nvSpPr>
        <p:spPr>
          <a:xfrm>
            <a:off x="671640" y="1549625"/>
            <a:ext cx="8016900" cy="1015800"/>
          </a:xfrm>
          <a:prstGeom prst="rect">
            <a:avLst/>
          </a:prstGeom>
          <a:no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lang="en" sz="2000">
                <a:solidFill>
                  <a:srgbClr val="218C97"/>
                </a:solidFill>
                <a:latin typeface="Avenir"/>
                <a:ea typeface="Avenir"/>
                <a:cs typeface="Avenir"/>
                <a:sym typeface="Avenir"/>
              </a:rPr>
              <a:t>PART 1. GROUP WORK</a:t>
            </a:r>
            <a:endParaRPr xmlns:a="http://schemas.openxmlformats.org/drawingml/2006/main" b="1" sz="2000">
              <a:solidFill>
                <a:srgbClr val="218C97"/>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lang="en" sz="2000">
                <a:solidFill>
                  <a:srgbClr val="218C97"/>
                </a:solidFill>
                <a:latin typeface="Avenir"/>
                <a:ea typeface="Avenir"/>
                <a:cs typeface="Avenir"/>
                <a:sym typeface="Avenir"/>
              </a:rPr>
              <a:t>Can you calculate the number of passwords for each padlock?</a:t>
            </a:r>
            <a:endParaRPr xmlns:a="http://schemas.openxmlformats.org/drawingml/2006/main" b="1" sz="2000">
              <a:solidFill>
                <a:srgbClr val="218C97"/>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lang="en" sz="2000">
                <a:solidFill>
                  <a:srgbClr val="218C97"/>
                </a:solidFill>
                <a:latin typeface="Avenir"/>
                <a:ea typeface="Avenir"/>
                <a:cs typeface="Avenir"/>
                <a:sym typeface="Avenir"/>
              </a:rPr>
              <a:t>If not, ask questions for the groups responsible for each type.</a:t>
            </a:r>
            <a:endParaRPr xmlns:a="http://schemas.openxmlformats.org/drawingml/2006/main" b="1" sz="2000">
              <a:solidFill>
                <a:srgbClr val="218C97"/>
              </a:solidFill>
              <a:latin typeface="Avenir"/>
              <a:ea typeface="Avenir"/>
              <a:cs typeface="Avenir"/>
              <a:sym typeface="Aveni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34"/>
          <p:cNvSpPr txBox="1"/>
          <p:nvPr>
            <p:ph type="title"/>
          </p:nvPr>
        </p:nvSpPr>
        <p:spPr>
          <a:xfrm>
            <a:off x="1085850" y="318728"/>
            <a:ext cx="7786500" cy="640200"/>
          </a:xfrm>
          <a:prstGeom prst="rect">
            <a:avLst/>
          </a:prstGeom>
          <a:noFill/>
          <a:ln>
            <a:noFill/>
          </a:ln>
        </p:spPr>
        <p:txBody>
          <a:bodyPr anchorCtr="0" anchor="b"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sz="2000"/>
              <a:t>PHASE 2. </a:t>
            </a:r>
            <a:r xmlns:a="http://schemas.openxmlformats.org/drawingml/2006/main">
              <a:rPr lang="en" sz="2000"/>
              <a:t>Validation with the padlock collection with restrictions</a:t>
            </a:r>
            <a:endParaRPr xmlns:a="http://schemas.openxmlformats.org/drawingml/2006/main" sz="2000"/>
          </a:p>
        </p:txBody>
      </p:sp>
      <p:sp>
        <p:nvSpPr>
          <p:cNvPr id="349" name="Google Shape;349;p34"/>
          <p:cNvSpPr txBox="1"/>
          <p:nvPr/>
        </p:nvSpPr>
        <p:spPr>
          <a:xfrm>
            <a:off x="671640" y="1549625"/>
            <a:ext cx="8016900" cy="1015800"/>
          </a:xfrm>
          <a:prstGeom prst="rect">
            <a:avLst/>
          </a:prstGeom>
          <a:no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lang="en" sz="2000">
                <a:solidFill>
                  <a:srgbClr val="218C97"/>
                </a:solidFill>
                <a:latin typeface="Avenir"/>
                <a:ea typeface="Avenir"/>
                <a:cs typeface="Avenir"/>
                <a:sym typeface="Avenir"/>
              </a:rPr>
              <a:t>PART 2. INDIVIDUAL WORK</a:t>
            </a:r>
            <a:endParaRPr xmlns:a="http://schemas.openxmlformats.org/drawingml/2006/main" b="1" sz="2000">
              <a:solidFill>
                <a:srgbClr val="218C97"/>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lang="en" sz="2000">
                <a:solidFill>
                  <a:srgbClr val="218C97"/>
                </a:solidFill>
                <a:latin typeface="Avenir"/>
                <a:ea typeface="Avenir"/>
                <a:cs typeface="Avenir"/>
                <a:sym typeface="Avenir"/>
              </a:rPr>
              <a:t>Indicate the number of passwords for each new type of padlock and justify your answer.</a:t>
            </a:r>
            <a:endParaRPr xmlns:a="http://schemas.openxmlformats.org/drawingml/2006/main" b="1" sz="2000">
              <a:solidFill>
                <a:srgbClr val="218C97"/>
              </a:solidFill>
              <a:latin typeface="Avenir"/>
              <a:ea typeface="Avenir"/>
              <a:cs typeface="Avenir"/>
              <a:sym typeface="Avenir"/>
            </a:endParaRPr>
          </a:p>
        </p:txBody>
      </p:sp>
      <p:pic>
        <p:nvPicPr>
          <p:cNvPr id="350" name="Google Shape;350;p34"/>
          <p:cNvPicPr preferRelativeResize="0"/>
          <p:nvPr/>
        </p:nvPicPr>
        <p:blipFill>
          <a:blip r:embed="rId3">
            <a:alphaModFix/>
          </a:blip>
          <a:stretch>
            <a:fillRect/>
          </a:stretch>
        </p:blipFill>
        <p:spPr>
          <a:xfrm>
            <a:off x="2176275" y="2653375"/>
            <a:ext cx="4025600" cy="359842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5" name="Shape 355"/>
        <p:cNvGrpSpPr/>
        <p:nvPr/>
      </p:nvGrpSpPr>
      <p:grpSpPr>
        <a:xfrm>
          <a:off x="0" y="0"/>
          <a:ext cx="0" cy="0"/>
          <a:chOff x="0" y="0"/>
          <a:chExt cx="0" cy="0"/>
        </a:xfrm>
      </p:grpSpPr>
      <p:sp>
        <p:nvSpPr>
          <p:cNvPr id="356" name="Google Shape;356;p35"/>
          <p:cNvSpPr txBox="1"/>
          <p:nvPr>
            <p:ph idx="1" type="body"/>
          </p:nvPr>
        </p:nvSpPr>
        <p:spPr>
          <a:xfrm>
            <a:off x="329409" y="1681628"/>
            <a:ext cx="8485200" cy="2143500"/>
          </a:xfrm>
          <a:prstGeom prst="rect">
            <a:avLst/>
          </a:prstGeom>
          <a:noFill/>
          <a:ln>
            <a:noFill/>
          </a:ln>
        </p:spPr>
        <p:txBody>
          <a:bodyPr anchorCtr="0" anchor="t" bIns="45700" lIns="91425" spcFirstLastPara="1" rIns="91425" wrap="square" tIns="45700">
            <a:noAutofit/>
          </a:bodyPr>
          <a:lstStyle/>
          <a:p>
            <a:pPr xmlns:a="http://schemas.openxmlformats.org/drawingml/2006/main" indent="0" lvl="0" marL="0" rtl="0" algn="ctr">
              <a:lnSpc>
                <a:spcPct val="130000"/>
              </a:lnSpc>
              <a:spcBef>
                <a:spcPts val="600"/>
              </a:spcBef>
              <a:spcAft>
                <a:spcPts val="0"/>
              </a:spcAft>
              <a:buSzPts val="2800"/>
              <a:buNone/>
            </a:pPr>
            <a:r xmlns:a="http://schemas.openxmlformats.org/drawingml/2006/main">
              <a:rPr b="1" i="1" lang="en" sz="2800"/>
              <a:t>Q </a:t>
            </a:r>
            <a:r xmlns:a="http://schemas.openxmlformats.org/drawingml/2006/main">
              <a:rPr b="1" baseline="-25000" lang="en" sz="2800"/>
              <a:t>3 </a:t>
            </a:r>
            <a:r xmlns:a="http://schemas.openxmlformats.org/drawingml/2006/main">
              <a:rPr b="1" lang="en" sz="2800"/>
              <a:t>: What characterizes a padlock model?</a:t>
            </a:r>
            <a:endParaRPr xmlns:a="http://schemas.openxmlformats.org/drawingml/2006/main" b="1" sz="2800"/>
          </a:p>
          <a:p>
            <a:pPr xmlns:a="http://schemas.openxmlformats.org/drawingml/2006/main" indent="0" lvl="0" marL="0" rtl="0" algn="ctr">
              <a:lnSpc>
                <a:spcPct val="130000"/>
              </a:lnSpc>
              <a:spcBef>
                <a:spcPts val="600"/>
              </a:spcBef>
              <a:spcAft>
                <a:spcPts val="0"/>
              </a:spcAft>
              <a:buSzPts val="2800"/>
              <a:buNone/>
            </a:pPr>
            <a:r xmlns:a="http://schemas.openxmlformats.org/drawingml/2006/main">
              <a:rPr b="1" lang="en" sz="2800"/>
              <a:t>What models are there?</a:t>
            </a:r>
            <a:endParaRPr xmlns:a="http://schemas.openxmlformats.org/drawingml/2006/main" b="1" sz="2800"/>
          </a:p>
          <a:p>
            <a:pPr xmlns:a="http://schemas.openxmlformats.org/drawingml/2006/main" indent="0" lvl="0" marL="0" rtl="0" algn="ctr">
              <a:lnSpc>
                <a:spcPct val="130000"/>
              </a:lnSpc>
              <a:spcBef>
                <a:spcPts val="600"/>
              </a:spcBef>
              <a:spcAft>
                <a:spcPts val="0"/>
              </a:spcAft>
              <a:buSzPts val="2800"/>
              <a:buNone/>
            </a:pPr>
            <a:r xmlns:a="http://schemas.openxmlformats.org/drawingml/2006/main">
              <a:rPr b="1" lang="en" sz="2800"/>
              <a:t>How do we characterize and name them?</a:t>
            </a:r>
            <a:endParaRPr xmlns:a="http://schemas.openxmlformats.org/drawingml/2006/main" b="1" sz="2800"/>
          </a:p>
        </p:txBody>
      </p:sp>
      <p:sp>
        <p:nvSpPr>
          <p:cNvPr id="357" name="Google Shape;357;p35"/>
          <p:cNvSpPr txBox="1"/>
          <p:nvPr>
            <p:ph type="title"/>
          </p:nvPr>
        </p:nvSpPr>
        <p:spPr>
          <a:xfrm>
            <a:off x="474595" y="318728"/>
            <a:ext cx="7640700" cy="64020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sz="2000"/>
              <a:t>PHASE 3. </a:t>
            </a:r>
            <a:r xmlns:a="http://schemas.openxmlformats.org/drawingml/2006/main">
              <a:rPr lang="en" sz="2000"/>
              <a:t>Classification of padlocks and general techniques</a:t>
            </a:r>
            <a:endParaRPr xmlns:a="http://schemas.openxmlformats.org/drawingml/2006/main"/>
          </a:p>
        </p:txBody>
      </p:sp>
      <p:pic>
        <p:nvPicPr>
          <p:cNvPr descr="Imagen que contiene tabla, interior, diferente, artículos&#10;&#10;Descripción generada automáticamente" id="358" name="Google Shape;358;p35"/>
          <p:cNvPicPr preferRelativeResize="0"/>
          <p:nvPr/>
        </p:nvPicPr>
        <p:blipFill rotWithShape="1">
          <a:blip r:embed="rId3">
            <a:alphaModFix/>
          </a:blip>
          <a:srcRect b="21352" l="0" r="0" t="0"/>
          <a:stretch/>
        </p:blipFill>
        <p:spPr>
          <a:xfrm>
            <a:off x="996993" y="4547571"/>
            <a:ext cx="6212161" cy="1324591"/>
          </a:xfrm>
          <a:prstGeom prst="rect">
            <a:avLst/>
          </a:prstGeom>
          <a:noFill/>
          <a:ln>
            <a:noFill/>
          </a:ln>
        </p:spPr>
      </p:pic>
      <p:pic>
        <p:nvPicPr>
          <p:cNvPr id="359" name="Google Shape;359;p35"/>
          <p:cNvPicPr preferRelativeResize="0"/>
          <p:nvPr/>
        </p:nvPicPr>
        <p:blipFill>
          <a:blip r:embed="rId4">
            <a:alphaModFix/>
          </a:blip>
          <a:stretch>
            <a:fillRect/>
          </a:stretch>
        </p:blipFill>
        <p:spPr>
          <a:xfrm>
            <a:off x="7209149" y="4746825"/>
            <a:ext cx="1147650" cy="106985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3" name="Shape 363"/>
        <p:cNvGrpSpPr/>
        <p:nvPr/>
      </p:nvGrpSpPr>
      <p:grpSpPr>
        <a:xfrm>
          <a:off x="0" y="0"/>
          <a:ext cx="0" cy="0"/>
          <a:chOff x="0" y="0"/>
          <a:chExt cx="0" cy="0"/>
        </a:xfrm>
      </p:grpSpPr>
      <p:sp>
        <p:nvSpPr>
          <p:cNvPr id="364" name="Google Shape;364;p36"/>
          <p:cNvSpPr txBox="1"/>
          <p:nvPr>
            <p:ph type="title"/>
          </p:nvPr>
        </p:nvSpPr>
        <p:spPr>
          <a:xfrm>
            <a:off x="1085850" y="318728"/>
            <a:ext cx="7786500" cy="640200"/>
          </a:xfrm>
          <a:prstGeom prst="rect">
            <a:avLst/>
          </a:prstGeom>
          <a:noFill/>
          <a:ln>
            <a:noFill/>
          </a:ln>
        </p:spPr>
        <p:txBody>
          <a:bodyPr anchorCtr="0" anchor="b" bIns="45700" lIns="91425" spcFirstLastPara="1" rIns="91425" wrap="square" tIns="45700">
            <a:noAutofit/>
          </a:bodyPr>
          <a:lstStyle/>
          <a:p>
            <a:pPr xmlns:a="http://schemas.openxmlformats.org/drawingml/2006/main" indent="0" lvl="0" marL="0" rtl="0" algn="l">
              <a:spcBef>
                <a:spcPts val="0"/>
              </a:spcBef>
              <a:spcAft>
                <a:spcPts val="0"/>
              </a:spcAft>
              <a:buSzPts val="1400"/>
              <a:buNone/>
            </a:pPr>
            <a:r xmlns:a="http://schemas.openxmlformats.org/drawingml/2006/main">
              <a:rPr b="1" lang="en" sz="2000"/>
              <a:t>PHASE 3. </a:t>
            </a:r>
            <a:r xmlns:a="http://schemas.openxmlformats.org/drawingml/2006/main">
              <a:rPr lang="en" sz="2000"/>
              <a:t>Classification of padlocks and general techniques</a:t>
            </a:r>
            <a:endParaRPr xmlns:a="http://schemas.openxmlformats.org/drawingml/2006/main" b="1" sz="2000"/>
          </a:p>
        </p:txBody>
      </p:sp>
      <p:sp>
        <p:nvSpPr>
          <p:cNvPr id="365" name="Google Shape;365;p36"/>
          <p:cNvSpPr txBox="1"/>
          <p:nvPr/>
        </p:nvSpPr>
        <p:spPr>
          <a:xfrm>
            <a:off x="671640" y="1549625"/>
            <a:ext cx="8016900" cy="3848100"/>
          </a:xfrm>
          <a:prstGeom prst="rect">
            <a:avLst/>
          </a:prstGeom>
          <a:no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lang="en" sz="2000">
                <a:solidFill>
                  <a:srgbClr val="218C97"/>
                </a:solidFill>
                <a:latin typeface="Avenir"/>
                <a:ea typeface="Avenir"/>
                <a:cs typeface="Avenir"/>
                <a:sym typeface="Avenir"/>
              </a:rPr>
              <a:t>PART 1. GROUP WORK</a:t>
            </a:r>
            <a:endParaRPr xmlns:a="http://schemas.openxmlformats.org/drawingml/2006/main" b="1" sz="2000">
              <a:solidFill>
                <a:srgbClr val="218C97"/>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1" sz="2000">
              <a:solidFill>
                <a:srgbClr val="218C97"/>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lang="en" sz="2000">
                <a:solidFill>
                  <a:srgbClr val="218C97"/>
                </a:solidFill>
                <a:latin typeface="Avenir"/>
                <a:ea typeface="Avenir"/>
                <a:cs typeface="Avenir"/>
                <a:sym typeface="Avenir"/>
              </a:rPr>
              <a:t>Work with your group to propose possible classifications of padlocks by explaining:</a:t>
            </a:r>
            <a:endParaRPr xmlns:a="http://schemas.openxmlformats.org/drawingml/2006/main" b="1" sz="2000">
              <a:solidFill>
                <a:srgbClr val="218C97"/>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1" sz="2000">
              <a:solidFill>
                <a:srgbClr val="218C97"/>
              </a:solidFill>
              <a:latin typeface="Avenir"/>
              <a:ea typeface="Avenir"/>
              <a:cs typeface="Avenir"/>
              <a:sym typeface="Avenir"/>
            </a:endParaRPr>
          </a:p>
          <a:p>
            <a:pPr xmlns:a="http://schemas.openxmlformats.org/drawingml/2006/main" indent="-228600" lvl="0" marL="685800" marR="0" rtl="0" algn="l">
              <a:lnSpc>
                <a:spcPct val="130000"/>
              </a:lnSpc>
              <a:spcBef>
                <a:spcPts val="0"/>
              </a:spcBef>
              <a:spcAft>
                <a:spcPts val="0"/>
              </a:spcAft>
              <a:buClr>
                <a:srgbClr val="218C97"/>
              </a:buClr>
              <a:buSzPts val="2000"/>
              <a:buFont typeface="Noto Sans Symbols"/>
              <a:buChar char="➔"/>
            </a:pPr>
            <a:r xmlns:a="http://schemas.openxmlformats.org/drawingml/2006/main">
              <a:rPr lang="en" sz="2000">
                <a:latin typeface="Avenir"/>
                <a:ea typeface="Avenir"/>
                <a:cs typeface="Avenir"/>
                <a:sym typeface="Avenir"/>
              </a:rPr>
              <a:t>What characterizes a model or type or class of padlock?</a:t>
            </a:r>
            <a:endParaRPr xmlns:a="http://schemas.openxmlformats.org/drawingml/2006/main" sz="2000">
              <a:latin typeface="Avenir"/>
              <a:ea typeface="Avenir"/>
              <a:cs typeface="Avenir"/>
              <a:sym typeface="Avenir"/>
            </a:endParaRPr>
          </a:p>
          <a:p>
            <a:pPr xmlns:a="http://schemas.openxmlformats.org/drawingml/2006/main" indent="-228600" lvl="0" marL="685800" marR="0" rtl="0" algn="l">
              <a:lnSpc>
                <a:spcPct val="130000"/>
              </a:lnSpc>
              <a:spcBef>
                <a:spcPts val="0"/>
              </a:spcBef>
              <a:spcAft>
                <a:spcPts val="0"/>
              </a:spcAft>
              <a:buClr>
                <a:srgbClr val="218C97"/>
              </a:buClr>
              <a:buSzPts val="2000"/>
              <a:buFont typeface="Noto Sans Symbols"/>
              <a:buChar char="➔"/>
            </a:pPr>
            <a:r xmlns:a="http://schemas.openxmlformats.org/drawingml/2006/main">
              <a:rPr lang="en" sz="2000">
                <a:latin typeface="Avenir"/>
                <a:ea typeface="Avenir"/>
                <a:cs typeface="Avenir"/>
                <a:sym typeface="Avenir"/>
              </a:rPr>
              <a:t>Why did you decide to group them into the same type?</a:t>
            </a:r>
            <a:endParaRPr xmlns:a="http://schemas.openxmlformats.org/drawingml/2006/main" sz="2000">
              <a:latin typeface="Avenir"/>
              <a:ea typeface="Avenir"/>
              <a:cs typeface="Avenir"/>
              <a:sym typeface="Avenir"/>
            </a:endParaRPr>
          </a:p>
          <a:p>
            <a:pPr xmlns:a="http://schemas.openxmlformats.org/drawingml/2006/main" indent="-228600" lvl="0" marL="685800" marR="0" rtl="0" algn="l">
              <a:lnSpc>
                <a:spcPct val="130000"/>
              </a:lnSpc>
              <a:spcBef>
                <a:spcPts val="0"/>
              </a:spcBef>
              <a:spcAft>
                <a:spcPts val="0"/>
              </a:spcAft>
              <a:buClr>
                <a:srgbClr val="218C97"/>
              </a:buClr>
              <a:buSzPts val="2000"/>
              <a:buFont typeface="Noto Sans Symbols"/>
              <a:buChar char="➔"/>
            </a:pPr>
            <a:r xmlns:a="http://schemas.openxmlformats.org/drawingml/2006/main">
              <a:rPr lang="en" sz="2000">
                <a:latin typeface="Avenir"/>
                <a:ea typeface="Avenir"/>
                <a:cs typeface="Avenir"/>
                <a:sym typeface="Avenir"/>
              </a:rPr>
              <a:t>How to characterize the same type or model of padlock? </a:t>
            </a:r>
            <a:br xmlns:a="http://schemas.openxmlformats.org/drawingml/2006/main">
              <a:rPr lang="ca-ES" sz="2000">
                <a:latin typeface="Avenir"/>
                <a:ea typeface="Avenir"/>
                <a:cs typeface="Avenir"/>
                <a:sym typeface="Avenir"/>
              </a:rPr>
            </a:br>
            <a:r xmlns:a="http://schemas.openxmlformats.org/drawingml/2006/main">
              <a:rPr lang="en" sz="2000">
                <a:latin typeface="Avenir"/>
                <a:ea typeface="Avenir"/>
                <a:cs typeface="Avenir"/>
                <a:sym typeface="Avenir"/>
              </a:rPr>
              <a:t>What can we call them?</a:t>
            </a:r>
            <a:r xmlns:a="http://schemas.openxmlformats.org/drawingml/2006/main">
              <a:rPr b="1" lang="en" sz="2000">
                <a:solidFill>
                  <a:srgbClr val="218C97"/>
                </a:solidFill>
                <a:latin typeface="Avenir"/>
                <a:ea typeface="Avenir"/>
                <a:cs typeface="Avenir"/>
                <a:sym typeface="Avenir"/>
              </a:rPr>
              <a:t> </a:t>
            </a:r>
            <a:endParaRPr xmlns:a="http://schemas.openxmlformats.org/drawingml/2006/main" b="1" sz="2800">
              <a:solidFill>
                <a:schemeClr val="dk1"/>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1" sz="2000">
              <a:solidFill>
                <a:srgbClr val="218C97"/>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1" sz="2000">
              <a:solidFill>
                <a:srgbClr val="218C97"/>
              </a:solidFill>
              <a:latin typeface="Avenir"/>
              <a:ea typeface="Avenir"/>
              <a:cs typeface="Avenir"/>
              <a:sym typeface="Aveni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69" name="Shape 369"/>
        <p:cNvGrpSpPr/>
        <p:nvPr/>
      </p:nvGrpSpPr>
      <p:grpSpPr>
        <a:xfrm>
          <a:off x="0" y="0"/>
          <a:ext cx="0" cy="0"/>
          <a:chOff x="0" y="0"/>
          <a:chExt cx="0" cy="0"/>
        </a:xfrm>
      </p:grpSpPr>
      <p:sp>
        <p:nvSpPr>
          <p:cNvPr id="370" name="Google Shape;370;p37"/>
          <p:cNvSpPr txBox="1"/>
          <p:nvPr>
            <p:ph type="title"/>
          </p:nvPr>
        </p:nvSpPr>
        <p:spPr>
          <a:xfrm>
            <a:off x="1085850" y="318728"/>
            <a:ext cx="7786500" cy="640200"/>
          </a:xfrm>
          <a:prstGeom prst="rect">
            <a:avLst/>
          </a:prstGeom>
          <a:noFill/>
          <a:ln>
            <a:noFill/>
          </a:ln>
        </p:spPr>
        <p:txBody>
          <a:bodyPr anchorCtr="0" anchor="b" bIns="45700" lIns="91425" spcFirstLastPara="1" rIns="91425" wrap="square" tIns="45700">
            <a:noAutofit/>
          </a:bodyPr>
          <a:lstStyle/>
          <a:p>
            <a:pPr xmlns:a="http://schemas.openxmlformats.org/drawingml/2006/main" indent="0" lvl="0" marL="0" rtl="0" algn="l">
              <a:spcBef>
                <a:spcPts val="0"/>
              </a:spcBef>
              <a:spcAft>
                <a:spcPts val="0"/>
              </a:spcAft>
              <a:buSzPts val="1400"/>
              <a:buNone/>
            </a:pPr>
            <a:r xmlns:a="http://schemas.openxmlformats.org/drawingml/2006/main">
              <a:rPr b="1" lang="en" sz="2000"/>
              <a:t>PHASE 3. </a:t>
            </a:r>
            <a:r xmlns:a="http://schemas.openxmlformats.org/drawingml/2006/main">
              <a:rPr lang="en" sz="2000"/>
              <a:t>Classification of padlocks and general techniques</a:t>
            </a:r>
            <a:endParaRPr xmlns:a="http://schemas.openxmlformats.org/drawingml/2006/main" b="1" sz="2000"/>
          </a:p>
        </p:txBody>
      </p:sp>
      <p:sp>
        <p:nvSpPr>
          <p:cNvPr id="371" name="Google Shape;371;p37"/>
          <p:cNvSpPr txBox="1"/>
          <p:nvPr/>
        </p:nvSpPr>
        <p:spPr>
          <a:xfrm>
            <a:off x="671640" y="1549625"/>
            <a:ext cx="8016900" cy="2807400"/>
          </a:xfrm>
          <a:prstGeom prst="rect">
            <a:avLst/>
          </a:prstGeom>
          <a:noFill/>
          <a:ln>
            <a:noFill/>
          </a:ln>
        </p:spPr>
        <p:txBody>
          <a:bodyPr anchorCtr="0" anchor="t" bIns="45700" lIns="91425" spcFirstLastPara="1" rIns="91425" wrap="square" tIns="45700">
            <a:spAutoFit/>
          </a:bodyPr>
          <a:lstStyle/>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lang="en" sz="2000">
                <a:solidFill>
                  <a:srgbClr val="218C97"/>
                </a:solidFill>
                <a:latin typeface="Avenir"/>
                <a:ea typeface="Avenir"/>
                <a:cs typeface="Avenir"/>
                <a:sym typeface="Avenir"/>
              </a:rPr>
              <a:t>PART 2. SHARING</a:t>
            </a:r>
            <a:endParaRPr xmlns:a="http://schemas.openxmlformats.org/drawingml/2006/main" b="1" sz="2000">
              <a:solidFill>
                <a:srgbClr val="218C97"/>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1" sz="2000">
              <a:solidFill>
                <a:srgbClr val="218C97"/>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rPr b="1" lang="en" sz="2000">
                <a:solidFill>
                  <a:srgbClr val="595959"/>
                </a:solidFill>
                <a:latin typeface="Avenir"/>
                <a:ea typeface="Avenir"/>
                <a:cs typeface="Avenir"/>
                <a:sym typeface="Avenir"/>
              </a:rPr>
              <a:t>Teachers guide the sharing of ideas between the different groups on Q3. See examples below:</a:t>
            </a:r>
            <a:endParaRPr xmlns:a="http://schemas.openxmlformats.org/drawingml/2006/main" b="1" sz="2000">
              <a:solidFill>
                <a:srgbClr val="595959"/>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1" sz="2000">
              <a:solidFill>
                <a:srgbClr val="218C97"/>
              </a:solidFill>
              <a:latin typeface="Avenir"/>
              <a:ea typeface="Avenir"/>
              <a:cs typeface="Avenir"/>
              <a:sym typeface="Avenir"/>
            </a:endParaRPr>
          </a:p>
          <a:p>
            <a:pPr xmlns:a="http://schemas.openxmlformats.org/drawingml/2006/main" indent="0" lvl="0" marL="0" marR="0" rtl="0" algn="l">
              <a:lnSpc>
                <a:spcPct val="130000"/>
              </a:lnSpc>
              <a:spcBef>
                <a:spcPts val="0"/>
              </a:spcBef>
              <a:spcAft>
                <a:spcPts val="0"/>
              </a:spcAft>
              <a:buNone/>
            </a:pPr>
            <a:r xmlns:a="http://schemas.openxmlformats.org/drawingml/2006/main">
              <a:t/>
            </a:r>
            <a:endParaRPr xmlns:a="http://schemas.openxmlformats.org/drawingml/2006/main" b="1" sz="2800">
              <a:solidFill>
                <a:schemeClr val="dk1"/>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1" sz="2000">
              <a:solidFill>
                <a:srgbClr val="218C97"/>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1600"/>
              <a:buFont typeface="Arial"/>
              <a:buNone/>
            </a:pPr>
            <a:r xmlns:a="http://schemas.openxmlformats.org/drawingml/2006/main">
              <a:t/>
            </a:r>
            <a:endParaRPr xmlns:a="http://schemas.openxmlformats.org/drawingml/2006/main" b="1" sz="2000">
              <a:solidFill>
                <a:srgbClr val="218C97"/>
              </a:solidFill>
              <a:latin typeface="Avenir"/>
              <a:ea typeface="Avenir"/>
              <a:cs typeface="Avenir"/>
              <a:sym typeface="Avenir"/>
            </a:endParaRPr>
          </a:p>
        </p:txBody>
      </p:sp>
      <p:pic>
        <p:nvPicPr>
          <p:cNvPr id="372" name="Google Shape;372;p37"/>
          <p:cNvPicPr preferRelativeResize="0"/>
          <p:nvPr/>
        </p:nvPicPr>
        <p:blipFill>
          <a:blip r:embed="rId3">
            <a:alphaModFix/>
          </a:blip>
          <a:stretch>
            <a:fillRect/>
          </a:stretch>
        </p:blipFill>
        <p:spPr>
          <a:xfrm>
            <a:off x="413925" y="2990338"/>
            <a:ext cx="4010025" cy="3038425"/>
          </a:xfrm>
          <a:prstGeom prst="rect">
            <a:avLst/>
          </a:prstGeom>
          <a:noFill/>
          <a:ln>
            <a:noFill/>
          </a:ln>
        </p:spPr>
      </p:pic>
      <p:pic>
        <p:nvPicPr>
          <p:cNvPr id="373" name="Google Shape;373;p37"/>
          <p:cNvPicPr preferRelativeResize="0"/>
          <p:nvPr/>
        </p:nvPicPr>
        <p:blipFill>
          <a:blip r:embed="rId4">
            <a:alphaModFix/>
          </a:blip>
          <a:stretch>
            <a:fillRect/>
          </a:stretch>
        </p:blipFill>
        <p:spPr>
          <a:xfrm>
            <a:off x="4470550" y="3559950"/>
            <a:ext cx="4474875" cy="181857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38"/>
          <p:cNvSpPr txBox="1"/>
          <p:nvPr>
            <p:ph type="title"/>
          </p:nvPr>
        </p:nvSpPr>
        <p:spPr>
          <a:xfrm>
            <a:off x="1085850" y="318728"/>
            <a:ext cx="7786500" cy="640200"/>
          </a:xfrm>
          <a:prstGeom prst="rect">
            <a:avLst/>
          </a:prstGeom>
          <a:noFill/>
          <a:ln>
            <a:noFill/>
          </a:ln>
        </p:spPr>
        <p:txBody>
          <a:bodyPr anchorCtr="0" anchor="b" bIns="45700" lIns="91425" spcFirstLastPara="1" rIns="91425" wrap="square" tIns="45700">
            <a:noAutofit/>
          </a:bodyPr>
          <a:lstStyle/>
          <a:p>
            <a:pPr xmlns:a="http://schemas.openxmlformats.org/drawingml/2006/main" indent="0" lvl="0" marL="0" rtl="0" algn="l">
              <a:spcBef>
                <a:spcPts val="0"/>
              </a:spcBef>
              <a:spcAft>
                <a:spcPts val="0"/>
              </a:spcAft>
              <a:buSzPts val="1400"/>
              <a:buNone/>
            </a:pPr>
            <a:r xmlns:a="http://schemas.openxmlformats.org/drawingml/2006/main">
              <a:rPr b="1" lang="en" sz="2000"/>
              <a:t>PHASE 3. </a:t>
            </a:r>
            <a:r xmlns:a="http://schemas.openxmlformats.org/drawingml/2006/main">
              <a:rPr lang="en" sz="2000"/>
              <a:t>Classification of padlocks and general techniques</a:t>
            </a:r>
            <a:endParaRPr xmlns:a="http://schemas.openxmlformats.org/drawingml/2006/main" b="1" sz="2000"/>
          </a:p>
        </p:txBody>
      </p:sp>
      <p:pic>
        <p:nvPicPr>
          <p:cNvPr id="379" name="Google Shape;379;p38"/>
          <p:cNvPicPr preferRelativeResize="0"/>
          <p:nvPr/>
        </p:nvPicPr>
        <p:blipFill>
          <a:blip r:embed="rId3">
            <a:alphaModFix/>
          </a:blip>
          <a:stretch>
            <a:fillRect/>
          </a:stretch>
        </p:blipFill>
        <p:spPr>
          <a:xfrm>
            <a:off x="197475" y="1327753"/>
            <a:ext cx="8839199" cy="4992593"/>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4" name="Shape 384"/>
        <p:cNvGrpSpPr/>
        <p:nvPr/>
      </p:nvGrpSpPr>
      <p:grpSpPr>
        <a:xfrm>
          <a:off x="0" y="0"/>
          <a:ext cx="0" cy="0"/>
          <a:chOff x="0" y="0"/>
          <a:chExt cx="0" cy="0"/>
        </a:xfrm>
      </p:grpSpPr>
      <p:sp>
        <p:nvSpPr>
          <p:cNvPr id="385" name="Google Shape;385;p39"/>
          <p:cNvSpPr txBox="1"/>
          <p:nvPr>
            <p:ph idx="1" type="body"/>
          </p:nvPr>
        </p:nvSpPr>
        <p:spPr>
          <a:xfrm>
            <a:off x="266284" y="2042353"/>
            <a:ext cx="8485200" cy="2143500"/>
          </a:xfrm>
          <a:prstGeom prst="rect">
            <a:avLst/>
          </a:prstGeom>
          <a:noFill/>
          <a:ln>
            <a:noFill/>
          </a:ln>
        </p:spPr>
        <p:txBody>
          <a:bodyPr anchorCtr="0" anchor="t" bIns="45700" lIns="91425" spcFirstLastPara="1" rIns="91425" wrap="square" tIns="45700">
            <a:noAutofit/>
          </a:bodyPr>
          <a:lstStyle/>
          <a:p>
            <a:pPr xmlns:a="http://schemas.openxmlformats.org/drawingml/2006/main" indent="0" lvl="0" marL="0" rtl="0" algn="ctr">
              <a:lnSpc>
                <a:spcPct val="130000"/>
              </a:lnSpc>
              <a:spcBef>
                <a:spcPts val="600"/>
              </a:spcBef>
              <a:spcAft>
                <a:spcPts val="0"/>
              </a:spcAft>
              <a:buSzPts val="2800"/>
              <a:buNone/>
            </a:pPr>
            <a:r xmlns:a="http://schemas.openxmlformats.org/drawingml/2006/main">
              <a:rPr b="1" i="1" lang="en" sz="2800"/>
              <a:t>Q </a:t>
            </a:r>
            <a:r xmlns:a="http://schemas.openxmlformats.org/drawingml/2006/main">
              <a:rPr b="1" baseline="-25000" lang="en" sz="2800"/>
              <a:t>4 </a:t>
            </a:r>
            <a:r xmlns:a="http://schemas.openxmlformats.org/drawingml/2006/main">
              <a:rPr b="1" lang="en" sz="2800"/>
              <a:t>: Do these models work to solve more counting problems?</a:t>
            </a:r>
            <a:endParaRPr xmlns:a="http://schemas.openxmlformats.org/drawingml/2006/main" b="1" sz="2800"/>
          </a:p>
          <a:p>
            <a:pPr xmlns:a="http://schemas.openxmlformats.org/drawingml/2006/main" indent="0" lvl="0" marL="0" rtl="0" algn="ctr">
              <a:lnSpc>
                <a:spcPct val="130000"/>
              </a:lnSpc>
              <a:spcBef>
                <a:spcPts val="600"/>
              </a:spcBef>
              <a:spcAft>
                <a:spcPts val="0"/>
              </a:spcAft>
              <a:buSzPts val="2800"/>
              <a:buNone/>
            </a:pPr>
            <a:r xmlns:a="http://schemas.openxmlformats.org/drawingml/2006/main">
              <a:rPr b="1" lang="en" sz="2800"/>
              <a:t>in different contexts that of padlocks?</a:t>
            </a:r>
            <a:endParaRPr xmlns:a="http://schemas.openxmlformats.org/drawingml/2006/main" b="1" sz="2800"/>
          </a:p>
        </p:txBody>
      </p:sp>
      <p:sp>
        <p:nvSpPr>
          <p:cNvPr id="386" name="Google Shape;386;p39"/>
          <p:cNvSpPr txBox="1"/>
          <p:nvPr>
            <p:ph type="title"/>
          </p:nvPr>
        </p:nvSpPr>
        <p:spPr>
          <a:xfrm>
            <a:off x="474595" y="318728"/>
            <a:ext cx="7640700" cy="64020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sz="2000"/>
              <a:t>PHASE 4. </a:t>
            </a:r>
            <a:r xmlns:a="http://schemas.openxmlformats.org/drawingml/2006/main">
              <a:rPr lang="en" sz="2000"/>
              <a:t>Beyond the Padlocks</a:t>
            </a:r>
            <a:endParaRPr xmlns:a="http://schemas.openxmlformats.org/drawingml/2006/main"/>
          </a:p>
        </p:txBody>
      </p:sp>
      <p:pic>
        <p:nvPicPr>
          <p:cNvPr descr="A screenshot of a phone number&#10;&#10;Description automatically generated" id="387" name="Google Shape;387;p39"/>
          <p:cNvPicPr preferRelativeResize="0"/>
          <p:nvPr/>
        </p:nvPicPr>
        <p:blipFill rotWithShape="1">
          <a:blip r:embed="rId3">
            <a:alphaModFix/>
          </a:blip>
          <a:srcRect b="0" l="0" r="0" t="0"/>
          <a:stretch/>
        </p:blipFill>
        <p:spPr>
          <a:xfrm rot="974582">
            <a:off x="1662352" y="4016858"/>
            <a:ext cx="926996" cy="1648012"/>
          </a:xfrm>
          <a:prstGeom prst="rect">
            <a:avLst/>
          </a:prstGeom>
          <a:noFill/>
          <a:ln>
            <a:noFill/>
          </a:ln>
          <a:effectLst>
            <a:outerShdw blurRad="190500" rotWithShape="0" algn="tl">
              <a:srgbClr val="000000">
                <a:alpha val="69410"/>
              </a:srgbClr>
            </a:outerShdw>
          </a:effectLst>
        </p:spPr>
      </p:pic>
      <p:pic>
        <p:nvPicPr>
          <p:cNvPr descr="A screenshot of a video game&#10;&#10;Description automatically generated" id="388" name="Google Shape;388;p39"/>
          <p:cNvPicPr preferRelativeResize="0"/>
          <p:nvPr/>
        </p:nvPicPr>
        <p:blipFill rotWithShape="1">
          <a:blip r:embed="rId4">
            <a:alphaModFix/>
          </a:blip>
          <a:srcRect b="0" l="0" r="0" t="0"/>
          <a:stretch/>
        </p:blipFill>
        <p:spPr>
          <a:xfrm>
            <a:off x="2934068" y="4352384"/>
            <a:ext cx="2541414" cy="1429866"/>
          </a:xfrm>
          <a:prstGeom prst="rect">
            <a:avLst/>
          </a:prstGeom>
          <a:noFill/>
          <a:ln>
            <a:noFill/>
          </a:ln>
          <a:effectLst>
            <a:outerShdw blurRad="190500" rotWithShape="0" algn="tl">
              <a:srgbClr val="000000">
                <a:alpha val="69410"/>
              </a:srgbClr>
            </a:outerShdw>
          </a:effectLst>
        </p:spPr>
      </p:pic>
      <p:pic>
        <p:nvPicPr>
          <p:cNvPr descr="A tray of sandwiches on a table&#10;&#10;Description automatically generated" id="389" name="Google Shape;389;p39"/>
          <p:cNvPicPr preferRelativeResize="0"/>
          <p:nvPr/>
        </p:nvPicPr>
        <p:blipFill rotWithShape="1">
          <a:blip r:embed="rId5">
            <a:alphaModFix/>
          </a:blip>
          <a:srcRect b="0" l="0" r="0" t="0"/>
          <a:stretch/>
        </p:blipFill>
        <p:spPr>
          <a:xfrm>
            <a:off x="5794628" y="4185849"/>
            <a:ext cx="2207832" cy="1569259"/>
          </a:xfrm>
          <a:prstGeom prst="rect">
            <a:avLst/>
          </a:prstGeom>
          <a:noFill/>
          <a:ln>
            <a:noFill/>
          </a:ln>
          <a:effectLst>
            <a:outerShdw blurRad="190500" rotWithShape="0" algn="tl">
              <a:srgbClr val="000000">
                <a:alpha val="69410"/>
              </a:srgbClr>
            </a:outerShdw>
          </a:effectLst>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3" name="Shape 393"/>
        <p:cNvGrpSpPr/>
        <p:nvPr/>
      </p:nvGrpSpPr>
      <p:grpSpPr>
        <a:xfrm>
          <a:off x="0" y="0"/>
          <a:ext cx="0" cy="0"/>
          <a:chOff x="0" y="0"/>
          <a:chExt cx="0" cy="0"/>
        </a:xfrm>
      </p:grpSpPr>
      <p:sp>
        <p:nvSpPr>
          <p:cNvPr id="394" name="Google Shape;394;p40"/>
          <p:cNvSpPr txBox="1"/>
          <p:nvPr>
            <p:ph type="title"/>
          </p:nvPr>
        </p:nvSpPr>
        <p:spPr>
          <a:xfrm>
            <a:off x="1085850" y="318728"/>
            <a:ext cx="7786500" cy="640200"/>
          </a:xfrm>
          <a:prstGeom prst="rect">
            <a:avLst/>
          </a:prstGeom>
          <a:noFill/>
          <a:ln>
            <a:noFill/>
          </a:ln>
        </p:spPr>
        <p:txBody>
          <a:bodyPr anchorCtr="0" anchor="b" bIns="45700" lIns="91425" spcFirstLastPara="1" rIns="91425" wrap="square" tIns="45700">
            <a:noAutofit/>
          </a:bodyPr>
          <a:lstStyle/>
          <a:p>
            <a:pPr xmlns:a="http://schemas.openxmlformats.org/drawingml/2006/main" indent="0" lvl="0" marL="0" rtl="0" algn="l">
              <a:spcBef>
                <a:spcPts val="0"/>
              </a:spcBef>
              <a:spcAft>
                <a:spcPts val="0"/>
              </a:spcAft>
              <a:buSzPts val="1400"/>
              <a:buNone/>
            </a:pPr>
            <a:r xmlns:a="http://schemas.openxmlformats.org/drawingml/2006/main">
              <a:rPr b="1" lang="en" sz="2000"/>
              <a:t>PHASE 4. </a:t>
            </a:r>
            <a:r xmlns:a="http://schemas.openxmlformats.org/drawingml/2006/main">
              <a:rPr lang="en" sz="2000"/>
              <a:t>Beyond the Padlocks</a:t>
            </a:r>
            <a:endParaRPr xmlns:a="http://schemas.openxmlformats.org/drawingml/2006/main" b="1" sz="2000"/>
          </a:p>
        </p:txBody>
      </p:sp>
      <p:pic>
        <p:nvPicPr>
          <p:cNvPr descr="Free Vectors | whiteboard frame" id="395" name="Google Shape;395;p40"/>
          <p:cNvPicPr preferRelativeResize="0"/>
          <p:nvPr/>
        </p:nvPicPr>
        <p:blipFill rotWithShape="1">
          <a:blip r:embed="rId3">
            <a:alphaModFix/>
          </a:blip>
          <a:srcRect b="0" l="0" r="0" t="0"/>
          <a:stretch/>
        </p:blipFill>
        <p:spPr>
          <a:xfrm>
            <a:off x="829314" y="1951052"/>
            <a:ext cx="7370819" cy="4547700"/>
          </a:xfrm>
          <a:prstGeom prst="rect">
            <a:avLst/>
          </a:prstGeom>
          <a:noFill/>
          <a:ln>
            <a:noFill/>
          </a:ln>
        </p:spPr>
      </p:pic>
      <p:sp>
        <p:nvSpPr>
          <p:cNvPr id="396" name="Google Shape;396;p40"/>
          <p:cNvSpPr/>
          <p:nvPr/>
        </p:nvSpPr>
        <p:spPr>
          <a:xfrm>
            <a:off x="1303500" y="2571634"/>
            <a:ext cx="3413711" cy="2862322"/>
          </a:xfrm>
          <a:custGeom>
            <a:rect b="b" l="l" r="r" t="t"/>
            <a:pathLst>
              <a:path extrusionOk="0" h="2862322" w="3413711">
                <a:moveTo>
                  <a:pt x="0" y="0"/>
                </a:moveTo>
                <a:cubicBezTo>
                  <a:pt x="131581" y="-58989"/>
                  <a:pt x="382469" y="22619"/>
                  <a:pt x="603089" y="0"/>
                </a:cubicBezTo>
                <a:cubicBezTo>
                  <a:pt x="823709" y="-22619"/>
                  <a:pt x="950979" y="38144"/>
                  <a:pt x="1206178" y="0"/>
                </a:cubicBezTo>
                <a:cubicBezTo>
                  <a:pt x="1461377" y="-38144"/>
                  <a:pt x="1595185" y="12438"/>
                  <a:pt x="1843404" y="0"/>
                </a:cubicBezTo>
                <a:cubicBezTo>
                  <a:pt x="2091623" y="-12438"/>
                  <a:pt x="2142573" y="53002"/>
                  <a:pt x="2309944" y="0"/>
                </a:cubicBezTo>
                <a:cubicBezTo>
                  <a:pt x="2477315" y="-53002"/>
                  <a:pt x="2565611" y="10785"/>
                  <a:pt x="2776485" y="0"/>
                </a:cubicBezTo>
                <a:cubicBezTo>
                  <a:pt x="2987359" y="-10785"/>
                  <a:pt x="3142065" y="71865"/>
                  <a:pt x="3413711" y="0"/>
                </a:cubicBezTo>
                <a:cubicBezTo>
                  <a:pt x="3473814" y="242874"/>
                  <a:pt x="3398244" y="370313"/>
                  <a:pt x="3413711" y="515218"/>
                </a:cubicBezTo>
                <a:cubicBezTo>
                  <a:pt x="3429178" y="660123"/>
                  <a:pt x="3396918" y="841915"/>
                  <a:pt x="3413711" y="1001813"/>
                </a:cubicBezTo>
                <a:cubicBezTo>
                  <a:pt x="3430504" y="1161711"/>
                  <a:pt x="3390539" y="1360379"/>
                  <a:pt x="3413711" y="1574277"/>
                </a:cubicBezTo>
                <a:cubicBezTo>
                  <a:pt x="3436883" y="1788175"/>
                  <a:pt x="3352309" y="1967553"/>
                  <a:pt x="3413711" y="2146742"/>
                </a:cubicBezTo>
                <a:cubicBezTo>
                  <a:pt x="3475113" y="2325931"/>
                  <a:pt x="3402509" y="2542249"/>
                  <a:pt x="3413711" y="2862322"/>
                </a:cubicBezTo>
                <a:cubicBezTo>
                  <a:pt x="3110585" y="2918538"/>
                  <a:pt x="2905285" y="2804638"/>
                  <a:pt x="2776485" y="2862322"/>
                </a:cubicBezTo>
                <a:cubicBezTo>
                  <a:pt x="2647685" y="2920006"/>
                  <a:pt x="2502438" y="2811163"/>
                  <a:pt x="2275807" y="2862322"/>
                </a:cubicBezTo>
                <a:cubicBezTo>
                  <a:pt x="2049176" y="2913481"/>
                  <a:pt x="1953739" y="2853287"/>
                  <a:pt x="1809267" y="2862322"/>
                </a:cubicBezTo>
                <a:cubicBezTo>
                  <a:pt x="1664795" y="2871357"/>
                  <a:pt x="1348055" y="2817252"/>
                  <a:pt x="1206178" y="2862322"/>
                </a:cubicBezTo>
                <a:cubicBezTo>
                  <a:pt x="1064301" y="2907392"/>
                  <a:pt x="857246" y="2827634"/>
                  <a:pt x="568952" y="2862322"/>
                </a:cubicBezTo>
                <a:cubicBezTo>
                  <a:pt x="280658" y="2897010"/>
                  <a:pt x="188402" y="2805162"/>
                  <a:pt x="0" y="2862322"/>
                </a:cubicBezTo>
                <a:cubicBezTo>
                  <a:pt x="-70351" y="2574628"/>
                  <a:pt x="66825" y="2369775"/>
                  <a:pt x="0" y="2232611"/>
                </a:cubicBezTo>
                <a:cubicBezTo>
                  <a:pt x="-66825" y="2095447"/>
                  <a:pt x="20045" y="1826206"/>
                  <a:pt x="0" y="1631524"/>
                </a:cubicBezTo>
                <a:cubicBezTo>
                  <a:pt x="-20045" y="1436842"/>
                  <a:pt x="684" y="1255787"/>
                  <a:pt x="0" y="1059059"/>
                </a:cubicBezTo>
                <a:cubicBezTo>
                  <a:pt x="-684" y="862332"/>
                  <a:pt x="49780" y="694048"/>
                  <a:pt x="0" y="572464"/>
                </a:cubicBezTo>
                <a:cubicBezTo>
                  <a:pt x="-49780" y="450880"/>
                  <a:pt x="22387" y="149464"/>
                  <a:pt x="0" y="0"/>
                </a:cubicBezTo>
                <a:close/>
              </a:path>
            </a:pathLst>
          </a:custGeom>
          <a:no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2000"/>
              <a:buFont typeface="Arial"/>
              <a:buNone/>
            </a:pPr>
            <a:r xmlns:a="http://schemas.openxmlformats.org/drawingml/2006/main">
              <a:rPr b="1" i="0" lang="en" sz="2000" u="none" cap="none" strike="noStrike">
                <a:solidFill>
                  <a:srgbClr val="7030A0"/>
                </a:solidFill>
                <a:latin typeface="Avenir"/>
                <a:ea typeface="Avenir"/>
                <a:cs typeface="Avenir"/>
                <a:sym typeface="Avenir"/>
              </a:rPr>
              <a:t>Choose a 4-digit mobile phone pin number?</a:t>
            </a:r>
            <a:endParaRPr xmlns:a="http://schemas.openxmlformats.org/drawingml/2006/main" b="1" i="0" sz="1400" u="none" cap="none" strike="noStrike">
              <a:solidFill>
                <a:srgbClr val="000000"/>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2000"/>
              <a:buFont typeface="Arial"/>
              <a:buNone/>
            </a:pPr>
            <a:r xmlns:a="http://schemas.openxmlformats.org/drawingml/2006/main">
              <a:t/>
            </a:r>
            <a:endParaRPr xmlns:a="http://schemas.openxmlformats.org/drawingml/2006/main" b="1" i="0" sz="2000" u="none" cap="none" strike="noStrike">
              <a:solidFill>
                <a:srgbClr val="7030A0"/>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2000"/>
              <a:buFont typeface="Arial"/>
              <a:buNone/>
            </a:pPr>
            <a:r xmlns:a="http://schemas.openxmlformats.org/drawingml/2006/main">
              <a:t/>
            </a:r>
            <a:endParaRPr xmlns:a="http://schemas.openxmlformats.org/drawingml/2006/main" b="1" i="0" sz="2000" u="none" cap="none" strike="noStrike">
              <a:solidFill>
                <a:srgbClr val="7030A0"/>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2000"/>
              <a:buFont typeface="Arial"/>
              <a:buNone/>
            </a:pPr>
            <a:r xmlns:a="http://schemas.openxmlformats.org/drawingml/2006/main">
              <a:rPr b="1" i="0" lang="en" sz="2000" u="none" cap="none" strike="noStrike">
                <a:solidFill>
                  <a:srgbClr val="7030A0"/>
                </a:solidFill>
                <a:latin typeface="Avenir"/>
                <a:ea typeface="Avenir"/>
                <a:cs typeface="Avenir"/>
                <a:sym typeface="Avenir"/>
              </a:rPr>
              <a:t>Making football match crosses if there are 20 teams and everyone has to play against everyone in the first and second leg?</a:t>
            </a:r>
            <a:endParaRPr xmlns:a="http://schemas.openxmlformats.org/drawingml/2006/main" b="1" i="0" sz="1400" u="none" cap="none" strike="noStrike">
              <a:solidFill>
                <a:srgbClr val="000000"/>
              </a:solidFill>
              <a:latin typeface="Avenir"/>
              <a:ea typeface="Avenir"/>
              <a:cs typeface="Avenir"/>
              <a:sym typeface="Avenir"/>
            </a:endParaRPr>
          </a:p>
        </p:txBody>
      </p:sp>
      <p:pic>
        <p:nvPicPr>
          <p:cNvPr descr="A screenshot of a phone number&#10;&#10;Description automatically generated" id="397" name="Google Shape;397;p40"/>
          <p:cNvPicPr preferRelativeResize="0"/>
          <p:nvPr/>
        </p:nvPicPr>
        <p:blipFill rotWithShape="1">
          <a:blip r:embed="rId4">
            <a:alphaModFix/>
          </a:blip>
          <a:srcRect b="0" l="0" r="0" t="0"/>
          <a:stretch/>
        </p:blipFill>
        <p:spPr>
          <a:xfrm rot="974568">
            <a:off x="5630193" y="2324497"/>
            <a:ext cx="769715" cy="1368383"/>
          </a:xfrm>
          <a:prstGeom prst="rect">
            <a:avLst/>
          </a:prstGeom>
          <a:noFill/>
          <a:ln>
            <a:noFill/>
          </a:ln>
          <a:effectLst>
            <a:outerShdw blurRad="190500" rotWithShape="0" algn="tl">
              <a:srgbClr val="000000">
                <a:alpha val="69410"/>
              </a:srgbClr>
            </a:outerShdw>
          </a:effectLst>
        </p:spPr>
      </p:pic>
      <p:pic>
        <p:nvPicPr>
          <p:cNvPr descr="A screenshot of a video game&#10;&#10;Description automatically generated" id="398" name="Google Shape;398;p40"/>
          <p:cNvPicPr preferRelativeResize="0"/>
          <p:nvPr/>
        </p:nvPicPr>
        <p:blipFill rotWithShape="1">
          <a:blip r:embed="rId5">
            <a:alphaModFix/>
          </a:blip>
          <a:srcRect b="0" l="0" r="0" t="0"/>
          <a:stretch/>
        </p:blipFill>
        <p:spPr>
          <a:xfrm>
            <a:off x="5025405" y="4197334"/>
            <a:ext cx="2541414" cy="1429866"/>
          </a:xfrm>
          <a:prstGeom prst="rect">
            <a:avLst/>
          </a:prstGeom>
          <a:noFill/>
          <a:ln>
            <a:noFill/>
          </a:ln>
          <a:effectLst>
            <a:outerShdw blurRad="190500" rotWithShape="0" algn="tl">
              <a:srgbClr val="000000">
                <a:alpha val="69410"/>
              </a:srgbClr>
            </a:outerShdw>
          </a:effectLst>
        </p:spPr>
      </p:pic>
      <p:sp>
        <p:nvSpPr>
          <p:cNvPr id="399" name="Google Shape;399;p40"/>
          <p:cNvSpPr txBox="1"/>
          <p:nvPr>
            <p:ph idx="1" type="body"/>
          </p:nvPr>
        </p:nvSpPr>
        <p:spPr>
          <a:xfrm>
            <a:off x="474450" y="1080470"/>
            <a:ext cx="8397900" cy="613800"/>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SzPts val="2000"/>
              <a:buChar char="◼"/>
            </a:pPr>
            <a:r xmlns:a="http://schemas.openxmlformats.org/drawingml/2006/main">
              <a:rPr b="1" lang="en" sz="2000"/>
              <a:t>Q </a:t>
            </a:r>
            <a:r xmlns:a="http://schemas.openxmlformats.org/drawingml/2006/main">
              <a:rPr b="1" lang="en"/>
              <a:t>4 </a:t>
            </a:r>
            <a:r xmlns:a="http://schemas.openxmlformats.org/drawingml/2006/main">
              <a:rPr b="1" lang="en" sz="2000"/>
              <a:t>: </a:t>
            </a:r>
            <a:r xmlns:a="http://schemas.openxmlformats.org/drawingml/2006/main">
              <a:rPr b="1" lang="en"/>
              <a:t>Do these models work to solve more counting problems in contexts other than padlocks?</a:t>
            </a:r>
            <a:endParaRPr xmlns:a="http://schemas.openxmlformats.org/drawingml/2006/main"/>
          </a:p>
          <a:p>
            <a:pPr xmlns:a="http://schemas.openxmlformats.org/drawingml/2006/main" indent="-114300" lvl="1" marL="457200" rtl="0" algn="l">
              <a:lnSpc>
                <a:spcPct val="130000"/>
              </a:lnSpc>
              <a:spcBef>
                <a:spcPts val="600"/>
              </a:spcBef>
              <a:spcAft>
                <a:spcPts val="0"/>
              </a:spcAft>
              <a:buSzPts val="1800"/>
              <a:buNone/>
            </a:pPr>
            <a:r xmlns:a="http://schemas.openxmlformats.org/drawingml/2006/main">
              <a:t/>
            </a:r>
            <a:endParaRPr xmlns:a="http://schemas.openxmlformats.org/drawingml/2006/main"/>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3" name="Shape 403"/>
        <p:cNvGrpSpPr/>
        <p:nvPr/>
      </p:nvGrpSpPr>
      <p:grpSpPr>
        <a:xfrm>
          <a:off x="0" y="0"/>
          <a:ext cx="0" cy="0"/>
          <a:chOff x="0" y="0"/>
          <a:chExt cx="0" cy="0"/>
        </a:xfrm>
      </p:grpSpPr>
      <p:sp>
        <p:nvSpPr>
          <p:cNvPr id="404" name="Google Shape;404;p41"/>
          <p:cNvSpPr txBox="1"/>
          <p:nvPr>
            <p:ph type="title"/>
          </p:nvPr>
        </p:nvSpPr>
        <p:spPr>
          <a:xfrm>
            <a:off x="1085850" y="318728"/>
            <a:ext cx="7786500" cy="640200"/>
          </a:xfrm>
          <a:prstGeom prst="rect">
            <a:avLst/>
          </a:prstGeom>
          <a:noFill/>
          <a:ln>
            <a:noFill/>
          </a:ln>
        </p:spPr>
        <p:txBody>
          <a:bodyPr anchorCtr="0" anchor="b" bIns="45700" lIns="91425" spcFirstLastPara="1" rIns="91425" wrap="square" tIns="45700">
            <a:noAutofit/>
          </a:bodyPr>
          <a:lstStyle/>
          <a:p>
            <a:pPr xmlns:a="http://schemas.openxmlformats.org/drawingml/2006/main" indent="0" lvl="0" marL="0" rtl="0" algn="l">
              <a:spcBef>
                <a:spcPts val="0"/>
              </a:spcBef>
              <a:spcAft>
                <a:spcPts val="0"/>
              </a:spcAft>
              <a:buSzPts val="1400"/>
              <a:buNone/>
            </a:pPr>
            <a:r xmlns:a="http://schemas.openxmlformats.org/drawingml/2006/main">
              <a:rPr b="1" lang="en" sz="2000"/>
              <a:t>PHASE 4. </a:t>
            </a:r>
            <a:r xmlns:a="http://schemas.openxmlformats.org/drawingml/2006/main">
              <a:rPr lang="en" sz="2000"/>
              <a:t>Beyond the Padlocks</a:t>
            </a:r>
            <a:endParaRPr xmlns:a="http://schemas.openxmlformats.org/drawingml/2006/main" b="1" sz="2000"/>
          </a:p>
        </p:txBody>
      </p:sp>
      <p:pic>
        <p:nvPicPr>
          <p:cNvPr descr="Free Vectors | whiteboard frame" id="405" name="Google Shape;405;p41"/>
          <p:cNvPicPr preferRelativeResize="0"/>
          <p:nvPr/>
        </p:nvPicPr>
        <p:blipFill rotWithShape="1">
          <a:blip r:embed="rId3">
            <a:alphaModFix/>
          </a:blip>
          <a:srcRect b="0" l="0" r="0" t="0"/>
          <a:stretch/>
        </p:blipFill>
        <p:spPr>
          <a:xfrm>
            <a:off x="753089" y="1864952"/>
            <a:ext cx="7370819" cy="4547700"/>
          </a:xfrm>
          <a:prstGeom prst="rect">
            <a:avLst/>
          </a:prstGeom>
          <a:noFill/>
          <a:ln>
            <a:noFill/>
          </a:ln>
        </p:spPr>
      </p:pic>
      <p:sp>
        <p:nvSpPr>
          <p:cNvPr id="406" name="Google Shape;406;p41"/>
          <p:cNvSpPr/>
          <p:nvPr/>
        </p:nvSpPr>
        <p:spPr>
          <a:xfrm>
            <a:off x="1245325" y="2620784"/>
            <a:ext cx="3413711" cy="2246769"/>
          </a:xfrm>
          <a:custGeom>
            <a:rect b="b" l="l" r="r" t="t"/>
            <a:pathLst>
              <a:path extrusionOk="0" h="2246769" w="3413711">
                <a:moveTo>
                  <a:pt x="0" y="0"/>
                </a:moveTo>
                <a:cubicBezTo>
                  <a:pt x="131581" y="-58989"/>
                  <a:pt x="382469" y="22619"/>
                  <a:pt x="603089" y="0"/>
                </a:cubicBezTo>
                <a:cubicBezTo>
                  <a:pt x="823709" y="-22619"/>
                  <a:pt x="950979" y="38144"/>
                  <a:pt x="1206178" y="0"/>
                </a:cubicBezTo>
                <a:cubicBezTo>
                  <a:pt x="1461377" y="-38144"/>
                  <a:pt x="1595185" y="12438"/>
                  <a:pt x="1843404" y="0"/>
                </a:cubicBezTo>
                <a:cubicBezTo>
                  <a:pt x="2091623" y="-12438"/>
                  <a:pt x="2142573" y="53002"/>
                  <a:pt x="2309944" y="0"/>
                </a:cubicBezTo>
                <a:cubicBezTo>
                  <a:pt x="2477315" y="-53002"/>
                  <a:pt x="2565611" y="10785"/>
                  <a:pt x="2776485" y="0"/>
                </a:cubicBezTo>
                <a:cubicBezTo>
                  <a:pt x="2987359" y="-10785"/>
                  <a:pt x="3142065" y="71865"/>
                  <a:pt x="3413711" y="0"/>
                </a:cubicBezTo>
                <a:cubicBezTo>
                  <a:pt x="3446506" y="210791"/>
                  <a:pt x="3393346" y="301379"/>
                  <a:pt x="3413711" y="516757"/>
                </a:cubicBezTo>
                <a:cubicBezTo>
                  <a:pt x="3434076" y="732135"/>
                  <a:pt x="3372360" y="801077"/>
                  <a:pt x="3413711" y="1011046"/>
                </a:cubicBezTo>
                <a:cubicBezTo>
                  <a:pt x="3455062" y="1221015"/>
                  <a:pt x="3389144" y="1319738"/>
                  <a:pt x="3413711" y="1572738"/>
                </a:cubicBezTo>
                <a:cubicBezTo>
                  <a:pt x="3438278" y="1825738"/>
                  <a:pt x="3391041" y="1960458"/>
                  <a:pt x="3413711" y="2246769"/>
                </a:cubicBezTo>
                <a:cubicBezTo>
                  <a:pt x="3188820" y="2293142"/>
                  <a:pt x="3111127" y="2231480"/>
                  <a:pt x="2947170" y="2246769"/>
                </a:cubicBezTo>
                <a:cubicBezTo>
                  <a:pt x="2783213" y="2262058"/>
                  <a:pt x="2648706" y="2246164"/>
                  <a:pt x="2378219" y="2246769"/>
                </a:cubicBezTo>
                <a:cubicBezTo>
                  <a:pt x="2107732" y="2247374"/>
                  <a:pt x="2104172" y="2195610"/>
                  <a:pt x="1877541" y="2246769"/>
                </a:cubicBezTo>
                <a:cubicBezTo>
                  <a:pt x="1650910" y="2297928"/>
                  <a:pt x="1555473" y="2237734"/>
                  <a:pt x="1411001" y="2246769"/>
                </a:cubicBezTo>
                <a:cubicBezTo>
                  <a:pt x="1266529" y="2255804"/>
                  <a:pt x="949789" y="2201699"/>
                  <a:pt x="807912" y="2246769"/>
                </a:cubicBezTo>
                <a:cubicBezTo>
                  <a:pt x="666035" y="2291839"/>
                  <a:pt x="389055" y="2200483"/>
                  <a:pt x="0" y="2246769"/>
                </a:cubicBezTo>
                <a:cubicBezTo>
                  <a:pt x="-30562" y="2063364"/>
                  <a:pt x="10697" y="1800222"/>
                  <a:pt x="0" y="1685077"/>
                </a:cubicBezTo>
                <a:cubicBezTo>
                  <a:pt x="-10697" y="1569932"/>
                  <a:pt x="47524" y="1290874"/>
                  <a:pt x="0" y="1078449"/>
                </a:cubicBezTo>
                <a:cubicBezTo>
                  <a:pt x="-47524" y="866024"/>
                  <a:pt x="11897" y="714190"/>
                  <a:pt x="0" y="494289"/>
                </a:cubicBezTo>
                <a:cubicBezTo>
                  <a:pt x="-11897" y="274388"/>
                  <a:pt x="51914" y="179338"/>
                  <a:pt x="0" y="0"/>
                </a:cubicBezTo>
                <a:close/>
              </a:path>
            </a:pathLst>
          </a:custGeom>
          <a:noFill/>
          <a:ln>
            <a:noFill/>
          </a:ln>
        </p:spPr>
        <p:txBody>
          <a:bodyPr anchorCtr="0" anchor="t" bIns="45700" lIns="91425" spcFirstLastPara="1" rIns="91425" wrap="square" tIns="45700">
            <a:noAutofit/>
          </a:bodyPr>
          <a:lstStyle/>
          <a:p>
            <a:pPr xmlns:a="http://schemas.openxmlformats.org/drawingml/2006/main" indent="0" lvl="0" marL="0" marR="0" rtl="0" algn="l">
              <a:lnSpc>
                <a:spcPct val="100000"/>
              </a:lnSpc>
              <a:spcBef>
                <a:spcPts val="0"/>
              </a:spcBef>
              <a:spcAft>
                <a:spcPts val="0"/>
              </a:spcAft>
              <a:buClr>
                <a:srgbClr val="000000"/>
              </a:buClr>
              <a:buSzPts val="2000"/>
              <a:buFont typeface="Arial"/>
              <a:buNone/>
            </a:pPr>
            <a:r xmlns:a="http://schemas.openxmlformats.org/drawingml/2006/main">
              <a:rPr b="1" i="0" lang="en" sz="2000" u="none" cap="none" strike="noStrike">
                <a:solidFill>
                  <a:srgbClr val="7030A0"/>
                </a:solidFill>
                <a:latin typeface="Avenir"/>
                <a:ea typeface="Avenir"/>
                <a:cs typeface="Avenir"/>
                <a:sym typeface="Avenir"/>
              </a:rPr>
              <a:t>Making 5 friends sit in a car if 2 of them have a license?</a:t>
            </a:r>
            <a:endParaRPr xmlns:a="http://schemas.openxmlformats.org/drawingml/2006/main" i="0" sz="1400" u="none" cap="none" strike="noStrike">
              <a:solidFill>
                <a:srgbClr val="000000"/>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2000"/>
              <a:buFont typeface="Arial"/>
              <a:buNone/>
            </a:pPr>
            <a:r xmlns:a="http://schemas.openxmlformats.org/drawingml/2006/main">
              <a:t/>
            </a:r>
            <a:endParaRPr xmlns:a="http://schemas.openxmlformats.org/drawingml/2006/main" b="1" i="0" sz="2000" u="none" cap="none" strike="noStrike">
              <a:solidFill>
                <a:srgbClr val="7030A0"/>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2000"/>
              <a:buFont typeface="Arial"/>
              <a:buNone/>
            </a:pPr>
            <a:r xmlns:a="http://schemas.openxmlformats.org/drawingml/2006/main">
              <a:t/>
            </a:r>
            <a:endParaRPr xmlns:a="http://schemas.openxmlformats.org/drawingml/2006/main" b="1" i="0" sz="2000" u="none" cap="none" strike="noStrike">
              <a:solidFill>
                <a:srgbClr val="7030A0"/>
              </a:solidFill>
              <a:latin typeface="Avenir"/>
              <a:ea typeface="Avenir"/>
              <a:cs typeface="Avenir"/>
              <a:sym typeface="Avenir"/>
            </a:endParaRPr>
          </a:p>
          <a:p>
            <a:pPr xmlns:a="http://schemas.openxmlformats.org/drawingml/2006/main" indent="0" lvl="0" marL="0" marR="0" rtl="0" algn="l">
              <a:lnSpc>
                <a:spcPct val="100000"/>
              </a:lnSpc>
              <a:spcBef>
                <a:spcPts val="0"/>
              </a:spcBef>
              <a:spcAft>
                <a:spcPts val="0"/>
              </a:spcAft>
              <a:buClr>
                <a:srgbClr val="000000"/>
              </a:buClr>
              <a:buSzPts val="2000"/>
              <a:buFont typeface="Arial"/>
              <a:buNone/>
            </a:pPr>
            <a:r xmlns:a="http://schemas.openxmlformats.org/drawingml/2006/main">
              <a:rPr b="1" i="0" lang="en" sz="2000" u="none" cap="none" strike="noStrike">
                <a:solidFill>
                  <a:srgbClr val="7030A0"/>
                </a:solidFill>
                <a:latin typeface="Avenir"/>
                <a:ea typeface="Avenir"/>
                <a:cs typeface="Avenir"/>
                <a:sym typeface="Avenir"/>
              </a:rPr>
              <a:t>Ways to choose 3 different sandwiches from a total of 6 types of sandwiches?</a:t>
            </a:r>
            <a:endParaRPr xmlns:a="http://schemas.openxmlformats.org/drawingml/2006/main" i="0" sz="1400" u="none" cap="none" strike="noStrike">
              <a:solidFill>
                <a:srgbClr val="000000"/>
              </a:solidFill>
              <a:latin typeface="Avenir"/>
              <a:ea typeface="Avenir"/>
              <a:cs typeface="Avenir"/>
              <a:sym typeface="Avenir"/>
            </a:endParaRPr>
          </a:p>
        </p:txBody>
      </p:sp>
      <p:pic>
        <p:nvPicPr>
          <p:cNvPr descr="The top view of a car&#10;&#10;Description automatically generated" id="407" name="Google Shape;407;p41"/>
          <p:cNvPicPr preferRelativeResize="0"/>
          <p:nvPr/>
        </p:nvPicPr>
        <p:blipFill rotWithShape="1">
          <a:blip r:embed="rId4">
            <a:alphaModFix/>
          </a:blip>
          <a:srcRect b="0" l="0" r="0" t="0"/>
          <a:stretch/>
        </p:blipFill>
        <p:spPr>
          <a:xfrm>
            <a:off x="4930517" y="2506839"/>
            <a:ext cx="2626995" cy="1360789"/>
          </a:xfrm>
          <a:prstGeom prst="rect">
            <a:avLst/>
          </a:prstGeom>
          <a:noFill/>
          <a:ln>
            <a:noFill/>
          </a:ln>
        </p:spPr>
      </p:pic>
      <p:pic>
        <p:nvPicPr>
          <p:cNvPr descr="A tray of sandwiches on a table&#10;&#10;Description automatically generated" id="408" name="Google Shape;408;p41"/>
          <p:cNvPicPr preferRelativeResize="0"/>
          <p:nvPr/>
        </p:nvPicPr>
        <p:blipFill rotWithShape="1">
          <a:blip r:embed="rId5">
            <a:alphaModFix/>
          </a:blip>
          <a:srcRect b="0" l="0" r="0" t="0"/>
          <a:stretch/>
        </p:blipFill>
        <p:spPr>
          <a:xfrm>
            <a:off x="5190453" y="4084349"/>
            <a:ext cx="2207832" cy="1569259"/>
          </a:xfrm>
          <a:prstGeom prst="rect">
            <a:avLst/>
          </a:prstGeom>
          <a:noFill/>
          <a:ln>
            <a:noFill/>
          </a:ln>
          <a:effectLst>
            <a:outerShdw blurRad="190500" rotWithShape="0" algn="tl">
              <a:srgbClr val="000000">
                <a:alpha val="69410"/>
              </a:srgbClr>
            </a:outerShdw>
          </a:effectLst>
        </p:spPr>
      </p:pic>
      <p:sp>
        <p:nvSpPr>
          <p:cNvPr id="409" name="Google Shape;409;p41"/>
          <p:cNvSpPr txBox="1"/>
          <p:nvPr>
            <p:ph idx="1" type="body"/>
          </p:nvPr>
        </p:nvSpPr>
        <p:spPr>
          <a:xfrm>
            <a:off x="474450" y="1080470"/>
            <a:ext cx="8397900" cy="613800"/>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SzPts val="2000"/>
              <a:buChar char="◼"/>
            </a:pPr>
            <a:r xmlns:a="http://schemas.openxmlformats.org/drawingml/2006/main">
              <a:rPr b="1" lang="en" sz="2000"/>
              <a:t>Q </a:t>
            </a:r>
            <a:r xmlns:a="http://schemas.openxmlformats.org/drawingml/2006/main">
              <a:rPr b="1" lang="en"/>
              <a:t>4 </a:t>
            </a:r>
            <a:r xmlns:a="http://schemas.openxmlformats.org/drawingml/2006/main">
              <a:rPr b="1" lang="en" sz="2000"/>
              <a:t>: </a:t>
            </a:r>
            <a:r xmlns:a="http://schemas.openxmlformats.org/drawingml/2006/main">
              <a:rPr b="1" lang="en"/>
              <a:t>Do these models work to solve more counting problems in contexts other than padlocks?</a:t>
            </a:r>
            <a:endParaRPr xmlns:a="http://schemas.openxmlformats.org/drawingml/2006/main"/>
          </a:p>
          <a:p>
            <a:pPr xmlns:a="http://schemas.openxmlformats.org/drawingml/2006/main" indent="-114300" lvl="1" marL="457200" rtl="0" algn="l">
              <a:lnSpc>
                <a:spcPct val="130000"/>
              </a:lnSpc>
              <a:spcBef>
                <a:spcPts val="600"/>
              </a:spcBef>
              <a:spcAft>
                <a:spcPts val="0"/>
              </a:spcAft>
              <a:buSzPts val="1800"/>
              <a:buNone/>
            </a:pPr>
            <a:r xmlns:a="http://schemas.openxmlformats.org/drawingml/2006/main">
              <a:t/>
            </a:r>
            <a:endParaRPr xmlns:a="http://schemas.openxmlformats.org/drawingml/2006/main"/>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14" name="Shape 414"/>
        <p:cNvGrpSpPr/>
        <p:nvPr/>
      </p:nvGrpSpPr>
      <p:grpSpPr>
        <a:xfrm>
          <a:off x="0" y="0"/>
          <a:ext cx="0" cy="0"/>
          <a:chOff x="0" y="0"/>
          <a:chExt cx="0" cy="0"/>
        </a:xfrm>
      </p:grpSpPr>
      <p:sp>
        <p:nvSpPr>
          <p:cNvPr id="415" name="Google Shape;415;p42"/>
          <p:cNvSpPr txBox="1"/>
          <p:nvPr>
            <p:ph idx="1" type="body"/>
          </p:nvPr>
        </p:nvSpPr>
        <p:spPr>
          <a:xfrm>
            <a:off x="373071" y="1932836"/>
            <a:ext cx="8397900" cy="2143500"/>
          </a:xfrm>
          <a:prstGeom prst="rect">
            <a:avLst/>
          </a:prstGeom>
          <a:noFill/>
          <a:ln>
            <a:noFill/>
          </a:ln>
        </p:spPr>
        <p:txBody>
          <a:bodyPr anchorCtr="0" anchor="t" bIns="45700" lIns="91425" spcFirstLastPara="1" rIns="91425" wrap="square" tIns="45700">
            <a:noAutofit/>
          </a:bodyPr>
          <a:lstStyle/>
          <a:p>
            <a:pPr xmlns:a="http://schemas.openxmlformats.org/drawingml/2006/main" indent="0" lvl="0" marL="0" rtl="0" algn="ctr">
              <a:lnSpc>
                <a:spcPct val="130000"/>
              </a:lnSpc>
              <a:spcBef>
                <a:spcPts val="0"/>
              </a:spcBef>
              <a:spcAft>
                <a:spcPts val="0"/>
              </a:spcAft>
              <a:buSzPts val="2800"/>
              <a:buNone/>
            </a:pPr>
            <a:r xmlns:a="http://schemas.openxmlformats.org/drawingml/2006/main">
              <a:rPr b="1" i="1" lang="en" sz="2800"/>
              <a:t>Q </a:t>
            </a:r>
            <a:r xmlns:a="http://schemas.openxmlformats.org/drawingml/2006/main">
              <a:rPr b="1" baseline="-25000" lang="en" sz="2800"/>
              <a:t>3 </a:t>
            </a:r>
            <a:r xmlns:a="http://schemas.openxmlformats.org/drawingml/2006/main">
              <a:rPr b="1" lang="en" sz="2800"/>
              <a:t>: How to create secure passwords?</a:t>
            </a:r>
            <a:endParaRPr xmlns:a="http://schemas.openxmlformats.org/drawingml/2006/main"/>
          </a:p>
          <a:p>
            <a:pPr xmlns:a="http://schemas.openxmlformats.org/drawingml/2006/main" indent="-101600" lvl="0" marL="228600" rtl="0" algn="l">
              <a:lnSpc>
                <a:spcPct val="130000"/>
              </a:lnSpc>
              <a:spcBef>
                <a:spcPts val="600"/>
              </a:spcBef>
              <a:spcAft>
                <a:spcPts val="0"/>
              </a:spcAft>
              <a:buSzPts val="2000"/>
              <a:buNone/>
            </a:pPr>
            <a:r xmlns:a="http://schemas.openxmlformats.org/drawingml/2006/main">
              <a:t/>
            </a:r>
            <a:endParaRPr xmlns:a="http://schemas.openxmlformats.org/drawingml/2006/main"/>
          </a:p>
        </p:txBody>
      </p:sp>
      <p:sp>
        <p:nvSpPr>
          <p:cNvPr id="416" name="Google Shape;416;p42"/>
          <p:cNvSpPr txBox="1"/>
          <p:nvPr>
            <p:ph type="title"/>
          </p:nvPr>
        </p:nvSpPr>
        <p:spPr>
          <a:xfrm>
            <a:off x="474595" y="318728"/>
            <a:ext cx="7767900" cy="64020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spcBef>
                <a:spcPts val="0"/>
              </a:spcBef>
              <a:spcAft>
                <a:spcPts val="0"/>
              </a:spcAft>
              <a:buSzPts val="1400"/>
              <a:buNone/>
            </a:pPr>
            <a:r xmlns:a="http://schemas.openxmlformats.org/drawingml/2006/main">
              <a:rPr b="1" lang="en"/>
              <a:t>PHASE Optional. </a:t>
            </a:r>
            <a:r xmlns:a="http://schemas.openxmlformats.org/drawingml/2006/main">
              <a:rPr lang="en"/>
              <a:t>Let's be hackers!</a:t>
            </a:r>
            <a:endParaRPr xmlns:a="http://schemas.openxmlformats.org/drawingml/2006/main" b="1"/>
          </a:p>
        </p:txBody>
      </p:sp>
      <p:pic>
        <p:nvPicPr>
          <p:cNvPr id="417" name="Google Shape;417;p42"/>
          <p:cNvPicPr preferRelativeResize="0"/>
          <p:nvPr/>
        </p:nvPicPr>
        <p:blipFill>
          <a:blip r:embed="rId3">
            <a:alphaModFix/>
          </a:blip>
          <a:stretch>
            <a:fillRect/>
          </a:stretch>
        </p:blipFill>
        <p:spPr>
          <a:xfrm>
            <a:off x="2131963" y="2753786"/>
            <a:ext cx="4880066" cy="2476864"/>
          </a:xfrm>
          <a:prstGeom prst="rect">
            <a:avLst/>
          </a:prstGeom>
          <a:noFill/>
          <a:ln cap="flat" cmpd="sng" w="9525">
            <a:solidFill>
              <a:srgbClr val="CC0000"/>
            </a:solidFill>
            <a:prstDash val="solid"/>
            <a:round/>
            <a:headEnd len="sm" w="sm" type="none"/>
            <a:tailEnd len="sm" w="sm" type="none"/>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21" name="Shape 421"/>
        <p:cNvGrpSpPr/>
        <p:nvPr/>
      </p:nvGrpSpPr>
      <p:grpSpPr>
        <a:xfrm>
          <a:off x="0" y="0"/>
          <a:ext cx="0" cy="0"/>
          <a:chOff x="0" y="0"/>
          <a:chExt cx="0" cy="0"/>
        </a:xfrm>
      </p:grpSpPr>
      <p:sp>
        <p:nvSpPr>
          <p:cNvPr id="422" name="Google Shape;422;p43"/>
          <p:cNvSpPr txBox="1"/>
          <p:nvPr>
            <p:ph idx="1" type="body"/>
          </p:nvPr>
        </p:nvSpPr>
        <p:spPr>
          <a:xfrm>
            <a:off x="643425" y="1316839"/>
            <a:ext cx="8397900" cy="4224300"/>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marR="0" rtl="0" algn="l">
              <a:lnSpc>
                <a:spcPct val="130000"/>
              </a:lnSpc>
              <a:spcBef>
                <a:spcPts val="0"/>
              </a:spcBef>
              <a:spcAft>
                <a:spcPts val="0"/>
              </a:spcAft>
              <a:buSzPts val="2000"/>
              <a:buChar char="◼"/>
            </a:pPr>
            <a:r xmlns:a="http://schemas.openxmlformats.org/drawingml/2006/main">
              <a:rPr b="1" lang="en">
                <a:solidFill>
                  <a:srgbClr val="000000"/>
                </a:solidFill>
              </a:rPr>
              <a:t>Let's compare passwords</a:t>
            </a:r>
            <a:endParaRPr xmlns:a="http://schemas.openxmlformats.org/drawingml/2006/main" b="1" sz="2000">
              <a:solidFill>
                <a:srgbClr val="000000"/>
              </a:solidFill>
            </a:endParaRPr>
          </a:p>
          <a:p>
            <a:pPr xmlns:a="http://schemas.openxmlformats.org/drawingml/2006/main" indent="0" lvl="0" marL="457200" marR="0" rtl="0" algn="l">
              <a:lnSpc>
                <a:spcPct val="130000"/>
              </a:lnSpc>
              <a:spcBef>
                <a:spcPts val="0"/>
              </a:spcBef>
              <a:spcAft>
                <a:spcPts val="0"/>
              </a:spcAft>
              <a:buNone/>
            </a:pPr>
            <a:r xmlns:a="http://schemas.openxmlformats.org/drawingml/2006/main">
              <a:t/>
            </a:r>
            <a:endParaRPr xmlns:a="http://schemas.openxmlformats.org/drawingml/2006/main" sz="700">
              <a:solidFill>
                <a:srgbClr val="000000"/>
              </a:solidFill>
            </a:endParaRPr>
          </a:p>
          <a:p>
            <a:pPr xmlns:a="http://schemas.openxmlformats.org/drawingml/2006/main" indent="0" lvl="0" marL="457200" marR="0" rtl="0" algn="l">
              <a:lnSpc>
                <a:spcPct val="130000"/>
              </a:lnSpc>
              <a:spcBef>
                <a:spcPts val="0"/>
              </a:spcBef>
              <a:spcAft>
                <a:spcPts val="0"/>
              </a:spcAft>
              <a:buNone/>
            </a:pPr>
            <a:r xmlns:a="http://schemas.openxmlformats.org/drawingml/2006/main">
              <a:rPr lang="en" sz="2000">
                <a:solidFill>
                  <a:srgbClr val="000000"/>
                </a:solidFill>
              </a:rPr>
              <a:t>When we have to create passwords, we find different instructions depending on the application or website.</a:t>
            </a:r>
            <a:endParaRPr xmlns:a="http://schemas.openxmlformats.org/drawingml/2006/main" sz="2000">
              <a:solidFill>
                <a:srgbClr val="000000"/>
              </a:solidFill>
            </a:endParaRPr>
          </a:p>
          <a:p>
            <a:pPr xmlns:a="http://schemas.openxmlformats.org/drawingml/2006/main" indent="-342900" lvl="1" marL="914400" marR="0" rtl="0" algn="l">
              <a:lnSpc>
                <a:spcPct val="130000"/>
              </a:lnSpc>
              <a:spcBef>
                <a:spcPts val="0"/>
              </a:spcBef>
              <a:spcAft>
                <a:spcPts val="0"/>
              </a:spcAft>
              <a:buSzPts val="1800"/>
              <a:buChar char="▪"/>
            </a:pPr>
            <a:r xmlns:a="http://schemas.openxmlformats.org/drawingml/2006/main">
              <a:rPr lang="en" sz="2000">
                <a:solidFill>
                  <a:srgbClr val="000000"/>
                </a:solidFill>
              </a:rPr>
              <a:t>Which ones do you think are safer? Why?</a:t>
            </a:r>
            <a:endParaRPr xmlns:a="http://schemas.openxmlformats.org/drawingml/2006/main" sz="2000">
              <a:solidFill>
                <a:srgbClr val="000000"/>
              </a:solidFill>
            </a:endParaRPr>
          </a:p>
          <a:p>
            <a:pPr xmlns:a="http://schemas.openxmlformats.org/drawingml/2006/main" indent="0" lvl="0" marL="457200" marR="0" rtl="0" algn="l">
              <a:lnSpc>
                <a:spcPct val="130000"/>
              </a:lnSpc>
              <a:spcBef>
                <a:spcPts val="0"/>
              </a:spcBef>
              <a:spcAft>
                <a:spcPts val="0"/>
              </a:spcAft>
              <a:buNone/>
            </a:pPr>
            <a:r xmlns:a="http://schemas.openxmlformats.org/drawingml/2006/main">
              <a:t/>
            </a:r>
            <a:endParaRPr xmlns:a="http://schemas.openxmlformats.org/drawingml/2006/main" sz="2000">
              <a:solidFill>
                <a:srgbClr val="000000"/>
              </a:solidFill>
            </a:endParaRPr>
          </a:p>
        </p:txBody>
      </p:sp>
      <p:sp>
        <p:nvSpPr>
          <p:cNvPr id="423" name="Google Shape;423;p43"/>
          <p:cNvSpPr txBox="1"/>
          <p:nvPr>
            <p:ph type="title"/>
          </p:nvPr>
        </p:nvSpPr>
        <p:spPr>
          <a:xfrm>
            <a:off x="474595" y="318728"/>
            <a:ext cx="7767900" cy="64020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spcBef>
                <a:spcPts val="0"/>
              </a:spcBef>
              <a:spcAft>
                <a:spcPts val="0"/>
              </a:spcAft>
              <a:buSzPts val="1400"/>
              <a:buNone/>
            </a:pPr>
            <a:r xmlns:a="http://schemas.openxmlformats.org/drawingml/2006/main">
              <a:rPr b="1" lang="en"/>
              <a:t>PHASE Optional. </a:t>
            </a:r>
            <a:r xmlns:a="http://schemas.openxmlformats.org/drawingml/2006/main">
              <a:rPr lang="en"/>
              <a:t>Let's be hackers!</a:t>
            </a:r>
            <a:endParaRPr xmlns:a="http://schemas.openxmlformats.org/drawingml/2006/main" b="1" sz="2000"/>
          </a:p>
        </p:txBody>
      </p:sp>
      <p:sp>
        <p:nvSpPr>
          <p:cNvPr id="424" name="Google Shape;424;p43"/>
          <p:cNvSpPr txBox="1"/>
          <p:nvPr/>
        </p:nvSpPr>
        <p:spPr>
          <a:xfrm>
            <a:off x="700700" y="3429000"/>
            <a:ext cx="1830300" cy="714300"/>
          </a:xfrm>
          <a:prstGeom prst="rect">
            <a:avLst/>
          </a:prstGeom>
          <a:solidFill>
            <a:srgbClr val="FFF2CC"/>
          </a:solidFill>
          <a:ln>
            <a:noFill/>
          </a:ln>
        </p:spPr>
        <p:txBody>
          <a:bodyPr anchorCtr="0" anchor="t" bIns="91425" lIns="91425" spcFirstLastPara="1" rIns="91425" wrap="square" tIns="91425">
            <a:spAutoFit/>
          </a:bodyPr>
          <a:lstStyle/>
          <a:p>
            <a:pPr xmlns:a="http://schemas.openxmlformats.org/drawingml/2006/main" indent="0" lvl="0" marL="0" rtl="0" algn="l">
              <a:lnSpc>
                <a:spcPct val="115000"/>
              </a:lnSpc>
              <a:spcBef>
                <a:spcPts val="1200"/>
              </a:spcBef>
              <a:spcAft>
                <a:spcPts val="1200"/>
              </a:spcAft>
              <a:buNone/>
            </a:pPr>
            <a:r xmlns:a="http://schemas.openxmlformats.org/drawingml/2006/main">
              <a:rPr lang="en" sz="1600">
                <a:solidFill>
                  <a:schemeClr val="dk1"/>
                </a:solidFill>
                <a:latin typeface="Avenir"/>
                <a:ea typeface="Avenir"/>
                <a:cs typeface="Avenir"/>
                <a:sym typeface="Avenir"/>
              </a:rPr>
              <a:t>MOBILE PUK </a:t>
            </a:r>
            <a:br xmlns:a="http://schemas.openxmlformats.org/drawingml/2006/main">
              <a:rPr lang="ca-ES" sz="1600">
                <a:solidFill>
                  <a:schemeClr val="dk1"/>
                </a:solidFill>
                <a:latin typeface="Avenir"/>
                <a:ea typeface="Avenir"/>
                <a:cs typeface="Avenir"/>
                <a:sym typeface="Avenir"/>
              </a:rPr>
            </a:br>
            <a:r xmlns:a="http://schemas.openxmlformats.org/drawingml/2006/main">
              <a:rPr lang="en" sz="1600">
                <a:solidFill>
                  <a:schemeClr val="dk1"/>
                </a:solidFill>
                <a:latin typeface="Avenir"/>
                <a:ea typeface="Avenir"/>
                <a:cs typeface="Avenir"/>
                <a:sym typeface="Avenir"/>
              </a:rPr>
              <a:t>8 numbers</a:t>
            </a:r>
            <a:endParaRPr xmlns:a="http://schemas.openxmlformats.org/drawingml/2006/main" sz="1600">
              <a:solidFill>
                <a:schemeClr val="dk1"/>
              </a:solidFill>
              <a:latin typeface="Avenir"/>
              <a:ea typeface="Avenir"/>
              <a:cs typeface="Avenir"/>
              <a:sym typeface="Avenir"/>
            </a:endParaRPr>
          </a:p>
        </p:txBody>
      </p:sp>
      <p:sp>
        <p:nvSpPr>
          <p:cNvPr id="425" name="Google Shape;425;p43"/>
          <p:cNvSpPr txBox="1"/>
          <p:nvPr/>
        </p:nvSpPr>
        <p:spPr>
          <a:xfrm>
            <a:off x="6449800" y="3601225"/>
            <a:ext cx="2325600" cy="1563900"/>
          </a:xfrm>
          <a:prstGeom prst="rect">
            <a:avLst/>
          </a:prstGeom>
          <a:solidFill>
            <a:srgbClr val="D9D2E9"/>
          </a:solidFill>
          <a:ln>
            <a:noFill/>
          </a:ln>
        </p:spPr>
        <p:txBody>
          <a:bodyPr anchorCtr="0" anchor="t" bIns="91425" lIns="91425" spcFirstLastPara="1" rIns="91425" wrap="square" tIns="91425">
            <a:spAutoFit/>
          </a:bodyPr>
          <a:lstStyle/>
          <a:p>
            <a:pPr xmlns:a="http://schemas.openxmlformats.org/drawingml/2006/main" indent="0" lvl="0" marL="0" rtl="0" algn="l">
              <a:lnSpc>
                <a:spcPct val="115000"/>
              </a:lnSpc>
              <a:spcBef>
                <a:spcPts val="1200"/>
              </a:spcBef>
              <a:spcAft>
                <a:spcPts val="1200"/>
              </a:spcAft>
              <a:buNone/>
            </a:pPr>
            <a:r xmlns:a="http://schemas.openxmlformats.org/drawingml/2006/main">
              <a:rPr lang="en" sz="1600">
                <a:solidFill>
                  <a:schemeClr val="dk1"/>
                </a:solidFill>
                <a:latin typeface="Avenir"/>
                <a:ea typeface="Avenir"/>
                <a:cs typeface="Avenir"/>
                <a:sym typeface="Avenir"/>
              </a:rPr>
              <a:t>INSTITUTE MAIL </a:t>
            </a:r>
            <a:br xmlns:a="http://schemas.openxmlformats.org/drawingml/2006/main">
              <a:rPr lang="ca-ES" sz="1600">
                <a:solidFill>
                  <a:schemeClr val="dk1"/>
                </a:solidFill>
                <a:latin typeface="Avenir"/>
                <a:ea typeface="Avenir"/>
                <a:cs typeface="Avenir"/>
                <a:sym typeface="Avenir"/>
              </a:rPr>
            </a:br>
            <a:r xmlns:a="http://schemas.openxmlformats.org/drawingml/2006/main">
              <a:rPr lang="en" sz="1600">
                <a:solidFill>
                  <a:schemeClr val="dk1"/>
                </a:solidFill>
                <a:latin typeface="Avenir"/>
                <a:ea typeface="Avenir"/>
                <a:cs typeface="Avenir"/>
                <a:sym typeface="Avenir"/>
              </a:rPr>
              <a:t>8 elements minimum, alphanumeric, at least one capital letter and one special character</a:t>
            </a:r>
            <a:endParaRPr xmlns:a="http://schemas.openxmlformats.org/drawingml/2006/main" sz="1600">
              <a:solidFill>
                <a:schemeClr val="dk1"/>
              </a:solidFill>
              <a:latin typeface="Avenir"/>
              <a:ea typeface="Avenir"/>
              <a:cs typeface="Avenir"/>
              <a:sym typeface="Avenir"/>
            </a:endParaRPr>
          </a:p>
        </p:txBody>
      </p:sp>
      <p:sp>
        <p:nvSpPr>
          <p:cNvPr id="426" name="Google Shape;426;p43"/>
          <p:cNvSpPr txBox="1"/>
          <p:nvPr/>
        </p:nvSpPr>
        <p:spPr>
          <a:xfrm>
            <a:off x="3402838" y="3601225"/>
            <a:ext cx="2650800" cy="1950900"/>
          </a:xfrm>
          <a:prstGeom prst="rect">
            <a:avLst/>
          </a:prstGeom>
          <a:solidFill>
            <a:srgbClr val="CFE2F3"/>
          </a:solidFill>
          <a:ln>
            <a:noFill/>
          </a:ln>
        </p:spPr>
        <p:txBody>
          <a:bodyPr anchorCtr="0" anchor="t" bIns="91425" lIns="91425" spcFirstLastPara="1" rIns="91425" wrap="square" tIns="91425">
            <a:spAutoFit/>
          </a:bodyPr>
          <a:lstStyle/>
          <a:p>
            <a:pPr xmlns:a="http://schemas.openxmlformats.org/drawingml/2006/main" indent="0" lvl="0" marL="0" rtl="0" algn="l">
              <a:lnSpc>
                <a:spcPct val="115000"/>
              </a:lnSpc>
              <a:spcBef>
                <a:spcPts val="1200"/>
              </a:spcBef>
              <a:spcAft>
                <a:spcPts val="1200"/>
              </a:spcAft>
              <a:buNone/>
            </a:pPr>
            <a:r xmlns:a="http://schemas.openxmlformats.org/drawingml/2006/main">
              <a:rPr lang="en" sz="1700">
                <a:solidFill>
                  <a:schemeClr val="dk1"/>
                </a:solidFill>
                <a:latin typeface="Avenir"/>
                <a:ea typeface="Avenir"/>
                <a:cs typeface="Avenir"/>
                <a:sym typeface="Avenir"/>
              </a:rPr>
              <a:t>GMAIL 8 elements minimum with uppercase, lowercase letters, numbers and special characters (as desired)</a:t>
            </a:r>
            <a:endParaRPr xmlns:a="http://schemas.openxmlformats.org/drawingml/2006/main" sz="1700">
              <a:solidFill>
                <a:schemeClr val="dk1"/>
              </a:solidFill>
              <a:latin typeface="Avenir"/>
              <a:ea typeface="Avenir"/>
              <a:cs typeface="Avenir"/>
              <a:sym typeface="Avenir"/>
            </a:endParaRPr>
          </a:p>
        </p:txBody>
      </p:sp>
      <p:sp>
        <p:nvSpPr>
          <p:cNvPr id="427" name="Google Shape;427;p43"/>
          <p:cNvSpPr txBox="1"/>
          <p:nvPr/>
        </p:nvSpPr>
        <p:spPr>
          <a:xfrm>
            <a:off x="643425" y="6258050"/>
            <a:ext cx="7905900" cy="492600"/>
          </a:xfrm>
          <a:prstGeom prst="rect">
            <a:avLst/>
          </a:prstGeom>
          <a:noFill/>
          <a:ln>
            <a:noFill/>
          </a:ln>
        </p:spPr>
        <p:txBody>
          <a:bodyPr anchorCtr="0" anchor="t" bIns="91425" lIns="91425" spcFirstLastPara="1" rIns="91425" wrap="square" tIns="91425">
            <a:spAutoFit/>
          </a:bodyPr>
          <a:lstStyle/>
          <a:p>
            <a:pPr xmlns:a="http://schemas.openxmlformats.org/drawingml/2006/main" indent="0" lvl="0" marL="0" rtl="0" algn="l">
              <a:spcBef>
                <a:spcPts val="0"/>
              </a:spcBef>
              <a:spcAft>
                <a:spcPts val="0"/>
              </a:spcAft>
              <a:buNone/>
            </a:pPr>
            <a:r xmlns:a="http://schemas.openxmlformats.org/drawingml/2006/main">
              <a:rPr b="1" lang="en" sz="2000">
                <a:solidFill>
                  <a:srgbClr val="218C97"/>
                </a:solidFill>
                <a:latin typeface="Avenir"/>
                <a:ea typeface="Avenir"/>
                <a:cs typeface="Avenir"/>
                <a:sym typeface="Avenir"/>
              </a:rPr>
              <a:t>DISCUSS IT IN THE GROUP AND LET'S PREPARE A COMMON POSITION</a:t>
            </a:r>
            <a:endParaRPr xmlns:a="http://schemas.openxmlformats.org/drawingml/2006/main" b="1" sz="2000">
              <a:solidFill>
                <a:srgbClr val="218C97"/>
              </a:solidFill>
              <a:latin typeface="Avenir"/>
              <a:ea typeface="Avenir"/>
              <a:cs typeface="Avenir"/>
              <a:sym typeface="Avenir"/>
            </a:endParaRPr>
          </a:p>
        </p:txBody>
      </p:sp>
      <p:sp>
        <p:nvSpPr>
          <p:cNvPr id="428" name="Google Shape;428;p43"/>
          <p:cNvSpPr txBox="1"/>
          <p:nvPr/>
        </p:nvSpPr>
        <p:spPr>
          <a:xfrm>
            <a:off x="700700" y="4345750"/>
            <a:ext cx="2268300" cy="1280700"/>
          </a:xfrm>
          <a:prstGeom prst="rect">
            <a:avLst/>
          </a:prstGeom>
          <a:solidFill>
            <a:srgbClr val="FCE5CD"/>
          </a:solidFill>
          <a:ln>
            <a:noFill/>
          </a:ln>
        </p:spPr>
        <p:txBody>
          <a:bodyPr anchorCtr="0" anchor="t" bIns="91425" lIns="91425" spcFirstLastPara="1" rIns="91425" wrap="square" tIns="91425">
            <a:spAutoFit/>
          </a:bodyPr>
          <a:lstStyle/>
          <a:p>
            <a:pPr xmlns:a="http://schemas.openxmlformats.org/drawingml/2006/main" indent="0" lvl="0" marL="0" rtl="0" algn="l">
              <a:lnSpc>
                <a:spcPct val="115000"/>
              </a:lnSpc>
              <a:spcBef>
                <a:spcPts val="1200"/>
              </a:spcBef>
              <a:spcAft>
                <a:spcPts val="1200"/>
              </a:spcAft>
              <a:buNone/>
            </a:pPr>
            <a:r xmlns:a="http://schemas.openxmlformats.org/drawingml/2006/main">
              <a:rPr lang="en" sz="1600">
                <a:solidFill>
                  <a:schemeClr val="dk1"/>
                </a:solidFill>
                <a:latin typeface="Avenir"/>
                <a:ea typeface="Avenir"/>
                <a:cs typeface="Avenir"/>
                <a:sym typeface="Avenir"/>
              </a:rPr>
              <a:t>CHILDREN'S MAIL 8 elements, 4 capital letters followed by 4 numbers</a:t>
            </a:r>
            <a:endParaRPr xmlns:a="http://schemas.openxmlformats.org/drawingml/2006/main" sz="1600">
              <a:solidFill>
                <a:schemeClr val="dk1"/>
              </a:solidFill>
              <a:latin typeface="Avenir"/>
              <a:ea typeface="Avenir"/>
              <a:cs typeface="Avenir"/>
              <a:sym typeface="Avenir"/>
            </a:endParaRPr>
          </a:p>
        </p:txBody>
      </p:sp>
      <p:sp>
        <p:nvSpPr>
          <p:cNvPr id="429" name="Google Shape;429;p43"/>
          <p:cNvSpPr txBox="1"/>
          <p:nvPr/>
        </p:nvSpPr>
        <p:spPr>
          <a:xfrm>
            <a:off x="6487500" y="5304000"/>
            <a:ext cx="2268300" cy="714300"/>
          </a:xfrm>
          <a:prstGeom prst="rect">
            <a:avLst/>
          </a:prstGeom>
          <a:solidFill>
            <a:srgbClr val="D9EAD3"/>
          </a:solidFill>
          <a:ln>
            <a:noFill/>
          </a:ln>
        </p:spPr>
        <p:txBody>
          <a:bodyPr anchorCtr="0" anchor="t" bIns="91425" lIns="91425" spcFirstLastPara="1" rIns="91425" wrap="square" tIns="91425">
            <a:spAutoFit/>
          </a:bodyPr>
          <a:lstStyle/>
          <a:p>
            <a:pPr xmlns:a="http://schemas.openxmlformats.org/drawingml/2006/main" indent="0" lvl="0" marL="0" rtl="0" algn="l">
              <a:lnSpc>
                <a:spcPct val="115000"/>
              </a:lnSpc>
              <a:spcBef>
                <a:spcPts val="1200"/>
              </a:spcBef>
              <a:spcAft>
                <a:spcPts val="1200"/>
              </a:spcAft>
              <a:buNone/>
            </a:pPr>
            <a:r xmlns:a="http://schemas.openxmlformats.org/drawingml/2006/main">
              <a:rPr lang="en" sz="1600">
                <a:solidFill>
                  <a:schemeClr val="dk1"/>
                </a:solidFill>
                <a:latin typeface="Avenir"/>
                <a:ea typeface="Avenir"/>
                <a:cs typeface="Avenir"/>
                <a:sym typeface="Avenir"/>
              </a:rPr>
              <a:t>BANK PIN </a:t>
            </a:r>
            <a:br xmlns:a="http://schemas.openxmlformats.org/drawingml/2006/main">
              <a:rPr lang="ca-ES" sz="1600">
                <a:solidFill>
                  <a:schemeClr val="dk1"/>
                </a:solidFill>
                <a:latin typeface="Avenir"/>
                <a:ea typeface="Avenir"/>
                <a:cs typeface="Avenir"/>
                <a:sym typeface="Avenir"/>
              </a:rPr>
            </a:br>
            <a:r xmlns:a="http://schemas.openxmlformats.org/drawingml/2006/main">
              <a:rPr lang="en" sz="1600">
                <a:solidFill>
                  <a:schemeClr val="dk1"/>
                </a:solidFill>
                <a:latin typeface="Avenir"/>
                <a:ea typeface="Avenir"/>
                <a:cs typeface="Avenir"/>
                <a:sym typeface="Avenir"/>
              </a:rPr>
              <a:t>8 lowercase letters</a:t>
            </a:r>
            <a:endParaRPr xmlns:a="http://schemas.openxmlformats.org/drawingml/2006/main" sz="1600">
              <a:solidFill>
                <a:schemeClr val="dk1"/>
              </a:solidFill>
              <a:latin typeface="Avenir"/>
              <a:ea typeface="Avenir"/>
              <a:cs typeface="Avenir"/>
              <a:sym typeface="Aveni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33" name="Shape 433"/>
        <p:cNvGrpSpPr/>
        <p:nvPr/>
      </p:nvGrpSpPr>
      <p:grpSpPr>
        <a:xfrm>
          <a:off x="0" y="0"/>
          <a:ext cx="0" cy="0"/>
          <a:chOff x="0" y="0"/>
          <a:chExt cx="0" cy="0"/>
        </a:xfrm>
      </p:grpSpPr>
      <p:sp>
        <p:nvSpPr>
          <p:cNvPr id="434" name="Google Shape;434;p44"/>
          <p:cNvSpPr txBox="1"/>
          <p:nvPr>
            <p:ph idx="1" type="body"/>
          </p:nvPr>
        </p:nvSpPr>
        <p:spPr>
          <a:xfrm>
            <a:off x="643425" y="1316839"/>
            <a:ext cx="8397900" cy="4224300"/>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marR="0" rtl="0" algn="l">
              <a:lnSpc>
                <a:spcPct val="130000"/>
              </a:lnSpc>
              <a:spcBef>
                <a:spcPts val="0"/>
              </a:spcBef>
              <a:spcAft>
                <a:spcPts val="0"/>
              </a:spcAft>
              <a:buSzPts val="2000"/>
              <a:buChar char="◼"/>
            </a:pPr>
            <a:r xmlns:a="http://schemas.openxmlformats.org/drawingml/2006/main">
              <a:rPr b="1" lang="en" sz="2000">
                <a:solidFill>
                  <a:srgbClr val="000000"/>
                </a:solidFill>
              </a:rPr>
              <a:t>How to create a secure password?</a:t>
            </a:r>
            <a:endParaRPr xmlns:a="http://schemas.openxmlformats.org/drawingml/2006/main" b="1" sz="2000">
              <a:solidFill>
                <a:srgbClr val="000000"/>
              </a:solidFill>
            </a:endParaRPr>
          </a:p>
          <a:p>
            <a:pPr xmlns:a="http://schemas.openxmlformats.org/drawingml/2006/main" indent="0" lvl="0" marL="457200" marR="0" rtl="0" algn="l">
              <a:lnSpc>
                <a:spcPct val="130000"/>
              </a:lnSpc>
              <a:spcBef>
                <a:spcPts val="0"/>
              </a:spcBef>
              <a:spcAft>
                <a:spcPts val="0"/>
              </a:spcAft>
              <a:buNone/>
            </a:pPr>
            <a:r xmlns:a="http://schemas.openxmlformats.org/drawingml/2006/main">
              <a:t/>
            </a:r>
            <a:endParaRPr xmlns:a="http://schemas.openxmlformats.org/drawingml/2006/main">
              <a:solidFill>
                <a:srgbClr val="000000"/>
              </a:solidFill>
            </a:endParaRPr>
          </a:p>
          <a:p>
            <a:pPr xmlns:a="http://schemas.openxmlformats.org/drawingml/2006/main" indent="0" lvl="0" marL="457200" marR="0" rtl="0" algn="l">
              <a:lnSpc>
                <a:spcPct val="130000"/>
              </a:lnSpc>
              <a:spcBef>
                <a:spcPts val="0"/>
              </a:spcBef>
              <a:spcAft>
                <a:spcPts val="0"/>
              </a:spcAft>
              <a:buNone/>
            </a:pPr>
            <a:r xmlns:a="http://schemas.openxmlformats.org/drawingml/2006/main">
              <a:rPr lang="en" sz="2000">
                <a:solidFill>
                  <a:srgbClr val="000000"/>
                </a:solidFill>
              </a:rPr>
              <a:t>When we have to create passwords, we find different instructions depending on the application or website.</a:t>
            </a:r>
            <a:endParaRPr xmlns:a="http://schemas.openxmlformats.org/drawingml/2006/main" sz="2000">
              <a:solidFill>
                <a:srgbClr val="000000"/>
              </a:solidFill>
            </a:endParaRPr>
          </a:p>
          <a:p>
            <a:pPr xmlns:a="http://schemas.openxmlformats.org/drawingml/2006/main" indent="-342900" lvl="1" marL="914400" marR="0" rtl="0" algn="l">
              <a:lnSpc>
                <a:spcPct val="130000"/>
              </a:lnSpc>
              <a:spcBef>
                <a:spcPts val="0"/>
              </a:spcBef>
              <a:spcAft>
                <a:spcPts val="0"/>
              </a:spcAft>
              <a:buSzPts val="1800"/>
              <a:buChar char="▪"/>
            </a:pPr>
            <a:r xmlns:a="http://schemas.openxmlformats.org/drawingml/2006/main">
              <a:rPr lang="en" sz="2000">
                <a:solidFill>
                  <a:srgbClr val="000000"/>
                </a:solidFill>
              </a:rPr>
              <a:t>Which ones do you think are safer? Why?</a:t>
            </a:r>
            <a:endParaRPr xmlns:a="http://schemas.openxmlformats.org/drawingml/2006/main" sz="2000">
              <a:solidFill>
                <a:srgbClr val="000000"/>
              </a:solidFill>
            </a:endParaRPr>
          </a:p>
          <a:p>
            <a:pPr xmlns:a="http://schemas.openxmlformats.org/drawingml/2006/main" indent="0" lvl="0" marL="457200" marR="0" rtl="0" algn="l">
              <a:lnSpc>
                <a:spcPct val="130000"/>
              </a:lnSpc>
              <a:spcBef>
                <a:spcPts val="0"/>
              </a:spcBef>
              <a:spcAft>
                <a:spcPts val="0"/>
              </a:spcAft>
              <a:buNone/>
            </a:pPr>
            <a:r xmlns:a="http://schemas.openxmlformats.org/drawingml/2006/main">
              <a:t/>
            </a:r>
            <a:endParaRPr xmlns:a="http://schemas.openxmlformats.org/drawingml/2006/main" sz="2000">
              <a:solidFill>
                <a:srgbClr val="000000"/>
              </a:solidFill>
            </a:endParaRPr>
          </a:p>
        </p:txBody>
      </p:sp>
      <p:sp>
        <p:nvSpPr>
          <p:cNvPr id="435" name="Google Shape;435;p44"/>
          <p:cNvSpPr txBox="1"/>
          <p:nvPr>
            <p:ph type="title"/>
          </p:nvPr>
        </p:nvSpPr>
        <p:spPr>
          <a:xfrm>
            <a:off x="474595" y="318728"/>
            <a:ext cx="7767900" cy="64020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spcBef>
                <a:spcPts val="0"/>
              </a:spcBef>
              <a:spcAft>
                <a:spcPts val="0"/>
              </a:spcAft>
              <a:buSzPts val="1400"/>
              <a:buNone/>
            </a:pPr>
            <a:r xmlns:a="http://schemas.openxmlformats.org/drawingml/2006/main">
              <a:rPr b="1" lang="en"/>
              <a:t>PHASE Optional. </a:t>
            </a:r>
            <a:r xmlns:a="http://schemas.openxmlformats.org/drawingml/2006/main">
              <a:rPr lang="en"/>
              <a:t>Let's be hackers!</a:t>
            </a:r>
            <a:endParaRPr xmlns:a="http://schemas.openxmlformats.org/drawingml/2006/main" b="1" sz="2000"/>
          </a:p>
        </p:txBody>
      </p:sp>
      <p:sp>
        <p:nvSpPr>
          <p:cNvPr id="436" name="Google Shape;436;p44"/>
          <p:cNvSpPr txBox="1"/>
          <p:nvPr/>
        </p:nvSpPr>
        <p:spPr>
          <a:xfrm>
            <a:off x="700700" y="3429000"/>
            <a:ext cx="1830300" cy="648000"/>
          </a:xfrm>
          <a:prstGeom prst="rect">
            <a:avLst/>
          </a:prstGeom>
          <a:solidFill>
            <a:srgbClr val="FFF2CC"/>
          </a:solidFill>
          <a:ln>
            <a:noFill/>
          </a:ln>
        </p:spPr>
        <p:txBody>
          <a:bodyPr anchorCtr="0" anchor="t" bIns="91425" lIns="91425" spcFirstLastPara="1" rIns="91425" wrap="square" tIns="91425">
            <a:spAutoFit/>
          </a:bodyPr>
          <a:lstStyle/>
          <a:p>
            <a:pPr xmlns:a="http://schemas.openxmlformats.org/drawingml/2006/main" indent="0" lvl="0" marL="0" rtl="0" algn="l">
              <a:lnSpc>
                <a:spcPct val="115000"/>
              </a:lnSpc>
              <a:spcBef>
                <a:spcPts val="1200"/>
              </a:spcBef>
              <a:spcAft>
                <a:spcPts val="1200"/>
              </a:spcAft>
              <a:buNone/>
            </a:pPr>
            <a:r xmlns:a="http://schemas.openxmlformats.org/drawingml/2006/main">
              <a:rPr lang="en">
                <a:solidFill>
                  <a:schemeClr val="dk1"/>
                </a:solidFill>
                <a:latin typeface="Avenir"/>
                <a:ea typeface="Avenir"/>
                <a:cs typeface="Avenir"/>
                <a:sym typeface="Avenir"/>
              </a:rPr>
              <a:t>MOBILE PUK </a:t>
            </a:r>
            <a:br xmlns:a="http://schemas.openxmlformats.org/drawingml/2006/main">
              <a:rPr lang="ca-ES">
                <a:solidFill>
                  <a:schemeClr val="dk1"/>
                </a:solidFill>
                <a:latin typeface="Avenir"/>
                <a:ea typeface="Avenir"/>
                <a:cs typeface="Avenir"/>
                <a:sym typeface="Avenir"/>
              </a:rPr>
            </a:br>
            <a:r xmlns:a="http://schemas.openxmlformats.org/drawingml/2006/main">
              <a:rPr lang="en">
                <a:solidFill>
                  <a:schemeClr val="dk1"/>
                </a:solidFill>
                <a:latin typeface="Avenir"/>
                <a:ea typeface="Avenir"/>
                <a:cs typeface="Avenir"/>
                <a:sym typeface="Avenir"/>
              </a:rPr>
              <a:t>8 numbers</a:t>
            </a:r>
            <a:endParaRPr xmlns:a="http://schemas.openxmlformats.org/drawingml/2006/main">
              <a:solidFill>
                <a:schemeClr val="dk1"/>
              </a:solidFill>
              <a:latin typeface="Avenir"/>
              <a:ea typeface="Avenir"/>
              <a:cs typeface="Avenir"/>
              <a:sym typeface="Avenir"/>
            </a:endParaRPr>
          </a:p>
        </p:txBody>
      </p:sp>
      <p:sp>
        <p:nvSpPr>
          <p:cNvPr id="437" name="Google Shape;437;p44"/>
          <p:cNvSpPr txBox="1"/>
          <p:nvPr/>
        </p:nvSpPr>
        <p:spPr>
          <a:xfrm>
            <a:off x="700700" y="4365625"/>
            <a:ext cx="2325600" cy="1391400"/>
          </a:xfrm>
          <a:prstGeom prst="rect">
            <a:avLst/>
          </a:prstGeom>
          <a:solidFill>
            <a:srgbClr val="D9D2E9"/>
          </a:solidFill>
          <a:ln>
            <a:noFill/>
          </a:ln>
        </p:spPr>
        <p:txBody>
          <a:bodyPr anchorCtr="0" anchor="t" bIns="91425" lIns="91425" spcFirstLastPara="1" rIns="91425" wrap="square" tIns="91425">
            <a:spAutoFit/>
          </a:bodyPr>
          <a:lstStyle/>
          <a:p>
            <a:pPr xmlns:a="http://schemas.openxmlformats.org/drawingml/2006/main" indent="0" lvl="0" marL="0" rtl="0" algn="l">
              <a:lnSpc>
                <a:spcPct val="115000"/>
              </a:lnSpc>
              <a:spcBef>
                <a:spcPts val="1200"/>
              </a:spcBef>
              <a:spcAft>
                <a:spcPts val="1200"/>
              </a:spcAft>
              <a:buNone/>
            </a:pPr>
            <a:r xmlns:a="http://schemas.openxmlformats.org/drawingml/2006/main">
              <a:rPr lang="en">
                <a:solidFill>
                  <a:schemeClr val="dk1"/>
                </a:solidFill>
                <a:latin typeface="Avenir"/>
                <a:ea typeface="Avenir"/>
                <a:cs typeface="Avenir"/>
                <a:sym typeface="Avenir"/>
              </a:rPr>
              <a:t>INSTITUTE MAIL </a:t>
            </a:r>
            <a:br xmlns:a="http://schemas.openxmlformats.org/drawingml/2006/main">
              <a:rPr lang="ca-ES">
                <a:solidFill>
                  <a:schemeClr val="dk1"/>
                </a:solidFill>
                <a:latin typeface="Avenir"/>
                <a:ea typeface="Avenir"/>
                <a:cs typeface="Avenir"/>
                <a:sym typeface="Avenir"/>
              </a:rPr>
            </a:br>
            <a:r xmlns:a="http://schemas.openxmlformats.org/drawingml/2006/main">
              <a:rPr lang="en">
                <a:solidFill>
                  <a:schemeClr val="dk1"/>
                </a:solidFill>
                <a:latin typeface="Avenir"/>
                <a:ea typeface="Avenir"/>
                <a:cs typeface="Avenir"/>
                <a:sym typeface="Avenir"/>
              </a:rPr>
              <a:t>8 elements minimum, alphanumeric, at least one capital letter or a special character</a:t>
            </a:r>
            <a:endParaRPr xmlns:a="http://schemas.openxmlformats.org/drawingml/2006/main">
              <a:solidFill>
                <a:schemeClr val="dk1"/>
              </a:solidFill>
              <a:latin typeface="Avenir"/>
              <a:ea typeface="Avenir"/>
              <a:cs typeface="Avenir"/>
              <a:sym typeface="Avenir"/>
            </a:endParaRPr>
          </a:p>
        </p:txBody>
      </p:sp>
      <p:sp>
        <p:nvSpPr>
          <p:cNvPr id="438" name="Google Shape;438;p44"/>
          <p:cNvSpPr txBox="1"/>
          <p:nvPr/>
        </p:nvSpPr>
        <p:spPr>
          <a:xfrm>
            <a:off x="6047700" y="4866650"/>
            <a:ext cx="2268300" cy="1391400"/>
          </a:xfrm>
          <a:prstGeom prst="rect">
            <a:avLst/>
          </a:prstGeom>
          <a:solidFill>
            <a:srgbClr val="E0E0E0"/>
          </a:solidFill>
          <a:ln>
            <a:noFill/>
          </a:ln>
        </p:spPr>
        <p:txBody>
          <a:bodyPr anchorCtr="0" anchor="t" bIns="91425" lIns="91425" spcFirstLastPara="1" rIns="91425" wrap="square" tIns="91425">
            <a:spAutoFit/>
          </a:bodyPr>
          <a:lstStyle/>
          <a:p>
            <a:pPr xmlns:a="http://schemas.openxmlformats.org/drawingml/2006/main" indent="0" lvl="0" marL="0" rtl="0" algn="l">
              <a:lnSpc>
                <a:spcPct val="115000"/>
              </a:lnSpc>
              <a:spcBef>
                <a:spcPts val="1200"/>
              </a:spcBef>
              <a:spcAft>
                <a:spcPts val="1200"/>
              </a:spcAft>
              <a:buNone/>
            </a:pPr>
            <a:r xmlns:a="http://schemas.openxmlformats.org/drawingml/2006/main">
              <a:rPr lang="en">
                <a:solidFill>
                  <a:schemeClr val="dk1"/>
                </a:solidFill>
                <a:latin typeface="Avenir"/>
                <a:ea typeface="Avenir"/>
                <a:cs typeface="Avenir"/>
                <a:sym typeface="Avenir"/>
              </a:rPr>
              <a:t>PROFESSIONAL MAIL 8 elements minimum, alphanumeric, 2 numbers, 2 lowercase letters, 1 uppercase letter, special character if desired</a:t>
            </a:r>
            <a:endParaRPr xmlns:a="http://schemas.openxmlformats.org/drawingml/2006/main">
              <a:solidFill>
                <a:schemeClr val="dk1"/>
              </a:solidFill>
              <a:latin typeface="Avenir"/>
              <a:ea typeface="Avenir"/>
              <a:cs typeface="Avenir"/>
              <a:sym typeface="Avenir"/>
            </a:endParaRPr>
          </a:p>
        </p:txBody>
      </p:sp>
      <p:sp>
        <p:nvSpPr>
          <p:cNvPr id="439" name="Google Shape;439;p44"/>
          <p:cNvSpPr txBox="1"/>
          <p:nvPr/>
        </p:nvSpPr>
        <p:spPr>
          <a:xfrm>
            <a:off x="3402848" y="3601225"/>
            <a:ext cx="2268300" cy="1639200"/>
          </a:xfrm>
          <a:prstGeom prst="rect">
            <a:avLst/>
          </a:prstGeom>
          <a:solidFill>
            <a:srgbClr val="CFE2F3"/>
          </a:solidFill>
          <a:ln>
            <a:noFill/>
          </a:ln>
        </p:spPr>
        <p:txBody>
          <a:bodyPr anchorCtr="0" anchor="t" bIns="91425" lIns="91425" spcFirstLastPara="1" rIns="91425" wrap="square" tIns="91425">
            <a:spAutoFit/>
          </a:bodyPr>
          <a:lstStyle/>
          <a:p>
            <a:pPr xmlns:a="http://schemas.openxmlformats.org/drawingml/2006/main" indent="0" lvl="0" marL="0" rtl="0" algn="l">
              <a:lnSpc>
                <a:spcPct val="115000"/>
              </a:lnSpc>
              <a:spcBef>
                <a:spcPts val="1200"/>
              </a:spcBef>
              <a:spcAft>
                <a:spcPts val="1200"/>
              </a:spcAft>
              <a:buNone/>
            </a:pPr>
            <a:r xmlns:a="http://schemas.openxmlformats.org/drawingml/2006/main">
              <a:rPr lang="en">
                <a:solidFill>
                  <a:schemeClr val="dk1"/>
                </a:solidFill>
                <a:latin typeface="Avenir"/>
                <a:ea typeface="Avenir"/>
                <a:cs typeface="Avenir"/>
                <a:sym typeface="Avenir"/>
              </a:rPr>
              <a:t>GMAIL 8 elements minimum with uppercase, lowercase letters, numbers and special characters (as desired)</a:t>
            </a:r>
            <a:endParaRPr xmlns:a="http://schemas.openxmlformats.org/drawingml/2006/main">
              <a:solidFill>
                <a:schemeClr val="dk1"/>
              </a:solidFill>
              <a:latin typeface="Avenir"/>
              <a:ea typeface="Avenir"/>
              <a:cs typeface="Avenir"/>
              <a:sym typeface="Avenir"/>
            </a:endParaRPr>
          </a:p>
        </p:txBody>
      </p:sp>
      <p:sp>
        <p:nvSpPr>
          <p:cNvPr id="440" name="Google Shape;440;p44"/>
          <p:cNvSpPr txBox="1"/>
          <p:nvPr/>
        </p:nvSpPr>
        <p:spPr>
          <a:xfrm>
            <a:off x="643425" y="6258050"/>
            <a:ext cx="7905900" cy="492600"/>
          </a:xfrm>
          <a:prstGeom prst="rect">
            <a:avLst/>
          </a:prstGeom>
          <a:noFill/>
          <a:ln>
            <a:noFill/>
          </a:ln>
        </p:spPr>
        <p:txBody>
          <a:bodyPr anchorCtr="0" anchor="t" bIns="91425" lIns="91425" spcFirstLastPara="1" rIns="91425" wrap="square" tIns="91425">
            <a:spAutoFit/>
          </a:bodyPr>
          <a:lstStyle/>
          <a:p>
            <a:pPr xmlns:a="http://schemas.openxmlformats.org/drawingml/2006/main" indent="0" lvl="0" marL="0" rtl="0" algn="l">
              <a:spcBef>
                <a:spcPts val="0"/>
              </a:spcBef>
              <a:spcAft>
                <a:spcPts val="0"/>
              </a:spcAft>
              <a:buNone/>
            </a:pPr>
            <a:r xmlns:a="http://schemas.openxmlformats.org/drawingml/2006/main">
              <a:rPr b="1" lang="en" sz="2000">
                <a:solidFill>
                  <a:srgbClr val="218C97"/>
                </a:solidFill>
                <a:latin typeface="Avenir"/>
                <a:ea typeface="Avenir"/>
                <a:cs typeface="Avenir"/>
                <a:sym typeface="Avenir"/>
              </a:rPr>
              <a:t>DISCUSS IT IN THE GROUP AND LET'S PREPARE A COMMON POSITION</a:t>
            </a:r>
            <a:endParaRPr xmlns:a="http://schemas.openxmlformats.org/drawingml/2006/main" b="1" sz="2000">
              <a:solidFill>
                <a:srgbClr val="218C97"/>
              </a:solidFill>
              <a:latin typeface="Avenir"/>
              <a:ea typeface="Avenir"/>
              <a:cs typeface="Avenir"/>
              <a:sym typeface="Avenir"/>
            </a:endParaRPr>
          </a:p>
        </p:txBody>
      </p:sp>
      <p:sp>
        <p:nvSpPr>
          <p:cNvPr id="441" name="Google Shape;441;p44"/>
          <p:cNvSpPr txBox="1"/>
          <p:nvPr/>
        </p:nvSpPr>
        <p:spPr>
          <a:xfrm>
            <a:off x="6281075" y="3601225"/>
            <a:ext cx="1902300" cy="1143600"/>
          </a:xfrm>
          <a:prstGeom prst="rect">
            <a:avLst/>
          </a:prstGeom>
          <a:solidFill>
            <a:srgbClr val="FCE5CD"/>
          </a:solidFill>
          <a:ln>
            <a:noFill/>
          </a:ln>
        </p:spPr>
        <p:txBody>
          <a:bodyPr anchorCtr="0" anchor="t" bIns="91425" lIns="91425" spcFirstLastPara="1" rIns="91425" wrap="square" tIns="91425">
            <a:spAutoFit/>
          </a:bodyPr>
          <a:lstStyle/>
          <a:p>
            <a:pPr xmlns:a="http://schemas.openxmlformats.org/drawingml/2006/main" indent="0" lvl="0" marL="0" rtl="0" algn="l">
              <a:lnSpc>
                <a:spcPct val="115000"/>
              </a:lnSpc>
              <a:spcBef>
                <a:spcPts val="1200"/>
              </a:spcBef>
              <a:spcAft>
                <a:spcPts val="1200"/>
              </a:spcAft>
              <a:buNone/>
            </a:pPr>
            <a:r xmlns:a="http://schemas.openxmlformats.org/drawingml/2006/main">
              <a:rPr lang="en">
                <a:solidFill>
                  <a:schemeClr val="dk1"/>
                </a:solidFill>
                <a:latin typeface="Avenir"/>
                <a:ea typeface="Avenir"/>
                <a:cs typeface="Avenir"/>
                <a:sym typeface="Avenir"/>
              </a:rPr>
              <a:t>CHILDREN'S MAIL 8 elements, 4 capital letters followed by 4 numbers</a:t>
            </a:r>
            <a:endParaRPr xmlns:a="http://schemas.openxmlformats.org/drawingml/2006/main">
              <a:solidFill>
                <a:schemeClr val="dk1"/>
              </a:solidFill>
              <a:latin typeface="Avenir"/>
              <a:ea typeface="Avenir"/>
              <a:cs typeface="Avenir"/>
              <a:sym typeface="Avenir"/>
            </a:endParaRPr>
          </a:p>
        </p:txBody>
      </p:sp>
      <p:sp>
        <p:nvSpPr>
          <p:cNvPr id="442" name="Google Shape;442;p44"/>
          <p:cNvSpPr txBox="1"/>
          <p:nvPr/>
        </p:nvSpPr>
        <p:spPr>
          <a:xfrm>
            <a:off x="3402850" y="5541150"/>
            <a:ext cx="2268300" cy="681000"/>
          </a:xfrm>
          <a:prstGeom prst="rect">
            <a:avLst/>
          </a:prstGeom>
          <a:solidFill>
            <a:srgbClr val="D9EAD3"/>
          </a:solidFill>
          <a:ln>
            <a:noFill/>
          </a:ln>
        </p:spPr>
        <p:txBody>
          <a:bodyPr anchorCtr="0" anchor="t" bIns="91425" lIns="91425" spcFirstLastPara="1" rIns="91425" wrap="square" tIns="91425">
            <a:spAutoFit/>
          </a:bodyPr>
          <a:lstStyle/>
          <a:p>
            <a:pPr xmlns:a="http://schemas.openxmlformats.org/drawingml/2006/main" indent="0" lvl="0" marL="0" rtl="0" algn="l">
              <a:lnSpc>
                <a:spcPct val="115000"/>
              </a:lnSpc>
              <a:spcBef>
                <a:spcPts val="1200"/>
              </a:spcBef>
              <a:spcAft>
                <a:spcPts val="1200"/>
              </a:spcAft>
              <a:buNone/>
            </a:pPr>
            <a:r xmlns:a="http://schemas.openxmlformats.org/drawingml/2006/main">
              <a:rPr lang="en" sz="1500">
                <a:solidFill>
                  <a:schemeClr val="dk1"/>
                </a:solidFill>
                <a:latin typeface="Avenir"/>
                <a:ea typeface="Avenir"/>
                <a:cs typeface="Avenir"/>
                <a:sym typeface="Avenir"/>
              </a:rPr>
              <a:t>BANK PIN </a:t>
            </a:r>
            <a:br xmlns:a="http://schemas.openxmlformats.org/drawingml/2006/main">
              <a:rPr lang="ca-ES" sz="1500">
                <a:solidFill>
                  <a:schemeClr val="dk1"/>
                </a:solidFill>
                <a:latin typeface="Avenir"/>
                <a:ea typeface="Avenir"/>
                <a:cs typeface="Avenir"/>
                <a:sym typeface="Avenir"/>
              </a:rPr>
            </a:br>
            <a:r xmlns:a="http://schemas.openxmlformats.org/drawingml/2006/main">
              <a:rPr lang="en" sz="1500">
                <a:solidFill>
                  <a:schemeClr val="dk1"/>
                </a:solidFill>
                <a:latin typeface="Avenir"/>
                <a:ea typeface="Avenir"/>
                <a:cs typeface="Avenir"/>
                <a:sym typeface="Avenir"/>
              </a:rPr>
              <a:t>8 lowercase letters</a:t>
            </a:r>
            <a:endParaRPr xmlns:a="http://schemas.openxmlformats.org/drawingml/2006/main" sz="1500">
              <a:solidFill>
                <a:schemeClr val="dk1"/>
              </a:solidFill>
              <a:latin typeface="Avenir"/>
              <a:ea typeface="Avenir"/>
              <a:cs typeface="Avenir"/>
              <a:sym typeface="Aveni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46" name="Shape 446"/>
        <p:cNvGrpSpPr/>
        <p:nvPr/>
      </p:nvGrpSpPr>
      <p:grpSpPr>
        <a:xfrm>
          <a:off x="0" y="0"/>
          <a:ext cx="0" cy="0"/>
          <a:chOff x="0" y="0"/>
          <a:chExt cx="0" cy="0"/>
        </a:xfrm>
      </p:grpSpPr>
      <p:sp>
        <p:nvSpPr>
          <p:cNvPr id="447" name="Google Shape;447;p45"/>
          <p:cNvSpPr txBox="1"/>
          <p:nvPr>
            <p:ph idx="1" type="body"/>
          </p:nvPr>
        </p:nvSpPr>
        <p:spPr>
          <a:xfrm>
            <a:off x="460394" y="1247036"/>
            <a:ext cx="8397900" cy="2143500"/>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SzPts val="2000"/>
              <a:buChar char="◼"/>
            </a:pPr>
            <a:r xmlns:a="http://schemas.openxmlformats.org/drawingml/2006/main">
              <a:rPr lang="en">
                <a:latin typeface="Arial"/>
                <a:ea typeface="Arial"/>
                <a:cs typeface="Arial"/>
                <a:sym typeface="Arial"/>
              </a:rPr>
              <a:t>Sharing the first ideas about Q3</a:t>
            </a:r>
            <a:endParaRPr xmlns:a="http://schemas.openxmlformats.org/drawingml/2006/main" b="1">
              <a:solidFill>
                <a:srgbClr val="7030A0"/>
              </a:solidFill>
              <a:latin typeface="Arial"/>
              <a:ea typeface="Arial"/>
              <a:cs typeface="Arial"/>
              <a:sym typeface="Arial"/>
            </a:endParaRPr>
          </a:p>
        </p:txBody>
      </p:sp>
      <p:sp>
        <p:nvSpPr>
          <p:cNvPr id="448" name="Google Shape;448;p45"/>
          <p:cNvSpPr txBox="1"/>
          <p:nvPr>
            <p:ph type="title"/>
          </p:nvPr>
        </p:nvSpPr>
        <p:spPr>
          <a:xfrm>
            <a:off x="474595" y="318728"/>
            <a:ext cx="7767900" cy="64020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spcBef>
                <a:spcPts val="0"/>
              </a:spcBef>
              <a:spcAft>
                <a:spcPts val="0"/>
              </a:spcAft>
              <a:buSzPts val="1400"/>
              <a:buNone/>
            </a:pPr>
            <a:r xmlns:a="http://schemas.openxmlformats.org/drawingml/2006/main">
              <a:rPr b="1" lang="en"/>
              <a:t>PHASE Optional. </a:t>
            </a:r>
            <a:r xmlns:a="http://schemas.openxmlformats.org/drawingml/2006/main">
              <a:rPr lang="en"/>
              <a:t>Let's be hackers!</a:t>
            </a:r>
            <a:endParaRPr xmlns:a="http://schemas.openxmlformats.org/drawingml/2006/main" b="1"/>
          </a:p>
        </p:txBody>
      </p:sp>
      <p:pic>
        <p:nvPicPr>
          <p:cNvPr descr="Free Vectors | whiteboard frame" id="449" name="Google Shape;449;p45"/>
          <p:cNvPicPr preferRelativeResize="0"/>
          <p:nvPr/>
        </p:nvPicPr>
        <p:blipFill rotWithShape="1">
          <a:blip r:embed="rId3">
            <a:alphaModFix/>
          </a:blip>
          <a:srcRect b="0" l="0" r="0" t="0"/>
          <a:stretch/>
        </p:blipFill>
        <p:spPr>
          <a:xfrm>
            <a:off x="568199" y="1882250"/>
            <a:ext cx="7143401" cy="44073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53" name="Shape 453"/>
        <p:cNvGrpSpPr/>
        <p:nvPr/>
      </p:nvGrpSpPr>
      <p:grpSpPr>
        <a:xfrm>
          <a:off x="0" y="0"/>
          <a:ext cx="0" cy="0"/>
          <a:chOff x="0" y="0"/>
          <a:chExt cx="0" cy="0"/>
        </a:xfrm>
      </p:grpSpPr>
      <p:sp>
        <p:nvSpPr>
          <p:cNvPr id="454" name="Google Shape;454;p46"/>
          <p:cNvSpPr txBox="1"/>
          <p:nvPr>
            <p:ph idx="1" type="body"/>
          </p:nvPr>
        </p:nvSpPr>
        <p:spPr>
          <a:xfrm>
            <a:off x="460400" y="1247008"/>
            <a:ext cx="8397900" cy="5484000"/>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SzPts val="2000"/>
              <a:buChar char="◼"/>
            </a:pPr>
            <a:r xmlns:a="http://schemas.openxmlformats.org/drawingml/2006/main">
              <a:rPr lang="en">
                <a:latin typeface="Arial"/>
                <a:ea typeface="Arial"/>
                <a:cs typeface="Arial"/>
                <a:sym typeface="Arial"/>
              </a:rPr>
              <a:t>Ideas for managing the end of the sharing:</a:t>
            </a:r>
            <a:endParaRPr xmlns:a="http://schemas.openxmlformats.org/drawingml/2006/main">
              <a:latin typeface="Arial"/>
              <a:ea typeface="Arial"/>
              <a:cs typeface="Arial"/>
              <a:sym typeface="Arial"/>
            </a:endParaRPr>
          </a:p>
          <a:p>
            <a:pPr xmlns:a="http://schemas.openxmlformats.org/drawingml/2006/main" indent="-342900" lvl="1" marL="914400" rtl="0" algn="l">
              <a:lnSpc>
                <a:spcPct val="130000"/>
              </a:lnSpc>
              <a:spcBef>
                <a:spcPts val="0"/>
              </a:spcBef>
              <a:spcAft>
                <a:spcPts val="0"/>
              </a:spcAft>
              <a:buSzPts val="1800"/>
              <a:buFont typeface="Arial"/>
              <a:buChar char="▪"/>
            </a:pPr>
            <a:r xmlns:a="http://schemas.openxmlformats.org/drawingml/2006/main">
              <a:rPr lang="en">
                <a:latin typeface="Arial"/>
                <a:ea typeface="Arial"/>
                <a:cs typeface="Arial"/>
                <a:sym typeface="Arial"/>
              </a:rPr>
              <a:t>Limit passwords to 8 elements (to make it easier). </a:t>
            </a:r>
            <a:br xmlns:a="http://schemas.openxmlformats.org/drawingml/2006/main">
              <a:rPr lang="ca-ES">
                <a:latin typeface="Arial"/>
                <a:ea typeface="Arial"/>
                <a:cs typeface="Arial"/>
                <a:sym typeface="Arial"/>
              </a:rPr>
            </a:br>
            <a:r xmlns:a="http://schemas.openxmlformats.org/drawingml/2006/main">
              <a:rPr lang="en">
                <a:latin typeface="Arial"/>
                <a:ea typeface="Arial"/>
                <a:cs typeface="Arial"/>
                <a:sym typeface="Arial"/>
              </a:rPr>
              <a:t>Later you can see how security varies when we increase the number of elements.</a:t>
            </a:r>
            <a:endParaRPr xmlns:a="http://schemas.openxmlformats.org/drawingml/2006/main">
              <a:latin typeface="Arial"/>
              <a:ea typeface="Arial"/>
              <a:cs typeface="Arial"/>
              <a:sym typeface="Arial"/>
            </a:endParaRPr>
          </a:p>
          <a:p>
            <a:pPr xmlns:a="http://schemas.openxmlformats.org/drawingml/2006/main" indent="-342900" lvl="1" marL="914400" rtl="0" algn="l">
              <a:spcBef>
                <a:spcPts val="0"/>
              </a:spcBef>
              <a:spcAft>
                <a:spcPts val="0"/>
              </a:spcAft>
              <a:buSzPts val="1800"/>
              <a:buFont typeface="Arial"/>
              <a:buChar char="▪"/>
            </a:pPr>
            <a:r xmlns:a="http://schemas.openxmlformats.org/drawingml/2006/main">
              <a:rPr lang="en">
                <a:latin typeface="Arial"/>
                <a:ea typeface="Arial"/>
                <a:cs typeface="Arial"/>
                <a:sym typeface="Arial"/>
              </a:rPr>
              <a:t>It is easy to calculate the simplest cases: PUK, CHILD and Bank PIN.</a:t>
            </a:r>
            <a:endParaRPr xmlns:a="http://schemas.openxmlformats.org/drawingml/2006/main">
              <a:latin typeface="Arial"/>
              <a:ea typeface="Arial"/>
              <a:cs typeface="Arial"/>
              <a:sym typeface="Arial"/>
            </a:endParaRPr>
          </a:p>
          <a:p>
            <a:pPr xmlns:a="http://schemas.openxmlformats.org/drawingml/2006/main" indent="-342900" lvl="1" marL="914400" rtl="0" algn="l">
              <a:lnSpc>
                <a:spcPct val="130000"/>
              </a:lnSpc>
              <a:spcBef>
                <a:spcPts val="0"/>
              </a:spcBef>
              <a:spcAft>
                <a:spcPts val="0"/>
              </a:spcAft>
              <a:buSzPts val="1800"/>
              <a:buFont typeface="Arial"/>
              <a:buChar char="▪"/>
            </a:pPr>
            <a:r xmlns:a="http://schemas.openxmlformats.org/drawingml/2006/main">
              <a:rPr lang="en">
                <a:latin typeface="Arial"/>
                <a:ea typeface="Arial"/>
                <a:cs typeface="Arial"/>
                <a:sym typeface="Arial"/>
              </a:rPr>
              <a:t>Calculating the total of the others is too difficult. You can do some examples with CORREU INSTITUT where you have to distinguish the order of the numbers and the letters: 1234ABCD is not the same as ABCD1234.</a:t>
            </a:r>
            <a:endParaRPr xmlns:a="http://schemas.openxmlformats.org/drawingml/2006/main">
              <a:latin typeface="Arial"/>
              <a:ea typeface="Arial"/>
              <a:cs typeface="Arial"/>
              <a:sym typeface="Arial"/>
            </a:endParaRPr>
          </a:p>
          <a:p>
            <a:pPr xmlns:a="http://schemas.openxmlformats.org/drawingml/2006/main" indent="-342900" lvl="1" marL="914400" rtl="0" algn="l">
              <a:lnSpc>
                <a:spcPct val="130000"/>
              </a:lnSpc>
              <a:spcBef>
                <a:spcPts val="0"/>
              </a:spcBef>
              <a:spcAft>
                <a:spcPts val="0"/>
              </a:spcAft>
              <a:buSzPts val="1800"/>
              <a:buFont typeface="Arial"/>
              <a:buChar char="▪"/>
            </a:pPr>
            <a:r xmlns:a="http://schemas.openxmlformats.org/drawingml/2006/main">
              <a:rPr lang="en">
                <a:latin typeface="Arial"/>
                <a:ea typeface="Arial"/>
                <a:cs typeface="Arial"/>
                <a:sym typeface="Arial"/>
              </a:rPr>
              <a:t>We look for other strategies to compare:</a:t>
            </a:r>
            <a:endParaRPr xmlns:a="http://schemas.openxmlformats.org/drawingml/2006/main">
              <a:latin typeface="Arial"/>
              <a:ea typeface="Arial"/>
              <a:cs typeface="Arial"/>
              <a:sym typeface="Arial"/>
            </a:endParaRPr>
          </a:p>
          <a:p>
            <a:pPr xmlns:a="http://schemas.openxmlformats.org/drawingml/2006/main" indent="-330200" lvl="2" marL="1371600" rtl="0" algn="l">
              <a:lnSpc>
                <a:spcPct val="130000"/>
              </a:lnSpc>
              <a:spcBef>
                <a:spcPts val="0"/>
              </a:spcBef>
              <a:spcAft>
                <a:spcPts val="0"/>
              </a:spcAft>
              <a:buSzPts val="1600"/>
              <a:buFont typeface="Arial"/>
              <a:buChar char="o"/>
            </a:pPr>
            <a:r xmlns:a="http://schemas.openxmlformats.org/drawingml/2006/main">
              <a:rPr lang="en">
                <a:latin typeface="Arial"/>
                <a:ea typeface="Arial"/>
                <a:cs typeface="Arial"/>
                <a:sym typeface="Arial"/>
              </a:rPr>
              <a:t>If we can make all the passwords for another case with one, we keep that one. If we can't, we see if we can make more (for example, because there are more letters than numbers).</a:t>
            </a:r>
            <a:endParaRPr xmlns:a="http://schemas.openxmlformats.org/drawingml/2006/main">
              <a:latin typeface="Arial"/>
              <a:ea typeface="Arial"/>
              <a:cs typeface="Arial"/>
              <a:sym typeface="Arial"/>
            </a:endParaRPr>
          </a:p>
          <a:p>
            <a:pPr xmlns:a="http://schemas.openxmlformats.org/drawingml/2006/main" indent="-330200" lvl="2" marL="1371600" rtl="0" algn="l">
              <a:lnSpc>
                <a:spcPct val="130000"/>
              </a:lnSpc>
              <a:spcBef>
                <a:spcPts val="0"/>
              </a:spcBef>
              <a:spcAft>
                <a:spcPts val="0"/>
              </a:spcAft>
              <a:buSzPts val="1600"/>
              <a:buFont typeface="Arial"/>
              <a:buChar char="o"/>
            </a:pPr>
            <a:r xmlns:a="http://schemas.openxmlformats.org/drawingml/2006/main">
              <a:rPr lang="en">
                <a:latin typeface="Arial"/>
                <a:ea typeface="Arial"/>
                <a:cs typeface="Arial"/>
                <a:sym typeface="Arial"/>
              </a:rPr>
              <a:t>GROUP WORK PROPOSAL: compare the 5 cases.</a:t>
            </a:r>
            <a:endParaRPr xmlns:a="http://schemas.openxmlformats.org/drawingml/2006/main">
              <a:latin typeface="Arial"/>
              <a:ea typeface="Arial"/>
              <a:cs typeface="Arial"/>
              <a:sym typeface="Arial"/>
            </a:endParaRPr>
          </a:p>
        </p:txBody>
      </p:sp>
      <p:sp>
        <p:nvSpPr>
          <p:cNvPr id="455" name="Google Shape;455;p46"/>
          <p:cNvSpPr txBox="1"/>
          <p:nvPr>
            <p:ph type="title"/>
          </p:nvPr>
        </p:nvSpPr>
        <p:spPr>
          <a:xfrm>
            <a:off x="474595" y="318728"/>
            <a:ext cx="7767900" cy="64020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spcBef>
                <a:spcPts val="0"/>
              </a:spcBef>
              <a:spcAft>
                <a:spcPts val="0"/>
              </a:spcAft>
              <a:buSzPts val="1400"/>
              <a:buNone/>
            </a:pPr>
            <a:r xmlns:a="http://schemas.openxmlformats.org/drawingml/2006/main">
              <a:rPr b="1" lang="en"/>
              <a:t>PHASE Optional. </a:t>
            </a:r>
            <a:r xmlns:a="http://schemas.openxmlformats.org/drawingml/2006/main">
              <a:rPr lang="en"/>
              <a:t>Let's be hackers!</a:t>
            </a:r>
            <a:endParaRPr xmlns:a="http://schemas.openxmlformats.org/drawingml/2006/main" b="1"/>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59" name="Shape 459"/>
        <p:cNvGrpSpPr/>
        <p:nvPr/>
      </p:nvGrpSpPr>
      <p:grpSpPr>
        <a:xfrm>
          <a:off x="0" y="0"/>
          <a:ext cx="0" cy="0"/>
          <a:chOff x="0" y="0"/>
          <a:chExt cx="0" cy="0"/>
        </a:xfrm>
      </p:grpSpPr>
      <p:sp>
        <p:nvSpPr>
          <p:cNvPr id="460" name="Google Shape;460;p47"/>
          <p:cNvSpPr txBox="1"/>
          <p:nvPr>
            <p:ph idx="1" type="body"/>
          </p:nvPr>
        </p:nvSpPr>
        <p:spPr>
          <a:xfrm>
            <a:off x="474594" y="1208336"/>
            <a:ext cx="8397900" cy="2143500"/>
          </a:xfrm>
          <a:prstGeom prst="rect">
            <a:avLst/>
          </a:prstGeom>
          <a:noFill/>
          <a:ln>
            <a:noFill/>
          </a:ln>
        </p:spPr>
        <p:txBody>
          <a:bodyPr anchorCtr="0" anchor="t" bIns="45700" lIns="91425" spcFirstLastPara="1" rIns="91425" wrap="square" tIns="45700">
            <a:noAutofit/>
          </a:bodyPr>
          <a:lstStyle/>
          <a:p>
            <a:pPr xmlns:a="http://schemas.openxmlformats.org/drawingml/2006/main" indent="-228600" lvl="0" marL="228600" rtl="0" algn="l">
              <a:lnSpc>
                <a:spcPct val="130000"/>
              </a:lnSpc>
              <a:spcBef>
                <a:spcPts val="0"/>
              </a:spcBef>
              <a:spcAft>
                <a:spcPts val="0"/>
              </a:spcAft>
              <a:buSzPts val="2000"/>
              <a:buChar char="◼"/>
            </a:pPr>
            <a:r xmlns:a="http://schemas.openxmlformats.org/drawingml/2006/main">
              <a:rPr lang="en">
                <a:latin typeface="Arial"/>
                <a:ea typeface="Arial"/>
                <a:cs typeface="Arial"/>
                <a:sym typeface="Arial"/>
              </a:rPr>
              <a:t>Sharing the comparison between passwords</a:t>
            </a:r>
            <a:endParaRPr xmlns:a="http://schemas.openxmlformats.org/drawingml/2006/main">
              <a:latin typeface="Arial"/>
              <a:ea typeface="Arial"/>
              <a:cs typeface="Arial"/>
              <a:sym typeface="Arial"/>
            </a:endParaRPr>
          </a:p>
          <a:p>
            <a:pPr xmlns:a="http://schemas.openxmlformats.org/drawingml/2006/main" indent="0" lvl="0" marL="0" rtl="0" algn="l">
              <a:lnSpc>
                <a:spcPct val="130000"/>
              </a:lnSpc>
              <a:spcBef>
                <a:spcPts val="0"/>
              </a:spcBef>
              <a:spcAft>
                <a:spcPts val="0"/>
              </a:spcAft>
              <a:buNone/>
            </a:pPr>
            <a:r xmlns:a="http://schemas.openxmlformats.org/drawingml/2006/main">
              <a:t/>
            </a:r>
            <a:endParaRPr xmlns:a="http://schemas.openxmlformats.org/drawingml/2006/main">
              <a:latin typeface="Arial"/>
              <a:ea typeface="Arial"/>
              <a:cs typeface="Arial"/>
              <a:sym typeface="Arial"/>
            </a:endParaRPr>
          </a:p>
          <a:p>
            <a:pPr xmlns:a="http://schemas.openxmlformats.org/drawingml/2006/main" indent="0" lvl="0" marL="0" rtl="0" algn="l">
              <a:lnSpc>
                <a:spcPct val="130000"/>
              </a:lnSpc>
              <a:spcBef>
                <a:spcPts val="0"/>
              </a:spcBef>
              <a:spcAft>
                <a:spcPts val="0"/>
              </a:spcAft>
              <a:buNone/>
            </a:pPr>
            <a:r xmlns:a="http://schemas.openxmlformats.org/drawingml/2006/main">
              <a:rPr lang="en">
                <a:latin typeface="Arial"/>
                <a:ea typeface="Arial"/>
                <a:cs typeface="Arial"/>
                <a:sym typeface="Arial"/>
              </a:rPr>
              <a:t>ORDER PASSWORDS FROM LEAST TO MOST SECURE</a:t>
            </a:r>
            <a:endParaRPr xmlns:a="http://schemas.openxmlformats.org/drawingml/2006/main">
              <a:latin typeface="Arial"/>
              <a:ea typeface="Arial"/>
              <a:cs typeface="Arial"/>
              <a:sym typeface="Arial"/>
            </a:endParaRPr>
          </a:p>
        </p:txBody>
      </p:sp>
      <p:sp>
        <p:nvSpPr>
          <p:cNvPr id="461" name="Google Shape;461;p47"/>
          <p:cNvSpPr txBox="1"/>
          <p:nvPr>
            <p:ph type="title"/>
          </p:nvPr>
        </p:nvSpPr>
        <p:spPr>
          <a:xfrm>
            <a:off x="474595" y="318728"/>
            <a:ext cx="7767900" cy="640200"/>
          </a:xfrm>
          <a:prstGeom prst="rect">
            <a:avLst/>
          </a:prstGeom>
          <a:noFill/>
          <a:ln>
            <a:noFill/>
          </a:ln>
        </p:spPr>
        <p:txBody>
          <a:bodyPr anchorCtr="0" anchor="ctr"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rPr b="1" lang="en"/>
              <a:t>PHASE Optional. </a:t>
            </a:r>
            <a:r xmlns:a="http://schemas.openxmlformats.org/drawingml/2006/main">
              <a:rPr lang="en"/>
              <a:t>Let's be hackers!</a:t>
            </a:r>
            <a:endParaRPr xmlns:a="http://schemas.openxmlformats.org/drawingml/2006/main"/>
          </a:p>
        </p:txBody>
      </p:sp>
      <p:sp>
        <p:nvSpPr>
          <p:cNvPr id="462" name="Google Shape;462;p47"/>
          <p:cNvSpPr txBox="1"/>
          <p:nvPr/>
        </p:nvSpPr>
        <p:spPr>
          <a:xfrm>
            <a:off x="700700" y="2886925"/>
            <a:ext cx="1830300" cy="714300"/>
          </a:xfrm>
          <a:prstGeom prst="rect">
            <a:avLst/>
          </a:prstGeom>
          <a:solidFill>
            <a:srgbClr val="FFF2CC"/>
          </a:solidFill>
          <a:ln>
            <a:noFill/>
          </a:ln>
        </p:spPr>
        <p:txBody>
          <a:bodyPr anchorCtr="0" anchor="t" bIns="91425" lIns="91425" spcFirstLastPara="1" rIns="91425" wrap="square" tIns="91425">
            <a:spAutoFit/>
          </a:bodyPr>
          <a:lstStyle/>
          <a:p>
            <a:pPr xmlns:a="http://schemas.openxmlformats.org/drawingml/2006/main" indent="0" lvl="0" marL="0" rtl="0" algn="l">
              <a:lnSpc>
                <a:spcPct val="115000"/>
              </a:lnSpc>
              <a:spcBef>
                <a:spcPts val="1200"/>
              </a:spcBef>
              <a:spcAft>
                <a:spcPts val="1200"/>
              </a:spcAft>
              <a:buNone/>
            </a:pPr>
            <a:r xmlns:a="http://schemas.openxmlformats.org/drawingml/2006/main">
              <a:rPr lang="en" sz="1600">
                <a:solidFill>
                  <a:schemeClr val="dk1"/>
                </a:solidFill>
                <a:latin typeface="Avenir"/>
                <a:ea typeface="Avenir"/>
                <a:cs typeface="Avenir"/>
                <a:sym typeface="Avenir"/>
              </a:rPr>
              <a:t>MOBILE PUK </a:t>
            </a:r>
            <a:br xmlns:a="http://schemas.openxmlformats.org/drawingml/2006/main">
              <a:rPr lang="ca-ES" sz="1600">
                <a:solidFill>
                  <a:schemeClr val="dk1"/>
                </a:solidFill>
                <a:latin typeface="Avenir"/>
                <a:ea typeface="Avenir"/>
                <a:cs typeface="Avenir"/>
                <a:sym typeface="Avenir"/>
              </a:rPr>
            </a:br>
            <a:r xmlns:a="http://schemas.openxmlformats.org/drawingml/2006/main">
              <a:rPr lang="en" sz="1600">
                <a:solidFill>
                  <a:schemeClr val="dk1"/>
                </a:solidFill>
                <a:latin typeface="Avenir"/>
                <a:ea typeface="Avenir"/>
                <a:cs typeface="Avenir"/>
                <a:sym typeface="Avenir"/>
              </a:rPr>
              <a:t>8 numbers</a:t>
            </a:r>
            <a:endParaRPr xmlns:a="http://schemas.openxmlformats.org/drawingml/2006/main" sz="1600">
              <a:solidFill>
                <a:schemeClr val="dk1"/>
              </a:solidFill>
              <a:latin typeface="Avenir"/>
              <a:ea typeface="Avenir"/>
              <a:cs typeface="Avenir"/>
              <a:sym typeface="Avenir"/>
            </a:endParaRPr>
          </a:p>
        </p:txBody>
      </p:sp>
      <p:sp>
        <p:nvSpPr>
          <p:cNvPr id="463" name="Google Shape;463;p47"/>
          <p:cNvSpPr txBox="1"/>
          <p:nvPr/>
        </p:nvSpPr>
        <p:spPr>
          <a:xfrm>
            <a:off x="6546900" y="2750700"/>
            <a:ext cx="2325600" cy="1563900"/>
          </a:xfrm>
          <a:prstGeom prst="rect">
            <a:avLst/>
          </a:prstGeom>
          <a:solidFill>
            <a:srgbClr val="D9D2E9"/>
          </a:solidFill>
          <a:ln>
            <a:noFill/>
          </a:ln>
        </p:spPr>
        <p:txBody>
          <a:bodyPr anchorCtr="0" anchor="t" bIns="91425" lIns="91425" spcFirstLastPara="1" rIns="91425" wrap="square" tIns="91425">
            <a:spAutoFit/>
          </a:bodyPr>
          <a:lstStyle/>
          <a:p>
            <a:pPr xmlns:a="http://schemas.openxmlformats.org/drawingml/2006/main" indent="0" lvl="0" marL="0" rtl="0" algn="l">
              <a:lnSpc>
                <a:spcPct val="115000"/>
              </a:lnSpc>
              <a:spcBef>
                <a:spcPts val="1200"/>
              </a:spcBef>
              <a:spcAft>
                <a:spcPts val="1200"/>
              </a:spcAft>
              <a:buNone/>
            </a:pPr>
            <a:r xmlns:a="http://schemas.openxmlformats.org/drawingml/2006/main">
              <a:rPr lang="en" sz="1600">
                <a:solidFill>
                  <a:schemeClr val="dk1"/>
                </a:solidFill>
                <a:latin typeface="Avenir"/>
                <a:ea typeface="Avenir"/>
                <a:cs typeface="Avenir"/>
                <a:sym typeface="Avenir"/>
              </a:rPr>
              <a:t>INSTITUTE MAIL </a:t>
            </a:r>
            <a:br xmlns:a="http://schemas.openxmlformats.org/drawingml/2006/main">
              <a:rPr lang="ca-ES" sz="1600">
                <a:solidFill>
                  <a:schemeClr val="dk1"/>
                </a:solidFill>
                <a:latin typeface="Avenir"/>
                <a:ea typeface="Avenir"/>
                <a:cs typeface="Avenir"/>
                <a:sym typeface="Avenir"/>
              </a:rPr>
            </a:br>
            <a:r xmlns:a="http://schemas.openxmlformats.org/drawingml/2006/main">
              <a:rPr lang="en" sz="1600">
                <a:solidFill>
                  <a:schemeClr val="dk1"/>
                </a:solidFill>
                <a:latin typeface="Avenir"/>
                <a:ea typeface="Avenir"/>
                <a:cs typeface="Avenir"/>
                <a:sym typeface="Avenir"/>
              </a:rPr>
              <a:t>8 elements minimum, alphanumeric, at least one capital letter or a special character</a:t>
            </a:r>
            <a:endParaRPr xmlns:a="http://schemas.openxmlformats.org/drawingml/2006/main" sz="1600">
              <a:solidFill>
                <a:schemeClr val="dk1"/>
              </a:solidFill>
              <a:latin typeface="Avenir"/>
              <a:ea typeface="Avenir"/>
              <a:cs typeface="Avenir"/>
              <a:sym typeface="Avenir"/>
            </a:endParaRPr>
          </a:p>
        </p:txBody>
      </p:sp>
      <p:sp>
        <p:nvSpPr>
          <p:cNvPr id="464" name="Google Shape;464;p47"/>
          <p:cNvSpPr txBox="1"/>
          <p:nvPr/>
        </p:nvSpPr>
        <p:spPr>
          <a:xfrm>
            <a:off x="3246588" y="2944475"/>
            <a:ext cx="2650800" cy="1950900"/>
          </a:xfrm>
          <a:prstGeom prst="rect">
            <a:avLst/>
          </a:prstGeom>
          <a:solidFill>
            <a:srgbClr val="CFE2F3"/>
          </a:solidFill>
          <a:ln>
            <a:noFill/>
          </a:ln>
        </p:spPr>
        <p:txBody>
          <a:bodyPr anchorCtr="0" anchor="t" bIns="91425" lIns="91425" spcFirstLastPara="1" rIns="91425" wrap="square" tIns="91425">
            <a:spAutoFit/>
          </a:bodyPr>
          <a:lstStyle/>
          <a:p>
            <a:pPr xmlns:a="http://schemas.openxmlformats.org/drawingml/2006/main" indent="0" lvl="0" marL="0" rtl="0" algn="l">
              <a:lnSpc>
                <a:spcPct val="115000"/>
              </a:lnSpc>
              <a:spcBef>
                <a:spcPts val="1200"/>
              </a:spcBef>
              <a:spcAft>
                <a:spcPts val="1200"/>
              </a:spcAft>
              <a:buNone/>
            </a:pPr>
            <a:r xmlns:a="http://schemas.openxmlformats.org/drawingml/2006/main">
              <a:rPr lang="en" sz="1700">
                <a:solidFill>
                  <a:schemeClr val="dk1"/>
                </a:solidFill>
                <a:latin typeface="Avenir"/>
                <a:ea typeface="Avenir"/>
                <a:cs typeface="Avenir"/>
                <a:sym typeface="Avenir"/>
              </a:rPr>
              <a:t>GMAIL 8 elements minimum with uppercase, lowercase letters, numbers and special characters (as desired)</a:t>
            </a:r>
            <a:endParaRPr xmlns:a="http://schemas.openxmlformats.org/drawingml/2006/main" sz="1700">
              <a:solidFill>
                <a:schemeClr val="dk1"/>
              </a:solidFill>
              <a:latin typeface="Avenir"/>
              <a:ea typeface="Avenir"/>
              <a:cs typeface="Avenir"/>
              <a:sym typeface="Avenir"/>
            </a:endParaRPr>
          </a:p>
        </p:txBody>
      </p:sp>
      <p:sp>
        <p:nvSpPr>
          <p:cNvPr id="465" name="Google Shape;465;p47"/>
          <p:cNvSpPr txBox="1"/>
          <p:nvPr/>
        </p:nvSpPr>
        <p:spPr>
          <a:xfrm>
            <a:off x="765300" y="4077750"/>
            <a:ext cx="2268300" cy="1280700"/>
          </a:xfrm>
          <a:prstGeom prst="rect">
            <a:avLst/>
          </a:prstGeom>
          <a:solidFill>
            <a:srgbClr val="FCE5CD"/>
          </a:solidFill>
          <a:ln>
            <a:noFill/>
          </a:ln>
        </p:spPr>
        <p:txBody>
          <a:bodyPr anchorCtr="0" anchor="t" bIns="91425" lIns="91425" spcFirstLastPara="1" rIns="91425" wrap="square" tIns="91425">
            <a:spAutoFit/>
          </a:bodyPr>
          <a:lstStyle/>
          <a:p>
            <a:pPr xmlns:a="http://schemas.openxmlformats.org/drawingml/2006/main" indent="0" lvl="0" marL="0" rtl="0" algn="l">
              <a:lnSpc>
                <a:spcPct val="115000"/>
              </a:lnSpc>
              <a:spcBef>
                <a:spcPts val="1200"/>
              </a:spcBef>
              <a:spcAft>
                <a:spcPts val="1200"/>
              </a:spcAft>
              <a:buNone/>
            </a:pPr>
            <a:r xmlns:a="http://schemas.openxmlformats.org/drawingml/2006/main">
              <a:rPr lang="en" sz="1600">
                <a:solidFill>
                  <a:schemeClr val="dk1"/>
                </a:solidFill>
                <a:latin typeface="Avenir"/>
                <a:ea typeface="Avenir"/>
                <a:cs typeface="Avenir"/>
                <a:sym typeface="Avenir"/>
              </a:rPr>
              <a:t>CHILDREN'S MAIL 8 elements, 4 capital letters followed by 4 numbers</a:t>
            </a:r>
            <a:endParaRPr xmlns:a="http://schemas.openxmlformats.org/drawingml/2006/main" sz="1600">
              <a:solidFill>
                <a:schemeClr val="dk1"/>
              </a:solidFill>
              <a:latin typeface="Avenir"/>
              <a:ea typeface="Avenir"/>
              <a:cs typeface="Avenir"/>
              <a:sym typeface="Avenir"/>
            </a:endParaRPr>
          </a:p>
        </p:txBody>
      </p:sp>
      <p:sp>
        <p:nvSpPr>
          <p:cNvPr id="466" name="Google Shape;466;p47"/>
          <p:cNvSpPr txBox="1"/>
          <p:nvPr/>
        </p:nvSpPr>
        <p:spPr>
          <a:xfrm>
            <a:off x="6338800" y="4644150"/>
            <a:ext cx="2268300" cy="714300"/>
          </a:xfrm>
          <a:prstGeom prst="rect">
            <a:avLst/>
          </a:prstGeom>
          <a:solidFill>
            <a:srgbClr val="D9EAD3"/>
          </a:solidFill>
          <a:ln>
            <a:noFill/>
          </a:ln>
        </p:spPr>
        <p:txBody>
          <a:bodyPr anchorCtr="0" anchor="t" bIns="91425" lIns="91425" spcFirstLastPara="1" rIns="91425" wrap="square" tIns="91425">
            <a:spAutoFit/>
          </a:bodyPr>
          <a:lstStyle/>
          <a:p>
            <a:pPr xmlns:a="http://schemas.openxmlformats.org/drawingml/2006/main" indent="0" lvl="0" marL="0" rtl="0" algn="l">
              <a:lnSpc>
                <a:spcPct val="115000"/>
              </a:lnSpc>
              <a:spcBef>
                <a:spcPts val="1200"/>
              </a:spcBef>
              <a:spcAft>
                <a:spcPts val="1200"/>
              </a:spcAft>
              <a:buNone/>
            </a:pPr>
            <a:r xmlns:a="http://schemas.openxmlformats.org/drawingml/2006/main">
              <a:rPr lang="en" sz="1600">
                <a:solidFill>
                  <a:schemeClr val="dk1"/>
                </a:solidFill>
                <a:latin typeface="Avenir"/>
                <a:ea typeface="Avenir"/>
                <a:cs typeface="Avenir"/>
                <a:sym typeface="Avenir"/>
              </a:rPr>
              <a:t>BANK PIN </a:t>
            </a:r>
            <a:br xmlns:a="http://schemas.openxmlformats.org/drawingml/2006/main">
              <a:rPr lang="ca-ES" sz="1600">
                <a:solidFill>
                  <a:schemeClr val="dk1"/>
                </a:solidFill>
                <a:latin typeface="Avenir"/>
                <a:ea typeface="Avenir"/>
                <a:cs typeface="Avenir"/>
                <a:sym typeface="Avenir"/>
              </a:rPr>
            </a:br>
            <a:r xmlns:a="http://schemas.openxmlformats.org/drawingml/2006/main">
              <a:rPr lang="en" sz="1600">
                <a:solidFill>
                  <a:schemeClr val="dk1"/>
                </a:solidFill>
                <a:latin typeface="Avenir"/>
                <a:ea typeface="Avenir"/>
                <a:cs typeface="Avenir"/>
                <a:sym typeface="Avenir"/>
              </a:rPr>
              <a:t>8 lowercase letters</a:t>
            </a:r>
            <a:endParaRPr xmlns:a="http://schemas.openxmlformats.org/drawingml/2006/main" sz="1600">
              <a:solidFill>
                <a:schemeClr val="dk1"/>
              </a:solidFill>
              <a:latin typeface="Avenir"/>
              <a:ea typeface="Avenir"/>
              <a:cs typeface="Avenir"/>
              <a:sym typeface="Avenir"/>
            </a:endParaRPr>
          </a:p>
        </p:txBody>
      </p:sp>
      <p:sp>
        <p:nvSpPr>
          <p:cNvPr id="467" name="Google Shape;467;p47"/>
          <p:cNvSpPr txBox="1"/>
          <p:nvPr/>
        </p:nvSpPr>
        <p:spPr>
          <a:xfrm>
            <a:off x="720600" y="5529225"/>
            <a:ext cx="7905900" cy="1062000"/>
          </a:xfrm>
          <a:prstGeom prst="rect">
            <a:avLst/>
          </a:prstGeom>
          <a:noFill/>
          <a:ln>
            <a:noFill/>
          </a:ln>
        </p:spPr>
        <p:txBody>
          <a:bodyPr anchorCtr="0" anchor="t" bIns="91425" lIns="91425" spcFirstLastPara="1" rIns="91425" wrap="square" tIns="91425">
            <a:spAutoFit/>
          </a:bodyPr>
          <a:lstStyle/>
          <a:p>
            <a:pPr xmlns:a="http://schemas.openxmlformats.org/drawingml/2006/main" indent="0" lvl="0" marL="0" rtl="0" algn="l">
              <a:spcBef>
                <a:spcPts val="0"/>
              </a:spcBef>
              <a:spcAft>
                <a:spcPts val="0"/>
              </a:spcAft>
              <a:buNone/>
            </a:pPr>
            <a:r xmlns:a="http://schemas.openxmlformats.org/drawingml/2006/main">
              <a:rPr b="1" lang="en" sz="1900">
                <a:solidFill>
                  <a:srgbClr val="218C97"/>
                </a:solidFill>
                <a:latin typeface="Avenir"/>
                <a:ea typeface="Avenir"/>
                <a:cs typeface="Avenir"/>
                <a:sym typeface="Avenir"/>
              </a:rPr>
              <a:t>PREPARE A PRESENTATION WITH PROPOSALS ON THE INSTITUTE'S EMAIL PASSWORD: IS IT SECURE ENOUGH? CAN IT BE IMPROVED?</a:t>
            </a:r>
            <a:endParaRPr xmlns:a="http://schemas.openxmlformats.org/drawingml/2006/main" b="1" sz="1900">
              <a:solidFill>
                <a:srgbClr val="218C97"/>
              </a:solidFill>
              <a:latin typeface="Avenir"/>
              <a:ea typeface="Avenir"/>
              <a:cs typeface="Avenir"/>
              <a:sym typeface="Aveni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48"/>
          <p:cNvSpPr txBox="1"/>
          <p:nvPr/>
        </p:nvSpPr>
        <p:spPr>
          <a:xfrm>
            <a:off x="1430458" y="267446"/>
            <a:ext cx="7027742" cy="400110"/>
          </a:xfrm>
          <a:prstGeom prst="rect">
            <a:avLst/>
          </a:prstGeom>
          <a:solidFill>
            <a:srgbClr val="3DB087">
              <a:alpha val="14509"/>
            </a:srgbClr>
          </a:solidFill>
          <a:ln>
            <a:noFill/>
          </a:ln>
        </p:spPr>
        <p:txBody>
          <a:bodyPr anchorCtr="0" anchor="t" bIns="45700" lIns="91425" spcFirstLastPara="1" rIns="91425" wrap="square" tIns="45700">
            <a:spAutoFit/>
          </a:bodyPr>
          <a:lstStyle/>
          <a:p>
            <a:pPr xmlns:a="http://schemas.openxmlformats.org/drawingml/2006/main" indent="0" lvl="0" marL="0" marR="0" rtl="0" algn="ctr">
              <a:lnSpc>
                <a:spcPct val="100000"/>
              </a:lnSpc>
              <a:spcBef>
                <a:spcPts val="0"/>
              </a:spcBef>
              <a:spcAft>
                <a:spcPts val="0"/>
              </a:spcAft>
              <a:buClr>
                <a:srgbClr val="000000"/>
              </a:buClr>
              <a:buSzPts val="2000"/>
              <a:buFont typeface="Arial"/>
              <a:buNone/>
            </a:pPr>
            <a:r xmlns:a="http://schemas.openxmlformats.org/drawingml/2006/main">
              <a:rPr b="0" i="1" lang="en" sz="2000" u="none" cap="none" strike="noStrike">
                <a:solidFill>
                  <a:schemeClr val="dk1"/>
                </a:solidFill>
                <a:latin typeface="Arial"/>
                <a:ea typeface="Arial"/>
                <a:cs typeface="Arial"/>
                <a:sym typeface="Arial"/>
              </a:rPr>
              <a:t>A priori </a:t>
            </a:r>
            <a:r xmlns:a="http://schemas.openxmlformats.org/drawingml/2006/main">
              <a:rPr b="0" i="0" lang="en" sz="2000" u="none" cap="none" strike="noStrike">
                <a:solidFill>
                  <a:schemeClr val="dk1"/>
                </a:solidFill>
                <a:latin typeface="Arial"/>
                <a:ea typeface="Arial"/>
                <a:cs typeface="Arial"/>
                <a:sym typeface="Arial"/>
              </a:rPr>
              <a:t>map </a:t>
            </a:r>
            <a:r xmlns:a="http://schemas.openxmlformats.org/drawingml/2006/main">
              <a:rPr b="0" i="0" lang="en" sz="2000" u="none" cap="none" strike="noStrike">
                <a:solidFill>
                  <a:schemeClr val="dk1"/>
                </a:solidFill>
                <a:latin typeface="Arial"/>
                <a:ea typeface="Arial"/>
                <a:cs typeface="Arial"/>
                <a:sym typeface="Arial"/>
              </a:rPr>
              <a:t>of possible developments of the situation</a:t>
            </a:r>
            <a:endParaRPr xmlns:a="http://schemas.openxmlformats.org/drawingml/2006/main" b="0" i="0" sz="1400" u="none" cap="none" strike="noStrike">
              <a:solidFill>
                <a:srgbClr val="000000"/>
              </a:solidFill>
              <a:latin typeface="Arial"/>
              <a:ea typeface="Arial"/>
              <a:cs typeface="Arial"/>
              <a:sym typeface="Arial"/>
            </a:endParaRPr>
          </a:p>
        </p:txBody>
      </p:sp>
      <p:pic>
        <p:nvPicPr>
          <p:cNvPr descr="A diagram of text and symbols&#10;&#10;Description automatically generated" id="474" name="Google Shape;474;p48"/>
          <p:cNvPicPr preferRelativeResize="0"/>
          <p:nvPr/>
        </p:nvPicPr>
        <p:blipFill rotWithShape="1">
          <a:blip r:embed="rId3">
            <a:alphaModFix/>
          </a:blip>
          <a:srcRect b="4369" l="7500" r="7499" t="3777"/>
          <a:stretch/>
        </p:blipFill>
        <p:spPr>
          <a:xfrm>
            <a:off x="289560" y="1224279"/>
            <a:ext cx="8569960" cy="5209191"/>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79" name="Shape 479"/>
        <p:cNvGrpSpPr/>
        <p:nvPr/>
      </p:nvGrpSpPr>
      <p:grpSpPr>
        <a:xfrm>
          <a:off x="0" y="0"/>
          <a:ext cx="0" cy="0"/>
          <a:chOff x="0" y="0"/>
          <a:chExt cx="0" cy="0"/>
        </a:xfrm>
      </p:grpSpPr>
      <p:sp>
        <p:nvSpPr>
          <p:cNvPr id="480" name="Google Shape;480;p49"/>
          <p:cNvSpPr txBox="1"/>
          <p:nvPr>
            <p:ph idx="1" type="body"/>
          </p:nvPr>
        </p:nvSpPr>
        <p:spPr>
          <a:xfrm>
            <a:off x="474595" y="1159921"/>
            <a:ext cx="8397857" cy="5210233"/>
          </a:xfrm>
          <a:prstGeom prst="rect">
            <a:avLst/>
          </a:prstGeom>
          <a:noFill/>
          <a:ln>
            <a:noFill/>
          </a:ln>
        </p:spPr>
        <p:txBody>
          <a:bodyPr anchorCtr="0" anchor="t" bIns="45700" lIns="91425" spcFirstLastPara="1" rIns="91425" wrap="square" tIns="45700">
            <a:noAutofit/>
          </a:bodyPr>
          <a:lstStyle/>
          <a:p>
            <a:pPr xmlns:a="http://schemas.openxmlformats.org/drawingml/2006/main" indent="-101600" lvl="0" marL="228600" rtl="0" algn="l">
              <a:lnSpc>
                <a:spcPct val="130000"/>
              </a:lnSpc>
              <a:spcBef>
                <a:spcPts val="0"/>
              </a:spcBef>
              <a:spcAft>
                <a:spcPts val="0"/>
              </a:spcAft>
              <a:buSzPts val="2000"/>
              <a:buNone/>
            </a:pPr>
            <a:r xmlns:a="http://schemas.openxmlformats.org/drawingml/2006/main">
              <a:t/>
            </a:r>
            <a:endParaRPr xmlns:a="http://schemas.openxmlformats.org/drawingml/2006/main"/>
          </a:p>
        </p:txBody>
      </p:sp>
      <p:sp>
        <p:nvSpPr>
          <p:cNvPr id="481" name="Google Shape;481;p49"/>
          <p:cNvSpPr txBox="1"/>
          <p:nvPr>
            <p:ph type="title"/>
          </p:nvPr>
        </p:nvSpPr>
        <p:spPr>
          <a:xfrm>
            <a:off x="1078523" y="52185"/>
            <a:ext cx="7797617" cy="974126"/>
          </a:xfrm>
          <a:prstGeom prst="rect">
            <a:avLst/>
          </a:prstGeom>
          <a:noFill/>
          <a:ln>
            <a:noFill/>
          </a:ln>
        </p:spPr>
        <p:txBody>
          <a:bodyPr anchorCtr="0" anchor="b"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pic>
        <p:nvPicPr>
          <p:cNvPr id="482" name="Google Shape;482;p49"/>
          <p:cNvPicPr preferRelativeResize="0"/>
          <p:nvPr/>
        </p:nvPicPr>
        <p:blipFill rotWithShape="1">
          <a:blip r:embed="rId3">
            <a:alphaModFix/>
          </a:blip>
          <a:srcRect b="0" l="0" r="0" t="0"/>
          <a:stretch/>
        </p:blipFill>
        <p:spPr>
          <a:xfrm rot="-5400000">
            <a:off x="1933983" y="-2362250"/>
            <a:ext cx="9719850" cy="13749100"/>
          </a:xfrm>
          <a:prstGeom prst="rect">
            <a:avLst/>
          </a:prstGeom>
          <a:noFill/>
          <a:ln>
            <a:noFill/>
          </a:ln>
        </p:spPr>
      </p:pic>
      <p:sp>
        <p:nvSpPr>
          <p:cNvPr id="483" name="Google Shape;483;p49"/>
          <p:cNvSpPr txBox="1"/>
          <p:nvPr/>
        </p:nvSpPr>
        <p:spPr>
          <a:xfrm>
            <a:off x="2279176" y="267446"/>
            <a:ext cx="4073145" cy="400110"/>
          </a:xfrm>
          <a:prstGeom prst="rect">
            <a:avLst/>
          </a:prstGeom>
          <a:solidFill>
            <a:srgbClr val="3DB087">
              <a:alpha val="14509"/>
            </a:srgbClr>
          </a:solidFill>
          <a:ln>
            <a:noFill/>
          </a:ln>
        </p:spPr>
        <p:txBody>
          <a:bodyPr anchorCtr="0" anchor="t" bIns="45700" lIns="91425" spcFirstLastPara="1" rIns="91425" wrap="square" tIns="45700">
            <a:spAutoFit/>
          </a:bodyPr>
          <a:lstStyle/>
          <a:p>
            <a:pPr xmlns:a="http://schemas.openxmlformats.org/drawingml/2006/main" indent="0" lvl="0" marL="0" marR="0" rtl="0" algn="ctr">
              <a:lnSpc>
                <a:spcPct val="100000"/>
              </a:lnSpc>
              <a:spcBef>
                <a:spcPts val="0"/>
              </a:spcBef>
              <a:spcAft>
                <a:spcPts val="0"/>
              </a:spcAft>
              <a:buClr>
                <a:srgbClr val="000000"/>
              </a:buClr>
              <a:buSzPts val="2000"/>
              <a:buFont typeface="Arial"/>
              <a:buNone/>
            </a:pPr>
            <a:r xmlns:a="http://schemas.openxmlformats.org/drawingml/2006/main">
              <a:rPr b="0" i="0" lang="en" sz="2000" u="none" cap="none" strike="noStrike">
                <a:solidFill>
                  <a:schemeClr val="dk1"/>
                </a:solidFill>
                <a:latin typeface="Arial"/>
                <a:ea typeface="Arial"/>
                <a:cs typeface="Arial"/>
                <a:sym typeface="Arial"/>
              </a:rPr>
              <a:t>Left side of the map (zoom)</a:t>
            </a:r>
            <a:endParaRPr xmlns:a="http://schemas.openxmlformats.org/drawingml/2006/main" b="0" i="0" sz="1400" u="none" cap="none" strike="noStrike">
              <a:solidFill>
                <a:srgbClr val="000000"/>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88" name="Shape 488"/>
        <p:cNvGrpSpPr/>
        <p:nvPr/>
      </p:nvGrpSpPr>
      <p:grpSpPr>
        <a:xfrm>
          <a:off x="0" y="0"/>
          <a:ext cx="0" cy="0"/>
          <a:chOff x="0" y="0"/>
          <a:chExt cx="0" cy="0"/>
        </a:xfrm>
      </p:grpSpPr>
      <p:sp>
        <p:nvSpPr>
          <p:cNvPr id="489" name="Google Shape;489;p50"/>
          <p:cNvSpPr txBox="1"/>
          <p:nvPr>
            <p:ph idx="1" type="body"/>
          </p:nvPr>
        </p:nvSpPr>
        <p:spPr>
          <a:xfrm>
            <a:off x="474595" y="1159921"/>
            <a:ext cx="8397857" cy="5210233"/>
          </a:xfrm>
          <a:prstGeom prst="rect">
            <a:avLst/>
          </a:prstGeom>
          <a:noFill/>
          <a:ln>
            <a:noFill/>
          </a:ln>
        </p:spPr>
        <p:txBody>
          <a:bodyPr anchorCtr="0" anchor="t" bIns="45700" lIns="91425" spcFirstLastPara="1" rIns="91425" wrap="square" tIns="45700">
            <a:noAutofit/>
          </a:bodyPr>
          <a:lstStyle/>
          <a:p>
            <a:pPr xmlns:a="http://schemas.openxmlformats.org/drawingml/2006/main" indent="-101600" lvl="0" marL="228600" rtl="0" algn="l">
              <a:lnSpc>
                <a:spcPct val="130000"/>
              </a:lnSpc>
              <a:spcBef>
                <a:spcPts val="0"/>
              </a:spcBef>
              <a:spcAft>
                <a:spcPts val="0"/>
              </a:spcAft>
              <a:buSzPts val="2000"/>
              <a:buNone/>
            </a:pPr>
            <a:r xmlns:a="http://schemas.openxmlformats.org/drawingml/2006/main">
              <a:t/>
            </a:r>
            <a:endParaRPr xmlns:a="http://schemas.openxmlformats.org/drawingml/2006/main"/>
          </a:p>
        </p:txBody>
      </p:sp>
      <p:sp>
        <p:nvSpPr>
          <p:cNvPr id="490" name="Google Shape;490;p50"/>
          <p:cNvSpPr txBox="1"/>
          <p:nvPr>
            <p:ph type="title"/>
          </p:nvPr>
        </p:nvSpPr>
        <p:spPr>
          <a:xfrm>
            <a:off x="1078523" y="52185"/>
            <a:ext cx="7797617" cy="974126"/>
          </a:xfrm>
          <a:prstGeom prst="rect">
            <a:avLst/>
          </a:prstGeom>
          <a:noFill/>
          <a:ln>
            <a:noFill/>
          </a:ln>
        </p:spPr>
        <p:txBody>
          <a:bodyPr anchorCtr="0" anchor="b" bIns="45700" lIns="91425" spcFirstLastPara="1" rIns="91425" wrap="square" tIns="45700">
            <a:noAutofit/>
          </a:bodyPr>
          <a:lstStyle/>
          <a:p>
            <a:pPr xmlns:a="http://schemas.openxmlformats.org/drawingml/2006/main" indent="0" lvl="0" marL="0" rtl="0" algn="l">
              <a:lnSpc>
                <a:spcPct val="100000"/>
              </a:lnSpc>
              <a:spcBef>
                <a:spcPts val="0"/>
              </a:spcBef>
              <a:spcAft>
                <a:spcPts val="0"/>
              </a:spcAft>
              <a:buSzPts val="1400"/>
              <a:buNone/>
            </a:pPr>
            <a:r xmlns:a="http://schemas.openxmlformats.org/drawingml/2006/main">
              <a:t/>
            </a:r>
            <a:endParaRPr xmlns:a="http://schemas.openxmlformats.org/drawingml/2006/main"/>
          </a:p>
        </p:txBody>
      </p:sp>
      <p:pic>
        <p:nvPicPr>
          <p:cNvPr id="491" name="Google Shape;491;p50"/>
          <p:cNvPicPr preferRelativeResize="0"/>
          <p:nvPr/>
        </p:nvPicPr>
        <p:blipFill rotWithShape="1">
          <a:blip r:embed="rId3">
            <a:alphaModFix/>
          </a:blip>
          <a:srcRect b="0" l="0" r="0" t="0"/>
          <a:stretch/>
        </p:blipFill>
        <p:spPr>
          <a:xfrm rot="-5400000">
            <a:off x="-2668602" y="-3126661"/>
            <a:ext cx="10374275" cy="14674809"/>
          </a:xfrm>
          <a:prstGeom prst="rect">
            <a:avLst/>
          </a:prstGeom>
          <a:noFill/>
          <a:ln>
            <a:noFill/>
          </a:ln>
        </p:spPr>
      </p:pic>
      <p:sp>
        <p:nvSpPr>
          <p:cNvPr id="492" name="Google Shape;492;p50"/>
          <p:cNvSpPr txBox="1"/>
          <p:nvPr/>
        </p:nvSpPr>
        <p:spPr>
          <a:xfrm>
            <a:off x="2885988" y="267446"/>
            <a:ext cx="3560642" cy="400110"/>
          </a:xfrm>
          <a:prstGeom prst="rect">
            <a:avLst/>
          </a:prstGeom>
          <a:solidFill>
            <a:srgbClr val="3DB087">
              <a:alpha val="14509"/>
            </a:srgbClr>
          </a:solidFill>
          <a:ln>
            <a:noFill/>
          </a:ln>
        </p:spPr>
        <p:txBody>
          <a:bodyPr anchorCtr="0" anchor="t" bIns="45700" lIns="91425" spcFirstLastPara="1" rIns="91425" wrap="square" tIns="45700">
            <a:spAutoFit/>
          </a:bodyPr>
          <a:lstStyle/>
          <a:p>
            <a:pPr xmlns:a="http://schemas.openxmlformats.org/drawingml/2006/main" indent="0" lvl="0" marL="0" marR="0" rtl="0" algn="ctr">
              <a:lnSpc>
                <a:spcPct val="100000"/>
              </a:lnSpc>
              <a:spcBef>
                <a:spcPts val="0"/>
              </a:spcBef>
              <a:spcAft>
                <a:spcPts val="0"/>
              </a:spcAft>
              <a:buClr>
                <a:srgbClr val="000000"/>
              </a:buClr>
              <a:buSzPts val="2000"/>
              <a:buFont typeface="Arial"/>
              <a:buNone/>
            </a:pPr>
            <a:r xmlns:a="http://schemas.openxmlformats.org/drawingml/2006/main">
              <a:rPr b="0" i="0" lang="en" sz="2000" u="none" cap="none" strike="noStrike">
                <a:solidFill>
                  <a:schemeClr val="dk1"/>
                </a:solidFill>
                <a:latin typeface="Arial"/>
                <a:ea typeface="Arial"/>
                <a:cs typeface="Arial"/>
                <a:sym typeface="Arial"/>
              </a:rPr>
              <a:t>Right side of the map (zoom)</a:t>
            </a:r>
            <a:endParaRPr xmlns:a="http://schemas.openxmlformats.org/drawingml/2006/main" b="0" i="0" sz="14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Plaza">
  <a:themeElements>
    <a:clrScheme name="Plaza">
      <a:dk1>
        <a:srgbClr val="000000"/>
      </a:dk1>
      <a:lt1>
        <a:srgbClr val="FFFFFF"/>
      </a:lt1>
      <a:dk2>
        <a:srgbClr val="333333"/>
      </a:dk2>
      <a:lt2>
        <a:srgbClr val="CCCCCC"/>
      </a:lt2>
      <a:accent1>
        <a:srgbClr val="990000"/>
      </a:accent1>
      <a:accent2>
        <a:srgbClr val="580101"/>
      </a:accent2>
      <a:accent3>
        <a:srgbClr val="E94A00"/>
      </a:accent3>
      <a:accent4>
        <a:srgbClr val="EB8F00"/>
      </a:accent4>
      <a:accent5>
        <a:srgbClr val="A4A4A4"/>
      </a:accent5>
      <a:accent6>
        <a:srgbClr val="666666"/>
      </a:accent6>
      <a:hlink>
        <a:srgbClr val="D01010"/>
      </a:hlink>
      <a:folHlink>
        <a:srgbClr val="E6682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