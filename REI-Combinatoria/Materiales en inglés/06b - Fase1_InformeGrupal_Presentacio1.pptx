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7099300" cy="10234613"/>
  <p:embeddedFontLst>
    <p:embeddedFont>
      <p:font typeface="Century Gothic" panose="020B0502020202020204" pitchFamily="3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D12D69-C50B-4B18-AED8-B3A53B1C50FE}" v="1" dt="2025-10-16T17:39:15.9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ana Vasquez Elias" userId="e776416f-e583-4d77-b224-146689d50a03" providerId="ADAL" clId="{3C100498-C411-419B-B5E6-C2EF21CD595F}"/>
    <pc:docChg chg="custSel modSld">
      <pc:chgData name="Susana Vasquez Elias" userId="e776416f-e583-4d77-b224-146689d50a03" providerId="ADAL" clId="{3C100498-C411-419B-B5E6-C2EF21CD595F}" dt="2025-10-16T17:39:19.344" v="2" actId="478"/>
      <pc:docMkLst>
        <pc:docMk/>
      </pc:docMkLst>
      <pc:sldChg chg="addSp delSp modSp mod">
        <pc:chgData name="Susana Vasquez Elias" userId="e776416f-e583-4d77-b224-146689d50a03" providerId="ADAL" clId="{3C100498-C411-419B-B5E6-C2EF21CD595F}" dt="2025-10-16T17:39:19.344" v="2" actId="478"/>
        <pc:sldMkLst>
          <pc:docMk/>
          <pc:sldMk cId="0" sldId="256"/>
        </pc:sldMkLst>
        <pc:picChg chg="add mod">
          <ac:chgData name="Susana Vasquez Elias" userId="e776416f-e583-4d77-b224-146689d50a03" providerId="ADAL" clId="{3C100498-C411-419B-B5E6-C2EF21CD595F}" dt="2025-10-16T17:39:18.415" v="1" actId="1076"/>
          <ac:picMkLst>
            <pc:docMk/>
            <pc:sldMk cId="0" sldId="256"/>
            <ac:picMk id="2" creationId="{2ADF4236-C311-988C-1EAF-F33444BF8989}"/>
          </ac:picMkLst>
        </pc:picChg>
        <pc:picChg chg="add del mod">
          <ac:chgData name="Susana Vasquez Elias" userId="e776416f-e583-4d77-b224-146689d50a03" providerId="ADAL" clId="{3C100498-C411-419B-B5E6-C2EF21CD595F}" dt="2025-10-16T17:39:19.344" v="2" actId="478"/>
          <ac:picMkLst>
            <pc:docMk/>
            <pc:sldMk cId="0" sldId="256"/>
            <ac:picMk id="3" creationId="{06E5C52F-59CC-9EFE-2A2B-2EE62EBCDAD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295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:notes"/>
          <p:cNvSpPr txBox="1">
            <a:spLocks noGrp="1"/>
          </p:cNvSpPr>
          <p:nvPr>
            <p:ph type="sldNum" idx="12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spcFirstLastPara="1" wrap="square" lIns="94750" tIns="47375" rIns="94750" bIns="47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spcFirstLastPara="1" wrap="square" lIns="94750" tIns="47375" rIns="94750" bIns="47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spcFirstLastPara="1" wrap="square" lIns="94750" tIns="47375" rIns="94750" bIns="47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300" cy="4605600"/>
          </a:xfrm>
          <a:prstGeom prst="rect">
            <a:avLst/>
          </a:prstGeom>
        </p:spPr>
        <p:txBody>
          <a:bodyPr spcFirstLastPara="1" wrap="square" lIns="94750" tIns="47375" rIns="94750" bIns="47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5000" cy="3837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300" cy="4605600"/>
          </a:xfrm>
          <a:prstGeom prst="rect">
            <a:avLst/>
          </a:prstGeom>
        </p:spPr>
        <p:txBody>
          <a:bodyPr spcFirstLastPara="1" wrap="square" lIns="94750" tIns="47375" rIns="94750" bIns="47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5000" cy="3837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1795269" y="268288"/>
            <a:ext cx="7061395" cy="909694"/>
          </a:xfrm>
          <a:prstGeom prst="rect">
            <a:avLst/>
          </a:prstGeom>
          <a:solidFill>
            <a:srgbClr val="7030A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794838" y="1617740"/>
            <a:ext cx="7061395" cy="278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Arial"/>
              <a:buNone/>
              <a:defRPr sz="30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1794838" y="4400950"/>
            <a:ext cx="7061397" cy="195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387532" y="562359"/>
            <a:ext cx="588145" cy="588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2700000">
            <a:off x="942910" y="354419"/>
            <a:ext cx="415881" cy="415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 rot="8047801">
            <a:off x="1189032" y="715026"/>
            <a:ext cx="568525" cy="503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 descr="Imatge que conté Font, Gràfics, logotip, blanc&#10;&#10;Descripció generada automàticamen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41151" y="6539487"/>
            <a:ext cx="907100" cy="27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 rot="8718243">
            <a:off x="7231658" y="6584561"/>
            <a:ext cx="218986" cy="194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 rot="10800000" flipH="1">
            <a:off x="474664" y="1027113"/>
            <a:ext cx="8383587" cy="61912"/>
          </a:xfrm>
          <a:prstGeom prst="rect">
            <a:avLst/>
          </a:prstGeom>
          <a:solidFill>
            <a:srgbClr val="7030A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97857" cy="521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2000"/>
              <a:buChar char="◼"/>
              <a:defRPr sz="2000"/>
            </a:lvl1pPr>
            <a:lvl2pPr marL="914400" lvl="1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 sz="1800"/>
            </a:lvl2pPr>
            <a:lvl3pPr marL="1371600" lvl="2" indent="-330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600"/>
              <a:buChar char="o"/>
              <a:defRPr sz="16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04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189283" y="366717"/>
            <a:ext cx="588145" cy="588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2700000">
            <a:off x="744661" y="158777"/>
            <a:ext cx="415881" cy="41588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>
            <a:off x="1090246" y="366717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8" name="Google Shape;28;p3" descr="Imatge que conté Font, Gràfics, logotip, blanc&#10;&#10;Descripció generada automàticamen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41151" y="6539487"/>
            <a:ext cx="907100" cy="27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 rot="8718243">
            <a:off x="7231658" y="6584561"/>
            <a:ext cx="218986" cy="1940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" name="Google Shape;30;p3"/>
          <p:cNvCxnSpPr/>
          <p:nvPr/>
        </p:nvCxnSpPr>
        <p:spPr>
          <a:xfrm>
            <a:off x="457200" y="6463030"/>
            <a:ext cx="8305800" cy="1588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460394" y="1247036"/>
            <a:ext cx="8397857" cy="2143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2000"/>
              <a:buChar char="◼"/>
              <a:defRPr sz="2000"/>
            </a:lvl1pPr>
            <a:lvl2pPr marL="914400" lvl="1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 sz="1800"/>
            </a:lvl2pPr>
            <a:lvl3pPr marL="1371600" lvl="2" indent="-330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600"/>
              <a:buChar char="o"/>
              <a:defRPr sz="16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04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3" name="Google Shape;33;p4" descr="Imatge que conté Font, Gràfics, logotip, blanc&#10;&#10;Descripció generada automàticament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51289" y="511669"/>
            <a:ext cx="1052957" cy="31916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474595" y="318728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-9079080">
            <a:off x="7716644" y="538584"/>
            <a:ext cx="230868" cy="204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 rot="3366168">
            <a:off x="625062" y="4589345"/>
            <a:ext cx="2238710" cy="1102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3290501" y="1020435"/>
            <a:ext cx="2986372" cy="298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8718243">
            <a:off x="6657026" y="4592831"/>
            <a:ext cx="2312471" cy="204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4"/>
          <p:cNvPicPr preferRelativeResize="0"/>
          <p:nvPr/>
        </p:nvPicPr>
        <p:blipFill rotWithShape="1">
          <a:blip r:embed="rId6">
            <a:alphaModFix amt="20000"/>
          </a:blip>
          <a:srcRect/>
          <a:stretch/>
        </p:blipFill>
        <p:spPr>
          <a:xfrm rot="2700000">
            <a:off x="7042460" y="1506115"/>
            <a:ext cx="1617659" cy="1617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4"/>
          <p:cNvPicPr preferRelativeResize="0"/>
          <p:nvPr/>
        </p:nvPicPr>
        <p:blipFill rotWithShape="1">
          <a:blip r:embed="rId7">
            <a:alphaModFix amt="20000"/>
          </a:blip>
          <a:srcRect/>
          <a:stretch/>
        </p:blipFill>
        <p:spPr>
          <a:xfrm>
            <a:off x="3813489" y="4311578"/>
            <a:ext cx="2012976" cy="2227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4"/>
          <p:cNvPicPr preferRelativeResize="0"/>
          <p:nvPr/>
        </p:nvPicPr>
        <p:blipFill rotWithShape="1">
          <a:blip r:embed="rId8">
            <a:alphaModFix amt="20000"/>
          </a:blip>
          <a:srcRect/>
          <a:stretch/>
        </p:blipFill>
        <p:spPr>
          <a:xfrm rot="-1281876">
            <a:off x="-8279" y="1428163"/>
            <a:ext cx="2862791" cy="1431396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 txBox="1">
            <a:spLocks noGrp="1"/>
          </p:cNvSpPr>
          <p:nvPr>
            <p:ph type="body" idx="2"/>
          </p:nvPr>
        </p:nvSpPr>
        <p:spPr>
          <a:xfrm>
            <a:off x="455625" y="3568848"/>
            <a:ext cx="8397857" cy="2143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2000"/>
              <a:buChar char="◼"/>
              <a:defRPr sz="2000"/>
            </a:lvl1pPr>
            <a:lvl2pPr marL="914400" lvl="1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 sz="1800"/>
            </a:lvl2pPr>
            <a:lvl3pPr marL="1371600" lvl="2" indent="-330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600"/>
              <a:buChar char="o"/>
              <a:defRPr sz="16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04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43" name="Google Shape;43;p4"/>
          <p:cNvCxnSpPr/>
          <p:nvPr/>
        </p:nvCxnSpPr>
        <p:spPr>
          <a:xfrm>
            <a:off x="474595" y="976406"/>
            <a:ext cx="8397857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>
            <a:spLocks noGrp="1"/>
          </p:cNvSpPr>
          <p:nvPr>
            <p:ph type="body" idx="1"/>
          </p:nvPr>
        </p:nvSpPr>
        <p:spPr>
          <a:xfrm>
            <a:off x="460394" y="1247036"/>
            <a:ext cx="8397857" cy="2143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2000"/>
              <a:buChar char="◼"/>
              <a:defRPr sz="2000"/>
            </a:lvl1pPr>
            <a:lvl2pPr marL="914400" lvl="1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 sz="1800"/>
            </a:lvl2pPr>
            <a:lvl3pPr marL="1371600" lvl="2" indent="-330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600"/>
              <a:buChar char="o"/>
              <a:defRPr sz="16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04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6" name="Google Shape;46;p5" descr="Imatge que conté Font, Gràfics, logotip, blanc&#10;&#10;Descripció generada automàticament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51289" y="511669"/>
            <a:ext cx="1052957" cy="31916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 txBox="1">
            <a:spLocks noGrp="1"/>
          </p:cNvSpPr>
          <p:nvPr>
            <p:ph type="title"/>
          </p:nvPr>
        </p:nvSpPr>
        <p:spPr>
          <a:xfrm>
            <a:off x="474595" y="318728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8" name="Google Shape;48;p5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-9079080">
            <a:off x="7716644" y="538584"/>
            <a:ext cx="230868" cy="204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 rot="8718243">
            <a:off x="5833867" y="2178551"/>
            <a:ext cx="3695700" cy="363177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>
            <a:spLocks noGrp="1"/>
          </p:cNvSpPr>
          <p:nvPr>
            <p:ph type="body" idx="2"/>
          </p:nvPr>
        </p:nvSpPr>
        <p:spPr>
          <a:xfrm>
            <a:off x="460394" y="3679311"/>
            <a:ext cx="8397857" cy="2143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2000"/>
              <a:buChar char="◼"/>
              <a:defRPr sz="2000"/>
            </a:lvl1pPr>
            <a:lvl2pPr marL="914400" lvl="1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 sz="1800"/>
            </a:lvl2pPr>
            <a:lvl3pPr marL="1371600" lvl="2" indent="-330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600"/>
              <a:buChar char="o"/>
              <a:defRPr sz="16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04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1" name="Google Shape;51;p5"/>
          <p:cNvCxnSpPr/>
          <p:nvPr/>
        </p:nvCxnSpPr>
        <p:spPr>
          <a:xfrm>
            <a:off x="474595" y="976406"/>
            <a:ext cx="8397857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6" descr="Imatge que conté Font, Gràfics, logotip, blanc&#10;&#10;Descripció generada automàticament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51289" y="511669"/>
            <a:ext cx="1052957" cy="31916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>
            <a:spLocks noGrp="1"/>
          </p:cNvSpPr>
          <p:nvPr>
            <p:ph type="title"/>
          </p:nvPr>
        </p:nvSpPr>
        <p:spPr>
          <a:xfrm>
            <a:off x="474595" y="318728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5" name="Google Shape;55;p6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-9079080">
            <a:off x="7716644" y="538584"/>
            <a:ext cx="230868" cy="204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6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8718243">
            <a:off x="6695053" y="4581109"/>
            <a:ext cx="2312471" cy="204902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 txBox="1">
            <a:spLocks noGrp="1"/>
          </p:cNvSpPr>
          <p:nvPr>
            <p:ph type="body" idx="1"/>
          </p:nvPr>
        </p:nvSpPr>
        <p:spPr>
          <a:xfrm>
            <a:off x="4760847" y="1223429"/>
            <a:ext cx="4111605" cy="4996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655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3DB087"/>
              </a:buClr>
              <a:buSzPts val="1700"/>
              <a:buChar char="◼"/>
              <a:defRPr sz="1700"/>
            </a:lvl1pPr>
            <a:lvl2pPr marL="914400" lvl="1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2pPr>
            <a:lvl3pPr marL="1371600" lvl="2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o"/>
              <a:defRPr sz="14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8" name="Google Shape;58;p6"/>
          <p:cNvCxnSpPr/>
          <p:nvPr/>
        </p:nvCxnSpPr>
        <p:spPr>
          <a:xfrm>
            <a:off x="474595" y="976406"/>
            <a:ext cx="8397857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9" name="Google Shape;59;p6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 rot="5400000">
            <a:off x="-469939" y="1858192"/>
            <a:ext cx="5582573" cy="385369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6"/>
          <p:cNvSpPr txBox="1">
            <a:spLocks noGrp="1"/>
          </p:cNvSpPr>
          <p:nvPr>
            <p:ph type="body" idx="2"/>
          </p:nvPr>
        </p:nvSpPr>
        <p:spPr>
          <a:xfrm>
            <a:off x="460395" y="1207479"/>
            <a:ext cx="4111605" cy="4996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655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700"/>
              <a:buChar char="◼"/>
              <a:defRPr sz="1700"/>
            </a:lvl1pPr>
            <a:lvl2pPr marL="914400" lvl="1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2pPr>
            <a:lvl3pPr marL="1371600" lvl="2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o"/>
              <a:defRPr sz="14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/>
          <p:nvPr/>
        </p:nvSpPr>
        <p:spPr>
          <a:xfrm rot="10800000" flipH="1">
            <a:off x="474664" y="1027113"/>
            <a:ext cx="8383587" cy="61912"/>
          </a:xfrm>
          <a:prstGeom prst="rect">
            <a:avLst/>
          </a:prstGeom>
          <a:solidFill>
            <a:srgbClr val="7030A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83431" cy="521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81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Century Gothic"/>
              <a:buAutoNum type="romanUcPeriod"/>
              <a:defRPr sz="2400"/>
            </a:lvl1pPr>
            <a:lvl2pPr marL="914400" lvl="1" indent="-355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entury Gothic"/>
              <a:buAutoNum type="romanUcPeriod"/>
              <a:defRPr sz="2000"/>
            </a:lvl2pPr>
            <a:lvl3pPr marL="1371600" lvl="2" indent="-3429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entury Gothic"/>
              <a:buAutoNum type="romanUcPeriod"/>
              <a:defRPr sz="1800"/>
            </a:lvl3pPr>
            <a:lvl4pPr marL="1828800" lvl="3" indent="-330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Century Gothic"/>
              <a:buAutoNum type="romanUcPeriod"/>
              <a:defRPr sz="1600"/>
            </a:lvl4pPr>
            <a:lvl5pPr marL="2286000" lvl="4" indent="-3175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Century Gothic"/>
              <a:buAutoNum type="romanUcPeriod"/>
              <a:defRPr sz="1400"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4" name="Google Shape;64;p7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189283" y="366717"/>
            <a:ext cx="588145" cy="588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7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2700000">
            <a:off x="744661" y="158777"/>
            <a:ext cx="415881" cy="415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1" y="6504318"/>
            <a:ext cx="967551" cy="308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 descr="Imatge que conté Font, Gràfics, logotip, blanc&#10;&#10;Descripció generada automàticamen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41151" y="6504318"/>
            <a:ext cx="907100" cy="2749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 txBox="1">
            <a:spLocks noGrp="1"/>
          </p:cNvSpPr>
          <p:nvPr>
            <p:ph type="title"/>
          </p:nvPr>
        </p:nvSpPr>
        <p:spPr>
          <a:xfrm>
            <a:off x="1097119" y="366717"/>
            <a:ext cx="7388352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9" name="Google Shape;69;p7"/>
          <p:cNvPicPr preferRelativeResize="0"/>
          <p:nvPr/>
        </p:nvPicPr>
        <p:blipFill rotWithShape="1">
          <a:blip r:embed="rId6">
            <a:alphaModFix amt="20000"/>
          </a:blip>
          <a:srcRect/>
          <a:stretch/>
        </p:blipFill>
        <p:spPr>
          <a:xfrm rot="8718243">
            <a:off x="7231658" y="6549392"/>
            <a:ext cx="218986" cy="194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9144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2209800"/>
            <a:ext cx="8305800" cy="422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Noto Sans Symbols"/>
              <a:buChar char="◼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4D0000"/>
              </a:buClr>
              <a:buSzPts val="14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/>
          <p:nvPr/>
        </p:nvSpPr>
        <p:spPr>
          <a:xfrm>
            <a:off x="8061326" y="6531168"/>
            <a:ext cx="7016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"/>
          <p:cNvSpPr txBox="1">
            <a:spLocks noGrp="1"/>
          </p:cNvSpPr>
          <p:nvPr>
            <p:ph type="ctrTitle"/>
          </p:nvPr>
        </p:nvSpPr>
        <p:spPr>
          <a:xfrm>
            <a:off x="1794838" y="1287200"/>
            <a:ext cx="7061395" cy="1623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200"/>
              <a:buFont typeface="Arial"/>
              <a:buNone/>
            </a:pPr>
            <a:r>
              <a:rPr lang="en" sz="3100">
                <a:latin typeface="Avenir"/>
                <a:ea typeface="Avenir"/>
                <a:cs typeface="Avenir"/>
                <a:sym typeface="Avenir"/>
              </a:rPr>
              <a:t>How many codes does the _____ padlock support?</a:t>
            </a:r>
            <a:endParaRPr sz="2900"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76" name="Google Shape;76;p8"/>
          <p:cNvPicPr preferRelativeResize="0"/>
          <p:nvPr/>
        </p:nvPicPr>
        <p:blipFill rotWithShape="1">
          <a:blip r:embed="rId3">
            <a:alphaModFix/>
          </a:blip>
          <a:srcRect b="82560"/>
          <a:stretch/>
        </p:blipFill>
        <p:spPr>
          <a:xfrm>
            <a:off x="371475" y="5045998"/>
            <a:ext cx="2628901" cy="162951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 txBox="1"/>
          <p:nvPr/>
        </p:nvSpPr>
        <p:spPr>
          <a:xfrm>
            <a:off x="3371850" y="2911051"/>
            <a:ext cx="5484383" cy="2949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rPr>
              <a:t>Working group members: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venir"/>
              <a:buChar char="▪"/>
            </a:pPr>
            <a:r>
              <a:rPr lang="en" sz="2400" i="0" u="none" strike="noStrike" cap="non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rPr>
              <a:t>...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venir"/>
              <a:buChar char="▪"/>
            </a:pPr>
            <a:r>
              <a:rPr lang="en" sz="2400" i="0" u="none" strike="noStrike" cap="non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rPr>
              <a:t>...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venir"/>
              <a:buChar char="▪"/>
            </a:pPr>
            <a:r>
              <a:rPr lang="en" sz="2400" i="0" u="none" strike="noStrike" cap="non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rPr>
              <a:t>...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venir"/>
              <a:buChar char="▪"/>
            </a:pPr>
            <a:r>
              <a:rPr lang="en" sz="2400" i="0" u="none" strike="noStrike" cap="non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rPr>
              <a:t>...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" name="Picture 1" descr="A grey square with white text&#10;&#10;AI-generated content may be incorrect.">
            <a:extLst>
              <a:ext uri="{FF2B5EF4-FFF2-40B4-BE49-F238E27FC236}">
                <a16:creationId xmlns:a16="http://schemas.microsoft.com/office/drawing/2014/main" id="{2ADF4236-C311-988C-1EAF-F33444BF898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71" b="16231"/>
          <a:stretch>
            <a:fillRect/>
          </a:stretch>
        </p:blipFill>
        <p:spPr bwMode="auto">
          <a:xfrm>
            <a:off x="6652896" y="5860757"/>
            <a:ext cx="2092960" cy="55689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"/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97857" cy="521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b="1">
                <a:latin typeface="Avenir"/>
                <a:ea typeface="Avenir"/>
                <a:cs typeface="Avenir"/>
                <a:sym typeface="Avenir"/>
              </a:rPr>
              <a:t>Padlock features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en">
                <a:latin typeface="Avenir"/>
                <a:ea typeface="Avenir"/>
                <a:cs typeface="Avenir"/>
                <a:sym typeface="Avenir"/>
              </a:rPr>
              <a:t>What are the characteristics of the padlock you are studying?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101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83" name="Google Shape;83;p9"/>
          <p:cNvSpPr txBox="1">
            <a:spLocks noGrp="1"/>
          </p:cNvSpPr>
          <p:nvPr>
            <p:ph type="title"/>
          </p:nvPr>
        </p:nvSpPr>
        <p:spPr>
          <a:xfrm>
            <a:off x="1090246" y="366717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nir"/>
                <a:ea typeface="Avenir"/>
                <a:cs typeface="Avenir"/>
                <a:sym typeface="Avenir"/>
              </a:rPr>
              <a:t>How many codes does the padlock we studied support?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97857" cy="521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b="1">
                <a:latin typeface="Avenir"/>
                <a:ea typeface="Avenir"/>
                <a:cs typeface="Avenir"/>
                <a:sym typeface="Avenir"/>
              </a:rPr>
              <a:t>Simulation of possible codes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en">
                <a:latin typeface="Avenir"/>
                <a:ea typeface="Avenir"/>
                <a:cs typeface="Avenir"/>
                <a:sym typeface="Avenir"/>
              </a:rPr>
              <a:t>How to generate the list (even if it is partial) of possible codes that the padlock supports? </a:t>
            </a:r>
            <a:r>
              <a:rPr lang="en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Add photos of how you have prepared the lists with the codes.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en">
                <a:latin typeface="Avenir"/>
                <a:ea typeface="Avenir"/>
                <a:cs typeface="Avenir"/>
                <a:sym typeface="Avenir"/>
              </a:rPr>
              <a:t>What is the total number of codes that your padlock supports?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101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228600" lvl="0" indent="-101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89" name="Google Shape;89;p10"/>
          <p:cNvSpPr txBox="1">
            <a:spLocks noGrp="1"/>
          </p:cNvSpPr>
          <p:nvPr>
            <p:ph type="title"/>
          </p:nvPr>
        </p:nvSpPr>
        <p:spPr>
          <a:xfrm>
            <a:off x="1090246" y="366717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nir"/>
                <a:ea typeface="Avenir"/>
                <a:cs typeface="Avenir"/>
                <a:sym typeface="Avenir"/>
              </a:rPr>
              <a:t>How many codes does the padlock we studied support?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97857" cy="521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b="1">
                <a:latin typeface="Avenir"/>
                <a:ea typeface="Avenir"/>
                <a:cs typeface="Avenir"/>
                <a:sym typeface="Avenir"/>
              </a:rPr>
              <a:t>Justification of how the number of codes was found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en">
                <a:latin typeface="Avenir"/>
                <a:ea typeface="Avenir"/>
                <a:cs typeface="Avenir"/>
                <a:sym typeface="Avenir"/>
              </a:rPr>
              <a:t>What counting strategies or techniques were used? </a:t>
            </a:r>
            <a:r>
              <a:rPr lang="en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Add photos of how you made the lists with the codes.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en">
                <a:latin typeface="Avenir"/>
                <a:ea typeface="Avenir"/>
                <a:cs typeface="Avenir"/>
                <a:sym typeface="Avenir"/>
              </a:rPr>
              <a:t>How did we make sure we didn't overcount or undercount codes?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228600" lvl="0" indent="-101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title"/>
          </p:nvPr>
        </p:nvSpPr>
        <p:spPr>
          <a:xfrm>
            <a:off x="1090246" y="366717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nir"/>
                <a:ea typeface="Avenir"/>
                <a:cs typeface="Avenir"/>
                <a:sym typeface="Avenir"/>
              </a:rPr>
              <a:t>How many codes does the padlock we studied support?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"/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97900" cy="52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b="1">
                <a:latin typeface="Avenir"/>
                <a:ea typeface="Avenir"/>
                <a:cs typeface="Avenir"/>
                <a:sym typeface="Avenir"/>
              </a:rPr>
              <a:t>Other questions about the padlock – </a:t>
            </a:r>
            <a:r>
              <a:rPr lang="en" b="1">
                <a:solidFill>
                  <a:srgbClr val="7030A0"/>
                </a:solidFill>
                <a:latin typeface="Avenir"/>
                <a:ea typeface="Avenir"/>
                <a:cs typeface="Avenir"/>
                <a:sym typeface="Avenir"/>
              </a:rPr>
              <a:t>About the time to open the padlock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en">
                <a:latin typeface="Avenir"/>
                <a:ea typeface="Avenir"/>
                <a:cs typeface="Avenir"/>
                <a:sym typeface="Avenir"/>
              </a:rPr>
              <a:t>If we have to open the padlock by trying all the codes, how long (minimum and maximum) do you estimate it would take to open the padlock?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en">
                <a:latin typeface="Avenir"/>
                <a:ea typeface="Avenir"/>
                <a:cs typeface="Avenir"/>
                <a:sym typeface="Avenir"/>
              </a:rPr>
              <a:t>...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228600" lvl="0" indent="-101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101" name="Google Shape;101;p12"/>
          <p:cNvSpPr txBox="1">
            <a:spLocks noGrp="1"/>
          </p:cNvSpPr>
          <p:nvPr>
            <p:ph type="title"/>
          </p:nvPr>
        </p:nvSpPr>
        <p:spPr>
          <a:xfrm>
            <a:off x="1090246" y="366717"/>
            <a:ext cx="7767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nir"/>
                <a:ea typeface="Avenir"/>
                <a:cs typeface="Avenir"/>
                <a:sym typeface="Avenir"/>
              </a:rPr>
              <a:t>How many codes does the padlock we studied support?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97900" cy="52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b="1">
                <a:latin typeface="Avenir"/>
                <a:ea typeface="Avenir"/>
                <a:cs typeface="Avenir"/>
                <a:sym typeface="Avenir"/>
              </a:rPr>
              <a:t>Other padlock questions – </a:t>
            </a:r>
            <a:r>
              <a:rPr lang="en" b="1">
                <a:solidFill>
                  <a:srgbClr val="7030A0"/>
                </a:solidFill>
                <a:latin typeface="Avenir"/>
                <a:ea typeface="Avenir"/>
                <a:cs typeface="Avenir"/>
                <a:sym typeface="Avenir"/>
              </a:rPr>
              <a:t>Padlock variations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Char char="◼"/>
            </a:pPr>
            <a:r>
              <a:rPr lang="en" b="1"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en">
                <a:latin typeface="Avenir"/>
                <a:ea typeface="Avenir"/>
                <a:cs typeface="Avenir"/>
                <a:sym typeface="Avenir"/>
              </a:rPr>
              <a:t>If we have the same padlock with one more box, how would we find the total number of codes it supports?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en">
                <a:latin typeface="Avenir"/>
                <a:ea typeface="Avenir"/>
                <a:cs typeface="Avenir"/>
                <a:sym typeface="Avenir"/>
              </a:rPr>
              <a:t>What if we have one more element per box? What would happen then?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en">
                <a:latin typeface="Avenir"/>
                <a:ea typeface="Avenir"/>
                <a:cs typeface="Avenir"/>
                <a:sym typeface="Avenir"/>
              </a:rPr>
              <a:t>...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228600" lvl="0" indent="-101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1090246" y="366717"/>
            <a:ext cx="7767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nir"/>
                <a:ea typeface="Avenir"/>
                <a:cs typeface="Avenir"/>
                <a:sym typeface="Avenir"/>
              </a:rPr>
              <a:t>How many codes does the padlock we studied support?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za">
  <a:themeElements>
    <a:clrScheme name="Plaza">
      <a:dk1>
        <a:srgbClr val="000000"/>
      </a:dk1>
      <a:lt1>
        <a:srgbClr val="FFFFFF"/>
      </a:lt1>
      <a:dk2>
        <a:srgbClr val="333333"/>
      </a:dk2>
      <a:lt2>
        <a:srgbClr val="CCCCCC"/>
      </a:lt2>
      <a:accent1>
        <a:srgbClr val="990000"/>
      </a:accent1>
      <a:accent2>
        <a:srgbClr val="580101"/>
      </a:accent2>
      <a:accent3>
        <a:srgbClr val="E94A00"/>
      </a:accent3>
      <a:accent4>
        <a:srgbClr val="EB8F00"/>
      </a:accent4>
      <a:accent5>
        <a:srgbClr val="A4A4A4"/>
      </a:accent5>
      <a:accent6>
        <a:srgbClr val="666666"/>
      </a:accent6>
      <a:hlink>
        <a:srgbClr val="D01010"/>
      </a:hlink>
      <a:folHlink>
        <a:srgbClr val="E6682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</Words>
  <Application>Microsoft Office PowerPoint</Application>
  <PresentationFormat>On-screen Show (4:3)</PresentationFormat>
  <Paragraphs>27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Avenir</vt:lpstr>
      <vt:lpstr>Noto Sans Symbols</vt:lpstr>
      <vt:lpstr>Century Gothic</vt:lpstr>
      <vt:lpstr>Arial</vt:lpstr>
      <vt:lpstr>Plaza</vt:lpstr>
      <vt:lpstr>How many codes does the _____ padlock support?</vt:lpstr>
      <vt:lpstr>How many codes does the padlock we studied support?</vt:lpstr>
      <vt:lpstr>How many codes does the padlock we studied support?</vt:lpstr>
      <vt:lpstr>How many codes does the padlock we studied support?</vt:lpstr>
      <vt:lpstr>How many codes does the padlock we studied support?</vt:lpstr>
      <vt:lpstr>How many codes does the padlock we studied support?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Susana Vasquez Elias</cp:lastModifiedBy>
  <cp:revision>1</cp:revision>
  <dcterms:modified xsi:type="dcterms:W3CDTF">2025-10-16T17:39:23Z</dcterms:modified>
</cp:coreProperties>
</file>