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Arimo" panose="020B0604020202020204" charset="0"/>
      <p:regular r:id="rId23"/>
    </p:embeddedFont>
    <p:embeddedFont>
      <p:font typeface="Arimo Bold" panose="020B0604020202020204" charset="0"/>
      <p:regular r:id="rId24"/>
    </p:embeddedFont>
    <p:embeddedFont>
      <p:font typeface="Calibri (MS)" panose="020B0604020202020204" charset="0"/>
      <p:regular r:id="rId25"/>
    </p:embeddedFont>
    <p:embeddedFont>
      <p:font typeface="Economica" panose="020B0604020202020204" charset="0"/>
      <p:regular r:id="rId26"/>
    </p:embeddedFont>
    <p:embeddedFont>
      <p:font typeface="Economica Bold" panose="020B0604020202020204" charset="0"/>
      <p:regular r:id="rId27"/>
    </p:embeddedFont>
    <p:embeddedFont>
      <p:font typeface="Garet" panose="020B0604020202020204" charset="0"/>
      <p:regular r:id="rId28"/>
    </p:embeddedFont>
    <p:embeddedFont>
      <p:font typeface="Garet Bold" panose="020B0604020202020204" charset="0"/>
      <p:regular r:id="rId29"/>
    </p:embeddedFont>
    <p:embeddedFont>
      <p:font typeface="Glacial Indifference" pitchFamily="50" charset="0"/>
      <p:regular r:id="rId30"/>
      <p:bold r:id="rId31"/>
      <p:italic r:id="rId32"/>
    </p:embeddedFont>
    <p:embeddedFont>
      <p:font typeface="Glacial Indifference Bold" panose="020B0604020202020204" charset="0"/>
      <p:regular r:id="rId33"/>
    </p:embeddedFont>
    <p:embeddedFont>
      <p:font typeface="IBM Plex Sans Condensed" panose="020B0506050203000203" pitchFamily="34" charset="0"/>
      <p:regular r:id="rId34"/>
    </p:embeddedFont>
    <p:embeddedFont>
      <p:font typeface="IBM Plex Sans Condensed Bold" panose="020B0806050203000203" charset="0"/>
      <p:regular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Lato Bold" panose="020F0502020204030203" charset="0"/>
      <p:regular r:id="rId40"/>
    </p:embeddedFont>
    <p:embeddedFont>
      <p:font typeface="League Spartan" panose="020B0604020202020204" charset="0"/>
      <p:regular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  <p:embeddedFont>
      <p:font typeface="Roboto Bold" panose="02000000000000000000" charset="0"/>
      <p:regular r:id="rId46"/>
    </p:embeddedFont>
  </p:embeddedFontLst>
  <p:defaultTextStyle>
    <a:defPPr>
      <a:defRPr lang="e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C0D066-5C75-4209-870B-3D92D1278B03}" v="1" dt="2025-10-16T17:37:49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876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font" Target="fonts/font24.fntdata"/><Relationship Id="rId20" Type="http://schemas.openxmlformats.org/officeDocument/2006/relationships/slide" Target="slides/slide19.xml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asquez Elias" userId="e776416f-e583-4d77-b224-146689d50a03" providerId="ADAL" clId="{3C100498-C411-419B-B5E6-C2EF21CD595F}"/>
    <pc:docChg chg="custSel modSld">
      <pc:chgData name="Susana Vasquez Elias" userId="e776416f-e583-4d77-b224-146689d50a03" providerId="ADAL" clId="{3C100498-C411-419B-B5E6-C2EF21CD595F}" dt="2025-10-16T17:37:52.832" v="2" actId="1076"/>
      <pc:docMkLst>
        <pc:docMk/>
      </pc:docMkLst>
      <pc:sldChg chg="addSp delSp modSp mod">
        <pc:chgData name="Susana Vasquez Elias" userId="e776416f-e583-4d77-b224-146689d50a03" providerId="ADAL" clId="{3C100498-C411-419B-B5E6-C2EF21CD595F}" dt="2025-10-16T17:37:52.832" v="2" actId="1076"/>
        <pc:sldMkLst>
          <pc:docMk/>
          <pc:sldMk cId="0" sldId="256"/>
        </pc:sldMkLst>
        <pc:picChg chg="add mod">
          <ac:chgData name="Susana Vasquez Elias" userId="e776416f-e583-4d77-b224-146689d50a03" providerId="ADAL" clId="{3C100498-C411-419B-B5E6-C2EF21CD595F}" dt="2025-10-16T17:37:52.832" v="2" actId="1076"/>
          <ac:picMkLst>
            <pc:docMk/>
            <pc:sldMk cId="0" sldId="256"/>
            <ac:picMk id="15" creationId="{2ADF4236-C311-988C-1EAF-F33444BF8989}"/>
          </ac:picMkLst>
        </pc:picChg>
        <pc:picChg chg="add del mod">
          <ac:chgData name="Susana Vasquez Elias" userId="e776416f-e583-4d77-b224-146689d50a03" providerId="ADAL" clId="{3C100498-C411-419B-B5E6-C2EF21CD595F}" dt="2025-10-16T17:37:51.093" v="1" actId="478"/>
          <ac:picMkLst>
            <pc:docMk/>
            <pc:sldMk cId="0" sldId="256"/>
            <ac:picMk id="16" creationId="{01EBA3B9-B53C-A461-6931-7511D816E40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zSUG5iQniSc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2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.png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9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28.jpeg"/><Relationship Id="rId9" Type="http://schemas.openxmlformats.org/officeDocument/2006/relationships/hyperlink" Target="https://youtu.be/9IAfqFGM56w?t=153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ednwKwSu7dw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33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18.png"/><Relationship Id="rId4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17" Type="http://schemas.openxmlformats.org/officeDocument/2006/relationships/image" Target="../media/image48.png"/><Relationship Id="rId25" Type="http://schemas.openxmlformats.org/officeDocument/2006/relationships/image" Target="../media/image56.jpeg"/><Relationship Id="rId2" Type="http://schemas.openxmlformats.org/officeDocument/2006/relationships/image" Target="../media/image18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10" Type="http://schemas.openxmlformats.org/officeDocument/2006/relationships/image" Target="../media/image41.svg"/><Relationship Id="rId19" Type="http://schemas.openxmlformats.org/officeDocument/2006/relationships/image" Target="../media/image50.jpeg"/><Relationship Id="rId31" Type="http://schemas.openxmlformats.org/officeDocument/2006/relationships/image" Target="../media/image62.jpeg"/><Relationship Id="rId4" Type="http://schemas.openxmlformats.org/officeDocument/2006/relationships/image" Target="../media/image35.sv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31086" y="4646905"/>
            <a:ext cx="2045799" cy="2045799"/>
            <a:chOff x="0" y="0"/>
            <a:chExt cx="2045792" cy="2045792"/>
          </a:xfrm>
        </p:grpSpPr>
        <p:sp>
          <p:nvSpPr>
            <p:cNvPr id="3" name="Freeform 3"/>
            <p:cNvSpPr/>
            <p:nvPr/>
          </p:nvSpPr>
          <p:spPr>
            <a:xfrm>
              <a:off x="-11176" y="0"/>
              <a:ext cx="2060575" cy="2045716"/>
            </a:xfrm>
            <a:custGeom>
              <a:avLst/>
              <a:gdLst/>
              <a:ahLst/>
              <a:cxnLst/>
              <a:rect l="l" t="t" r="r" b="b"/>
              <a:pathLst>
                <a:path w="2060575" h="2045716">
                  <a:moveTo>
                    <a:pt x="1032891" y="0"/>
                  </a:moveTo>
                  <a:cubicBezTo>
                    <a:pt x="1005586" y="0"/>
                    <a:pt x="978408" y="10287"/>
                    <a:pt x="956437" y="30988"/>
                  </a:cubicBezTo>
                  <a:lnTo>
                    <a:pt x="956437" y="30988"/>
                  </a:lnTo>
                  <a:lnTo>
                    <a:pt x="44450" y="942975"/>
                  </a:lnTo>
                  <a:cubicBezTo>
                    <a:pt x="3429" y="985139"/>
                    <a:pt x="0" y="1049909"/>
                    <a:pt x="36068" y="1094613"/>
                  </a:cubicBezTo>
                  <a:lnTo>
                    <a:pt x="36068" y="1094613"/>
                  </a:lnTo>
                  <a:lnTo>
                    <a:pt x="962279" y="2020824"/>
                  </a:lnTo>
                  <a:cubicBezTo>
                    <a:pt x="982980" y="2037461"/>
                    <a:pt x="1007872" y="2045716"/>
                    <a:pt x="1032891" y="2045716"/>
                  </a:cubicBezTo>
                  <a:cubicBezTo>
                    <a:pt x="1049020" y="2045716"/>
                    <a:pt x="1065149" y="2042287"/>
                    <a:pt x="1080262" y="2035429"/>
                  </a:cubicBezTo>
                  <a:lnTo>
                    <a:pt x="2047621" y="1068070"/>
                  </a:lnTo>
                  <a:lnTo>
                    <a:pt x="2047621" y="1068070"/>
                  </a:lnTo>
                  <a:cubicBezTo>
                    <a:pt x="2060575" y="1038733"/>
                    <a:pt x="2059940" y="1005586"/>
                    <a:pt x="2046224" y="976376"/>
                  </a:cubicBezTo>
                  <a:lnTo>
                    <a:pt x="2046224" y="976376"/>
                  </a:lnTo>
                  <a:lnTo>
                    <a:pt x="1080516" y="10795"/>
                  </a:lnTo>
                  <a:lnTo>
                    <a:pt x="1080516" y="10795"/>
                  </a:lnTo>
                  <a:cubicBezTo>
                    <a:pt x="1065403" y="3556"/>
                    <a:pt x="1049147" y="0"/>
                    <a:pt x="1032891" y="0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379981" y="-787384"/>
            <a:ext cx="11626882" cy="7589025"/>
            <a:chOff x="0" y="0"/>
            <a:chExt cx="11626888" cy="7589025"/>
          </a:xfrm>
        </p:grpSpPr>
        <p:sp>
          <p:nvSpPr>
            <p:cNvPr id="5" name="Freeform 5"/>
            <p:cNvSpPr/>
            <p:nvPr/>
          </p:nvSpPr>
          <p:spPr>
            <a:xfrm>
              <a:off x="5872988" y="2410079"/>
              <a:ext cx="3556127" cy="3505581"/>
            </a:xfrm>
            <a:custGeom>
              <a:avLst/>
              <a:gdLst/>
              <a:ahLst/>
              <a:cxnLst/>
              <a:rect l="l" t="t" r="r" b="b"/>
              <a:pathLst>
                <a:path w="3556127" h="3505581">
                  <a:moveTo>
                    <a:pt x="2420112" y="0"/>
                  </a:moveTo>
                  <a:cubicBezTo>
                    <a:pt x="2402078" y="0"/>
                    <a:pt x="2383917" y="3937"/>
                    <a:pt x="2366899" y="11684"/>
                  </a:cubicBezTo>
                  <a:lnTo>
                    <a:pt x="2366899" y="11684"/>
                  </a:lnTo>
                  <a:lnTo>
                    <a:pt x="22225" y="2292477"/>
                  </a:lnTo>
                  <a:lnTo>
                    <a:pt x="22225" y="2292477"/>
                  </a:lnTo>
                  <a:cubicBezTo>
                    <a:pt x="0" y="2338070"/>
                    <a:pt x="6985" y="2392934"/>
                    <a:pt x="44323" y="2432558"/>
                  </a:cubicBezTo>
                  <a:lnTo>
                    <a:pt x="44323" y="2432558"/>
                  </a:lnTo>
                  <a:lnTo>
                    <a:pt x="1052322" y="3468751"/>
                  </a:lnTo>
                  <a:lnTo>
                    <a:pt x="1052322" y="3468751"/>
                  </a:lnTo>
                  <a:cubicBezTo>
                    <a:pt x="1077595" y="3493135"/>
                    <a:pt x="1110234" y="3505581"/>
                    <a:pt x="1142746" y="3505581"/>
                  </a:cubicBezTo>
                  <a:cubicBezTo>
                    <a:pt x="1170051" y="3505581"/>
                    <a:pt x="1197483" y="3496818"/>
                    <a:pt x="1220343" y="3478784"/>
                  </a:cubicBezTo>
                  <a:lnTo>
                    <a:pt x="1220343" y="3478784"/>
                  </a:lnTo>
                  <a:lnTo>
                    <a:pt x="3519551" y="1242314"/>
                  </a:lnTo>
                  <a:lnTo>
                    <a:pt x="3519551" y="1242314"/>
                  </a:lnTo>
                  <a:cubicBezTo>
                    <a:pt x="3548126" y="1207770"/>
                    <a:pt x="3556127" y="1161669"/>
                    <a:pt x="3543046" y="1120521"/>
                  </a:cubicBezTo>
                  <a:lnTo>
                    <a:pt x="3543046" y="1120521"/>
                  </a:lnTo>
                  <a:lnTo>
                    <a:pt x="2459355" y="6477"/>
                  </a:lnTo>
                  <a:lnTo>
                    <a:pt x="2459355" y="6477"/>
                  </a:lnTo>
                  <a:cubicBezTo>
                    <a:pt x="2446655" y="2159"/>
                    <a:pt x="2433447" y="127"/>
                    <a:pt x="2420111" y="127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500" y="787400"/>
              <a:ext cx="4575048" cy="4247388"/>
            </a:xfrm>
            <a:custGeom>
              <a:avLst/>
              <a:gdLst/>
              <a:ahLst/>
              <a:cxnLst/>
              <a:rect l="l" t="t" r="r" b="b"/>
              <a:pathLst>
                <a:path w="4575048" h="4247388">
                  <a:moveTo>
                    <a:pt x="1098677" y="0"/>
                  </a:moveTo>
                  <a:cubicBezTo>
                    <a:pt x="439166" y="400939"/>
                    <a:pt x="0" y="1125220"/>
                    <a:pt x="0" y="1953006"/>
                  </a:cubicBezTo>
                  <a:cubicBezTo>
                    <a:pt x="0" y="3220593"/>
                    <a:pt x="1022223" y="4247388"/>
                    <a:pt x="2289810" y="4247388"/>
                  </a:cubicBezTo>
                  <a:cubicBezTo>
                    <a:pt x="3504057" y="4247388"/>
                    <a:pt x="4499991" y="3298317"/>
                    <a:pt x="4575048" y="2098675"/>
                  </a:cubicBezTo>
                  <a:lnTo>
                    <a:pt x="4575048" y="2098675"/>
                  </a:lnTo>
                  <a:lnTo>
                    <a:pt x="4575048" y="1807972"/>
                  </a:lnTo>
                  <a:lnTo>
                    <a:pt x="4575048" y="1807972"/>
                  </a:lnTo>
                  <a:cubicBezTo>
                    <a:pt x="4526915" y="1041146"/>
                    <a:pt x="4099687" y="377317"/>
                    <a:pt x="3478911" y="0"/>
                  </a:cubicBezTo>
                  <a:close/>
                </a:path>
              </a:pathLst>
            </a:custGeom>
            <a:solidFill>
              <a:srgbClr val="F9735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8152003" y="4051935"/>
              <a:ext cx="3382645" cy="3346323"/>
            </a:xfrm>
            <a:custGeom>
              <a:avLst/>
              <a:gdLst/>
              <a:ahLst/>
              <a:cxnLst/>
              <a:rect l="l" t="t" r="r" b="b"/>
              <a:pathLst>
                <a:path w="3382645" h="3346323">
                  <a:moveTo>
                    <a:pt x="2344674" y="0"/>
                  </a:moveTo>
                  <a:cubicBezTo>
                    <a:pt x="2291080" y="0"/>
                    <a:pt x="2237105" y="19812"/>
                    <a:pt x="2194433" y="63119"/>
                  </a:cubicBezTo>
                  <a:lnTo>
                    <a:pt x="78359" y="2207514"/>
                  </a:lnTo>
                  <a:cubicBezTo>
                    <a:pt x="2159" y="2284730"/>
                    <a:pt x="0" y="2398014"/>
                    <a:pt x="52070" y="2479421"/>
                  </a:cubicBezTo>
                  <a:lnTo>
                    <a:pt x="52070" y="2479421"/>
                  </a:lnTo>
                  <a:lnTo>
                    <a:pt x="120777" y="2547239"/>
                  </a:lnTo>
                  <a:lnTo>
                    <a:pt x="120777" y="2547239"/>
                  </a:lnTo>
                  <a:cubicBezTo>
                    <a:pt x="138175" y="2557907"/>
                    <a:pt x="157480" y="2566416"/>
                    <a:pt x="178434" y="2572131"/>
                  </a:cubicBezTo>
                  <a:lnTo>
                    <a:pt x="3100705" y="3339465"/>
                  </a:lnTo>
                  <a:cubicBezTo>
                    <a:pt x="3119120" y="3344164"/>
                    <a:pt x="3137408" y="3346323"/>
                    <a:pt x="3155187" y="3346323"/>
                  </a:cubicBezTo>
                  <a:cubicBezTo>
                    <a:pt x="3196335" y="3346323"/>
                    <a:pt x="3235070" y="3334639"/>
                    <a:pt x="3268091" y="3314318"/>
                  </a:cubicBezTo>
                  <a:lnTo>
                    <a:pt x="3268091" y="3314318"/>
                  </a:lnTo>
                  <a:lnTo>
                    <a:pt x="3343529" y="3237864"/>
                  </a:lnTo>
                  <a:lnTo>
                    <a:pt x="3343529" y="3237864"/>
                  </a:lnTo>
                  <a:cubicBezTo>
                    <a:pt x="3371849" y="3190112"/>
                    <a:pt x="3382645" y="3131058"/>
                    <a:pt x="3366389" y="3070097"/>
                  </a:cubicBezTo>
                  <a:lnTo>
                    <a:pt x="2558034" y="160782"/>
                  </a:lnTo>
                  <a:cubicBezTo>
                    <a:pt x="2529332" y="59817"/>
                    <a:pt x="2437765" y="0"/>
                    <a:pt x="2344801" y="0"/>
                  </a:cubicBezTo>
                  <a:close/>
                </a:path>
              </a:pathLst>
            </a:custGeom>
            <a:solidFill>
              <a:srgbClr val="4BDCAB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8882888" y="787400"/>
              <a:ext cx="2680463" cy="2244344"/>
            </a:xfrm>
            <a:custGeom>
              <a:avLst/>
              <a:gdLst/>
              <a:ahLst/>
              <a:cxnLst/>
              <a:rect l="l" t="t" r="r" b="b"/>
              <a:pathLst>
                <a:path w="2680463" h="2244344">
                  <a:moveTo>
                    <a:pt x="47752" y="0"/>
                  </a:moveTo>
                  <a:cubicBezTo>
                    <a:pt x="17018" y="53848"/>
                    <a:pt x="127" y="115824"/>
                    <a:pt x="0" y="180594"/>
                  </a:cubicBezTo>
                  <a:lnTo>
                    <a:pt x="0" y="180594"/>
                  </a:lnTo>
                  <a:lnTo>
                    <a:pt x="0" y="1317752"/>
                  </a:lnTo>
                  <a:lnTo>
                    <a:pt x="0" y="1317752"/>
                  </a:lnTo>
                  <a:cubicBezTo>
                    <a:pt x="127" y="1446911"/>
                    <a:pt x="67437" y="1565148"/>
                    <a:pt x="177673" y="1629664"/>
                  </a:cubicBezTo>
                  <a:lnTo>
                    <a:pt x="1162685" y="2197862"/>
                  </a:lnTo>
                  <a:cubicBezTo>
                    <a:pt x="1217803" y="2228850"/>
                    <a:pt x="1279779" y="2244344"/>
                    <a:pt x="1341628" y="2244344"/>
                  </a:cubicBezTo>
                  <a:cubicBezTo>
                    <a:pt x="1403478" y="2244344"/>
                    <a:pt x="1465453" y="2228850"/>
                    <a:pt x="1520572" y="2197862"/>
                  </a:cubicBezTo>
                  <a:lnTo>
                    <a:pt x="2505584" y="1629664"/>
                  </a:lnTo>
                  <a:cubicBezTo>
                    <a:pt x="2602992" y="1572641"/>
                    <a:pt x="2666874" y="1473581"/>
                    <a:pt x="2680463" y="1362202"/>
                  </a:cubicBezTo>
                  <a:lnTo>
                    <a:pt x="2680463" y="1362202"/>
                  </a:lnTo>
                  <a:lnTo>
                    <a:pt x="2680463" y="136017"/>
                  </a:lnTo>
                  <a:lnTo>
                    <a:pt x="2680463" y="136017"/>
                  </a:lnTo>
                  <a:cubicBezTo>
                    <a:pt x="2674494" y="87503"/>
                    <a:pt x="2659127" y="41275"/>
                    <a:pt x="2635505" y="0"/>
                  </a:cubicBezTo>
                  <a:close/>
                </a:path>
              </a:pathLst>
            </a:custGeom>
            <a:solidFill>
              <a:srgbClr val="FCAEFB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723388" y="5085207"/>
              <a:ext cx="3814191" cy="2440305"/>
            </a:xfrm>
            <a:custGeom>
              <a:avLst/>
              <a:gdLst/>
              <a:ahLst/>
              <a:cxnLst/>
              <a:rect l="l" t="t" r="r" b="b"/>
              <a:pathLst>
                <a:path w="3814191" h="2440305">
                  <a:moveTo>
                    <a:pt x="348234" y="0"/>
                  </a:moveTo>
                  <a:cubicBezTo>
                    <a:pt x="275590" y="0"/>
                    <a:pt x="207264" y="37211"/>
                    <a:pt x="165989" y="96647"/>
                  </a:cubicBezTo>
                  <a:lnTo>
                    <a:pt x="165989" y="96647"/>
                  </a:lnTo>
                  <a:lnTo>
                    <a:pt x="119507" y="247142"/>
                  </a:lnTo>
                  <a:lnTo>
                    <a:pt x="119507" y="247142"/>
                  </a:lnTo>
                  <a:cubicBezTo>
                    <a:pt x="0" y="1082421"/>
                    <a:pt x="443611" y="1898904"/>
                    <a:pt x="1211961" y="2256663"/>
                  </a:cubicBezTo>
                  <a:lnTo>
                    <a:pt x="1211961" y="2256663"/>
                  </a:lnTo>
                  <a:lnTo>
                    <a:pt x="1723390" y="2414524"/>
                  </a:lnTo>
                  <a:lnTo>
                    <a:pt x="1723390" y="2414524"/>
                  </a:lnTo>
                  <a:cubicBezTo>
                    <a:pt x="1828546" y="2431795"/>
                    <a:pt x="1933575" y="2440305"/>
                    <a:pt x="2037588" y="2440305"/>
                  </a:cubicBezTo>
                  <a:cubicBezTo>
                    <a:pt x="2775331" y="2440305"/>
                    <a:pt x="3460877" y="2015744"/>
                    <a:pt x="3778250" y="1329436"/>
                  </a:cubicBezTo>
                  <a:lnTo>
                    <a:pt x="3778250" y="1329436"/>
                  </a:lnTo>
                  <a:lnTo>
                    <a:pt x="3800094" y="1258570"/>
                  </a:lnTo>
                  <a:lnTo>
                    <a:pt x="3800094" y="1258570"/>
                  </a:lnTo>
                  <a:cubicBezTo>
                    <a:pt x="3814190" y="1161542"/>
                    <a:pt x="3768979" y="1063879"/>
                    <a:pt x="3680840" y="1021588"/>
                  </a:cubicBezTo>
                  <a:lnTo>
                    <a:pt x="3680840" y="1021588"/>
                  </a:lnTo>
                  <a:lnTo>
                    <a:pt x="379857" y="2413"/>
                  </a:lnTo>
                  <a:lnTo>
                    <a:pt x="379857" y="2413"/>
                  </a:lnTo>
                  <a:cubicBezTo>
                    <a:pt x="369316" y="762"/>
                    <a:pt x="358648" y="0"/>
                    <a:pt x="348234" y="0"/>
                  </a:cubicBezTo>
                  <a:close/>
                </a:path>
              </a:pathLst>
            </a:custGeom>
            <a:solidFill>
              <a:srgbClr val="FCAEFB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578340" y="530352"/>
            <a:ext cx="2052828" cy="394716"/>
          </a:xfrm>
          <a:custGeom>
            <a:avLst/>
            <a:gdLst/>
            <a:ahLst/>
            <a:cxnLst/>
            <a:rect l="l" t="t" r="r" b="b"/>
            <a:pathLst>
              <a:path w="2052828" h="394716">
                <a:moveTo>
                  <a:pt x="0" y="0"/>
                </a:moveTo>
                <a:lnTo>
                  <a:pt x="2052828" y="0"/>
                </a:lnTo>
                <a:lnTo>
                  <a:pt x="2052828" y="394716"/>
                </a:lnTo>
                <a:lnTo>
                  <a:pt x="0" y="394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1" name="TextBox 11"/>
          <p:cNvSpPr txBox="1"/>
          <p:nvPr/>
        </p:nvSpPr>
        <p:spPr>
          <a:xfrm>
            <a:off x="3877371" y="5357889"/>
            <a:ext cx="2441851" cy="576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" sz="1667" b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Master's Degree in Secondary School Teacher Training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65584" y="4982430"/>
            <a:ext cx="2865584" cy="6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5"/>
              </a:lnSpc>
            </a:pPr>
            <a:r>
              <a:rPr lang="en" sz="3432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Academic year </a:t>
            </a:r>
            <a:r>
              <a:rPr lang="en" sz="343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2024-25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7762" y="661035"/>
            <a:ext cx="3910923" cy="1410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</a:pPr>
            <a:r>
              <a:rPr lang="en" sz="266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One</a:t>
            </a:r>
            <a:r>
              <a:rPr lang="en" sz="266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" sz="266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possible</a:t>
            </a:r>
            <a:r>
              <a:rPr lang="en" sz="266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" sz="266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learning situation</a:t>
            </a:r>
            <a:r>
              <a:rPr lang="en" sz="266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" sz="266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that we will study</a:t>
            </a:r>
            <a:r>
              <a:rPr lang="en" sz="266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" sz="266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together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8149" y="2389612"/>
            <a:ext cx="4130149" cy="117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5"/>
              </a:lnSpc>
            </a:pPr>
            <a:r>
              <a:rPr lang="en" sz="333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Which </a:t>
            </a:r>
            <a:r>
              <a:rPr lang="en" sz="333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padlock </a:t>
            </a:r>
            <a:r>
              <a:rPr lang="en" sz="333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is more </a:t>
            </a:r>
            <a:r>
              <a:rPr lang="en" sz="333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secure </a:t>
            </a:r>
            <a:r>
              <a:rPr lang="en" sz="333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?</a:t>
            </a:r>
          </a:p>
        </p:txBody>
      </p:sp>
      <p:pic>
        <p:nvPicPr>
          <p:cNvPr id="15" name="Picture 14" descr="A grey square with white text&#10;&#10;AI-generated content may be incorrect.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6224391" y="208915"/>
            <a:ext cx="2092960" cy="5568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698492" y="0"/>
            <a:ext cx="4576572" cy="2990088"/>
          </a:xfrm>
          <a:custGeom>
            <a:avLst/>
            <a:gdLst/>
            <a:ahLst/>
            <a:cxnLst/>
            <a:rect l="l" t="t" r="r" b="b"/>
            <a:pathLst>
              <a:path w="4576572" h="2990088">
                <a:moveTo>
                  <a:pt x="0" y="0"/>
                </a:moveTo>
                <a:lnTo>
                  <a:pt x="4576572" y="0"/>
                </a:lnTo>
                <a:lnTo>
                  <a:pt x="4576572" y="2990088"/>
                </a:lnTo>
                <a:lnTo>
                  <a:pt x="0" y="299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6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7318947" y="298566"/>
            <a:ext cx="1554480" cy="1699260"/>
          </a:xfrm>
          <a:custGeom>
            <a:avLst/>
            <a:gdLst/>
            <a:ahLst/>
            <a:cxnLst/>
            <a:rect l="l" t="t" r="r" b="b"/>
            <a:pathLst>
              <a:path w="1554480" h="1699260">
                <a:moveTo>
                  <a:pt x="0" y="0"/>
                </a:moveTo>
                <a:lnTo>
                  <a:pt x="1554480" y="0"/>
                </a:lnTo>
                <a:lnTo>
                  <a:pt x="1554480" y="1699260"/>
                </a:lnTo>
                <a:lnTo>
                  <a:pt x="0" y="16992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619" t="-15239" r="-78251" b="-344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Freeform 13"/>
          <p:cNvSpPr/>
          <p:nvPr/>
        </p:nvSpPr>
        <p:spPr>
          <a:xfrm>
            <a:off x="9173537" y="57012"/>
            <a:ext cx="2188464" cy="2182368"/>
          </a:xfrm>
          <a:custGeom>
            <a:avLst/>
            <a:gdLst/>
            <a:ahLst/>
            <a:cxnLst/>
            <a:rect l="l" t="t" r="r" b="b"/>
            <a:pathLst>
              <a:path w="2188464" h="2182368">
                <a:moveTo>
                  <a:pt x="0" y="0"/>
                </a:moveTo>
                <a:lnTo>
                  <a:pt x="2188464" y="0"/>
                </a:lnTo>
                <a:lnTo>
                  <a:pt x="2188464" y="2182368"/>
                </a:lnTo>
                <a:lnTo>
                  <a:pt x="0" y="21823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4" name="Freeform 14"/>
          <p:cNvSpPr/>
          <p:nvPr/>
        </p:nvSpPr>
        <p:spPr>
          <a:xfrm>
            <a:off x="9589389" y="2463238"/>
            <a:ext cx="1510284" cy="1650492"/>
          </a:xfrm>
          <a:custGeom>
            <a:avLst/>
            <a:gdLst/>
            <a:ahLst/>
            <a:cxnLst/>
            <a:rect l="l" t="t" r="r" b="b"/>
            <a:pathLst>
              <a:path w="1510284" h="1650492">
                <a:moveTo>
                  <a:pt x="0" y="0"/>
                </a:moveTo>
                <a:lnTo>
                  <a:pt x="1510284" y="0"/>
                </a:lnTo>
                <a:lnTo>
                  <a:pt x="1510284" y="1650492"/>
                </a:lnTo>
                <a:lnTo>
                  <a:pt x="0" y="1650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5" name="Freeform 15"/>
          <p:cNvSpPr/>
          <p:nvPr/>
        </p:nvSpPr>
        <p:spPr>
          <a:xfrm>
            <a:off x="7197027" y="2328219"/>
            <a:ext cx="1798320" cy="1792224"/>
          </a:xfrm>
          <a:custGeom>
            <a:avLst/>
            <a:gdLst/>
            <a:ahLst/>
            <a:cxnLst/>
            <a:rect l="l" t="t" r="r" b="b"/>
            <a:pathLst>
              <a:path w="1798320" h="1792224">
                <a:moveTo>
                  <a:pt x="0" y="0"/>
                </a:moveTo>
                <a:lnTo>
                  <a:pt x="1798320" y="0"/>
                </a:lnTo>
                <a:lnTo>
                  <a:pt x="179832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 rot="7209240">
            <a:off x="7697592" y="4282645"/>
            <a:ext cx="1317031" cy="2248281"/>
            <a:chOff x="0" y="0"/>
            <a:chExt cx="1756042" cy="29977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56029" cy="2997708"/>
            </a:xfrm>
            <a:custGeom>
              <a:avLst/>
              <a:gdLst/>
              <a:ahLst/>
              <a:cxnLst/>
              <a:rect l="l" t="t" r="r" b="b"/>
              <a:pathLst>
                <a:path w="1756029" h="2997708">
                  <a:moveTo>
                    <a:pt x="0" y="2997708"/>
                  </a:moveTo>
                  <a:lnTo>
                    <a:pt x="1756029" y="2997581"/>
                  </a:lnTo>
                  <a:lnTo>
                    <a:pt x="1756029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12"/>
              <a:stretch>
                <a:fillRect t="-8768" r="-99979" b="-8698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9658917" y="4342330"/>
            <a:ext cx="1752600" cy="1746504"/>
          </a:xfrm>
          <a:custGeom>
            <a:avLst/>
            <a:gdLst/>
            <a:ahLst/>
            <a:cxnLst/>
            <a:rect l="l" t="t" r="r" b="b"/>
            <a:pathLst>
              <a:path w="1752600" h="1746504">
                <a:moveTo>
                  <a:pt x="0" y="0"/>
                </a:moveTo>
                <a:lnTo>
                  <a:pt x="1752600" y="0"/>
                </a:lnTo>
                <a:lnTo>
                  <a:pt x="1752600" y="1746504"/>
                </a:lnTo>
                <a:lnTo>
                  <a:pt x="0" y="17465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9" name="Freeform 19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20" name="TextBox 20"/>
          <p:cNvSpPr txBox="1"/>
          <p:nvPr/>
        </p:nvSpPr>
        <p:spPr>
          <a:xfrm>
            <a:off x="682526" y="687685"/>
            <a:ext cx="6103770" cy="517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1"/>
              </a:lnSpc>
            </a:pPr>
            <a:r>
              <a:rPr lang="en" sz="67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Of the following collection of </a:t>
            </a:r>
            <a:r>
              <a:rPr lang="en" sz="67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padlocks </a:t>
            </a:r>
            <a:r>
              <a:rPr lang="en" sz="67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which is the most </a:t>
            </a:r>
            <a:r>
              <a:rPr lang="en" sz="67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secure </a:t>
            </a:r>
            <a:r>
              <a:rPr lang="en" sz="67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698492" y="0"/>
            <a:ext cx="4576572" cy="2990088"/>
          </a:xfrm>
          <a:custGeom>
            <a:avLst/>
            <a:gdLst/>
            <a:ahLst/>
            <a:cxnLst/>
            <a:rect l="l" t="t" r="r" b="b"/>
            <a:pathLst>
              <a:path w="4576572" h="2990088">
                <a:moveTo>
                  <a:pt x="0" y="0"/>
                </a:moveTo>
                <a:lnTo>
                  <a:pt x="4576572" y="0"/>
                </a:lnTo>
                <a:lnTo>
                  <a:pt x="4576572" y="2990088"/>
                </a:lnTo>
                <a:lnTo>
                  <a:pt x="0" y="299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6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900317" y="1739817"/>
            <a:ext cx="1279584" cy="1398761"/>
          </a:xfrm>
          <a:custGeom>
            <a:avLst/>
            <a:gdLst/>
            <a:ahLst/>
            <a:cxnLst/>
            <a:rect l="l" t="t" r="r" b="b"/>
            <a:pathLst>
              <a:path w="1279584" h="1398761">
                <a:moveTo>
                  <a:pt x="0" y="0"/>
                </a:moveTo>
                <a:lnTo>
                  <a:pt x="1279583" y="0"/>
                </a:lnTo>
                <a:lnTo>
                  <a:pt x="1279583" y="1398760"/>
                </a:lnTo>
                <a:lnTo>
                  <a:pt x="0" y="13987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619" t="-15239" r="-78251" b="-344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Freeform 13"/>
          <p:cNvSpPr/>
          <p:nvPr/>
        </p:nvSpPr>
        <p:spPr>
          <a:xfrm>
            <a:off x="3526478" y="2996820"/>
            <a:ext cx="1801453" cy="1796435"/>
          </a:xfrm>
          <a:custGeom>
            <a:avLst/>
            <a:gdLst/>
            <a:ahLst/>
            <a:cxnLst/>
            <a:rect l="l" t="t" r="r" b="b"/>
            <a:pathLst>
              <a:path w="1801453" h="1796435">
                <a:moveTo>
                  <a:pt x="0" y="0"/>
                </a:moveTo>
                <a:lnTo>
                  <a:pt x="1801453" y="0"/>
                </a:lnTo>
                <a:lnTo>
                  <a:pt x="1801453" y="1796435"/>
                </a:lnTo>
                <a:lnTo>
                  <a:pt x="0" y="1796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4" name="Freeform 14"/>
          <p:cNvSpPr/>
          <p:nvPr/>
        </p:nvSpPr>
        <p:spPr>
          <a:xfrm>
            <a:off x="7016479" y="3216356"/>
            <a:ext cx="1243203" cy="1358617"/>
          </a:xfrm>
          <a:custGeom>
            <a:avLst/>
            <a:gdLst/>
            <a:ahLst/>
            <a:cxnLst/>
            <a:rect l="l" t="t" r="r" b="b"/>
            <a:pathLst>
              <a:path w="1243203" h="1358617">
                <a:moveTo>
                  <a:pt x="0" y="0"/>
                </a:moveTo>
                <a:lnTo>
                  <a:pt x="1243204" y="0"/>
                </a:lnTo>
                <a:lnTo>
                  <a:pt x="1243204" y="1358617"/>
                </a:lnTo>
                <a:lnTo>
                  <a:pt x="0" y="13586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5" name="Freeform 15"/>
          <p:cNvSpPr/>
          <p:nvPr/>
        </p:nvSpPr>
        <p:spPr>
          <a:xfrm>
            <a:off x="5536177" y="3560087"/>
            <a:ext cx="1480303" cy="1475285"/>
          </a:xfrm>
          <a:custGeom>
            <a:avLst/>
            <a:gdLst/>
            <a:ahLst/>
            <a:cxnLst/>
            <a:rect l="l" t="t" r="r" b="b"/>
            <a:pathLst>
              <a:path w="1480303" h="1475285">
                <a:moveTo>
                  <a:pt x="0" y="0"/>
                </a:moveTo>
                <a:lnTo>
                  <a:pt x="1480302" y="0"/>
                </a:lnTo>
                <a:lnTo>
                  <a:pt x="1480302" y="1475285"/>
                </a:lnTo>
                <a:lnTo>
                  <a:pt x="0" y="1475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 rot="7209240">
            <a:off x="7051041" y="1707192"/>
            <a:ext cx="1084126" cy="1850692"/>
            <a:chOff x="0" y="0"/>
            <a:chExt cx="1756042" cy="29977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56029" cy="2997708"/>
            </a:xfrm>
            <a:custGeom>
              <a:avLst/>
              <a:gdLst/>
              <a:ahLst/>
              <a:cxnLst/>
              <a:rect l="l" t="t" r="r" b="b"/>
              <a:pathLst>
                <a:path w="1756029" h="2997708">
                  <a:moveTo>
                    <a:pt x="0" y="2997708"/>
                  </a:moveTo>
                  <a:lnTo>
                    <a:pt x="1756029" y="2997581"/>
                  </a:lnTo>
                  <a:lnTo>
                    <a:pt x="1756029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12"/>
              <a:stretch>
                <a:fillRect t="-8768" r="-99979" b="-8698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5233844" y="1927991"/>
            <a:ext cx="1442668" cy="1437650"/>
          </a:xfrm>
          <a:custGeom>
            <a:avLst/>
            <a:gdLst/>
            <a:ahLst/>
            <a:cxnLst/>
            <a:rect l="l" t="t" r="r" b="b"/>
            <a:pathLst>
              <a:path w="1442668" h="1437650">
                <a:moveTo>
                  <a:pt x="0" y="0"/>
                </a:moveTo>
                <a:lnTo>
                  <a:pt x="1442668" y="0"/>
                </a:lnTo>
                <a:lnTo>
                  <a:pt x="1442668" y="1437650"/>
                </a:lnTo>
                <a:lnTo>
                  <a:pt x="0" y="14376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9" name="Freeform 19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20" name="TextBox 20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358" y="1032096"/>
            <a:ext cx="11449404" cy="48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1"/>
              </a:lnSpc>
            </a:pPr>
            <a:r>
              <a:rPr lang="en" sz="30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Of the following collection of </a:t>
            </a:r>
            <a:r>
              <a:rPr lang="en" sz="30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padlocks </a:t>
            </a:r>
            <a:r>
              <a:rPr lang="en" sz="30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which is the most </a:t>
            </a:r>
            <a:r>
              <a:rPr lang="en" sz="30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secure </a:t>
            </a:r>
            <a:r>
              <a:rPr lang="en" sz="30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38057" y="5064595"/>
            <a:ext cx="5914006" cy="9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1"/>
              </a:lnSpc>
            </a:pPr>
            <a:r>
              <a:rPr lang="en" sz="30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What issues do you propose to address based on the presentation?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73737" y="6045632"/>
            <a:ext cx="8042646" cy="6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2"/>
              </a:lnSpc>
            </a:pPr>
            <a:r>
              <a:rPr lang="en" sz="428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Sharing!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9217" y="520151"/>
            <a:ext cx="6858000" cy="5817689"/>
          </a:xfrm>
          <a:custGeom>
            <a:avLst/>
            <a:gdLst/>
            <a:ahLst/>
            <a:cxnLst/>
            <a:rect l="l" t="t" r="r" b="b"/>
            <a:pathLst>
              <a:path w="6858000" h="5817689">
                <a:moveTo>
                  <a:pt x="0" y="0"/>
                </a:moveTo>
                <a:lnTo>
                  <a:pt x="6858000" y="0"/>
                </a:lnTo>
                <a:lnTo>
                  <a:pt x="6858000" y="5817689"/>
                </a:lnTo>
                <a:lnTo>
                  <a:pt x="0" y="5817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Freeform 3"/>
          <p:cNvSpPr/>
          <p:nvPr/>
        </p:nvSpPr>
        <p:spPr>
          <a:xfrm>
            <a:off x="5644896" y="2360676"/>
            <a:ext cx="1845564" cy="1696212"/>
          </a:xfrm>
          <a:custGeom>
            <a:avLst/>
            <a:gdLst/>
            <a:ahLst/>
            <a:cxnLst/>
            <a:rect l="l" t="t" r="r" b="b"/>
            <a:pathLst>
              <a:path w="1845564" h="1696212">
                <a:moveTo>
                  <a:pt x="0" y="0"/>
                </a:moveTo>
                <a:lnTo>
                  <a:pt x="1845564" y="0"/>
                </a:lnTo>
                <a:lnTo>
                  <a:pt x="1845564" y="1696212"/>
                </a:lnTo>
                <a:lnTo>
                  <a:pt x="0" y="1696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4" name="Freeform 4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TextBox 5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1511684"/>
            <a:ext cx="5347510" cy="4421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4"/>
              </a:lnSpc>
            </a:pPr>
            <a:r>
              <a:rPr lang="en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Code:</a:t>
            </a:r>
          </a:p>
          <a:p>
            <a:pPr algn="l">
              <a:lnSpc>
                <a:spcPts val="1934"/>
              </a:lnSpc>
            </a:pPr>
            <a:r>
              <a:rPr lang="en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Possible password that can be entered into the padlock.</a:t>
            </a:r>
          </a:p>
          <a:p>
            <a:pPr algn="l">
              <a:lnSpc>
                <a:spcPts val="1934"/>
              </a:lnSpc>
            </a:pPr>
            <a:endParaRPr lang="en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Code elements:</a:t>
            </a:r>
          </a:p>
          <a:p>
            <a:pPr algn="l">
              <a:lnSpc>
                <a:spcPts val="1934"/>
              </a:lnSpc>
            </a:pPr>
            <a:r>
              <a:rPr lang="en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Numbers, letters, symbols,... that make up a code.</a:t>
            </a:r>
          </a:p>
          <a:p>
            <a:pPr algn="l">
              <a:lnSpc>
                <a:spcPts val="1934"/>
              </a:lnSpc>
            </a:pPr>
            <a:endParaRPr lang="en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Box:</a:t>
            </a:r>
          </a:p>
          <a:p>
            <a:pPr algn="l">
              <a:lnSpc>
                <a:spcPts val="1934"/>
              </a:lnSpc>
            </a:pPr>
            <a:r>
              <a:rPr lang="en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Space (physical or not) in the padlock where the elements of the code are entered.</a:t>
            </a:r>
          </a:p>
          <a:p>
            <a:pPr algn="l">
              <a:lnSpc>
                <a:spcPts val="1934"/>
              </a:lnSpc>
            </a:pPr>
            <a:endParaRPr lang="en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Elements of the box:</a:t>
            </a:r>
          </a:p>
          <a:p>
            <a:pPr algn="l">
              <a:lnSpc>
                <a:spcPts val="1934"/>
              </a:lnSpc>
            </a:pPr>
            <a:r>
              <a:rPr lang="en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Numbers, letters, symbols,... that can be inserted into a box.</a:t>
            </a:r>
          </a:p>
          <a:p>
            <a:pPr algn="l">
              <a:lnSpc>
                <a:spcPts val="1934"/>
              </a:lnSpc>
            </a:pPr>
            <a:endParaRPr lang="en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or password </a:t>
            </a:r>
            <a:r>
              <a:rPr lang="en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1934"/>
              </a:lnSpc>
            </a:pPr>
            <a:r>
              <a:rPr lang="en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Correct code. When we enter it, the padlock opens.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4125" y="1596782"/>
            <a:ext cx="4192075" cy="4197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5"/>
              </a:lnSpc>
            </a:pPr>
            <a:r>
              <a:rPr lang="en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Code:</a:t>
            </a:r>
          </a:p>
          <a:p>
            <a:pPr algn="l">
              <a:lnSpc>
                <a:spcPts val="2005"/>
              </a:lnSpc>
            </a:pPr>
            <a:r>
              <a:rPr lang="en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1234, 2930, 1240, ... among other possibilities.</a:t>
            </a:r>
          </a:p>
          <a:p>
            <a:pPr marL="302475" lvl="1" indent="-151237" algn="l">
              <a:lnSpc>
                <a:spcPts val="2005"/>
              </a:lnSpc>
            </a:pPr>
            <a:endParaRPr lang="en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Code elements:</a:t>
            </a:r>
            <a:r>
              <a:rPr lang="en" sz="167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</a:p>
          <a:p>
            <a:pPr algn="l">
              <a:lnSpc>
                <a:spcPts val="2005"/>
              </a:lnSpc>
            </a:pPr>
            <a:r>
              <a:rPr lang="en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code 1234 has 4 elements: 1, 2, 3 and 4.</a:t>
            </a:r>
          </a:p>
          <a:p>
            <a:pPr marL="302475" lvl="1" indent="-151237" algn="l">
              <a:lnSpc>
                <a:spcPts val="2005"/>
              </a:lnSpc>
            </a:pPr>
            <a:endParaRPr lang="en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Box:</a:t>
            </a:r>
          </a:p>
          <a:p>
            <a:pPr algn="l">
              <a:lnSpc>
                <a:spcPts val="2005"/>
              </a:lnSpc>
            </a:pPr>
            <a:r>
              <a:rPr lang="en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It has 4 squares. Each space where we insert a number</a:t>
            </a:r>
          </a:p>
          <a:p>
            <a:pPr marL="302475" lvl="1" indent="-151237" algn="l">
              <a:lnSpc>
                <a:spcPts val="2005"/>
              </a:lnSpc>
            </a:pPr>
            <a:endParaRPr lang="en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Elements of the box:</a:t>
            </a:r>
          </a:p>
          <a:p>
            <a:pPr algn="l">
              <a:lnSpc>
                <a:spcPts val="2005"/>
              </a:lnSpc>
            </a:pPr>
            <a:r>
              <a:rPr lang="en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Numbers between 0 and 9. Options we have in each box.</a:t>
            </a:r>
          </a:p>
          <a:p>
            <a:pPr algn="l">
              <a:lnSpc>
                <a:spcPts val="2005"/>
              </a:lnSpc>
            </a:pPr>
            <a:endParaRPr lang="en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Key or password </a:t>
            </a:r>
            <a:r>
              <a:rPr lang="en" sz="1671">
                <a:solidFill>
                  <a:srgbClr val="733EF6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2005"/>
              </a:lnSpc>
            </a:pPr>
            <a:r>
              <a:rPr lang="en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4921 (Because when we insert it, it opens)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1035434"/>
            <a:ext cx="598443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4"/>
              </a:lnSpc>
            </a:pPr>
            <a:r>
              <a:rPr lang="en" sz="1611" b="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Vocabulary: </a:t>
            </a:r>
            <a:r>
              <a:rPr lang="en" sz="161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words whose meaning needs to be clarified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0420" y="50283"/>
            <a:ext cx="10945780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1"/>
              </a:lnSpc>
            </a:pPr>
            <a:r>
              <a:rPr lang="en" sz="22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Of the following collection of </a:t>
            </a:r>
            <a:r>
              <a:rPr lang="en" sz="22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padlocks </a:t>
            </a:r>
            <a:r>
              <a:rPr lang="en" sz="22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which is the most </a:t>
            </a:r>
            <a:r>
              <a:rPr lang="en" sz="22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secure </a:t>
            </a:r>
            <a:r>
              <a:rPr lang="en" sz="22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7743" y="1186573"/>
            <a:ext cx="10656514" cy="444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7"/>
              </a:lnSpc>
            </a:pPr>
            <a:r>
              <a:rPr lang="en" sz="9722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" sz="9722" u="sng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many</a:t>
            </a:r>
            <a:r>
              <a:rPr lang="en" sz="9722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9722" u="sng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codes</a:t>
            </a:r>
            <a:r>
              <a:rPr lang="en" sz="9722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9722" u="sng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different </a:t>
            </a:r>
            <a:r>
              <a:rPr lang="en" sz="9722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does each padlock support?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8745780">
            <a:off x="7795089" y="2852995"/>
            <a:ext cx="5853922" cy="4530557"/>
            <a:chOff x="0" y="0"/>
            <a:chExt cx="7805230" cy="60407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05165" cy="6040755"/>
            </a:xfrm>
            <a:custGeom>
              <a:avLst/>
              <a:gdLst/>
              <a:ahLst/>
              <a:cxnLst/>
              <a:rect l="l" t="t" r="r" b="b"/>
              <a:pathLst>
                <a:path w="7805165" h="6040755">
                  <a:moveTo>
                    <a:pt x="6096" y="6040755"/>
                  </a:moveTo>
                  <a:lnTo>
                    <a:pt x="7805165" y="5978271"/>
                  </a:lnTo>
                  <a:lnTo>
                    <a:pt x="7780147" y="2853309"/>
                  </a:lnTo>
                  <a:lnTo>
                    <a:pt x="3587369" y="0"/>
                  </a:lnTo>
                  <a:lnTo>
                    <a:pt x="0" y="5271389"/>
                  </a:lnTo>
                  <a:lnTo>
                    <a:pt x="2794" y="5626862"/>
                  </a:lnTo>
                  <a:lnTo>
                    <a:pt x="6096" y="6040755"/>
                  </a:lnTo>
                  <a:close/>
                </a:path>
              </a:pathLst>
            </a:custGeom>
            <a:blipFill>
              <a:blip r:embed="rId2"/>
              <a:stretch>
                <a:fillRect l="-539" t="-553" b="-3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344667" y="3688080"/>
            <a:ext cx="345443" cy="350520"/>
          </a:xfrm>
          <a:custGeom>
            <a:avLst/>
            <a:gdLst/>
            <a:ahLst/>
            <a:cxnLst/>
            <a:rect l="l" t="t" r="r" b="b"/>
            <a:pathLst>
              <a:path w="345443" h="350520">
                <a:moveTo>
                  <a:pt x="0" y="0"/>
                </a:moveTo>
                <a:lnTo>
                  <a:pt x="345443" y="0"/>
                </a:lnTo>
                <a:lnTo>
                  <a:pt x="345443" y="350520"/>
                </a:lnTo>
                <a:lnTo>
                  <a:pt x="0" y="350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Freeform 5"/>
          <p:cNvSpPr/>
          <p:nvPr/>
        </p:nvSpPr>
        <p:spPr>
          <a:xfrm>
            <a:off x="4603747" y="3688080"/>
            <a:ext cx="331470" cy="350520"/>
          </a:xfrm>
          <a:custGeom>
            <a:avLst/>
            <a:gdLst/>
            <a:ahLst/>
            <a:cxnLst/>
            <a:rect l="l" t="t" r="r" b="b"/>
            <a:pathLst>
              <a:path w="331470" h="350520">
                <a:moveTo>
                  <a:pt x="0" y="0"/>
                </a:moveTo>
                <a:lnTo>
                  <a:pt x="331470" y="0"/>
                </a:lnTo>
                <a:lnTo>
                  <a:pt x="331470" y="350520"/>
                </a:lnTo>
                <a:lnTo>
                  <a:pt x="0" y="350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6" name="Freeform 6"/>
          <p:cNvSpPr/>
          <p:nvPr/>
        </p:nvSpPr>
        <p:spPr>
          <a:xfrm>
            <a:off x="7397496" y="1082040"/>
            <a:ext cx="1790700" cy="2008632"/>
          </a:xfrm>
          <a:custGeom>
            <a:avLst/>
            <a:gdLst/>
            <a:ahLst/>
            <a:cxnLst/>
            <a:rect l="l" t="t" r="r" b="b"/>
            <a:pathLst>
              <a:path w="1790700" h="2008632">
                <a:moveTo>
                  <a:pt x="0" y="0"/>
                </a:moveTo>
                <a:lnTo>
                  <a:pt x="1790700" y="0"/>
                </a:lnTo>
                <a:lnTo>
                  <a:pt x="1790700" y="2008632"/>
                </a:lnTo>
                <a:lnTo>
                  <a:pt x="0" y="20086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17" t="-15244" r="-78255" b="-3439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" name="Freeform 7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" name="TextBox 8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many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different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admits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padlock 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0684" y="2494084"/>
            <a:ext cx="5494133" cy="338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choose any 4-digit password.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" sz="2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squares are rotating discs, with 10 numbers ranging from 0 to 9.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" sz="2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open the padlock, the discs must be moved so that the password appears correctly located in each of the 4 boxes.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2087" y="1672653"/>
            <a:ext cx="5252731" cy="475046"/>
            <a:chOff x="0" y="0"/>
            <a:chExt cx="7050116" cy="6375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Padlock</a:t>
              </a:r>
              <a:r>
                <a:rPr lang="en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 </a:t>
              </a:r>
              <a:r>
                <a:rPr lang="en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Padlock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from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numbering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from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roulette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38064"/>
            <a:ext cx="5908548" cy="2919603"/>
          </a:xfrm>
          <a:custGeom>
            <a:avLst/>
            <a:gdLst/>
            <a:ahLst/>
            <a:cxnLst/>
            <a:rect l="l" t="t" r="r" b="b"/>
            <a:pathLst>
              <a:path w="5908548" h="2919603">
                <a:moveTo>
                  <a:pt x="0" y="0"/>
                </a:moveTo>
                <a:lnTo>
                  <a:pt x="5908548" y="0"/>
                </a:lnTo>
                <a:lnTo>
                  <a:pt x="5908548" y="2919603"/>
                </a:lnTo>
                <a:lnTo>
                  <a:pt x="0" y="2919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Freeform 3"/>
          <p:cNvSpPr/>
          <p:nvPr/>
        </p:nvSpPr>
        <p:spPr>
          <a:xfrm>
            <a:off x="1220624" y="4175122"/>
            <a:ext cx="2188464" cy="2182368"/>
          </a:xfrm>
          <a:custGeom>
            <a:avLst/>
            <a:gdLst/>
            <a:ahLst/>
            <a:cxnLst/>
            <a:rect l="l" t="t" r="r" b="b"/>
            <a:pathLst>
              <a:path w="2188464" h="2182368">
                <a:moveTo>
                  <a:pt x="0" y="0"/>
                </a:moveTo>
                <a:lnTo>
                  <a:pt x="2188464" y="0"/>
                </a:lnTo>
                <a:lnTo>
                  <a:pt x="2188464" y="2182368"/>
                </a:lnTo>
                <a:lnTo>
                  <a:pt x="0" y="21823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5908548" y="1769364"/>
            <a:ext cx="5338572" cy="3319272"/>
            <a:chOff x="0" y="0"/>
            <a:chExt cx="7118096" cy="44256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18096" cy="4425696"/>
            </a:xfrm>
            <a:custGeom>
              <a:avLst/>
              <a:gdLst/>
              <a:ahLst/>
              <a:cxnLst/>
              <a:rect l="l" t="t" r="r" b="b"/>
              <a:pathLst>
                <a:path w="7118096" h="4425696">
                  <a:moveTo>
                    <a:pt x="0" y="0"/>
                  </a:moveTo>
                  <a:lnTo>
                    <a:pt x="0" y="4425696"/>
                  </a:lnTo>
                  <a:lnTo>
                    <a:pt x="7118096" y="4425696"/>
                  </a:lnTo>
                  <a:lnTo>
                    <a:pt x="7118096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6" name="Freeform 6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" name="Freeform 7"/>
          <p:cNvSpPr/>
          <p:nvPr/>
        </p:nvSpPr>
        <p:spPr>
          <a:xfrm>
            <a:off x="6998332" y="5459473"/>
            <a:ext cx="2700528" cy="10668"/>
          </a:xfrm>
          <a:custGeom>
            <a:avLst/>
            <a:gdLst/>
            <a:ahLst/>
            <a:cxnLst/>
            <a:rect l="l" t="t" r="r" b="b"/>
            <a:pathLst>
              <a:path w="2700528" h="10668">
                <a:moveTo>
                  <a:pt x="0" y="0"/>
                </a:moveTo>
                <a:lnTo>
                  <a:pt x="2700528" y="0"/>
                </a:lnTo>
                <a:lnTo>
                  <a:pt x="2700528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" name="TextBox 8"/>
          <p:cNvSpPr txBox="1"/>
          <p:nvPr/>
        </p:nvSpPr>
        <p:spPr>
          <a:xfrm>
            <a:off x="6999094" y="5191201"/>
            <a:ext cx="2752830" cy="30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" sz="1800" spc="-30">
                <a:solidFill>
                  <a:srgbClr val="0563C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8" tooltip="https://youtu.be/zSUG5iQniSc"/>
              </a:rPr>
              <a:t>https://youtu.be/zSUG5iQniSc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many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different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admits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padlock 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6761" y="1721739"/>
            <a:ext cx="5097059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choose a password of a maximum of 3 digits: 1, 2 or 3 digits.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" sz="2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padlock does not detect the order in which we press the numbers.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" sz="2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open it, you must slide the bottom tab.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85800" y="907191"/>
            <a:ext cx="5252731" cy="475046"/>
            <a:chOff x="0" y="0"/>
            <a:chExt cx="7050116" cy="6375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Padlock</a:t>
              </a:r>
              <a:r>
                <a:rPr lang="en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 </a:t>
              </a:r>
              <a:r>
                <a:rPr lang="en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Padlock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push button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15606" y="1382238"/>
            <a:ext cx="2851404" cy="2895600"/>
          </a:xfrm>
          <a:custGeom>
            <a:avLst/>
            <a:gdLst/>
            <a:ahLst/>
            <a:cxnLst/>
            <a:rect l="l" t="t" r="r" b="b"/>
            <a:pathLst>
              <a:path w="2851404" h="2895600">
                <a:moveTo>
                  <a:pt x="0" y="0"/>
                </a:moveTo>
                <a:lnTo>
                  <a:pt x="2851404" y="0"/>
                </a:lnTo>
                <a:lnTo>
                  <a:pt x="2851404" y="2895600"/>
                </a:lnTo>
                <a:lnTo>
                  <a:pt x="0" y="289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1359420">
            <a:off x="-490452" y="4584059"/>
            <a:ext cx="5520338" cy="3090386"/>
            <a:chOff x="0" y="0"/>
            <a:chExt cx="7360450" cy="41205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60412" cy="4120515"/>
            </a:xfrm>
            <a:custGeom>
              <a:avLst/>
              <a:gdLst/>
              <a:ahLst/>
              <a:cxnLst/>
              <a:rect l="l" t="t" r="r" b="b"/>
              <a:pathLst>
                <a:path w="7360412" h="4120515">
                  <a:moveTo>
                    <a:pt x="6858" y="0"/>
                  </a:moveTo>
                  <a:lnTo>
                    <a:pt x="0" y="1101090"/>
                  </a:lnTo>
                  <a:lnTo>
                    <a:pt x="1260348" y="4120515"/>
                  </a:lnTo>
                  <a:lnTo>
                    <a:pt x="1266698" y="4120515"/>
                  </a:lnTo>
                  <a:lnTo>
                    <a:pt x="7350887" y="1580896"/>
                  </a:lnTo>
                  <a:lnTo>
                    <a:pt x="7360412" y="45974"/>
                  </a:lnTo>
                  <a:lnTo>
                    <a:pt x="5446395" y="34036"/>
                  </a:lnTo>
                  <a:lnTo>
                    <a:pt x="6858" y="0"/>
                  </a:lnTo>
                  <a:close/>
                </a:path>
              </a:pathLst>
            </a:custGeom>
            <a:blipFill>
              <a:blip r:embed="rId3"/>
              <a:stretch>
                <a:fillRect l="-255" t="-1" b="-920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5" name="Freeform 5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6" name="TextBox 6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many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different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admits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padlock 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Padlock</a:t>
              </a:r>
              <a:r>
                <a:rPr lang="en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 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Padlock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with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dates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6761" y="1721739"/>
            <a:ext cx="7277569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5" lvl="1" indent="-237487" algn="l">
              <a:lnSpc>
                <a:spcPts val="2639"/>
              </a:lnSpc>
              <a:buFont typeface="Arial"/>
              <a:buChar char="•"/>
            </a:pPr>
            <a:r>
              <a:rPr lang="en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password can be any date in the format DD – M – YY</a:t>
            </a:r>
          </a:p>
          <a:p>
            <a:pPr algn="l">
              <a:lnSpc>
                <a:spcPts val="2639"/>
              </a:lnSpc>
            </a:pPr>
            <a:endParaRPr lang="en" sz="2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buFont typeface="Arial"/>
              <a:buChar char="•"/>
            </a:pPr>
            <a:r>
              <a:rPr lang="en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Unreal dates are also allowed: 35 – JANUARY – 24</a:t>
            </a:r>
          </a:p>
          <a:p>
            <a:pPr algn="l">
              <a:lnSpc>
                <a:spcPts val="2639"/>
              </a:lnSpc>
            </a:pPr>
            <a:endParaRPr lang="en" sz="2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open it, you must move the discs so that the date is visible, in the positions corresponding to DD, M or YY.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08036" y="2534412"/>
            <a:ext cx="4283964" cy="4323588"/>
          </a:xfrm>
          <a:custGeom>
            <a:avLst/>
            <a:gdLst/>
            <a:ahLst/>
            <a:cxnLst/>
            <a:rect l="l" t="t" r="r" b="b"/>
            <a:pathLst>
              <a:path w="4283964" h="4323588">
                <a:moveTo>
                  <a:pt x="0" y="0"/>
                </a:moveTo>
                <a:lnTo>
                  <a:pt x="4283964" y="0"/>
                </a:lnTo>
                <a:lnTo>
                  <a:pt x="4283964" y="4323588"/>
                </a:lnTo>
                <a:lnTo>
                  <a:pt x="0" y="4323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Freeform 3"/>
          <p:cNvSpPr/>
          <p:nvPr/>
        </p:nvSpPr>
        <p:spPr>
          <a:xfrm>
            <a:off x="6847332" y="1461516"/>
            <a:ext cx="3329940" cy="3429000"/>
          </a:xfrm>
          <a:custGeom>
            <a:avLst/>
            <a:gdLst/>
            <a:ahLst/>
            <a:cxnLst/>
            <a:rect l="l" t="t" r="r" b="b"/>
            <a:pathLst>
              <a:path w="3329940" h="3429000">
                <a:moveTo>
                  <a:pt x="0" y="0"/>
                </a:moveTo>
                <a:lnTo>
                  <a:pt x="3329940" y="0"/>
                </a:lnTo>
                <a:lnTo>
                  <a:pt x="332994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4" name="Freeform 4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TextBox 5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0980" y="1601069"/>
            <a:ext cx="5680236" cy="515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You can choose any password with 5-letter words.</a:t>
            </a:r>
          </a:p>
          <a:p>
            <a:pPr marL="359676" lvl="1" indent="-179838" algn="l">
              <a:lnSpc>
                <a:spcPts val="2384"/>
              </a:lnSpc>
            </a:pPr>
            <a:endParaRPr lang="en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Only 10 letters are available on each disc.</a:t>
            </a:r>
          </a:p>
          <a:p>
            <a:pPr marL="359676" lvl="1" indent="-179838" algn="l">
              <a:lnSpc>
                <a:spcPts val="2384"/>
              </a:lnSpc>
            </a:pPr>
            <a:endParaRPr lang="en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padlock has no way of checking whether the word entered makes sense or not. Therefore, the password may be a meaningless word.</a:t>
            </a:r>
          </a:p>
          <a:p>
            <a:pPr marL="359676" lvl="1" indent="-179838" algn="l">
              <a:lnSpc>
                <a:spcPts val="2384"/>
              </a:lnSpc>
            </a:pPr>
            <a:endParaRPr lang="en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There are repeated lyrics on the different albums.</a:t>
            </a:r>
          </a:p>
          <a:p>
            <a:pPr marL="359676" lvl="1" indent="-179838" algn="l">
              <a:lnSpc>
                <a:spcPts val="2384"/>
              </a:lnSpc>
            </a:pPr>
            <a:endParaRPr lang="en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 open it, the discs must be moved so that the password appears in the position next to the tab.</a:t>
            </a:r>
          </a:p>
          <a:p>
            <a:pPr marL="359676" lvl="1" indent="-179838" algn="l">
              <a:lnSpc>
                <a:spcPts val="2384"/>
              </a:lnSpc>
            </a:pPr>
            <a:endParaRPr lang="en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</a:pPr>
            <a:endParaRPr lang="en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</a:pPr>
            <a:endParaRPr lang="en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many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different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admits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padlock 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Padlock</a:t>
              </a:r>
              <a:r>
                <a:rPr lang="en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 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Padlock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with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words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38064"/>
            <a:ext cx="5908548" cy="2919603"/>
          </a:xfrm>
          <a:custGeom>
            <a:avLst/>
            <a:gdLst/>
            <a:ahLst/>
            <a:cxnLst/>
            <a:rect l="l" t="t" r="r" b="b"/>
            <a:pathLst>
              <a:path w="5908548" h="2919603">
                <a:moveTo>
                  <a:pt x="0" y="0"/>
                </a:moveTo>
                <a:lnTo>
                  <a:pt x="5908548" y="0"/>
                </a:lnTo>
                <a:lnTo>
                  <a:pt x="5908548" y="2919603"/>
                </a:lnTo>
                <a:lnTo>
                  <a:pt x="0" y="2919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8745780">
            <a:off x="7795089" y="2852995"/>
            <a:ext cx="5853922" cy="4530557"/>
            <a:chOff x="0" y="0"/>
            <a:chExt cx="7805230" cy="6040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05165" cy="6040755"/>
            </a:xfrm>
            <a:custGeom>
              <a:avLst/>
              <a:gdLst/>
              <a:ahLst/>
              <a:cxnLst/>
              <a:rect l="l" t="t" r="r" b="b"/>
              <a:pathLst>
                <a:path w="7805165" h="6040755">
                  <a:moveTo>
                    <a:pt x="6096" y="6040755"/>
                  </a:moveTo>
                  <a:lnTo>
                    <a:pt x="7805165" y="5978271"/>
                  </a:lnTo>
                  <a:lnTo>
                    <a:pt x="7780147" y="2853309"/>
                  </a:lnTo>
                  <a:lnTo>
                    <a:pt x="3587369" y="0"/>
                  </a:lnTo>
                  <a:lnTo>
                    <a:pt x="0" y="5271389"/>
                  </a:lnTo>
                  <a:lnTo>
                    <a:pt x="2794" y="5626862"/>
                  </a:lnTo>
                  <a:lnTo>
                    <a:pt x="6096" y="6040755"/>
                  </a:lnTo>
                  <a:close/>
                </a:path>
              </a:pathLst>
            </a:custGeom>
            <a:blipFill>
              <a:blip r:embed="rId3"/>
              <a:stretch>
                <a:fillRect l="-539" t="-553" b="-3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5" name="Freeform 5"/>
          <p:cNvSpPr/>
          <p:nvPr/>
        </p:nvSpPr>
        <p:spPr>
          <a:xfrm>
            <a:off x="6966204" y="1275588"/>
            <a:ext cx="4861560" cy="3131820"/>
          </a:xfrm>
          <a:custGeom>
            <a:avLst/>
            <a:gdLst/>
            <a:ahLst/>
            <a:cxnLst/>
            <a:rect l="l" t="t" r="r" b="b"/>
            <a:pathLst>
              <a:path w="4861560" h="3131820">
                <a:moveTo>
                  <a:pt x="0" y="0"/>
                </a:moveTo>
                <a:lnTo>
                  <a:pt x="4861560" y="0"/>
                </a:lnTo>
                <a:lnTo>
                  <a:pt x="4861560" y="3131820"/>
                </a:lnTo>
                <a:lnTo>
                  <a:pt x="0" y="3131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 rot="7209240">
            <a:off x="2219773" y="4228167"/>
            <a:ext cx="1317098" cy="2248300"/>
            <a:chOff x="0" y="0"/>
            <a:chExt cx="1756131" cy="29977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6156" cy="2997708"/>
            </a:xfrm>
            <a:custGeom>
              <a:avLst/>
              <a:gdLst/>
              <a:ahLst/>
              <a:cxnLst/>
              <a:rect l="l" t="t" r="r" b="b"/>
              <a:pathLst>
                <a:path w="1756156" h="2997708">
                  <a:moveTo>
                    <a:pt x="0" y="2997708"/>
                  </a:moveTo>
                  <a:lnTo>
                    <a:pt x="1756156" y="2997581"/>
                  </a:lnTo>
                  <a:lnTo>
                    <a:pt x="1756156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5"/>
              <a:stretch>
                <a:fillRect t="-8772" r="-99965" b="-8695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8" name="Freeform 8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" name="Freeform 9"/>
          <p:cNvSpPr/>
          <p:nvPr/>
        </p:nvSpPr>
        <p:spPr>
          <a:xfrm>
            <a:off x="7145531" y="4827908"/>
            <a:ext cx="3528060" cy="10668"/>
          </a:xfrm>
          <a:custGeom>
            <a:avLst/>
            <a:gdLst/>
            <a:ahLst/>
            <a:cxnLst/>
            <a:rect l="l" t="t" r="r" b="b"/>
            <a:pathLst>
              <a:path w="3528060" h="10668">
                <a:moveTo>
                  <a:pt x="0" y="0"/>
                </a:moveTo>
                <a:lnTo>
                  <a:pt x="3528060" y="0"/>
                </a:lnTo>
                <a:lnTo>
                  <a:pt x="3528060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0" name="TextBox 10"/>
          <p:cNvSpPr txBox="1"/>
          <p:nvPr/>
        </p:nvSpPr>
        <p:spPr>
          <a:xfrm>
            <a:off x="11879323" y="174755"/>
            <a:ext cx="78810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46293" y="4559370"/>
            <a:ext cx="3598307" cy="30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" sz="1800" spc="-30">
                <a:solidFill>
                  <a:srgbClr val="0563C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9" tooltip="https://youtu.be/9IAfqFGM56w?t=153"/>
              </a:rPr>
              <a:t>https://youtu.be/9IAfqFGM56w?t=153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1694656"/>
            <a:ext cx="5796760" cy="2902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Any 4-direction password can be chosen (up, down, right, left)</a:t>
            </a:r>
          </a:p>
          <a:p>
            <a:pPr marL="343607" lvl="1" indent="-171803" algn="l">
              <a:lnSpc>
                <a:spcPts val="2278"/>
              </a:lnSpc>
            </a:pPr>
            <a:endParaRPr lang="en" sz="189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password can have repeated elements.</a:t>
            </a:r>
          </a:p>
          <a:p>
            <a:pPr marL="343607" lvl="1" indent="-171803" algn="l">
              <a:lnSpc>
                <a:spcPts val="2278"/>
              </a:lnSpc>
            </a:pPr>
            <a:endParaRPr lang="en" sz="189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 enter a new password, you must press twice against the padlock.</a:t>
            </a:r>
          </a:p>
          <a:p>
            <a:pPr marL="343607" lvl="1" indent="-171803" algn="l">
              <a:lnSpc>
                <a:spcPts val="2278"/>
              </a:lnSpc>
            </a:pPr>
            <a:endParaRPr lang="en" sz="189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When the code is correct, the padlock can be opened.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many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different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admits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padlock 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Padlock</a:t>
              </a:r>
              <a:r>
                <a:rPr lang="en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 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Padlock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directional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1359420">
            <a:off x="-490452" y="4584059"/>
            <a:ext cx="5520338" cy="3090386"/>
            <a:chOff x="0" y="0"/>
            <a:chExt cx="7360450" cy="41205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60412" cy="4120515"/>
            </a:xfrm>
            <a:custGeom>
              <a:avLst/>
              <a:gdLst/>
              <a:ahLst/>
              <a:cxnLst/>
              <a:rect l="l" t="t" r="r" b="b"/>
              <a:pathLst>
                <a:path w="7360412" h="4120515">
                  <a:moveTo>
                    <a:pt x="6858" y="0"/>
                  </a:moveTo>
                  <a:lnTo>
                    <a:pt x="0" y="1101090"/>
                  </a:lnTo>
                  <a:lnTo>
                    <a:pt x="1260348" y="4120515"/>
                  </a:lnTo>
                  <a:lnTo>
                    <a:pt x="1266698" y="4120515"/>
                  </a:lnTo>
                  <a:lnTo>
                    <a:pt x="7350887" y="1580896"/>
                  </a:lnTo>
                  <a:lnTo>
                    <a:pt x="7360412" y="45974"/>
                  </a:lnTo>
                  <a:lnTo>
                    <a:pt x="5446395" y="34036"/>
                  </a:lnTo>
                  <a:lnTo>
                    <a:pt x="6858" y="0"/>
                  </a:lnTo>
                  <a:close/>
                </a:path>
              </a:pathLst>
            </a:custGeom>
            <a:blipFill>
              <a:blip r:embed="rId2"/>
              <a:stretch>
                <a:fillRect l="-255" t="-1" b="-920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1559052" y="4201668"/>
            <a:ext cx="2452116" cy="2414016"/>
          </a:xfrm>
          <a:custGeom>
            <a:avLst/>
            <a:gdLst/>
            <a:ahLst/>
            <a:cxnLst/>
            <a:rect l="l" t="t" r="r" b="b"/>
            <a:pathLst>
              <a:path w="2452116" h="2414016">
                <a:moveTo>
                  <a:pt x="0" y="0"/>
                </a:moveTo>
                <a:lnTo>
                  <a:pt x="2452116" y="0"/>
                </a:lnTo>
                <a:lnTo>
                  <a:pt x="2452116" y="2414016"/>
                </a:lnTo>
                <a:lnTo>
                  <a:pt x="0" y="2414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Freeform 5"/>
          <p:cNvSpPr/>
          <p:nvPr/>
        </p:nvSpPr>
        <p:spPr>
          <a:xfrm>
            <a:off x="5875020" y="1642872"/>
            <a:ext cx="5844540" cy="3299460"/>
          </a:xfrm>
          <a:custGeom>
            <a:avLst/>
            <a:gdLst/>
            <a:ahLst/>
            <a:cxnLst/>
            <a:rect l="l" t="t" r="r" b="b"/>
            <a:pathLst>
              <a:path w="5844540" h="3299460">
                <a:moveTo>
                  <a:pt x="0" y="0"/>
                </a:moveTo>
                <a:lnTo>
                  <a:pt x="5844540" y="0"/>
                </a:lnTo>
                <a:lnTo>
                  <a:pt x="5844540" y="3299460"/>
                </a:lnTo>
                <a:lnTo>
                  <a:pt x="0" y="3299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6" name="Freeform 6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" name="Freeform 7"/>
          <p:cNvSpPr/>
          <p:nvPr/>
        </p:nvSpPr>
        <p:spPr>
          <a:xfrm>
            <a:off x="7008114" y="5529834"/>
            <a:ext cx="2884932" cy="10668"/>
          </a:xfrm>
          <a:custGeom>
            <a:avLst/>
            <a:gdLst/>
            <a:ahLst/>
            <a:cxnLst/>
            <a:rect l="l" t="t" r="r" b="b"/>
            <a:pathLst>
              <a:path w="2884932" h="10668">
                <a:moveTo>
                  <a:pt x="0" y="0"/>
                </a:moveTo>
                <a:lnTo>
                  <a:pt x="2884932" y="0"/>
                </a:lnTo>
                <a:lnTo>
                  <a:pt x="2884932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" name="TextBox 8"/>
          <p:cNvSpPr txBox="1"/>
          <p:nvPr/>
        </p:nvSpPr>
        <p:spPr>
          <a:xfrm>
            <a:off x="11879323" y="174755"/>
            <a:ext cx="158086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" sz="1200" spc="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04850" y="6483725"/>
            <a:ext cx="209131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08876" y="5261686"/>
            <a:ext cx="2943511" cy="30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" sz="1800" spc="-30">
                <a:solidFill>
                  <a:srgbClr val="0563C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8" tooltip="https://youtu.be/ednwKwSu7dw"/>
              </a:rPr>
              <a:t>https://youtu.be/ednwKwSu7dw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440" y="1790599"/>
            <a:ext cx="4939666" cy="252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2706" lvl="1" indent="-186353" algn="l">
              <a:lnSpc>
                <a:spcPts val="2471"/>
              </a:lnSpc>
              <a:buFont typeface="Arial"/>
              <a:buChar char="•"/>
            </a:pPr>
            <a:r>
              <a:rPr lang="en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You can choose any password with 3 numbers, between 0 and 39.</a:t>
            </a:r>
          </a:p>
          <a:p>
            <a:pPr marL="372706" lvl="1" indent="-186353" algn="l">
              <a:lnSpc>
                <a:spcPts val="2471"/>
              </a:lnSpc>
            </a:pPr>
            <a:endParaRPr lang="en" sz="205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72706" lvl="1" indent="-186353" algn="l">
              <a:lnSpc>
                <a:spcPts val="2471"/>
              </a:lnSpc>
              <a:buFont typeface="Arial"/>
              <a:buChar char="•"/>
            </a:pPr>
            <a:r>
              <a:rPr lang="en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Password does not support repeated digits.</a:t>
            </a:r>
          </a:p>
          <a:p>
            <a:pPr marL="372706" lvl="1" indent="-186353" algn="l">
              <a:lnSpc>
                <a:spcPts val="2471"/>
              </a:lnSpc>
            </a:pPr>
            <a:endParaRPr lang="en" sz="205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72706" lvl="1" indent="-186353" algn="l">
              <a:lnSpc>
                <a:spcPts val="2471"/>
              </a:lnSpc>
              <a:buFont typeface="Arial"/>
              <a:buChar char="•"/>
            </a:pPr>
            <a:r>
              <a:rPr lang="en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 enter the password: watch the video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many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different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admits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padlock 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Padlock</a:t>
              </a:r>
              <a:r>
                <a:rPr lang="en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 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Padlock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from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box</a:t>
              </a:r>
              <a:r>
                <a:rPr lang="en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strong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11904850" y="6483725"/>
            <a:ext cx="209131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638175"/>
            <a:ext cx="5613970" cy="78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7"/>
              </a:lnSpc>
            </a:pPr>
            <a:r>
              <a:rPr lang="en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REPORT Q₁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509675"/>
            <a:ext cx="10220497" cy="581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" sz="33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Q₁: How many different codes does each padlock support?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1073" y="2386682"/>
            <a:ext cx="10469853" cy="317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are the characteristics of the padlocks you are studying?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to generate the list (even if it is partial) of possible codes that the padlock supports?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is the total number of codes that your padlock supports?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counting strategies or techniques were used?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did we make sure we didn't overcount or undercount codes?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If we had to open the padlock by trying all the codes, how long do you estimate it would take to open the padlock?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If we have the same padlock with one more box, how many total codes does it have?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if we have one more element per box? What would happen then?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5813425"/>
            <a:ext cx="10220497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" sz="2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Prepare a presentation to share the results with the other teams.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many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codes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different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admits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padlock </a:t>
            </a:r>
            <a:r>
              <a:rPr lang="en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5867" y="1556929"/>
            <a:ext cx="8042646" cy="6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2"/>
              </a:lnSpc>
            </a:pPr>
            <a:r>
              <a:rPr lang="en" sz="428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Sharing!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80428" y="2703623"/>
            <a:ext cx="8031143" cy="245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1"/>
              </a:lnSpc>
            </a:pPr>
            <a:r>
              <a:rPr lang="en" sz="53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Of the following collection of </a:t>
            </a:r>
            <a:r>
              <a:rPr lang="en" sz="53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padlocks </a:t>
            </a:r>
            <a:r>
              <a:rPr lang="en" sz="53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which is the most </a:t>
            </a:r>
            <a:r>
              <a:rPr lang="en" sz="53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secure </a:t>
            </a:r>
            <a:r>
              <a:rPr lang="en" sz="53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685800" y="859113"/>
            <a:ext cx="10820400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" sz="6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We've been given more information about the password...</a:t>
            </a:r>
          </a:p>
          <a:p>
            <a:pPr algn="ctr">
              <a:lnSpc>
                <a:spcPts val="7560"/>
              </a:lnSpc>
            </a:pPr>
            <a:r>
              <a:rPr lang="en" sz="6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Q₂: Can we find the number of codes with the </a:t>
            </a:r>
            <a:r>
              <a:rPr lang="en" sz="6300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new information </a:t>
            </a:r>
            <a:r>
              <a:rPr lang="en" sz="6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913335" y="869587"/>
            <a:ext cx="1461280" cy="1379456"/>
            <a:chOff x="0" y="0"/>
            <a:chExt cx="2837066" cy="26782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70087" y="1920975"/>
            <a:ext cx="349773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 know that the password does not contain repeated digits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551519" y="828675"/>
            <a:ext cx="3516299" cy="1111237"/>
            <a:chOff x="0" y="0"/>
            <a:chExt cx="6043284" cy="1909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43310" cy="1909743"/>
            </a:xfrm>
            <a:custGeom>
              <a:avLst/>
              <a:gdLst/>
              <a:ahLst/>
              <a:cxnLst/>
              <a:rect l="l" t="t" r="r" b="b"/>
              <a:pathLst>
                <a:path w="6043310" h="1909743">
                  <a:moveTo>
                    <a:pt x="0" y="0"/>
                  </a:moveTo>
                  <a:lnTo>
                    <a:pt x="6043310" y="0"/>
                  </a:lnTo>
                  <a:lnTo>
                    <a:pt x="6043310" y="1909743"/>
                  </a:lnTo>
                  <a:lnTo>
                    <a:pt x="0" y="1909743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6043284" cy="191935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algn="l">
                <a:lnSpc>
                  <a:spcPts val="2520"/>
                </a:lnSpc>
              </a:pPr>
              <a:r>
                <a:rPr lang="en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Padlock 7: </a:t>
              </a:r>
              <a:r>
                <a:rPr lang="en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Roulette numbering padlock (no repeats)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31773" y="967492"/>
            <a:ext cx="1149556" cy="1259660"/>
            <a:chOff x="0" y="0"/>
            <a:chExt cx="2231856" cy="24456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898" cy="2445639"/>
            </a:xfrm>
            <a:custGeom>
              <a:avLst/>
              <a:gdLst/>
              <a:ahLst/>
              <a:cxnLst/>
              <a:rect l="l" t="t" r="r" b="b"/>
              <a:pathLst>
                <a:path w="2231898" h="2445639">
                  <a:moveTo>
                    <a:pt x="0" y="0"/>
                  </a:moveTo>
                  <a:lnTo>
                    <a:pt x="2231898" y="0"/>
                  </a:lnTo>
                  <a:lnTo>
                    <a:pt x="2231898" y="2445639"/>
                  </a:lnTo>
                  <a:lnTo>
                    <a:pt x="0" y="2445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77" t="-15244" r="-75289" b="-3439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05556" y="3766778"/>
            <a:ext cx="373583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 know for sure that the password has 7 digits.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605556" y="2841236"/>
            <a:ext cx="3490444" cy="797025"/>
            <a:chOff x="0" y="0"/>
            <a:chExt cx="5998848" cy="13698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98872" cy="1369747"/>
            </a:xfrm>
            <a:custGeom>
              <a:avLst/>
              <a:gdLst/>
              <a:ahLst/>
              <a:cxnLst/>
              <a:rect l="l" t="t" r="r" b="b"/>
              <a:pathLst>
                <a:path w="5998872" h="1369747">
                  <a:moveTo>
                    <a:pt x="0" y="0"/>
                  </a:moveTo>
                  <a:lnTo>
                    <a:pt x="5998872" y="0"/>
                  </a:lnTo>
                  <a:lnTo>
                    <a:pt x="5998872" y="1369747"/>
                  </a:lnTo>
                  <a:lnTo>
                    <a:pt x="0" y="1369747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5998848" cy="137933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algn="l">
                <a:lnSpc>
                  <a:spcPts val="2520"/>
                </a:lnSpc>
              </a:pPr>
              <a:r>
                <a:rPr lang="en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Padlock 8: </a:t>
              </a:r>
              <a:r>
                <a:rPr lang="en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Push-button padlock (extended)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551519" y="5788376"/>
            <a:ext cx="351629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 know that neither days nor years contain repeated numbers.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551519" y="4853795"/>
            <a:ext cx="3516299" cy="797025"/>
            <a:chOff x="0" y="0"/>
            <a:chExt cx="6043284" cy="13698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43295" cy="1369747"/>
            </a:xfrm>
            <a:custGeom>
              <a:avLst/>
              <a:gdLst/>
              <a:ahLst/>
              <a:cxnLst/>
              <a:rect l="l" t="t" r="r" b="b"/>
              <a:pathLst>
                <a:path w="6043295" h="1369747">
                  <a:moveTo>
                    <a:pt x="0" y="0"/>
                  </a:moveTo>
                  <a:lnTo>
                    <a:pt x="6043295" y="0"/>
                  </a:lnTo>
                  <a:lnTo>
                    <a:pt x="6043295" y="1369747"/>
                  </a:lnTo>
                  <a:lnTo>
                    <a:pt x="0" y="1369747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6043284" cy="137933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algn="l">
                <a:lnSpc>
                  <a:spcPts val="2520"/>
                </a:lnSpc>
              </a:pPr>
              <a:r>
                <a:rPr lang="en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Padlock 9: </a:t>
              </a:r>
              <a:r>
                <a:rPr lang="en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Date padlock (no repeats)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950104" y="2952460"/>
            <a:ext cx="350371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 now know that the password does not contain repeated addresses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950104" y="1860160"/>
            <a:ext cx="3503713" cy="1111350"/>
            <a:chOff x="0" y="0"/>
            <a:chExt cx="6021654" cy="191002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21705" cy="1909938"/>
            </a:xfrm>
            <a:custGeom>
              <a:avLst/>
              <a:gdLst/>
              <a:ahLst/>
              <a:cxnLst/>
              <a:rect l="l" t="t" r="r" b="b"/>
              <a:pathLst>
                <a:path w="6021705" h="1909938">
                  <a:moveTo>
                    <a:pt x="0" y="0"/>
                  </a:moveTo>
                  <a:lnTo>
                    <a:pt x="6021705" y="0"/>
                  </a:lnTo>
                  <a:lnTo>
                    <a:pt x="6021705" y="1909938"/>
                  </a:lnTo>
                  <a:lnTo>
                    <a:pt x="0" y="1909938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6021654" cy="1919546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algn="l">
                <a:lnSpc>
                  <a:spcPts val="2520"/>
                </a:lnSpc>
              </a:pPr>
              <a:r>
                <a:rPr lang="en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Padlock 10: </a:t>
              </a:r>
              <a:r>
                <a:rPr lang="en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Directional padlock (no repetitions)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948230" y="2882147"/>
            <a:ext cx="1461280" cy="1379456"/>
            <a:chOff x="0" y="0"/>
            <a:chExt cx="2837066" cy="26782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944968" y="4894707"/>
            <a:ext cx="1461280" cy="1379456"/>
            <a:chOff x="0" y="0"/>
            <a:chExt cx="2837066" cy="26782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6252336" y="1903849"/>
            <a:ext cx="1560483" cy="1473104"/>
            <a:chOff x="0" y="0"/>
            <a:chExt cx="2837066" cy="26782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950104" y="4995133"/>
            <a:ext cx="351184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 know that the password does not contain repeated addresses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950104" y="4026188"/>
            <a:ext cx="3503713" cy="797025"/>
            <a:chOff x="0" y="0"/>
            <a:chExt cx="6021654" cy="136980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21705" cy="1369747"/>
            </a:xfrm>
            <a:custGeom>
              <a:avLst/>
              <a:gdLst/>
              <a:ahLst/>
              <a:cxnLst/>
              <a:rect l="l" t="t" r="r" b="b"/>
              <a:pathLst>
                <a:path w="6021705" h="1369747">
                  <a:moveTo>
                    <a:pt x="0" y="0"/>
                  </a:moveTo>
                  <a:lnTo>
                    <a:pt x="6021705" y="0"/>
                  </a:lnTo>
                  <a:lnTo>
                    <a:pt x="6021705" y="1369747"/>
                  </a:lnTo>
                  <a:lnTo>
                    <a:pt x="0" y="1369747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6021654" cy="137933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algn="l">
                <a:lnSpc>
                  <a:spcPts val="2520"/>
                </a:lnSpc>
              </a:pPr>
              <a:r>
                <a:rPr lang="en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Padlock 11: </a:t>
              </a:r>
              <a:r>
                <a:rPr lang="en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Safe padlock (with repetitions)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6276218" y="4036359"/>
            <a:ext cx="1560483" cy="1473104"/>
            <a:chOff x="0" y="0"/>
            <a:chExt cx="2837066" cy="26782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35" name="Freeform 35"/>
          <p:cNvSpPr/>
          <p:nvPr/>
        </p:nvSpPr>
        <p:spPr>
          <a:xfrm>
            <a:off x="1001957" y="2890458"/>
            <a:ext cx="1366641" cy="1362834"/>
          </a:xfrm>
          <a:custGeom>
            <a:avLst/>
            <a:gdLst/>
            <a:ahLst/>
            <a:cxnLst/>
            <a:rect l="l" t="t" r="r" b="b"/>
            <a:pathLst>
              <a:path w="1366641" h="1362834">
                <a:moveTo>
                  <a:pt x="0" y="0"/>
                </a:moveTo>
                <a:lnTo>
                  <a:pt x="1366641" y="0"/>
                </a:lnTo>
                <a:lnTo>
                  <a:pt x="1366641" y="1362835"/>
                </a:lnTo>
                <a:lnTo>
                  <a:pt x="0" y="13628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6" name="Freeform 36"/>
          <p:cNvSpPr/>
          <p:nvPr/>
        </p:nvSpPr>
        <p:spPr>
          <a:xfrm>
            <a:off x="1038084" y="4931165"/>
            <a:ext cx="1237616" cy="1352511"/>
          </a:xfrm>
          <a:custGeom>
            <a:avLst/>
            <a:gdLst/>
            <a:ahLst/>
            <a:cxnLst/>
            <a:rect l="l" t="t" r="r" b="b"/>
            <a:pathLst>
              <a:path w="1237616" h="1352511">
                <a:moveTo>
                  <a:pt x="0" y="0"/>
                </a:moveTo>
                <a:lnTo>
                  <a:pt x="1237617" y="0"/>
                </a:lnTo>
                <a:lnTo>
                  <a:pt x="1237617" y="1352511"/>
                </a:lnTo>
                <a:lnTo>
                  <a:pt x="0" y="13525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7" name="Group 37"/>
          <p:cNvGrpSpPr>
            <a:grpSpLocks noChangeAspect="1"/>
          </p:cNvGrpSpPr>
          <p:nvPr/>
        </p:nvGrpSpPr>
        <p:grpSpPr>
          <a:xfrm>
            <a:off x="6575516" y="1860160"/>
            <a:ext cx="914123" cy="1560483"/>
            <a:chOff x="0" y="0"/>
            <a:chExt cx="1756042" cy="299770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56029" cy="2997708"/>
            </a:xfrm>
            <a:custGeom>
              <a:avLst/>
              <a:gdLst/>
              <a:ahLst/>
              <a:cxnLst/>
              <a:rect l="l" t="t" r="r" b="b"/>
              <a:pathLst>
                <a:path w="1756029" h="2997708">
                  <a:moveTo>
                    <a:pt x="0" y="2997708"/>
                  </a:moveTo>
                  <a:lnTo>
                    <a:pt x="1756029" y="2997581"/>
                  </a:lnTo>
                  <a:lnTo>
                    <a:pt x="1756029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6"/>
              <a:stretch>
                <a:fillRect t="-8768" r="-99979" b="-8698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39" name="Freeform 39"/>
          <p:cNvSpPr/>
          <p:nvPr/>
        </p:nvSpPr>
        <p:spPr>
          <a:xfrm>
            <a:off x="6343575" y="4093274"/>
            <a:ext cx="1464974" cy="1459878"/>
          </a:xfrm>
          <a:custGeom>
            <a:avLst/>
            <a:gdLst/>
            <a:ahLst/>
            <a:cxnLst/>
            <a:rect l="l" t="t" r="r" b="b"/>
            <a:pathLst>
              <a:path w="1464974" h="1459878">
                <a:moveTo>
                  <a:pt x="0" y="0"/>
                </a:moveTo>
                <a:lnTo>
                  <a:pt x="1464974" y="0"/>
                </a:lnTo>
                <a:lnTo>
                  <a:pt x="1464974" y="1459878"/>
                </a:lnTo>
                <a:lnTo>
                  <a:pt x="0" y="1459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40" name="TextBox 40"/>
          <p:cNvSpPr txBox="1"/>
          <p:nvPr/>
        </p:nvSpPr>
        <p:spPr>
          <a:xfrm>
            <a:off x="3475057" y="199987"/>
            <a:ext cx="8031143" cy="3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Q₂: Can we find the number of codes with the new information?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861073" y="2386682"/>
            <a:ext cx="10469853" cy="317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are the characteristics of the padlocks you are studying?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to generate the list (even if it is partial) of possible codes that the padlock supports?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is the total number of codes that your padlock supports?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counting strategies or techniques were used?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did we make sure we didn't overcount or undercount codes?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If we had to open the padlock by trying all the codes, how long do you estimate it would take to open the padlock?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If we have the same padlock with one more box, how many total codes does it have?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if we have one more element per box? What would happen then?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638175"/>
            <a:ext cx="5613970" cy="78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7"/>
              </a:lnSpc>
            </a:pPr>
            <a:r>
              <a:rPr lang="en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Q₂ REPORT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550353"/>
            <a:ext cx="11808502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" sz="3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Q₂: Can we find the number of codes with the new information?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75057" y="199987"/>
            <a:ext cx="8031143" cy="3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Q₂: Can we find the number of codes with the new information?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685800" y="1011056"/>
            <a:ext cx="10820400" cy="478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07"/>
              </a:lnSpc>
            </a:pPr>
            <a:r>
              <a:rPr lang="en" sz="783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Q₃: What characterizes a padlock </a:t>
            </a:r>
            <a:r>
              <a:rPr lang="en" sz="783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 ?</a:t>
            </a:r>
          </a:p>
          <a:p>
            <a:pPr algn="ctr">
              <a:lnSpc>
                <a:spcPts val="9407"/>
              </a:lnSpc>
            </a:pPr>
            <a:r>
              <a:rPr lang="en" sz="783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What models </a:t>
            </a:r>
            <a:r>
              <a:rPr lang="en" sz="783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are there?</a:t>
            </a:r>
          </a:p>
          <a:p>
            <a:pPr algn="ctr">
              <a:lnSpc>
                <a:spcPts val="9407"/>
              </a:lnSpc>
            </a:pPr>
            <a:r>
              <a:rPr lang="en" sz="783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What </a:t>
            </a:r>
            <a:r>
              <a:rPr lang="en" sz="783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 we call them?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685800" y="638138"/>
            <a:ext cx="5613970" cy="7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7"/>
              </a:lnSpc>
            </a:pPr>
            <a:r>
              <a:rPr lang="en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REPORT Q₃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8211" y="1608670"/>
            <a:ext cx="11427303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" sz="23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Q₃: What characterizes a padlock model? What models are there? What do we call them?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2192058"/>
            <a:ext cx="10820400" cy="2798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Are there strategies shared by different padlocks?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classification originates from the different strategies?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numerical/algebraic formulas can be deduced from the strategies?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variables appear?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models are there?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characterizes each model?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do we call them?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8392"/>
            <a:ext cx="108204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80"/>
              </a:lnSpc>
            </a:pPr>
            <a:r>
              <a:rPr lang="en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Q₃: What characterizes a padlock </a:t>
            </a:r>
            <a:r>
              <a:rPr lang="en" sz="1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 ? What models </a:t>
            </a:r>
            <a:r>
              <a:rPr lang="en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are there? What </a:t>
            </a:r>
            <a:r>
              <a:rPr lang="en" sz="1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 we call them?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AutoShape 3"/>
          <p:cNvSpPr/>
          <p:nvPr/>
        </p:nvSpPr>
        <p:spPr>
          <a:xfrm>
            <a:off x="1759451" y="2749171"/>
            <a:ext cx="0" cy="2990238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4" name="AutoShape 4"/>
          <p:cNvSpPr/>
          <p:nvPr/>
        </p:nvSpPr>
        <p:spPr>
          <a:xfrm>
            <a:off x="1108559" y="4121989"/>
            <a:ext cx="663537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/>
          <p:nvPr/>
        </p:nvGrpSpPr>
        <p:grpSpPr>
          <a:xfrm rot="-5400000">
            <a:off x="187288" y="3874192"/>
            <a:ext cx="1842541" cy="470304"/>
            <a:chOff x="0" y="0"/>
            <a:chExt cx="2456721" cy="6270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56721" cy="627072"/>
            </a:xfrm>
            <a:custGeom>
              <a:avLst/>
              <a:gdLst/>
              <a:ahLst/>
              <a:cxnLst/>
              <a:rect l="l" t="t" r="r" b="b"/>
              <a:pathLst>
                <a:path w="2456721" h="627072">
                  <a:moveTo>
                    <a:pt x="0" y="0"/>
                  </a:moveTo>
                  <a:lnTo>
                    <a:pt x="2456721" y="0"/>
                  </a:lnTo>
                  <a:lnTo>
                    <a:pt x="2456721" y="627072"/>
                  </a:lnTo>
                  <a:lnTo>
                    <a:pt x="0" y="627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145888" b="-145888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3789" y="160591"/>
              <a:ext cx="2105487" cy="273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8"/>
                </a:lnSpc>
              </a:pPr>
              <a:r>
                <a:rPr lang="en" sz="1277" b="1">
                  <a:solidFill>
                    <a:srgbClr val="737373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DOES IT INFLUENCE ORDER?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788586" y="2670491"/>
            <a:ext cx="974794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9" name="Group 9"/>
          <p:cNvGrpSpPr/>
          <p:nvPr/>
        </p:nvGrpSpPr>
        <p:grpSpPr>
          <a:xfrm>
            <a:off x="1474077" y="2547077"/>
            <a:ext cx="545456" cy="246828"/>
            <a:chOff x="0" y="0"/>
            <a:chExt cx="727275" cy="3291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7275" cy="329104"/>
            </a:xfrm>
            <a:custGeom>
              <a:avLst/>
              <a:gdLst/>
              <a:ahLst/>
              <a:cxnLst/>
              <a:rect l="l" t="t" r="r" b="b"/>
              <a:pathLst>
                <a:path w="727275" h="329104">
                  <a:moveTo>
                    <a:pt x="0" y="0"/>
                  </a:moveTo>
                  <a:lnTo>
                    <a:pt x="727275" y="0"/>
                  </a:lnTo>
                  <a:lnTo>
                    <a:pt x="727275" y="329104"/>
                  </a:lnTo>
                  <a:lnTo>
                    <a:pt x="0" y="32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469" y="48234"/>
              <a:ext cx="264336" cy="213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67"/>
                </a:lnSpc>
              </a:pPr>
              <a:r>
                <a:rPr lang="en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Yes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6598166" y="715306"/>
            <a:ext cx="0" cy="5968677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3" name="AutoShape 13"/>
          <p:cNvSpPr/>
          <p:nvPr/>
        </p:nvSpPr>
        <p:spPr>
          <a:xfrm>
            <a:off x="8089612" y="686192"/>
            <a:ext cx="0" cy="6171808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4" name="AutoShape 14"/>
          <p:cNvSpPr/>
          <p:nvPr/>
        </p:nvSpPr>
        <p:spPr>
          <a:xfrm>
            <a:off x="5134776" y="695250"/>
            <a:ext cx="0" cy="5923928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5" name="AutoShape 15"/>
          <p:cNvSpPr/>
          <p:nvPr/>
        </p:nvSpPr>
        <p:spPr>
          <a:xfrm>
            <a:off x="3581101" y="715306"/>
            <a:ext cx="0" cy="5968677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6" name="AutoShape 16"/>
          <p:cNvSpPr/>
          <p:nvPr/>
        </p:nvSpPr>
        <p:spPr>
          <a:xfrm>
            <a:off x="2738088" y="1700415"/>
            <a:ext cx="1021894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17" name="Group 17"/>
          <p:cNvGrpSpPr/>
          <p:nvPr/>
        </p:nvGrpSpPr>
        <p:grpSpPr>
          <a:xfrm>
            <a:off x="3755918" y="1388999"/>
            <a:ext cx="1308816" cy="591444"/>
            <a:chOff x="0" y="0"/>
            <a:chExt cx="1745088" cy="788592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745088" cy="788592"/>
              <a:chOff x="0" y="0"/>
              <a:chExt cx="5072791" cy="229235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072791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29235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072791" y="229235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83674" y="131819"/>
              <a:ext cx="1406193" cy="505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</a:pPr>
              <a:r>
                <a:rPr lang="en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Variation with repetition </a:t>
              </a: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of n elements considered from r to r.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-44829" y="569608"/>
            <a:ext cx="12355689" cy="291396"/>
          </a:xfrm>
          <a:custGeom>
            <a:avLst/>
            <a:gdLst/>
            <a:ahLst/>
            <a:cxnLst/>
            <a:rect l="l" t="t" r="r" b="b"/>
            <a:pathLst>
              <a:path w="12355689" h="291396">
                <a:moveTo>
                  <a:pt x="0" y="0"/>
                </a:moveTo>
                <a:lnTo>
                  <a:pt x="12355689" y="0"/>
                </a:lnTo>
                <a:lnTo>
                  <a:pt x="12355689" y="291396"/>
                </a:lnTo>
                <a:lnTo>
                  <a:pt x="0" y="2913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070085" b="-207008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22" name="Freeform 22"/>
          <p:cNvSpPr/>
          <p:nvPr/>
        </p:nvSpPr>
        <p:spPr>
          <a:xfrm>
            <a:off x="-118999" y="6597843"/>
            <a:ext cx="12375399" cy="351874"/>
          </a:xfrm>
          <a:custGeom>
            <a:avLst/>
            <a:gdLst/>
            <a:ahLst/>
            <a:cxnLst/>
            <a:rect l="l" t="t" r="r" b="b"/>
            <a:pathLst>
              <a:path w="12375399" h="351874">
                <a:moveTo>
                  <a:pt x="0" y="0"/>
                </a:moveTo>
                <a:lnTo>
                  <a:pt x="12375400" y="0"/>
                </a:lnTo>
                <a:lnTo>
                  <a:pt x="12375400" y="351873"/>
                </a:lnTo>
                <a:lnTo>
                  <a:pt x="0" y="3518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708499" b="-1708499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23" name="Group 23"/>
          <p:cNvGrpSpPr/>
          <p:nvPr/>
        </p:nvGrpSpPr>
        <p:grpSpPr>
          <a:xfrm rot="-5400000">
            <a:off x="1505561" y="2435339"/>
            <a:ext cx="1842541" cy="470304"/>
            <a:chOff x="0" y="0"/>
            <a:chExt cx="2456721" cy="6270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56721" cy="627072"/>
            </a:xfrm>
            <a:custGeom>
              <a:avLst/>
              <a:gdLst/>
              <a:ahLst/>
              <a:cxnLst/>
              <a:rect l="l" t="t" r="r" b="b"/>
              <a:pathLst>
                <a:path w="2456721" h="627072">
                  <a:moveTo>
                    <a:pt x="0" y="0"/>
                  </a:moveTo>
                  <a:lnTo>
                    <a:pt x="2456721" y="0"/>
                  </a:lnTo>
                  <a:lnTo>
                    <a:pt x="2456721" y="627072"/>
                  </a:lnTo>
                  <a:lnTo>
                    <a:pt x="0" y="627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145888" b="-145888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3789" y="160591"/>
              <a:ext cx="2105487" cy="273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8"/>
                </a:lnSpc>
              </a:pPr>
              <a:r>
                <a:rPr lang="en" sz="1277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CAN THEY BE REPEATED?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17037" y="1577001"/>
            <a:ext cx="545456" cy="246828"/>
            <a:chOff x="0" y="0"/>
            <a:chExt cx="727275" cy="3291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7275" cy="329104"/>
            </a:xfrm>
            <a:custGeom>
              <a:avLst/>
              <a:gdLst/>
              <a:ahLst/>
              <a:cxnLst/>
              <a:rect l="l" t="t" r="r" b="b"/>
              <a:pathLst>
                <a:path w="727275" h="329104">
                  <a:moveTo>
                    <a:pt x="0" y="0"/>
                  </a:moveTo>
                  <a:lnTo>
                    <a:pt x="727275" y="0"/>
                  </a:lnTo>
                  <a:lnTo>
                    <a:pt x="727275" y="329104"/>
                  </a:lnTo>
                  <a:lnTo>
                    <a:pt x="0" y="32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1469" y="48234"/>
              <a:ext cx="264336" cy="213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67"/>
                </a:lnSpc>
              </a:pPr>
              <a:r>
                <a:rPr lang="en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Yes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2738088" y="3105051"/>
            <a:ext cx="1021894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30" name="Group 30"/>
          <p:cNvGrpSpPr/>
          <p:nvPr/>
        </p:nvGrpSpPr>
        <p:grpSpPr>
          <a:xfrm>
            <a:off x="2817037" y="2974524"/>
            <a:ext cx="545456" cy="246828"/>
            <a:chOff x="0" y="0"/>
            <a:chExt cx="727275" cy="32910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7275" cy="329104"/>
            </a:xfrm>
            <a:custGeom>
              <a:avLst/>
              <a:gdLst/>
              <a:ahLst/>
              <a:cxnLst/>
              <a:rect l="l" t="t" r="r" b="b"/>
              <a:pathLst>
                <a:path w="727275" h="329104">
                  <a:moveTo>
                    <a:pt x="0" y="0"/>
                  </a:moveTo>
                  <a:lnTo>
                    <a:pt x="727275" y="0"/>
                  </a:lnTo>
                  <a:lnTo>
                    <a:pt x="727275" y="329104"/>
                  </a:lnTo>
                  <a:lnTo>
                    <a:pt x="0" y="32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1469" y="48234"/>
              <a:ext cx="264336" cy="213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67"/>
                </a:lnSpc>
              </a:pPr>
              <a:r>
                <a:rPr lang="en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72778" y="1388999"/>
            <a:ext cx="1308816" cy="761057"/>
            <a:chOff x="0" y="0"/>
            <a:chExt cx="1745088" cy="1014743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745088" cy="1014743"/>
              <a:chOff x="0" y="0"/>
              <a:chExt cx="5072791" cy="294975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5072791" cy="2949752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949752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949752"/>
                    </a:lnTo>
                    <a:lnTo>
                      <a:pt x="5072791" y="2949752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871012"/>
                    </a:lnTo>
                    <a:lnTo>
                      <a:pt x="78740" y="2871012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78705" y="77220"/>
              <a:ext cx="1612873" cy="836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  <a:spcBef>
                  <a:spcPct val="0"/>
                </a:spcBef>
              </a:pP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 how many different ways can we choose codes?</a:t>
              </a:r>
              <a:r>
                <a:rPr lang="en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</a:t>
              </a: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with r boxes in elements in each box and if </a:t>
              </a:r>
              <a:r>
                <a:rPr lang="en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we can repeat elements </a:t>
              </a: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747788" y="2749171"/>
            <a:ext cx="1316945" cy="591444"/>
            <a:chOff x="0" y="0"/>
            <a:chExt cx="1755927" cy="788592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55927" cy="788592"/>
              <a:chOff x="0" y="0"/>
              <a:chExt cx="5104299" cy="229235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104299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292355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104299" y="2292355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92470" y="138853"/>
              <a:ext cx="1456390" cy="505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</a:pPr>
              <a:r>
                <a:rPr lang="en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Variation without repetition </a:t>
              </a: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of n elements considered from r to r.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72778" y="2578308"/>
            <a:ext cx="1292558" cy="911054"/>
            <a:chOff x="0" y="0"/>
            <a:chExt cx="1723410" cy="1214738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1723410" cy="1214738"/>
              <a:chOff x="0" y="0"/>
              <a:chExt cx="5009775" cy="353111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009775" cy="3531118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3531118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3531118"/>
                    </a:lnTo>
                    <a:lnTo>
                      <a:pt x="5009775" y="3531118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3452378"/>
                    </a:lnTo>
                    <a:lnTo>
                      <a:pt x="78740" y="3452378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50611" y="84254"/>
              <a:ext cx="1482805" cy="1017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  <a:spcBef>
                  <a:spcPct val="0"/>
                </a:spcBef>
              </a:pP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 how many different ways can we choose codes with r boxes and n elements in each box, if </a:t>
              </a:r>
              <a:r>
                <a:rPr lang="en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we cannot repeat elements </a:t>
              </a: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08387" y="1388999"/>
            <a:ext cx="1308816" cy="597541"/>
            <a:chOff x="0" y="0"/>
            <a:chExt cx="5072791" cy="231598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08387" y="2749171"/>
            <a:ext cx="1308816" cy="597541"/>
            <a:chOff x="0" y="0"/>
            <a:chExt cx="5072791" cy="231598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08387" y="5469516"/>
            <a:ext cx="1308816" cy="597541"/>
            <a:chOff x="0" y="0"/>
            <a:chExt cx="5072791" cy="231598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FF66C4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08387" y="4109344"/>
            <a:ext cx="1308816" cy="597541"/>
            <a:chOff x="0" y="0"/>
            <a:chExt cx="5072791" cy="231598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759982" y="5469516"/>
            <a:ext cx="1308816" cy="591444"/>
            <a:chOff x="0" y="0"/>
            <a:chExt cx="1745088" cy="788592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1745088" cy="788592"/>
              <a:chOff x="0" y="0"/>
              <a:chExt cx="5072791" cy="229235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5072791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29235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072791" y="229235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183674" y="131819"/>
              <a:ext cx="1406193" cy="505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</a:pPr>
              <a:r>
                <a:rPr lang="en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Combination </a:t>
              </a: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of n elements considered from</a:t>
              </a:r>
            </a:p>
            <a:p>
              <a:pPr algn="ctr">
                <a:lnSpc>
                  <a:spcPts val="1045"/>
                </a:lnSpc>
              </a:pP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 in r.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72778" y="5057434"/>
            <a:ext cx="1308816" cy="1010807"/>
            <a:chOff x="0" y="0"/>
            <a:chExt cx="1745088" cy="1347742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0"/>
              <a:ext cx="1745088" cy="1347742"/>
              <a:chOff x="0" y="0"/>
              <a:chExt cx="5072791" cy="391774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5072791" cy="3917748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3917748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3917748"/>
                    </a:lnTo>
                    <a:lnTo>
                      <a:pt x="5072791" y="3917748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3839008"/>
                    </a:lnTo>
                    <a:lnTo>
                      <a:pt x="78740" y="3839008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85576" y="137016"/>
              <a:ext cx="1612873" cy="1058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0"/>
                </a:lnSpc>
                <a:spcBef>
                  <a:spcPct val="0"/>
                </a:spcBef>
              </a:pPr>
              <a:r>
                <a:rPr lang="en" sz="672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 how many different ways can we choose </a:t>
              </a:r>
              <a:r>
                <a:rPr lang="en" sz="672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combinations </a:t>
              </a:r>
              <a:r>
                <a:rPr lang="en" sz="672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with r squares and n elements in each square, if the combinations </a:t>
              </a:r>
              <a:r>
                <a:rPr lang="en" sz="672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cannot repeat elements and the order of the elements is indifferent </a:t>
              </a:r>
              <a:r>
                <a:rPr lang="en" sz="672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sp>
        <p:nvSpPr>
          <p:cNvPr id="61" name="AutoShape 61"/>
          <p:cNvSpPr/>
          <p:nvPr/>
        </p:nvSpPr>
        <p:spPr>
          <a:xfrm>
            <a:off x="1884205" y="5768287"/>
            <a:ext cx="1875777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62" name="Group 62"/>
          <p:cNvGrpSpPr/>
          <p:nvPr/>
        </p:nvGrpSpPr>
        <p:grpSpPr>
          <a:xfrm>
            <a:off x="1474077" y="5644873"/>
            <a:ext cx="545456" cy="246828"/>
            <a:chOff x="0" y="0"/>
            <a:chExt cx="727275" cy="32910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27275" cy="329104"/>
            </a:xfrm>
            <a:custGeom>
              <a:avLst/>
              <a:gdLst/>
              <a:ahLst/>
              <a:cxnLst/>
              <a:rect l="l" t="t" r="r" b="b"/>
              <a:pathLst>
                <a:path w="727275" h="329104">
                  <a:moveTo>
                    <a:pt x="0" y="0"/>
                  </a:moveTo>
                  <a:lnTo>
                    <a:pt x="727275" y="0"/>
                  </a:lnTo>
                  <a:lnTo>
                    <a:pt x="727275" y="329104"/>
                  </a:lnTo>
                  <a:lnTo>
                    <a:pt x="0" y="32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31469" y="48234"/>
              <a:ext cx="264336" cy="213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67"/>
                </a:lnSpc>
              </a:pPr>
              <a:r>
                <a:rPr lang="en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672778" y="3944399"/>
            <a:ext cx="1292558" cy="717508"/>
            <a:chOff x="0" y="0"/>
            <a:chExt cx="1723410" cy="956677"/>
          </a:xfrm>
        </p:grpSpPr>
        <p:grpSp>
          <p:nvGrpSpPr>
            <p:cNvPr id="66" name="Group 66"/>
            <p:cNvGrpSpPr/>
            <p:nvPr/>
          </p:nvGrpSpPr>
          <p:grpSpPr>
            <a:xfrm>
              <a:off x="0" y="0"/>
              <a:ext cx="1723410" cy="956677"/>
              <a:chOff x="0" y="0"/>
              <a:chExt cx="5009775" cy="278096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5009775" cy="2780961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2780961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2780961"/>
                    </a:lnTo>
                    <a:lnTo>
                      <a:pt x="5009775" y="2780961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2702221"/>
                    </a:lnTo>
                    <a:lnTo>
                      <a:pt x="78740" y="2702221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143740" y="109751"/>
              <a:ext cx="1482805" cy="676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  <a:spcBef>
                  <a:spcPct val="0"/>
                </a:spcBef>
              </a:pP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 how many different ways can we </a:t>
              </a:r>
              <a:r>
                <a:rPr lang="en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sort a given code </a:t>
              </a: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of n elements?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3755918" y="4109344"/>
            <a:ext cx="1316945" cy="599573"/>
            <a:chOff x="0" y="0"/>
            <a:chExt cx="1755927" cy="799431"/>
          </a:xfrm>
        </p:grpSpPr>
        <p:grpSp>
          <p:nvGrpSpPr>
            <p:cNvPr id="70" name="Group 70"/>
            <p:cNvGrpSpPr/>
            <p:nvPr/>
          </p:nvGrpSpPr>
          <p:grpSpPr>
            <a:xfrm>
              <a:off x="0" y="0"/>
              <a:ext cx="1755927" cy="799431"/>
              <a:chOff x="0" y="0"/>
              <a:chExt cx="5104299" cy="2323864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104299" cy="2323864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323864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323864"/>
                    </a:lnTo>
                    <a:lnTo>
                      <a:pt x="5104299" y="2323864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245123"/>
                    </a:lnTo>
                    <a:lnTo>
                      <a:pt x="78740" y="2245123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72" name="TextBox 72"/>
            <p:cNvSpPr txBox="1"/>
            <p:nvPr/>
          </p:nvSpPr>
          <p:spPr>
            <a:xfrm>
              <a:off x="104787" y="563575"/>
              <a:ext cx="1557940" cy="1671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</a:pPr>
              <a:r>
                <a:rPr lang="en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Permutation of n elements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558" y="85347"/>
              <a:ext cx="1557940" cy="1671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</a:pPr>
              <a:r>
                <a:rPr lang="en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(Particular case)</a:t>
              </a:r>
            </a:p>
          </p:txBody>
        </p:sp>
      </p:grpSp>
      <p:sp>
        <p:nvSpPr>
          <p:cNvPr id="74" name="AutoShape 74"/>
          <p:cNvSpPr/>
          <p:nvPr/>
        </p:nvSpPr>
        <p:spPr>
          <a:xfrm>
            <a:off x="2750734" y="1687769"/>
            <a:ext cx="0" cy="1420982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75" name="AutoShape 75"/>
          <p:cNvSpPr/>
          <p:nvPr/>
        </p:nvSpPr>
        <p:spPr>
          <a:xfrm>
            <a:off x="4401745" y="3346712"/>
            <a:ext cx="0" cy="762632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ca-ES"/>
          </a:p>
        </p:txBody>
      </p:sp>
      <p:sp>
        <p:nvSpPr>
          <p:cNvPr id="76" name="Freeform 76"/>
          <p:cNvSpPr/>
          <p:nvPr/>
        </p:nvSpPr>
        <p:spPr>
          <a:xfrm>
            <a:off x="1389795" y="1932688"/>
            <a:ext cx="221782" cy="243005"/>
          </a:xfrm>
          <a:custGeom>
            <a:avLst/>
            <a:gdLst/>
            <a:ahLst/>
            <a:cxnLst/>
            <a:rect l="l" t="t" r="r" b="b"/>
            <a:pathLst>
              <a:path w="221782" h="243005">
                <a:moveTo>
                  <a:pt x="0" y="0"/>
                </a:moveTo>
                <a:lnTo>
                  <a:pt x="221782" y="0"/>
                </a:lnTo>
                <a:lnTo>
                  <a:pt x="221782" y="243005"/>
                </a:lnTo>
                <a:lnTo>
                  <a:pt x="0" y="243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7" name="Freeform 77"/>
          <p:cNvSpPr/>
          <p:nvPr/>
        </p:nvSpPr>
        <p:spPr>
          <a:xfrm>
            <a:off x="1598941" y="2057641"/>
            <a:ext cx="215642" cy="236104"/>
          </a:xfrm>
          <a:custGeom>
            <a:avLst/>
            <a:gdLst/>
            <a:ahLst/>
            <a:cxnLst/>
            <a:rect l="l" t="t" r="r" b="b"/>
            <a:pathLst>
              <a:path w="215642" h="236104">
                <a:moveTo>
                  <a:pt x="0" y="0"/>
                </a:moveTo>
                <a:lnTo>
                  <a:pt x="215642" y="0"/>
                </a:lnTo>
                <a:lnTo>
                  <a:pt x="215642" y="236104"/>
                </a:lnTo>
                <a:lnTo>
                  <a:pt x="0" y="236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8" name="Freeform 78"/>
          <p:cNvSpPr/>
          <p:nvPr/>
        </p:nvSpPr>
        <p:spPr>
          <a:xfrm>
            <a:off x="1791579" y="1932688"/>
            <a:ext cx="256382" cy="256382"/>
          </a:xfrm>
          <a:custGeom>
            <a:avLst/>
            <a:gdLst/>
            <a:ahLst/>
            <a:cxnLst/>
            <a:rect l="l" t="t" r="r" b="b"/>
            <a:pathLst>
              <a:path w="256382" h="256382">
                <a:moveTo>
                  <a:pt x="0" y="0"/>
                </a:moveTo>
                <a:lnTo>
                  <a:pt x="256382" y="0"/>
                </a:lnTo>
                <a:lnTo>
                  <a:pt x="256382" y="256382"/>
                </a:lnTo>
                <a:lnTo>
                  <a:pt x="0" y="2563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9" name="Freeform 79"/>
          <p:cNvSpPr/>
          <p:nvPr/>
        </p:nvSpPr>
        <p:spPr>
          <a:xfrm rot="5400000">
            <a:off x="1849240" y="2143685"/>
            <a:ext cx="188416" cy="320734"/>
          </a:xfrm>
          <a:custGeom>
            <a:avLst/>
            <a:gdLst/>
            <a:ahLst/>
            <a:cxnLst/>
            <a:rect l="l" t="t" r="r" b="b"/>
            <a:pathLst>
              <a:path w="188416" h="320734">
                <a:moveTo>
                  <a:pt x="0" y="0"/>
                </a:moveTo>
                <a:lnTo>
                  <a:pt x="188416" y="0"/>
                </a:lnTo>
                <a:lnTo>
                  <a:pt x="188416" y="320734"/>
                </a:lnTo>
                <a:lnTo>
                  <a:pt x="0" y="3207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8770" r="-99966" b="-8699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0" name="Freeform 80"/>
          <p:cNvSpPr/>
          <p:nvPr/>
        </p:nvSpPr>
        <p:spPr>
          <a:xfrm>
            <a:off x="1525898" y="5859214"/>
            <a:ext cx="430912" cy="430912"/>
          </a:xfrm>
          <a:custGeom>
            <a:avLst/>
            <a:gdLst/>
            <a:ahLst/>
            <a:cxnLst/>
            <a:rect l="l" t="t" r="r" b="b"/>
            <a:pathLst>
              <a:path w="430912" h="430912">
                <a:moveTo>
                  <a:pt x="0" y="0"/>
                </a:moveTo>
                <a:lnTo>
                  <a:pt x="430912" y="0"/>
                </a:lnTo>
                <a:lnTo>
                  <a:pt x="430912" y="430912"/>
                </a:lnTo>
                <a:lnTo>
                  <a:pt x="0" y="4309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1" name="Freeform 81"/>
          <p:cNvSpPr/>
          <p:nvPr/>
        </p:nvSpPr>
        <p:spPr>
          <a:xfrm rot="-82866">
            <a:off x="1575609" y="1732920"/>
            <a:ext cx="262306" cy="258391"/>
          </a:xfrm>
          <a:custGeom>
            <a:avLst/>
            <a:gdLst/>
            <a:ahLst/>
            <a:cxnLst/>
            <a:rect l="l" t="t" r="r" b="b"/>
            <a:pathLst>
              <a:path w="262306" h="258391">
                <a:moveTo>
                  <a:pt x="0" y="0"/>
                </a:moveTo>
                <a:lnTo>
                  <a:pt x="262306" y="0"/>
                </a:lnTo>
                <a:lnTo>
                  <a:pt x="262306" y="258391"/>
                </a:lnTo>
                <a:lnTo>
                  <a:pt x="0" y="25839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2" name="Freeform 82"/>
          <p:cNvSpPr/>
          <p:nvPr/>
        </p:nvSpPr>
        <p:spPr>
          <a:xfrm rot="-82866">
            <a:off x="2959296" y="3250437"/>
            <a:ext cx="262306" cy="258391"/>
          </a:xfrm>
          <a:custGeom>
            <a:avLst/>
            <a:gdLst/>
            <a:ahLst/>
            <a:cxnLst/>
            <a:rect l="l" t="t" r="r" b="b"/>
            <a:pathLst>
              <a:path w="262306" h="258391">
                <a:moveTo>
                  <a:pt x="0" y="0"/>
                </a:moveTo>
                <a:lnTo>
                  <a:pt x="262306" y="0"/>
                </a:lnTo>
                <a:lnTo>
                  <a:pt x="262306" y="258392"/>
                </a:lnTo>
                <a:lnTo>
                  <a:pt x="0" y="25839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3" name="Freeform 83"/>
          <p:cNvSpPr/>
          <p:nvPr/>
        </p:nvSpPr>
        <p:spPr>
          <a:xfrm>
            <a:off x="2696541" y="1084341"/>
            <a:ext cx="221782" cy="243005"/>
          </a:xfrm>
          <a:custGeom>
            <a:avLst/>
            <a:gdLst/>
            <a:ahLst/>
            <a:cxnLst/>
            <a:rect l="l" t="t" r="r" b="b"/>
            <a:pathLst>
              <a:path w="221782" h="243005">
                <a:moveTo>
                  <a:pt x="0" y="0"/>
                </a:moveTo>
                <a:lnTo>
                  <a:pt x="221781" y="0"/>
                </a:lnTo>
                <a:lnTo>
                  <a:pt x="221781" y="243004"/>
                </a:lnTo>
                <a:lnTo>
                  <a:pt x="0" y="2430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4" name="Freeform 84"/>
          <p:cNvSpPr/>
          <p:nvPr/>
        </p:nvSpPr>
        <p:spPr>
          <a:xfrm>
            <a:off x="2905686" y="1209293"/>
            <a:ext cx="215642" cy="236104"/>
          </a:xfrm>
          <a:custGeom>
            <a:avLst/>
            <a:gdLst/>
            <a:ahLst/>
            <a:cxnLst/>
            <a:rect l="l" t="t" r="r" b="b"/>
            <a:pathLst>
              <a:path w="215642" h="236104">
                <a:moveTo>
                  <a:pt x="0" y="0"/>
                </a:moveTo>
                <a:lnTo>
                  <a:pt x="215642" y="0"/>
                </a:lnTo>
                <a:lnTo>
                  <a:pt x="215642" y="236104"/>
                </a:lnTo>
                <a:lnTo>
                  <a:pt x="0" y="236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5" name="Freeform 85"/>
          <p:cNvSpPr/>
          <p:nvPr/>
        </p:nvSpPr>
        <p:spPr>
          <a:xfrm>
            <a:off x="3098324" y="1084341"/>
            <a:ext cx="256382" cy="256382"/>
          </a:xfrm>
          <a:custGeom>
            <a:avLst/>
            <a:gdLst/>
            <a:ahLst/>
            <a:cxnLst/>
            <a:rect l="l" t="t" r="r" b="b"/>
            <a:pathLst>
              <a:path w="256382" h="256382">
                <a:moveTo>
                  <a:pt x="0" y="0"/>
                </a:moveTo>
                <a:lnTo>
                  <a:pt x="256382" y="0"/>
                </a:lnTo>
                <a:lnTo>
                  <a:pt x="256382" y="256382"/>
                </a:lnTo>
                <a:lnTo>
                  <a:pt x="0" y="2563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6" name="Freeform 86"/>
          <p:cNvSpPr/>
          <p:nvPr/>
        </p:nvSpPr>
        <p:spPr>
          <a:xfrm rot="5400000">
            <a:off x="3155985" y="1295337"/>
            <a:ext cx="188416" cy="320734"/>
          </a:xfrm>
          <a:custGeom>
            <a:avLst/>
            <a:gdLst/>
            <a:ahLst/>
            <a:cxnLst/>
            <a:rect l="l" t="t" r="r" b="b"/>
            <a:pathLst>
              <a:path w="188416" h="320734">
                <a:moveTo>
                  <a:pt x="0" y="0"/>
                </a:moveTo>
                <a:lnTo>
                  <a:pt x="188416" y="0"/>
                </a:lnTo>
                <a:lnTo>
                  <a:pt x="188416" y="320734"/>
                </a:lnTo>
                <a:lnTo>
                  <a:pt x="0" y="3207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8770" r="-99966" b="-8699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87" name="Group 87"/>
          <p:cNvGrpSpPr/>
          <p:nvPr/>
        </p:nvGrpSpPr>
        <p:grpSpPr>
          <a:xfrm>
            <a:off x="8170575" y="4982291"/>
            <a:ext cx="3373325" cy="1565896"/>
            <a:chOff x="0" y="0"/>
            <a:chExt cx="4497766" cy="2087861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02506" cy="702506"/>
            </a:xfrm>
            <a:custGeom>
              <a:avLst/>
              <a:gdLst/>
              <a:ahLst/>
              <a:cxnLst/>
              <a:rect l="l" t="t" r="r" b="b"/>
              <a:pathLst>
                <a:path w="702506" h="702506">
                  <a:moveTo>
                    <a:pt x="0" y="0"/>
                  </a:moveTo>
                  <a:lnTo>
                    <a:pt x="702506" y="0"/>
                  </a:lnTo>
                  <a:lnTo>
                    <a:pt x="702506" y="702506"/>
                  </a:lnTo>
                  <a:lnTo>
                    <a:pt x="0" y="702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89" name="Freeform 89"/>
            <p:cNvSpPr/>
            <p:nvPr/>
          </p:nvSpPr>
          <p:spPr>
            <a:xfrm>
              <a:off x="3644924" y="944160"/>
              <a:ext cx="741948" cy="586106"/>
            </a:xfrm>
            <a:custGeom>
              <a:avLst/>
              <a:gdLst/>
              <a:ahLst/>
              <a:cxnLst/>
              <a:rect l="l" t="t" r="r" b="b"/>
              <a:pathLst>
                <a:path w="741948" h="586106">
                  <a:moveTo>
                    <a:pt x="0" y="0"/>
                  </a:moveTo>
                  <a:lnTo>
                    <a:pt x="741947" y="0"/>
                  </a:lnTo>
                  <a:lnTo>
                    <a:pt x="741947" y="586105"/>
                  </a:lnTo>
                  <a:lnTo>
                    <a:pt x="0" y="586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b="-11519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90" name="Freeform 90"/>
            <p:cNvSpPr/>
            <p:nvPr/>
          </p:nvSpPr>
          <p:spPr>
            <a:xfrm>
              <a:off x="3442172" y="251874"/>
              <a:ext cx="1055595" cy="510427"/>
            </a:xfrm>
            <a:custGeom>
              <a:avLst/>
              <a:gdLst/>
              <a:ahLst/>
              <a:cxnLst/>
              <a:rect l="l" t="t" r="r" b="b"/>
              <a:pathLst>
                <a:path w="1055595" h="510427">
                  <a:moveTo>
                    <a:pt x="0" y="0"/>
                  </a:moveTo>
                  <a:lnTo>
                    <a:pt x="1055594" y="0"/>
                  </a:lnTo>
                  <a:lnTo>
                    <a:pt x="1055594" y="510426"/>
                  </a:lnTo>
                  <a:lnTo>
                    <a:pt x="0" y="510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91" name="Freeform 91"/>
            <p:cNvSpPr/>
            <p:nvPr/>
          </p:nvSpPr>
          <p:spPr>
            <a:xfrm>
              <a:off x="757070" y="831805"/>
              <a:ext cx="1787774" cy="1256056"/>
            </a:xfrm>
            <a:custGeom>
              <a:avLst/>
              <a:gdLst/>
              <a:ahLst/>
              <a:cxnLst/>
              <a:rect l="l" t="t" r="r" b="b"/>
              <a:pathLst>
                <a:path w="1787774" h="1256056">
                  <a:moveTo>
                    <a:pt x="0" y="0"/>
                  </a:moveTo>
                  <a:lnTo>
                    <a:pt x="1787774" y="0"/>
                  </a:lnTo>
                  <a:lnTo>
                    <a:pt x="1787774" y="1256056"/>
                  </a:lnTo>
                  <a:lnTo>
                    <a:pt x="0" y="1256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29507" b="-456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92" name="AutoShape 92"/>
            <p:cNvSpPr/>
            <p:nvPr/>
          </p:nvSpPr>
          <p:spPr>
            <a:xfrm flipV="1">
              <a:off x="2245212" y="1351881"/>
              <a:ext cx="84058" cy="126609"/>
            </a:xfrm>
            <a:prstGeom prst="line">
              <a:avLst/>
            </a:prstGeom>
            <a:ln w="1515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sp>
          <p:nvSpPr>
            <p:cNvPr id="93" name="AutoShape 93"/>
            <p:cNvSpPr/>
            <p:nvPr/>
          </p:nvSpPr>
          <p:spPr>
            <a:xfrm flipV="1">
              <a:off x="2081583" y="1548103"/>
              <a:ext cx="84058" cy="126609"/>
            </a:xfrm>
            <a:prstGeom prst="line">
              <a:avLst/>
            </a:prstGeom>
            <a:ln w="1515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57070" y="-28575"/>
              <a:ext cx="2659165" cy="276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56"/>
                </a:lnSpc>
              </a:pPr>
              <a:r>
                <a:rPr lang="en" sz="1226" b="1">
                  <a:solidFill>
                    <a:srgbClr val="FF66C4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Push-button padlock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54489" y="292618"/>
              <a:ext cx="2642218" cy="409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29"/>
                </a:lnSpc>
              </a:pPr>
              <a:r>
                <a:rPr lang="en" sz="571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There are 10 keys to choose from, of which only 3 must be chosen.</a:t>
              </a:r>
            </a:p>
            <a:p>
              <a:pPr algn="l">
                <a:lnSpc>
                  <a:spcPts val="829"/>
                </a:lnSpc>
              </a:pPr>
              <a:r>
                <a:rPr lang="en" sz="571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Combinations with the same numbers, but out of order, count as the same combination.</a:t>
              </a:r>
            </a:p>
          </p:txBody>
        </p:sp>
      </p:grpSp>
      <p:sp>
        <p:nvSpPr>
          <p:cNvPr id="96" name="Freeform 96"/>
          <p:cNvSpPr/>
          <p:nvPr/>
        </p:nvSpPr>
        <p:spPr>
          <a:xfrm>
            <a:off x="5211467" y="5603303"/>
            <a:ext cx="1267909" cy="329969"/>
          </a:xfrm>
          <a:custGeom>
            <a:avLst/>
            <a:gdLst/>
            <a:ahLst/>
            <a:cxnLst/>
            <a:rect l="l" t="t" r="r" b="b"/>
            <a:pathLst>
              <a:path w="1267909" h="329969">
                <a:moveTo>
                  <a:pt x="0" y="0"/>
                </a:moveTo>
                <a:lnTo>
                  <a:pt x="1267909" y="0"/>
                </a:lnTo>
                <a:lnTo>
                  <a:pt x="1267909" y="329968"/>
                </a:lnTo>
                <a:lnTo>
                  <a:pt x="0" y="32996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t="-25782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7" name="Freeform 97"/>
          <p:cNvSpPr/>
          <p:nvPr/>
        </p:nvSpPr>
        <p:spPr>
          <a:xfrm>
            <a:off x="5228840" y="4240938"/>
            <a:ext cx="1267909" cy="329969"/>
          </a:xfrm>
          <a:custGeom>
            <a:avLst/>
            <a:gdLst/>
            <a:ahLst/>
            <a:cxnLst/>
            <a:rect l="l" t="t" r="r" b="b"/>
            <a:pathLst>
              <a:path w="1267909" h="329969">
                <a:moveTo>
                  <a:pt x="0" y="0"/>
                </a:moveTo>
                <a:lnTo>
                  <a:pt x="1267910" y="0"/>
                </a:lnTo>
                <a:lnTo>
                  <a:pt x="1267910" y="329969"/>
                </a:lnTo>
                <a:lnTo>
                  <a:pt x="0" y="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27816" t="-265284" r="-22557" b="-172791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8" name="Freeform 98"/>
          <p:cNvSpPr/>
          <p:nvPr/>
        </p:nvSpPr>
        <p:spPr>
          <a:xfrm>
            <a:off x="5229526" y="2868935"/>
            <a:ext cx="1238896" cy="418041"/>
          </a:xfrm>
          <a:custGeom>
            <a:avLst/>
            <a:gdLst/>
            <a:ahLst/>
            <a:cxnLst/>
            <a:rect l="l" t="t" r="r" b="b"/>
            <a:pathLst>
              <a:path w="1238896" h="418041">
                <a:moveTo>
                  <a:pt x="0" y="0"/>
                </a:moveTo>
                <a:lnTo>
                  <a:pt x="1238896" y="0"/>
                </a:lnTo>
                <a:lnTo>
                  <a:pt x="1238896" y="418041"/>
                </a:lnTo>
                <a:lnTo>
                  <a:pt x="0" y="41804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23762" t="-85301" r="-22231" b="-217608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9" name="Freeform 99"/>
          <p:cNvSpPr/>
          <p:nvPr/>
        </p:nvSpPr>
        <p:spPr>
          <a:xfrm>
            <a:off x="5220496" y="1519736"/>
            <a:ext cx="1267909" cy="329969"/>
          </a:xfrm>
          <a:custGeom>
            <a:avLst/>
            <a:gdLst/>
            <a:ahLst/>
            <a:cxnLst/>
            <a:rect l="l" t="t" r="r" b="b"/>
            <a:pathLst>
              <a:path w="1267909" h="329969">
                <a:moveTo>
                  <a:pt x="0" y="0"/>
                </a:moveTo>
                <a:lnTo>
                  <a:pt x="1267909" y="0"/>
                </a:lnTo>
                <a:lnTo>
                  <a:pt x="1267909" y="329969"/>
                </a:lnTo>
                <a:lnTo>
                  <a:pt x="0" y="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39458" r="-35574" b="-526311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00" name="Freeform 100"/>
          <p:cNvSpPr/>
          <p:nvPr/>
        </p:nvSpPr>
        <p:spPr>
          <a:xfrm>
            <a:off x="4072034" y="4352400"/>
            <a:ext cx="659421" cy="203102"/>
          </a:xfrm>
          <a:custGeom>
            <a:avLst/>
            <a:gdLst/>
            <a:ahLst/>
            <a:cxnLst/>
            <a:rect l="l" t="t" r="r" b="b"/>
            <a:pathLst>
              <a:path w="659421" h="203102">
                <a:moveTo>
                  <a:pt x="0" y="0"/>
                </a:moveTo>
                <a:lnTo>
                  <a:pt x="659422" y="0"/>
                </a:lnTo>
                <a:lnTo>
                  <a:pt x="659422" y="203101"/>
                </a:lnTo>
                <a:lnTo>
                  <a:pt x="0" y="20310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01" name="TextBox 101"/>
          <p:cNvSpPr txBox="1"/>
          <p:nvPr/>
        </p:nvSpPr>
        <p:spPr>
          <a:xfrm>
            <a:off x="5473319" y="1055766"/>
            <a:ext cx="778951" cy="19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2"/>
              </a:lnSpc>
              <a:spcBef>
                <a:spcPct val="0"/>
              </a:spcBef>
            </a:pPr>
            <a:r>
              <a:rPr lang="en" sz="1137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Formula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656519" y="1050661"/>
            <a:ext cx="1308816" cy="19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2"/>
              </a:lnSpc>
              <a:spcBef>
                <a:spcPct val="0"/>
              </a:spcBef>
            </a:pPr>
            <a:r>
              <a:rPr lang="en" sz="1137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Answer the question...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93903" y="825970"/>
            <a:ext cx="1625718" cy="379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" sz="1100" b="1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 </a:t>
            </a:r>
            <a:r>
              <a:rPr lang="en" sz="110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boxes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" sz="1100" b="1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 </a:t>
            </a:r>
            <a:r>
              <a:rPr lang="en" sz="110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elements in each box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8189625" y="1452808"/>
            <a:ext cx="2741745" cy="541626"/>
            <a:chOff x="0" y="0"/>
            <a:chExt cx="3655660" cy="722168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594309" cy="651180"/>
            </a:xfrm>
            <a:custGeom>
              <a:avLst/>
              <a:gdLst/>
              <a:ahLst/>
              <a:cxnLst/>
              <a:rect l="l" t="t" r="r" b="b"/>
              <a:pathLst>
                <a:path w="594309" h="651180">
                  <a:moveTo>
                    <a:pt x="0" y="0"/>
                  </a:moveTo>
                  <a:lnTo>
                    <a:pt x="594309" y="0"/>
                  </a:lnTo>
                  <a:lnTo>
                    <a:pt x="594309" y="651180"/>
                  </a:lnTo>
                  <a:lnTo>
                    <a:pt x="0" y="651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06" name="Freeform 106"/>
            <p:cNvSpPr/>
            <p:nvPr/>
          </p:nvSpPr>
          <p:spPr>
            <a:xfrm>
              <a:off x="3171807" y="101322"/>
              <a:ext cx="483853" cy="495856"/>
            </a:xfrm>
            <a:custGeom>
              <a:avLst/>
              <a:gdLst/>
              <a:ahLst/>
              <a:cxnLst/>
              <a:rect l="l" t="t" r="r" b="b"/>
              <a:pathLst>
                <a:path w="483853" h="495856">
                  <a:moveTo>
                    <a:pt x="0" y="0"/>
                  </a:moveTo>
                  <a:lnTo>
                    <a:pt x="483853" y="0"/>
                  </a:lnTo>
                  <a:lnTo>
                    <a:pt x="483853" y="495856"/>
                  </a:lnTo>
                  <a:lnTo>
                    <a:pt x="0" y="495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-319647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38050" y="-28575"/>
              <a:ext cx="2698221" cy="281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" sz="1244" b="1">
                  <a:solidFill>
                    <a:srgbClr val="733EF6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Roulette numbering padlock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38050" y="306540"/>
              <a:ext cx="2219607" cy="41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1"/>
                </a:lnSpc>
              </a:pPr>
              <a:r>
                <a:rPr lang="en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Combinations of 4 numbers can be chosen.</a:t>
              </a:r>
            </a:p>
            <a:p>
              <a:pPr algn="l">
                <a:lnSpc>
                  <a:spcPts val="841"/>
                </a:lnSpc>
              </a:pPr>
              <a:r>
                <a:rPr lang="en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Each box has 10 elements.</a:t>
              </a:r>
            </a:p>
            <a:p>
              <a:pPr algn="l">
                <a:lnSpc>
                  <a:spcPts val="841"/>
                </a:lnSpc>
              </a:pPr>
              <a:r>
                <a:rPr lang="en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 combination can have repeated elements.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103900" y="2150056"/>
            <a:ext cx="3108897" cy="1496705"/>
            <a:chOff x="0" y="0"/>
            <a:chExt cx="4145197" cy="1995607"/>
          </a:xfrm>
        </p:grpSpPr>
        <p:sp>
          <p:nvSpPr>
            <p:cNvPr id="110" name="Freeform 110"/>
            <p:cNvSpPr/>
            <p:nvPr/>
          </p:nvSpPr>
          <p:spPr>
            <a:xfrm>
              <a:off x="835603" y="1676431"/>
              <a:ext cx="2236803" cy="319176"/>
            </a:xfrm>
            <a:custGeom>
              <a:avLst/>
              <a:gdLst/>
              <a:ahLst/>
              <a:cxnLst/>
              <a:rect l="l" t="t" r="r" b="b"/>
              <a:pathLst>
                <a:path w="2236803" h="319176">
                  <a:moveTo>
                    <a:pt x="0" y="0"/>
                  </a:moveTo>
                  <a:lnTo>
                    <a:pt x="2236803" y="0"/>
                  </a:lnTo>
                  <a:lnTo>
                    <a:pt x="2236803" y="319176"/>
                  </a:lnTo>
                  <a:lnTo>
                    <a:pt x="0" y="319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1" name="AutoShape 111"/>
            <p:cNvSpPr/>
            <p:nvPr/>
          </p:nvSpPr>
          <p:spPr>
            <a:xfrm>
              <a:off x="1489815" y="1771961"/>
              <a:ext cx="875724" cy="7183"/>
            </a:xfrm>
            <a:prstGeom prst="line">
              <a:avLst/>
            </a:prstGeom>
            <a:ln w="14471" cap="rnd">
              <a:solidFill>
                <a:srgbClr val="FF3131">
                  <a:alpha val="49804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sp>
          <p:nvSpPr>
            <p:cNvPr id="112" name="AutoShape 112"/>
            <p:cNvSpPr/>
            <p:nvPr/>
          </p:nvSpPr>
          <p:spPr>
            <a:xfrm>
              <a:off x="1092922" y="1906126"/>
              <a:ext cx="1049690" cy="0"/>
            </a:xfrm>
            <a:prstGeom prst="line">
              <a:avLst/>
            </a:prstGeom>
            <a:ln w="14471" cap="rnd">
              <a:solidFill>
                <a:srgbClr val="FF3131">
                  <a:alpha val="3764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grpSp>
          <p:nvGrpSpPr>
            <p:cNvPr id="113" name="Group 113"/>
            <p:cNvGrpSpPr/>
            <p:nvPr/>
          </p:nvGrpSpPr>
          <p:grpSpPr>
            <a:xfrm>
              <a:off x="1776037" y="1389740"/>
              <a:ext cx="238624" cy="238624"/>
              <a:chOff x="0" y="0"/>
              <a:chExt cx="1913890" cy="191389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115" name="Freeform 115"/>
            <p:cNvSpPr/>
            <p:nvPr/>
          </p:nvSpPr>
          <p:spPr>
            <a:xfrm rot="-82866">
              <a:off x="9439" y="9585"/>
              <a:ext cx="804929" cy="792915"/>
            </a:xfrm>
            <a:custGeom>
              <a:avLst/>
              <a:gdLst/>
              <a:ahLst/>
              <a:cxnLst/>
              <a:rect l="l" t="t" r="r" b="b"/>
              <a:pathLst>
                <a:path w="804929" h="792915">
                  <a:moveTo>
                    <a:pt x="0" y="0"/>
                  </a:moveTo>
                  <a:lnTo>
                    <a:pt x="804929" y="0"/>
                  </a:lnTo>
                  <a:lnTo>
                    <a:pt x="804929" y="792915"/>
                  </a:lnTo>
                  <a:lnTo>
                    <a:pt x="0" y="79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6" name="Freeform 116"/>
            <p:cNvSpPr/>
            <p:nvPr/>
          </p:nvSpPr>
          <p:spPr>
            <a:xfrm>
              <a:off x="852799" y="1187653"/>
              <a:ext cx="1203335" cy="460942"/>
            </a:xfrm>
            <a:custGeom>
              <a:avLst/>
              <a:gdLst/>
              <a:ahLst/>
              <a:cxnLst/>
              <a:rect l="l" t="t" r="r" b="b"/>
              <a:pathLst>
                <a:path w="1203335" h="460942">
                  <a:moveTo>
                    <a:pt x="0" y="0"/>
                  </a:moveTo>
                  <a:lnTo>
                    <a:pt x="1203335" y="0"/>
                  </a:lnTo>
                  <a:lnTo>
                    <a:pt x="1203335" y="460942"/>
                  </a:lnTo>
                  <a:lnTo>
                    <a:pt x="0" y="460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44403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7" name="Freeform 117"/>
            <p:cNvSpPr/>
            <p:nvPr/>
          </p:nvSpPr>
          <p:spPr>
            <a:xfrm>
              <a:off x="3089602" y="693387"/>
              <a:ext cx="1055595" cy="453807"/>
            </a:xfrm>
            <a:custGeom>
              <a:avLst/>
              <a:gdLst/>
              <a:ahLst/>
              <a:cxnLst/>
              <a:rect l="l" t="t" r="r" b="b"/>
              <a:pathLst>
                <a:path w="1055595" h="453807">
                  <a:moveTo>
                    <a:pt x="0" y="0"/>
                  </a:moveTo>
                  <a:lnTo>
                    <a:pt x="1055595" y="0"/>
                  </a:lnTo>
                  <a:lnTo>
                    <a:pt x="1055595" y="453807"/>
                  </a:lnTo>
                  <a:lnTo>
                    <a:pt x="0" y="45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8" name="Freeform 118"/>
            <p:cNvSpPr/>
            <p:nvPr/>
          </p:nvSpPr>
          <p:spPr>
            <a:xfrm>
              <a:off x="3250558" y="1256647"/>
              <a:ext cx="741948" cy="708972"/>
            </a:xfrm>
            <a:custGeom>
              <a:avLst/>
              <a:gdLst/>
              <a:ahLst/>
              <a:cxnLst/>
              <a:rect l="l" t="t" r="r" b="b"/>
              <a:pathLst>
                <a:path w="741948" h="708972">
                  <a:moveTo>
                    <a:pt x="0" y="0"/>
                  </a:moveTo>
                  <a:lnTo>
                    <a:pt x="741948" y="0"/>
                  </a:lnTo>
                  <a:lnTo>
                    <a:pt x="741948" y="708972"/>
                  </a:lnTo>
                  <a:lnTo>
                    <a:pt x="0" y="708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69996" y="227520"/>
              <a:ext cx="2101195" cy="262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63"/>
                </a:lnSpc>
              </a:pPr>
              <a:r>
                <a:rPr lang="en" sz="1157" b="1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Safe padlock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869996" y="674337"/>
              <a:ext cx="2219607" cy="421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1"/>
                </a:lnSpc>
              </a:pPr>
              <a:r>
                <a:rPr lang="en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Combinations of 3 numbers can be chosen.</a:t>
              </a:r>
            </a:p>
            <a:p>
              <a:pPr algn="l">
                <a:lnSpc>
                  <a:spcPts val="841"/>
                </a:lnSpc>
              </a:pPr>
              <a:r>
                <a:rPr lang="en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Each box has 40 elements.</a:t>
              </a:r>
            </a:p>
            <a:p>
              <a:pPr algn="l">
                <a:lnSpc>
                  <a:spcPts val="841"/>
                </a:lnSpc>
              </a:pPr>
              <a:r>
                <a:rPr lang="en" sz="580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A combination cannot have repeated elements.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8189625" y="3869131"/>
            <a:ext cx="2375380" cy="966537"/>
            <a:chOff x="0" y="0"/>
            <a:chExt cx="3167173" cy="1288717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571184" cy="972306"/>
            </a:xfrm>
            <a:custGeom>
              <a:avLst/>
              <a:gdLst/>
              <a:ahLst/>
              <a:cxnLst/>
              <a:rect l="l" t="t" r="r" b="b"/>
              <a:pathLst>
                <a:path w="571184" h="972306">
                  <a:moveTo>
                    <a:pt x="0" y="0"/>
                  </a:moveTo>
                  <a:lnTo>
                    <a:pt x="571184" y="0"/>
                  </a:lnTo>
                  <a:lnTo>
                    <a:pt x="571184" y="972306"/>
                  </a:lnTo>
                  <a:lnTo>
                    <a:pt x="0" y="972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23" name="Freeform 123"/>
            <p:cNvSpPr/>
            <p:nvPr/>
          </p:nvSpPr>
          <p:spPr>
            <a:xfrm>
              <a:off x="778774" y="996817"/>
              <a:ext cx="2097838" cy="291900"/>
            </a:xfrm>
            <a:custGeom>
              <a:avLst/>
              <a:gdLst/>
              <a:ahLst/>
              <a:cxnLst/>
              <a:rect l="l" t="t" r="r" b="b"/>
              <a:pathLst>
                <a:path w="2097838" h="291900">
                  <a:moveTo>
                    <a:pt x="0" y="0"/>
                  </a:moveTo>
                  <a:lnTo>
                    <a:pt x="2097838" y="0"/>
                  </a:lnTo>
                  <a:lnTo>
                    <a:pt x="2097838" y="291900"/>
                  </a:lnTo>
                  <a:lnTo>
                    <a:pt x="0" y="29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-35907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26488" y="24215"/>
              <a:ext cx="2101195" cy="528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63"/>
                </a:lnSpc>
              </a:pPr>
              <a:r>
                <a:rPr lang="en" sz="1157" b="1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Directional padlock (restrictions)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43684" y="592271"/>
              <a:ext cx="2423489" cy="2752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1"/>
                </a:lnSpc>
              </a:pPr>
              <a:r>
                <a:rPr lang="en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You can choose combinations of 4 elements ⬆️⬇️➡️⬅️</a:t>
              </a:r>
            </a:p>
            <a:p>
              <a:pPr algn="l">
                <a:lnSpc>
                  <a:spcPts val="841"/>
                </a:lnSpc>
              </a:pPr>
              <a:r>
                <a:rPr lang="en" sz="580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A combination cannot have repeated elements.</a:t>
              </a:r>
            </a:p>
          </p:txBody>
        </p:sp>
      </p:grpSp>
      <p:sp>
        <p:nvSpPr>
          <p:cNvPr id="126" name="TextBox 126"/>
          <p:cNvSpPr txBox="1"/>
          <p:nvPr/>
        </p:nvSpPr>
        <p:spPr>
          <a:xfrm>
            <a:off x="3757150" y="1055766"/>
            <a:ext cx="1308816" cy="19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2"/>
              </a:lnSpc>
              <a:spcBef>
                <a:spcPct val="0"/>
              </a:spcBef>
            </a:pPr>
            <a:r>
              <a:rPr lang="en" sz="1137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Model name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685800" y="88392"/>
            <a:ext cx="108204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80"/>
              </a:lnSpc>
            </a:pPr>
            <a:r>
              <a:rPr lang="en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Q₃: What characterizes a padlock </a:t>
            </a:r>
            <a:r>
              <a:rPr lang="en" sz="1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 ? What models </a:t>
            </a:r>
            <a:r>
              <a:rPr lang="en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are there? What </a:t>
            </a:r>
            <a:r>
              <a:rPr lang="en" sz="1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 we call them?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1109960" y="657225"/>
            <a:ext cx="9972081" cy="551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9"/>
              </a:lnSpc>
            </a:pPr>
            <a:r>
              <a:rPr lang="en" sz="72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Q₄: Do these </a:t>
            </a:r>
            <a:r>
              <a:rPr lang="en" sz="7224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models work </a:t>
            </a:r>
            <a:r>
              <a:rPr lang="en" sz="72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 solve more </a:t>
            </a:r>
            <a:r>
              <a:rPr lang="en" sz="7224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problems </a:t>
            </a:r>
            <a:r>
              <a:rPr lang="en" sz="72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with contexts other than padlocks?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685800" y="2245501"/>
            <a:ext cx="10820400" cy="401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many different ways are there to...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Elect a president, secretary and spokesperson from a group of 12 people if one person cannot hold more than one position.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Elect a president, secretary and spokesperson from a group of 12 people if one person can hold more than one position.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 words of three different letters with the letters of the word PERMUTATION.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Paint a flag with 3 available colors in a horizontal arrangement and we must use a minimum of 2 and a maximum of 3, and the colors cannot be repeated.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Choosing an ice cream if there are 6 different flavors and we are allowed to choose 2 different flavors.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With 4 cans of paint of different colors, how many mixtures of 2 different colors can we make?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 4 questions from a list of 5.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Assign 2 twin brothers so that they do not coincide in the same class if the school has 4 3rd ESO classes.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Assemble a bead bracelet if we have 10 beads available, all of different colors.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Organize homework for 3 subjects in one afternoon.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Combine 10 t-shirts for a week so as not to repeat a t-shirt any day of the week.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Combine the shirts from the previous case with 3 pairs of pants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 vehicle registration plates that consist of 4 numbers and 3 letters of the alphabet, excluding vowels.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638138"/>
            <a:ext cx="5613970" cy="7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7"/>
              </a:lnSpc>
            </a:pPr>
            <a:r>
              <a:rPr lang="en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REPORT Q₄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8211" y="1648675"/>
            <a:ext cx="11293043" cy="35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" sz="2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Q₄: Do these models work to solve more problems with contexts other than padlocks?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0681" y="93136"/>
            <a:ext cx="10685519" cy="27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Q₄: Do these </a:t>
            </a:r>
            <a:r>
              <a:rPr lang="en" sz="17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models work </a:t>
            </a:r>
            <a:r>
              <a:rPr lang="en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 solve more </a:t>
            </a:r>
            <a:r>
              <a:rPr lang="en" sz="17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problems </a:t>
            </a:r>
            <a:r>
              <a:rPr lang="en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with contexts other than padlocks?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1878</Words>
  <Application>Microsoft Office PowerPoint</Application>
  <PresentationFormat>Widescreen</PresentationFormat>
  <Paragraphs>208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40" baseType="lpstr">
      <vt:lpstr>Calibri (MS)</vt:lpstr>
      <vt:lpstr>Economica</vt:lpstr>
      <vt:lpstr>Lato Bold</vt:lpstr>
      <vt:lpstr>Roboto</vt:lpstr>
      <vt:lpstr>IBM Plex Sans Condensed</vt:lpstr>
      <vt:lpstr>Glacial Indifference Bold</vt:lpstr>
      <vt:lpstr>Glacial Indifference</vt:lpstr>
      <vt:lpstr>Arimo Bold</vt:lpstr>
      <vt:lpstr>Arial</vt:lpstr>
      <vt:lpstr>Arimo</vt:lpstr>
      <vt:lpstr>League Spartan</vt:lpstr>
      <vt:lpstr>Lato</vt:lpstr>
      <vt:lpstr>Roboto Bold</vt:lpstr>
      <vt:lpstr>IBM Plex Sans Condensed Bold</vt:lpstr>
      <vt:lpstr>Economica Bold</vt:lpstr>
      <vt:lpstr>Garet Bold</vt:lpstr>
      <vt:lpstr>Garet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REI Cadenats</dc:title>
  <cp:lastModifiedBy>Susana Vasquez Elias</cp:lastModifiedBy>
  <cp:revision>1</cp:revision>
  <dcterms:created xsi:type="dcterms:W3CDTF">2006-08-16T00:00:00Z</dcterms:created>
  <dcterms:modified xsi:type="dcterms:W3CDTF">2025-10-16T17:37:54Z</dcterms:modified>
  <dc:identifier>DAGcwhh10Jo</dc:identifier>
</cp:coreProperties>
</file>