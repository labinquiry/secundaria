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6858000" cy="9144000"/>
  <p:embeddedFontLst>
    <p:embeddedFont>
      <p:font typeface="IBM Plex Sans Condensed Bold" charset="1" panose="020B0806050203000203"/>
      <p:regular r:id="rId27"/>
    </p:embeddedFont>
    <p:embeddedFont>
      <p:font typeface="Arial" charset="1" panose="020B0502020202020204"/>
      <p:regular r:id="rId28"/>
    </p:embeddedFont>
    <p:embeddedFont>
      <p:font typeface="Arimo Bold" charset="1" panose="020B0704020202020204"/>
      <p:regular r:id="rId29"/>
    </p:embeddedFont>
    <p:embeddedFont>
      <p:font typeface="Arimo" charset="1" panose="020B0604020202020204"/>
      <p:regular r:id="rId30"/>
    </p:embeddedFont>
    <p:embeddedFont>
      <p:font typeface="Calibri (MS)" charset="1" panose="020F0502020204030204"/>
      <p:regular r:id="rId31"/>
    </p:embeddedFont>
    <p:embeddedFont>
      <p:font typeface="Garet Bold" charset="1" panose="00000000000000000000"/>
      <p:regular r:id="rId32"/>
    </p:embeddedFont>
    <p:embeddedFont>
      <p:font typeface="Garet" charset="1" panose="00000000000000000000"/>
      <p:regular r:id="rId33"/>
    </p:embeddedFont>
    <p:embeddedFont>
      <p:font typeface="IBM Plex Sans Condensed" charset="1" panose="020B0506050203000203"/>
      <p:regular r:id="rId34"/>
    </p:embeddedFont>
    <p:embeddedFont>
      <p:font typeface="League Spartan" charset="1" panose="00000800000000000000"/>
      <p:regular r:id="rId35"/>
    </p:embeddedFont>
    <p:embeddedFont>
      <p:font typeface="Roboto" charset="1" panose="02000000000000000000"/>
      <p:regular r:id="rId36"/>
    </p:embeddedFont>
    <p:embeddedFont>
      <p:font typeface="Roboto Bold" charset="1" panose="02000000000000000000"/>
      <p:regular r:id="rId37"/>
    </p:embeddedFont>
    <p:embeddedFont>
      <p:font typeface="Glacial Indifference Bold" charset="1" panose="00000800000000000000"/>
      <p:regular r:id="rId38"/>
    </p:embeddedFont>
    <p:embeddedFont>
      <p:font typeface="Glacial Indifference" charset="1" panose="00000000000000000000"/>
      <p:regular r:id="rId39"/>
    </p:embeddedFont>
    <p:embeddedFont>
      <p:font typeface="Economica Bold" charset="1" panose="02000506030000020004"/>
      <p:regular r:id="rId40"/>
    </p:embeddedFont>
    <p:embeddedFont>
      <p:font typeface="Lato" charset="1" panose="020F0502020204030203"/>
      <p:regular r:id="rId41"/>
    </p:embeddedFont>
    <p:embeddedFont>
      <p:font typeface="Economica" charset="1" panose="02000506040000020004"/>
      <p:regular r:id="rId42"/>
    </p:embeddedFont>
    <p:embeddedFont>
      <p:font typeface="Lato Bold" charset="1" panose="020F0802020204030203"/>
      <p:regular r:id="rId43"/>
    </p:embeddedFont>
  </p:embeddedFontLst>
  <p:defaultTextStyle>
    <a:defPPr>
      <a:defRPr lang="e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43" Target="fonts/font43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6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1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Relationship Id="rId5" Target="../media/image8.png" Type="http://schemas.openxmlformats.org/officeDocument/2006/relationships/image"/><Relationship Id="rId6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9.png" Type="http://schemas.openxmlformats.org/officeDocument/2006/relationships/image"/><Relationship Id="rId4" Target="../media/image22.jpeg" Type="http://schemas.openxmlformats.org/officeDocument/2006/relationships/image"/><Relationship Id="rId5" Target="../media/image1.pn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arget="https://youtu.be/zSUG5iQniSc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25.png" Type="http://schemas.openxmlformats.org/officeDocument/2006/relationships/image"/><Relationship Id="rId4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11.png" Type="http://schemas.openxmlformats.org/officeDocument/2006/relationships/image"/><Relationship Id="rId4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18.png" Type="http://schemas.openxmlformats.org/officeDocument/2006/relationships/image"/><Relationship Id="rId4" Target="../media/image27.jpeg" Type="http://schemas.openxmlformats.org/officeDocument/2006/relationships/image"/><Relationship Id="rId5" Target="../media/image12.png" Type="http://schemas.openxmlformats.org/officeDocument/2006/relationships/image"/><Relationship Id="rId6" Target="../media/image17.png" Type="http://schemas.openxmlformats.org/officeDocument/2006/relationships/image"/><Relationship Id="rId7" Target="../media/image28.png" Type="http://schemas.openxmlformats.org/officeDocument/2006/relationships/image"/><Relationship Id="rId8" Target="../media/image29.svg" Type="http://schemas.openxmlformats.org/officeDocument/2006/relationships/image"/><Relationship Id="rId9" Target="https://youtu.be/9IAfqFGM56w?t=153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13.png" Type="http://schemas.openxmlformats.org/officeDocument/2006/relationships/image"/><Relationship Id="rId4" Target="../media/image30.jpeg" Type="http://schemas.openxmlformats.org/officeDocument/2006/relationships/image"/><Relationship Id="rId5" Target="../media/image17.png" Type="http://schemas.openxmlformats.org/officeDocument/2006/relationships/image"/><Relationship Id="rId6" Target="../media/image31.png" Type="http://schemas.openxmlformats.org/officeDocument/2006/relationships/image"/><Relationship Id="rId7" Target="../media/image32.svg" Type="http://schemas.openxmlformats.org/officeDocument/2006/relationships/image"/><Relationship Id="rId8" Target="https://youtu.be/ednwKwSu7dw" TargetMode="External" Type="http://schemas.openxmlformats.org/officeDocument/2006/relationships/hyperlink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6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17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6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1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6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1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0.svg" Type="http://schemas.openxmlformats.org/officeDocument/2006/relationships/image"/><Relationship Id="rId11" Target="../media/image41.png" Type="http://schemas.openxmlformats.org/officeDocument/2006/relationships/image"/><Relationship Id="rId12" Target="../media/image42.svg" Type="http://schemas.openxmlformats.org/officeDocument/2006/relationships/image"/><Relationship Id="rId13" Target="../media/image43.png" Type="http://schemas.openxmlformats.org/officeDocument/2006/relationships/image"/><Relationship Id="rId14" Target="../media/image44.png" Type="http://schemas.openxmlformats.org/officeDocument/2006/relationships/image"/><Relationship Id="rId15" Target="../media/image45.png" Type="http://schemas.openxmlformats.org/officeDocument/2006/relationships/image"/><Relationship Id="rId16" Target="../media/image46.png" Type="http://schemas.openxmlformats.org/officeDocument/2006/relationships/image"/><Relationship Id="rId17" Target="../media/image47.png" Type="http://schemas.openxmlformats.org/officeDocument/2006/relationships/image"/><Relationship Id="rId18" Target="../media/image48.png" Type="http://schemas.openxmlformats.org/officeDocument/2006/relationships/image"/><Relationship Id="rId19" Target="../media/image49.jpeg" Type="http://schemas.openxmlformats.org/officeDocument/2006/relationships/image"/><Relationship Id="rId2" Target="../media/image17.png" Type="http://schemas.openxmlformats.org/officeDocument/2006/relationships/image"/><Relationship Id="rId20" Target="../media/image50.png" Type="http://schemas.openxmlformats.org/officeDocument/2006/relationships/image"/><Relationship Id="rId21" Target="../media/image51.png" Type="http://schemas.openxmlformats.org/officeDocument/2006/relationships/image"/><Relationship Id="rId22" Target="../media/image52.png" Type="http://schemas.openxmlformats.org/officeDocument/2006/relationships/image"/><Relationship Id="rId23" Target="../media/image53.png" Type="http://schemas.openxmlformats.org/officeDocument/2006/relationships/image"/><Relationship Id="rId24" Target="../media/image54.png" Type="http://schemas.openxmlformats.org/officeDocument/2006/relationships/image"/><Relationship Id="rId25" Target="../media/image55.jpeg" Type="http://schemas.openxmlformats.org/officeDocument/2006/relationships/image"/><Relationship Id="rId26" Target="../media/image56.png" Type="http://schemas.openxmlformats.org/officeDocument/2006/relationships/image"/><Relationship Id="rId27" Target="../media/image57.png" Type="http://schemas.openxmlformats.org/officeDocument/2006/relationships/image"/><Relationship Id="rId28" Target="../media/image58.png" Type="http://schemas.openxmlformats.org/officeDocument/2006/relationships/image"/><Relationship Id="rId29" Target="../media/image59.png" Type="http://schemas.openxmlformats.org/officeDocument/2006/relationships/image"/><Relationship Id="rId3" Target="../media/image33.png" Type="http://schemas.openxmlformats.org/officeDocument/2006/relationships/image"/><Relationship Id="rId30" Target="../media/image60.png" Type="http://schemas.openxmlformats.org/officeDocument/2006/relationships/image"/><Relationship Id="rId31" Target="../media/image61.jpeg" Type="http://schemas.openxmlformats.org/officeDocument/2006/relationships/image"/><Relationship Id="rId32" Target="../media/image62.png" Type="http://schemas.openxmlformats.org/officeDocument/2006/relationships/image"/><Relationship Id="rId4" Target="../media/image34.svg" Type="http://schemas.openxmlformats.org/officeDocument/2006/relationships/image"/><Relationship Id="rId5" Target="../media/image35.png" Type="http://schemas.openxmlformats.org/officeDocument/2006/relationships/image"/><Relationship Id="rId6" Target="../media/image36.svg" Type="http://schemas.openxmlformats.org/officeDocument/2006/relationships/image"/><Relationship Id="rId7" Target="../media/image37.png" Type="http://schemas.openxmlformats.org/officeDocument/2006/relationships/image"/><Relationship Id="rId8" Target="../media/image38.svg" Type="http://schemas.openxmlformats.org/officeDocument/2006/relationships/image"/><Relationship Id="rId9" Target="../media/image39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6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1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231086" y="4646905"/>
            <a:ext cx="2045799" cy="2045799"/>
            <a:chOff x="0" y="0"/>
            <a:chExt cx="2045792" cy="2045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-11176" y="0"/>
              <a:ext cx="2060575" cy="2045716"/>
            </a:xfrm>
            <a:custGeom>
              <a:avLst/>
              <a:gdLst/>
              <a:ahLst/>
              <a:cxnLst/>
              <a:rect r="r" b="b" t="t" l="l"/>
              <a:pathLst>
                <a:path h="2045716" w="2060575">
                  <a:moveTo>
                    <a:pt x="1032891" y="0"/>
                  </a:moveTo>
                  <a:cubicBezTo>
                    <a:pt x="1005586" y="0"/>
                    <a:pt x="978408" y="10287"/>
                    <a:pt x="956437" y="30988"/>
                  </a:cubicBezTo>
                  <a:lnTo>
                    <a:pt x="956437" y="30988"/>
                  </a:lnTo>
                  <a:lnTo>
                    <a:pt x="44450" y="942975"/>
                  </a:lnTo>
                  <a:cubicBezTo>
                    <a:pt x="3429" y="985139"/>
                    <a:pt x="0" y="1049909"/>
                    <a:pt x="36068" y="1094613"/>
                  </a:cubicBezTo>
                  <a:lnTo>
                    <a:pt x="36068" y="1094613"/>
                  </a:lnTo>
                  <a:lnTo>
                    <a:pt x="962279" y="2020824"/>
                  </a:lnTo>
                  <a:cubicBezTo>
                    <a:pt x="982980" y="2037461"/>
                    <a:pt x="1007872" y="2045716"/>
                    <a:pt x="1032891" y="2045716"/>
                  </a:cubicBezTo>
                  <a:cubicBezTo>
                    <a:pt x="1049020" y="2045716"/>
                    <a:pt x="1065149" y="2042287"/>
                    <a:pt x="1080262" y="2035429"/>
                  </a:cubicBezTo>
                  <a:lnTo>
                    <a:pt x="2047621" y="1068070"/>
                  </a:lnTo>
                  <a:lnTo>
                    <a:pt x="2047621" y="1068070"/>
                  </a:lnTo>
                  <a:cubicBezTo>
                    <a:pt x="2060575" y="1038733"/>
                    <a:pt x="2059940" y="1005586"/>
                    <a:pt x="2046224" y="976376"/>
                  </a:cubicBezTo>
                  <a:lnTo>
                    <a:pt x="2046224" y="976376"/>
                  </a:lnTo>
                  <a:lnTo>
                    <a:pt x="1080516" y="10795"/>
                  </a:lnTo>
                  <a:lnTo>
                    <a:pt x="1080516" y="10795"/>
                  </a:lnTo>
                  <a:cubicBezTo>
                    <a:pt x="1065403" y="3556"/>
                    <a:pt x="1049147" y="0"/>
                    <a:pt x="1032891" y="0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379981" y="-787384"/>
            <a:ext cx="11626882" cy="7589025"/>
            <a:chOff x="0" y="0"/>
            <a:chExt cx="11626888" cy="758902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872988" y="2410079"/>
              <a:ext cx="3556127" cy="3505581"/>
            </a:xfrm>
            <a:custGeom>
              <a:avLst/>
              <a:gdLst/>
              <a:ahLst/>
              <a:cxnLst/>
              <a:rect r="r" b="b" t="t" l="l"/>
              <a:pathLst>
                <a:path h="3505581" w="3556127">
                  <a:moveTo>
                    <a:pt x="2420112" y="0"/>
                  </a:moveTo>
                  <a:cubicBezTo>
                    <a:pt x="2402078" y="0"/>
                    <a:pt x="2383917" y="3937"/>
                    <a:pt x="2366899" y="11684"/>
                  </a:cubicBezTo>
                  <a:lnTo>
                    <a:pt x="2366899" y="11684"/>
                  </a:lnTo>
                  <a:lnTo>
                    <a:pt x="22225" y="2292477"/>
                  </a:lnTo>
                  <a:lnTo>
                    <a:pt x="22225" y="2292477"/>
                  </a:lnTo>
                  <a:cubicBezTo>
                    <a:pt x="0" y="2338070"/>
                    <a:pt x="6985" y="2392934"/>
                    <a:pt x="44323" y="2432558"/>
                  </a:cubicBezTo>
                  <a:lnTo>
                    <a:pt x="44323" y="2432558"/>
                  </a:lnTo>
                  <a:lnTo>
                    <a:pt x="1052322" y="3468751"/>
                  </a:lnTo>
                  <a:lnTo>
                    <a:pt x="1052322" y="3468751"/>
                  </a:lnTo>
                  <a:cubicBezTo>
                    <a:pt x="1077595" y="3493135"/>
                    <a:pt x="1110234" y="3505581"/>
                    <a:pt x="1142746" y="3505581"/>
                  </a:cubicBezTo>
                  <a:cubicBezTo>
                    <a:pt x="1170051" y="3505581"/>
                    <a:pt x="1197483" y="3496818"/>
                    <a:pt x="1220343" y="3478784"/>
                  </a:cubicBezTo>
                  <a:lnTo>
                    <a:pt x="1220343" y="3478784"/>
                  </a:lnTo>
                  <a:lnTo>
                    <a:pt x="3519551" y="1242314"/>
                  </a:lnTo>
                  <a:lnTo>
                    <a:pt x="3519551" y="1242314"/>
                  </a:lnTo>
                  <a:cubicBezTo>
                    <a:pt x="3548126" y="1207770"/>
                    <a:pt x="3556127" y="1161669"/>
                    <a:pt x="3543046" y="1120521"/>
                  </a:cubicBezTo>
                  <a:lnTo>
                    <a:pt x="3543046" y="1120521"/>
                  </a:lnTo>
                  <a:lnTo>
                    <a:pt x="2459355" y="6477"/>
                  </a:lnTo>
                  <a:lnTo>
                    <a:pt x="2459355" y="6477"/>
                  </a:lnTo>
                  <a:cubicBezTo>
                    <a:pt x="2446655" y="2159"/>
                    <a:pt x="2433447" y="127"/>
                    <a:pt x="2420111" y="127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787400"/>
              <a:ext cx="4575048" cy="4247388"/>
            </a:xfrm>
            <a:custGeom>
              <a:avLst/>
              <a:gdLst/>
              <a:ahLst/>
              <a:cxnLst/>
              <a:rect r="r" b="b" t="t" l="l"/>
              <a:pathLst>
                <a:path h="4247388" w="4575048">
                  <a:moveTo>
                    <a:pt x="1098677" y="0"/>
                  </a:moveTo>
                  <a:cubicBezTo>
                    <a:pt x="439166" y="400939"/>
                    <a:pt x="0" y="1125220"/>
                    <a:pt x="0" y="1953006"/>
                  </a:cubicBezTo>
                  <a:cubicBezTo>
                    <a:pt x="0" y="3220593"/>
                    <a:pt x="1022223" y="4247388"/>
                    <a:pt x="2289810" y="4247388"/>
                  </a:cubicBezTo>
                  <a:cubicBezTo>
                    <a:pt x="3504057" y="4247388"/>
                    <a:pt x="4499991" y="3298317"/>
                    <a:pt x="4575048" y="2098675"/>
                  </a:cubicBezTo>
                  <a:lnTo>
                    <a:pt x="4575048" y="2098675"/>
                  </a:lnTo>
                  <a:lnTo>
                    <a:pt x="4575048" y="1807972"/>
                  </a:lnTo>
                  <a:lnTo>
                    <a:pt x="4575048" y="1807972"/>
                  </a:lnTo>
                  <a:cubicBezTo>
                    <a:pt x="4526915" y="1041146"/>
                    <a:pt x="4099687" y="377317"/>
                    <a:pt x="3478911" y="0"/>
                  </a:cubicBezTo>
                  <a:close/>
                </a:path>
              </a:pathLst>
            </a:custGeom>
            <a:solidFill>
              <a:srgbClr val="F9735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8152003" y="4051935"/>
              <a:ext cx="3382645" cy="3346323"/>
            </a:xfrm>
            <a:custGeom>
              <a:avLst/>
              <a:gdLst/>
              <a:ahLst/>
              <a:cxnLst/>
              <a:rect r="r" b="b" t="t" l="l"/>
              <a:pathLst>
                <a:path h="3346323" w="3382645">
                  <a:moveTo>
                    <a:pt x="2344674" y="0"/>
                  </a:moveTo>
                  <a:cubicBezTo>
                    <a:pt x="2291080" y="0"/>
                    <a:pt x="2237105" y="19812"/>
                    <a:pt x="2194433" y="63119"/>
                  </a:cubicBezTo>
                  <a:lnTo>
                    <a:pt x="78359" y="2207514"/>
                  </a:lnTo>
                  <a:cubicBezTo>
                    <a:pt x="2159" y="2284730"/>
                    <a:pt x="0" y="2398014"/>
                    <a:pt x="52070" y="2479421"/>
                  </a:cubicBezTo>
                  <a:lnTo>
                    <a:pt x="52070" y="2479421"/>
                  </a:lnTo>
                  <a:lnTo>
                    <a:pt x="120777" y="2547239"/>
                  </a:lnTo>
                  <a:lnTo>
                    <a:pt x="120777" y="2547239"/>
                  </a:lnTo>
                  <a:cubicBezTo>
                    <a:pt x="138175" y="2557907"/>
                    <a:pt x="157480" y="2566416"/>
                    <a:pt x="178434" y="2572131"/>
                  </a:cubicBezTo>
                  <a:lnTo>
                    <a:pt x="3100705" y="3339465"/>
                  </a:lnTo>
                  <a:cubicBezTo>
                    <a:pt x="3119120" y="3344164"/>
                    <a:pt x="3137408" y="3346323"/>
                    <a:pt x="3155187" y="3346323"/>
                  </a:cubicBezTo>
                  <a:cubicBezTo>
                    <a:pt x="3196335" y="3346323"/>
                    <a:pt x="3235070" y="3334639"/>
                    <a:pt x="3268091" y="3314318"/>
                  </a:cubicBezTo>
                  <a:lnTo>
                    <a:pt x="3268091" y="3314318"/>
                  </a:lnTo>
                  <a:lnTo>
                    <a:pt x="3343529" y="3237864"/>
                  </a:lnTo>
                  <a:lnTo>
                    <a:pt x="3343529" y="3237864"/>
                  </a:lnTo>
                  <a:cubicBezTo>
                    <a:pt x="3371849" y="3190112"/>
                    <a:pt x="3382645" y="3131058"/>
                    <a:pt x="3366389" y="3070097"/>
                  </a:cubicBezTo>
                  <a:lnTo>
                    <a:pt x="2558034" y="160782"/>
                  </a:lnTo>
                  <a:cubicBezTo>
                    <a:pt x="2529332" y="59817"/>
                    <a:pt x="2437765" y="0"/>
                    <a:pt x="2344801" y="0"/>
                  </a:cubicBezTo>
                  <a:close/>
                </a:path>
              </a:pathLst>
            </a:custGeom>
            <a:solidFill>
              <a:srgbClr val="4BDCAB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882888" y="787400"/>
              <a:ext cx="2680463" cy="2244344"/>
            </a:xfrm>
            <a:custGeom>
              <a:avLst/>
              <a:gdLst/>
              <a:ahLst/>
              <a:cxnLst/>
              <a:rect r="r" b="b" t="t" l="l"/>
              <a:pathLst>
                <a:path h="2244344" w="2680463">
                  <a:moveTo>
                    <a:pt x="47752" y="0"/>
                  </a:moveTo>
                  <a:cubicBezTo>
                    <a:pt x="17018" y="53848"/>
                    <a:pt x="127" y="115824"/>
                    <a:pt x="0" y="180594"/>
                  </a:cubicBezTo>
                  <a:lnTo>
                    <a:pt x="0" y="180594"/>
                  </a:lnTo>
                  <a:lnTo>
                    <a:pt x="0" y="1317752"/>
                  </a:lnTo>
                  <a:lnTo>
                    <a:pt x="0" y="1317752"/>
                  </a:lnTo>
                  <a:cubicBezTo>
                    <a:pt x="127" y="1446911"/>
                    <a:pt x="67437" y="1565148"/>
                    <a:pt x="177673" y="1629664"/>
                  </a:cubicBezTo>
                  <a:lnTo>
                    <a:pt x="1162685" y="2197862"/>
                  </a:lnTo>
                  <a:cubicBezTo>
                    <a:pt x="1217803" y="2228850"/>
                    <a:pt x="1279779" y="2244344"/>
                    <a:pt x="1341628" y="2244344"/>
                  </a:cubicBezTo>
                  <a:cubicBezTo>
                    <a:pt x="1403478" y="2244344"/>
                    <a:pt x="1465453" y="2228850"/>
                    <a:pt x="1520572" y="2197862"/>
                  </a:cubicBezTo>
                  <a:lnTo>
                    <a:pt x="2505584" y="1629664"/>
                  </a:lnTo>
                  <a:cubicBezTo>
                    <a:pt x="2602992" y="1572641"/>
                    <a:pt x="2666874" y="1473581"/>
                    <a:pt x="2680463" y="1362202"/>
                  </a:cubicBezTo>
                  <a:lnTo>
                    <a:pt x="2680463" y="1362202"/>
                  </a:lnTo>
                  <a:lnTo>
                    <a:pt x="2680463" y="136017"/>
                  </a:lnTo>
                  <a:lnTo>
                    <a:pt x="2680463" y="136017"/>
                  </a:lnTo>
                  <a:cubicBezTo>
                    <a:pt x="2674494" y="87503"/>
                    <a:pt x="2659127" y="41275"/>
                    <a:pt x="2635505" y="0"/>
                  </a:cubicBezTo>
                  <a:close/>
                </a:path>
              </a:pathLst>
            </a:custGeom>
            <a:solidFill>
              <a:srgbClr val="FCAEFB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2723388" y="5085207"/>
              <a:ext cx="3814191" cy="2440305"/>
            </a:xfrm>
            <a:custGeom>
              <a:avLst/>
              <a:gdLst/>
              <a:ahLst/>
              <a:cxnLst/>
              <a:rect r="r" b="b" t="t" l="l"/>
              <a:pathLst>
                <a:path h="2440305" w="3814191">
                  <a:moveTo>
                    <a:pt x="348234" y="0"/>
                  </a:moveTo>
                  <a:cubicBezTo>
                    <a:pt x="275590" y="0"/>
                    <a:pt x="207264" y="37211"/>
                    <a:pt x="165989" y="96647"/>
                  </a:cubicBezTo>
                  <a:lnTo>
                    <a:pt x="165989" y="96647"/>
                  </a:lnTo>
                  <a:lnTo>
                    <a:pt x="119507" y="247142"/>
                  </a:lnTo>
                  <a:lnTo>
                    <a:pt x="119507" y="247142"/>
                  </a:lnTo>
                  <a:cubicBezTo>
                    <a:pt x="0" y="1082421"/>
                    <a:pt x="443611" y="1898904"/>
                    <a:pt x="1211961" y="2256663"/>
                  </a:cubicBezTo>
                  <a:lnTo>
                    <a:pt x="1211961" y="2256663"/>
                  </a:lnTo>
                  <a:lnTo>
                    <a:pt x="1723390" y="2414524"/>
                  </a:lnTo>
                  <a:lnTo>
                    <a:pt x="1723390" y="2414524"/>
                  </a:lnTo>
                  <a:cubicBezTo>
                    <a:pt x="1828546" y="2431795"/>
                    <a:pt x="1933575" y="2440305"/>
                    <a:pt x="2037588" y="2440305"/>
                  </a:cubicBezTo>
                  <a:cubicBezTo>
                    <a:pt x="2775331" y="2440305"/>
                    <a:pt x="3460877" y="2015744"/>
                    <a:pt x="3778250" y="1329436"/>
                  </a:cubicBezTo>
                  <a:lnTo>
                    <a:pt x="3778250" y="1329436"/>
                  </a:lnTo>
                  <a:lnTo>
                    <a:pt x="3800094" y="1258570"/>
                  </a:lnTo>
                  <a:lnTo>
                    <a:pt x="3800094" y="1258570"/>
                  </a:lnTo>
                  <a:cubicBezTo>
                    <a:pt x="3814190" y="1161542"/>
                    <a:pt x="3768979" y="1063879"/>
                    <a:pt x="3680840" y="1021588"/>
                  </a:cubicBezTo>
                  <a:lnTo>
                    <a:pt x="3680840" y="1021588"/>
                  </a:lnTo>
                  <a:lnTo>
                    <a:pt x="379857" y="2413"/>
                  </a:lnTo>
                  <a:lnTo>
                    <a:pt x="379857" y="2413"/>
                  </a:lnTo>
                  <a:cubicBezTo>
                    <a:pt x="369316" y="762"/>
                    <a:pt x="358648" y="0"/>
                    <a:pt x="348234" y="0"/>
                  </a:cubicBezTo>
                  <a:close/>
                </a:path>
              </a:pathLst>
            </a:custGeom>
            <a:solidFill>
              <a:srgbClr val="FCAEFB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9578340" y="530352"/>
            <a:ext cx="2052828" cy="394716"/>
          </a:xfrm>
          <a:custGeom>
            <a:avLst/>
            <a:gdLst/>
            <a:ahLst/>
            <a:cxnLst/>
            <a:rect r="r" b="b" t="t" l="l"/>
            <a:pathLst>
              <a:path h="394716" w="2052828">
                <a:moveTo>
                  <a:pt x="0" y="0"/>
                </a:moveTo>
                <a:lnTo>
                  <a:pt x="2052828" y="0"/>
                </a:lnTo>
                <a:lnTo>
                  <a:pt x="2052828" y="394716"/>
                </a:lnTo>
                <a:lnTo>
                  <a:pt x="0" y="3947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877371" y="5357889"/>
            <a:ext cx="2441851" cy="576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2333"/>
              </a:lnSpc>
            </a:pPr>
            <a:r xmlns:a="http://schemas.openxmlformats.org/drawingml/2006/main">
              <a:rPr lang="en" b="true" sz="1667">
                <a:solidFill>
                  <a:srgbClr val="000000"/>
                </a:solidFill>
                <a:latin typeface="IBM Plex Sans Condensed Bold"/>
                <a:ea typeface="IBM Plex Sans Condensed Bold"/>
                <a:cs typeface="IBM Plex Sans Condensed Bold"/>
                <a:sym typeface="IBM Plex Sans Condensed Bold"/>
              </a:rPr>
              <a:t>Master's Degree in Secondary School Teacher Training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765584" y="4982430"/>
            <a:ext cx="2865584" cy="665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4805"/>
              </a:lnSpc>
            </a:pPr>
            <a:r xmlns:a="http://schemas.openxmlformats.org/drawingml/2006/main">
              <a:rPr lang="en" sz="3432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Academic year </a:t>
            </a:r>
            <a:r xmlns:a="http://schemas.openxmlformats.org/drawingml/2006/main">
              <a:rPr lang="en" sz="343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2024-25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47762" y="661035"/>
            <a:ext cx="3910923" cy="1410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3737"/>
              </a:lnSpc>
            </a:pPr>
            <a:r xmlns:a="http://schemas.openxmlformats.org/drawingml/2006/main">
              <a:rPr lang="en" b="true" sz="266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One</a:t>
            </a:r>
            <a:r xmlns:a="http://schemas.openxmlformats.org/drawingml/2006/main">
              <a:rPr lang="en" b="true" sz="266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 xmlns:a="http://schemas.openxmlformats.org/drawingml/2006/main">
              <a:rPr lang="en" b="true" sz="266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possible</a:t>
            </a:r>
            <a:r xmlns:a="http://schemas.openxmlformats.org/drawingml/2006/main">
              <a:rPr lang="en" b="true" sz="266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 xmlns:a="http://schemas.openxmlformats.org/drawingml/2006/main">
              <a:rPr lang="en" b="true" sz="266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learning situation</a:t>
            </a:r>
            <a:r xmlns:a="http://schemas.openxmlformats.org/drawingml/2006/main">
              <a:rPr lang="en" b="true" sz="266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 xmlns:a="http://schemas.openxmlformats.org/drawingml/2006/main">
              <a:rPr lang="en" b="true" sz="266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that we will study</a:t>
            </a:r>
            <a:r xmlns:a="http://schemas.openxmlformats.org/drawingml/2006/main">
              <a:rPr lang="en" b="true" sz="266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 xmlns:a="http://schemas.openxmlformats.org/drawingml/2006/main">
              <a:rPr lang="en" b="true" sz="266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together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38149" y="2389612"/>
            <a:ext cx="4130149" cy="1172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4675"/>
              </a:lnSpc>
            </a:pPr>
            <a:r xmlns:a="http://schemas.openxmlformats.org/drawingml/2006/main">
              <a:rPr lang="en" b="true" sz="333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Which </a:t>
            </a:r>
            <a:r xmlns:a="http://schemas.openxmlformats.org/drawingml/2006/main">
              <a:rPr lang="en" b="true" sz="333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padlock </a:t>
            </a:r>
            <a:r xmlns:a="http://schemas.openxmlformats.org/drawingml/2006/main">
              <a:rPr lang="en" b="true" sz="333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is more </a:t>
            </a:r>
            <a:r xmlns:a="http://schemas.openxmlformats.org/drawingml/2006/main">
              <a:rPr lang="en" b="true" sz="3339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secure </a:t>
            </a:r>
            <a:r xmlns:a="http://schemas.openxmlformats.org/drawingml/2006/main">
              <a:rPr lang="en" b="true" sz="333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?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698492" y="0"/>
            <a:ext cx="4576572" cy="2990088"/>
          </a:xfrm>
          <a:custGeom>
            <a:avLst/>
            <a:gdLst/>
            <a:ahLst/>
            <a:cxnLst/>
            <a:rect r="r" b="b" t="t" l="l"/>
            <a:pathLst>
              <a:path h="2990088" w="4576572">
                <a:moveTo>
                  <a:pt x="0" y="0"/>
                </a:moveTo>
                <a:lnTo>
                  <a:pt x="4576572" y="0"/>
                </a:lnTo>
                <a:lnTo>
                  <a:pt x="4576572" y="2990088"/>
                </a:lnTo>
                <a:lnTo>
                  <a:pt x="0" y="29900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46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7318947" y="298566"/>
            <a:ext cx="1554480" cy="1699260"/>
          </a:xfrm>
          <a:custGeom>
            <a:avLst/>
            <a:gdLst/>
            <a:ahLst/>
            <a:cxnLst/>
            <a:rect r="r" b="b" t="t" l="l"/>
            <a:pathLst>
              <a:path h="1699260" w="1554480">
                <a:moveTo>
                  <a:pt x="0" y="0"/>
                </a:moveTo>
                <a:lnTo>
                  <a:pt x="1554480" y="0"/>
                </a:lnTo>
                <a:lnTo>
                  <a:pt x="1554480" y="1699260"/>
                </a:lnTo>
                <a:lnTo>
                  <a:pt x="0" y="169926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3619" t="-15239" r="-78251" b="-3445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173537" y="57012"/>
            <a:ext cx="2188464" cy="2182368"/>
          </a:xfrm>
          <a:custGeom>
            <a:avLst/>
            <a:gdLst/>
            <a:ahLst/>
            <a:cxnLst/>
            <a:rect r="r" b="b" t="t" l="l"/>
            <a:pathLst>
              <a:path h="2182368" w="2188464">
                <a:moveTo>
                  <a:pt x="0" y="0"/>
                </a:moveTo>
                <a:lnTo>
                  <a:pt x="2188464" y="0"/>
                </a:lnTo>
                <a:lnTo>
                  <a:pt x="2188464" y="2182368"/>
                </a:lnTo>
                <a:lnTo>
                  <a:pt x="0" y="218236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589389" y="2463238"/>
            <a:ext cx="1510284" cy="1650492"/>
          </a:xfrm>
          <a:custGeom>
            <a:avLst/>
            <a:gdLst/>
            <a:ahLst/>
            <a:cxnLst/>
            <a:rect r="r" b="b" t="t" l="l"/>
            <a:pathLst>
              <a:path h="1650492" w="1510284">
                <a:moveTo>
                  <a:pt x="0" y="0"/>
                </a:moveTo>
                <a:lnTo>
                  <a:pt x="1510284" y="0"/>
                </a:lnTo>
                <a:lnTo>
                  <a:pt x="1510284" y="1650492"/>
                </a:lnTo>
                <a:lnTo>
                  <a:pt x="0" y="16504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197027" y="2328219"/>
            <a:ext cx="1798320" cy="1792224"/>
          </a:xfrm>
          <a:custGeom>
            <a:avLst/>
            <a:gdLst/>
            <a:ahLst/>
            <a:cxnLst/>
            <a:rect r="r" b="b" t="t" l="l"/>
            <a:pathLst>
              <a:path h="1792224" w="1798320">
                <a:moveTo>
                  <a:pt x="0" y="0"/>
                </a:moveTo>
                <a:lnTo>
                  <a:pt x="1798320" y="0"/>
                </a:lnTo>
                <a:lnTo>
                  <a:pt x="1798320" y="1792224"/>
                </a:lnTo>
                <a:lnTo>
                  <a:pt x="0" y="179222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grpSp>
        <p:nvGrpSpPr>
          <p:cNvPr name="Group 16" id="16"/>
          <p:cNvGrpSpPr>
            <a:grpSpLocks noChangeAspect="true"/>
          </p:cNvGrpSpPr>
          <p:nvPr/>
        </p:nvGrpSpPr>
        <p:grpSpPr>
          <a:xfrm rot="7209240">
            <a:off x="7697592" y="4282645"/>
            <a:ext cx="1317031" cy="2248281"/>
            <a:chOff x="0" y="0"/>
            <a:chExt cx="1756042" cy="29977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56029" cy="2997708"/>
            </a:xfrm>
            <a:custGeom>
              <a:avLst/>
              <a:gdLst/>
              <a:ahLst/>
              <a:cxnLst/>
              <a:rect r="r" b="b" t="t" l="l"/>
              <a:pathLst>
                <a:path h="2997708" w="1756029">
                  <a:moveTo>
                    <a:pt x="0" y="2997708"/>
                  </a:moveTo>
                  <a:lnTo>
                    <a:pt x="1756029" y="2997581"/>
                  </a:lnTo>
                  <a:lnTo>
                    <a:pt x="1756029" y="0"/>
                  </a:lnTo>
                  <a:lnTo>
                    <a:pt x="0" y="0"/>
                  </a:lnTo>
                  <a:lnTo>
                    <a:pt x="0" y="2997708"/>
                  </a:lnTo>
                  <a:close/>
                </a:path>
              </a:pathLst>
            </a:custGeom>
            <a:blipFill>
              <a:blip r:embed="rId12"/>
              <a:stretch>
                <a:fillRect l="0" t="-8768" r="-99979" b="-8698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9658917" y="4342330"/>
            <a:ext cx="1752600" cy="1746504"/>
          </a:xfrm>
          <a:custGeom>
            <a:avLst/>
            <a:gdLst/>
            <a:ahLst/>
            <a:cxnLst/>
            <a:rect r="r" b="b" t="t" l="l"/>
            <a:pathLst>
              <a:path h="1746504" w="1752600">
                <a:moveTo>
                  <a:pt x="0" y="0"/>
                </a:moveTo>
                <a:lnTo>
                  <a:pt x="1752600" y="0"/>
                </a:lnTo>
                <a:lnTo>
                  <a:pt x="1752600" y="1746504"/>
                </a:lnTo>
                <a:lnTo>
                  <a:pt x="0" y="174650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82526" y="687685"/>
            <a:ext cx="6103770" cy="5171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8121"/>
              </a:lnSpc>
            </a:pPr>
            <a:r xmlns:a="http://schemas.openxmlformats.org/drawingml/2006/main">
              <a:rPr lang="en" sz="67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Q₀: Of the following collection of </a:t>
            </a:r>
            <a:r xmlns:a="http://schemas.openxmlformats.org/drawingml/2006/main">
              <a:rPr lang="en" sz="67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padlocks </a:t>
            </a:r>
            <a:r xmlns:a="http://schemas.openxmlformats.org/drawingml/2006/main">
              <a:rPr lang="en" sz="67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which is the most </a:t>
            </a:r>
            <a:r xmlns:a="http://schemas.openxmlformats.org/drawingml/2006/main">
              <a:rPr lang="en" sz="67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secure </a:t>
            </a:r>
            <a:r xmlns:a="http://schemas.openxmlformats.org/drawingml/2006/main">
              <a:rPr lang="en" sz="67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698492" y="0"/>
            <a:ext cx="4576572" cy="2990088"/>
          </a:xfrm>
          <a:custGeom>
            <a:avLst/>
            <a:gdLst/>
            <a:ahLst/>
            <a:cxnLst/>
            <a:rect r="r" b="b" t="t" l="l"/>
            <a:pathLst>
              <a:path h="2990088" w="4576572">
                <a:moveTo>
                  <a:pt x="0" y="0"/>
                </a:moveTo>
                <a:lnTo>
                  <a:pt x="4576572" y="0"/>
                </a:lnTo>
                <a:lnTo>
                  <a:pt x="4576572" y="2990088"/>
                </a:lnTo>
                <a:lnTo>
                  <a:pt x="0" y="29900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46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900317" y="1739817"/>
            <a:ext cx="1279584" cy="1398761"/>
          </a:xfrm>
          <a:custGeom>
            <a:avLst/>
            <a:gdLst/>
            <a:ahLst/>
            <a:cxnLst/>
            <a:rect r="r" b="b" t="t" l="l"/>
            <a:pathLst>
              <a:path h="1398761" w="1279584">
                <a:moveTo>
                  <a:pt x="0" y="0"/>
                </a:moveTo>
                <a:lnTo>
                  <a:pt x="1279583" y="0"/>
                </a:lnTo>
                <a:lnTo>
                  <a:pt x="1279583" y="1398760"/>
                </a:lnTo>
                <a:lnTo>
                  <a:pt x="0" y="139876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3619" t="-15239" r="-78251" b="-3445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526478" y="2996820"/>
            <a:ext cx="1801453" cy="1796435"/>
          </a:xfrm>
          <a:custGeom>
            <a:avLst/>
            <a:gdLst/>
            <a:ahLst/>
            <a:cxnLst/>
            <a:rect r="r" b="b" t="t" l="l"/>
            <a:pathLst>
              <a:path h="1796435" w="1801453">
                <a:moveTo>
                  <a:pt x="0" y="0"/>
                </a:moveTo>
                <a:lnTo>
                  <a:pt x="1801453" y="0"/>
                </a:lnTo>
                <a:lnTo>
                  <a:pt x="1801453" y="1796435"/>
                </a:lnTo>
                <a:lnTo>
                  <a:pt x="0" y="1796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016479" y="3216356"/>
            <a:ext cx="1243203" cy="1358617"/>
          </a:xfrm>
          <a:custGeom>
            <a:avLst/>
            <a:gdLst/>
            <a:ahLst/>
            <a:cxnLst/>
            <a:rect r="r" b="b" t="t" l="l"/>
            <a:pathLst>
              <a:path h="1358617" w="1243203">
                <a:moveTo>
                  <a:pt x="0" y="0"/>
                </a:moveTo>
                <a:lnTo>
                  <a:pt x="1243204" y="0"/>
                </a:lnTo>
                <a:lnTo>
                  <a:pt x="1243204" y="1358617"/>
                </a:lnTo>
                <a:lnTo>
                  <a:pt x="0" y="135861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5536177" y="3560087"/>
            <a:ext cx="1480303" cy="1475285"/>
          </a:xfrm>
          <a:custGeom>
            <a:avLst/>
            <a:gdLst/>
            <a:ahLst/>
            <a:cxnLst/>
            <a:rect r="r" b="b" t="t" l="l"/>
            <a:pathLst>
              <a:path h="1475285" w="1480303">
                <a:moveTo>
                  <a:pt x="0" y="0"/>
                </a:moveTo>
                <a:lnTo>
                  <a:pt x="1480302" y="0"/>
                </a:lnTo>
                <a:lnTo>
                  <a:pt x="1480302" y="1475285"/>
                </a:lnTo>
                <a:lnTo>
                  <a:pt x="0" y="147528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grpSp>
        <p:nvGrpSpPr>
          <p:cNvPr name="Group 16" id="16"/>
          <p:cNvGrpSpPr>
            <a:grpSpLocks noChangeAspect="true"/>
          </p:cNvGrpSpPr>
          <p:nvPr/>
        </p:nvGrpSpPr>
        <p:grpSpPr>
          <a:xfrm rot="7209240">
            <a:off x="7051041" y="1707192"/>
            <a:ext cx="1084126" cy="1850692"/>
            <a:chOff x="0" y="0"/>
            <a:chExt cx="1756042" cy="29977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56029" cy="2997708"/>
            </a:xfrm>
            <a:custGeom>
              <a:avLst/>
              <a:gdLst/>
              <a:ahLst/>
              <a:cxnLst/>
              <a:rect r="r" b="b" t="t" l="l"/>
              <a:pathLst>
                <a:path h="2997708" w="1756029">
                  <a:moveTo>
                    <a:pt x="0" y="2997708"/>
                  </a:moveTo>
                  <a:lnTo>
                    <a:pt x="1756029" y="2997581"/>
                  </a:lnTo>
                  <a:lnTo>
                    <a:pt x="1756029" y="0"/>
                  </a:lnTo>
                  <a:lnTo>
                    <a:pt x="0" y="0"/>
                  </a:lnTo>
                  <a:lnTo>
                    <a:pt x="0" y="2997708"/>
                  </a:lnTo>
                  <a:close/>
                </a:path>
              </a:pathLst>
            </a:custGeom>
            <a:blipFill>
              <a:blip r:embed="rId12"/>
              <a:stretch>
                <a:fillRect l="0" t="-8768" r="-99979" b="-8698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5233844" y="1927991"/>
            <a:ext cx="1442668" cy="1437650"/>
          </a:xfrm>
          <a:custGeom>
            <a:avLst/>
            <a:gdLst/>
            <a:ahLst/>
            <a:cxnLst/>
            <a:rect r="r" b="b" t="t" l="l"/>
            <a:pathLst>
              <a:path h="1437650" w="1442668">
                <a:moveTo>
                  <a:pt x="0" y="0"/>
                </a:moveTo>
                <a:lnTo>
                  <a:pt x="1442668" y="0"/>
                </a:lnTo>
                <a:lnTo>
                  <a:pt x="1442668" y="1437650"/>
                </a:lnTo>
                <a:lnTo>
                  <a:pt x="0" y="14376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0358" y="1032096"/>
            <a:ext cx="11449404" cy="485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3681"/>
              </a:lnSpc>
            </a:pPr>
            <a:r xmlns:a="http://schemas.openxmlformats.org/drawingml/2006/main">
              <a:rPr lang="en" sz="30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Q₀: Of the following collection of </a:t>
            </a:r>
            <a:r xmlns:a="http://schemas.openxmlformats.org/drawingml/2006/main">
              <a:rPr lang="en" sz="30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padlocks </a:t>
            </a:r>
            <a:r xmlns:a="http://schemas.openxmlformats.org/drawingml/2006/main">
              <a:rPr lang="en" sz="30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which is the most </a:t>
            </a:r>
            <a:r xmlns:a="http://schemas.openxmlformats.org/drawingml/2006/main">
              <a:rPr lang="en" sz="30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secure </a:t>
            </a:r>
            <a:r xmlns:a="http://schemas.openxmlformats.org/drawingml/2006/main">
              <a:rPr lang="en" sz="30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238057" y="5064595"/>
            <a:ext cx="5914006" cy="9524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3681"/>
              </a:lnSpc>
            </a:pPr>
            <a:r xmlns:a="http://schemas.openxmlformats.org/drawingml/2006/main">
              <a:rPr lang="en" sz="30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issues do you propose to address based on the presentation?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173737" y="6045632"/>
            <a:ext cx="8042646" cy="666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5142"/>
              </a:lnSpc>
            </a:pPr>
            <a:r xmlns:a="http://schemas.openxmlformats.org/drawingml/2006/main">
              <a:rPr lang="en" sz="428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Sharing!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519217" y="520151"/>
            <a:ext cx="6858000" cy="5817689"/>
          </a:xfrm>
          <a:custGeom>
            <a:avLst/>
            <a:gdLst/>
            <a:ahLst/>
            <a:cxnLst/>
            <a:rect r="r" b="b" t="t" l="l"/>
            <a:pathLst>
              <a:path h="5817689" w="6858000">
                <a:moveTo>
                  <a:pt x="0" y="0"/>
                </a:moveTo>
                <a:lnTo>
                  <a:pt x="6858000" y="0"/>
                </a:lnTo>
                <a:lnTo>
                  <a:pt x="6858000" y="5817689"/>
                </a:lnTo>
                <a:lnTo>
                  <a:pt x="0" y="58176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644896" y="2360676"/>
            <a:ext cx="1845564" cy="1696212"/>
          </a:xfrm>
          <a:custGeom>
            <a:avLst/>
            <a:gdLst/>
            <a:ahLst/>
            <a:cxnLst/>
            <a:rect r="r" b="b" t="t" l="l"/>
            <a:pathLst>
              <a:path h="1696212" w="1845564">
                <a:moveTo>
                  <a:pt x="0" y="0"/>
                </a:moveTo>
                <a:lnTo>
                  <a:pt x="1845564" y="0"/>
                </a:lnTo>
                <a:lnTo>
                  <a:pt x="1845564" y="1696212"/>
                </a:lnTo>
                <a:lnTo>
                  <a:pt x="0" y="16962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5800" y="1511684"/>
            <a:ext cx="5347510" cy="4421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Code: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Possible password that can be entered into the padlock.</a:t>
            </a:r>
          </a:p>
          <a:p>
            <a:pPr algn="l">
              <a:lnSpc>
                <a:spcPts val="1934"/>
              </a:lnSpc>
            </a:p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Code elements: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Numbers, letters, symbols,... that make up a code.</a:t>
            </a:r>
          </a:p>
          <a:p>
            <a:pPr algn="l">
              <a:lnSpc>
                <a:spcPts val="1934"/>
              </a:lnSpc>
            </a:p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Box: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Space (physical or not) in the padlock where the elements of the code are entered.</a:t>
            </a:r>
          </a:p>
          <a:p>
            <a:pPr algn="l">
              <a:lnSpc>
                <a:spcPts val="1934"/>
              </a:lnSpc>
            </a:p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Elements of the box: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Numbers, letters, symbols,... that can be inserted into a box.</a:t>
            </a:r>
          </a:p>
          <a:p>
            <a:pPr algn="l">
              <a:lnSpc>
                <a:spcPts val="1934"/>
              </a:lnSpc>
            </a:p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Key or password </a:t>
            </a:r>
            <a:r xmlns:a="http://schemas.openxmlformats.org/drawingml/2006/main">
              <a:rPr lang="en" sz="161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Correct code. When we enter it, the padlock opens.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14125" y="1596782"/>
            <a:ext cx="4192075" cy="419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true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Code: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1234, 2930, 1240, ... among other possibilities.</a:t>
            </a:r>
          </a:p>
          <a:p>
            <a:pPr algn="l" marL="302475" indent="-151237" lvl="1">
              <a:lnSpc>
                <a:spcPts val="2005"/>
              </a:lnSpc>
            </a:p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true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Code elements:</a:t>
            </a:r>
            <a:r xmlns:a="http://schemas.openxmlformats.org/drawingml/2006/main">
              <a:rPr lang="en" sz="1671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The code 1234 has 4 elements: 1, 2, 3 and 4.</a:t>
            </a:r>
          </a:p>
          <a:p>
            <a:pPr algn="l" marL="302475" indent="-151237" lvl="1">
              <a:lnSpc>
                <a:spcPts val="2005"/>
              </a:lnSpc>
            </a:p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true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Box: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It has 4 squares. Each space where we insert a number</a:t>
            </a:r>
          </a:p>
          <a:p>
            <a:pPr algn="l" marL="302475" indent="-151237" lvl="1">
              <a:lnSpc>
                <a:spcPts val="2005"/>
              </a:lnSpc>
            </a:p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true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Elements of the box: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Numbers between 0 and 9. Options we have in each box.</a:t>
            </a:r>
          </a:p>
          <a:p>
            <a:pPr algn="l">
              <a:lnSpc>
                <a:spcPts val="2005"/>
              </a:lnSpc>
            </a:p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true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Key or password </a:t>
            </a:r>
            <a:r xmlns:a="http://schemas.openxmlformats.org/drawingml/2006/main">
              <a:rPr lang="en" sz="1671">
                <a:solidFill>
                  <a:srgbClr val="733EF6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4921 (Because when we insert it, it opens)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5800" y="1035434"/>
            <a:ext cx="5984436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b="true" sz="1611" u="sng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Vocabulary: </a:t>
            </a:r>
            <a:r xmlns:a="http://schemas.openxmlformats.org/drawingml/2006/main">
              <a:rPr lang="en" sz="1611" u="sng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words whose meaning needs to be clarified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0420" y="50283"/>
            <a:ext cx="10945780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21"/>
              </a:lnSpc>
            </a:pPr>
            <a:r xmlns:a="http://schemas.openxmlformats.org/drawingml/2006/main">
              <a:rPr lang="en" sz="22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Q₀: Of the following collection of </a:t>
            </a:r>
            <a:r xmlns:a="http://schemas.openxmlformats.org/drawingml/2006/main">
              <a:rPr lang="en" sz="22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padlocks </a:t>
            </a:r>
            <a:r xmlns:a="http://schemas.openxmlformats.org/drawingml/2006/main">
              <a:rPr lang="en" sz="22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which is the most </a:t>
            </a:r>
            <a:r xmlns:a="http://schemas.openxmlformats.org/drawingml/2006/main">
              <a:rPr lang="en" sz="22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secure </a:t>
            </a:r>
            <a:r xmlns:a="http://schemas.openxmlformats.org/drawingml/2006/main">
              <a:rPr lang="en" sz="22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703064" y="0"/>
            <a:ext cx="4575048" cy="2953512"/>
          </a:xfrm>
          <a:custGeom>
            <a:avLst/>
            <a:gdLst/>
            <a:ahLst/>
            <a:cxnLst/>
            <a:rect r="r" b="b" t="t" l="l"/>
            <a:pathLst>
              <a:path h="2953512" w="4575048">
                <a:moveTo>
                  <a:pt x="0" y="0"/>
                </a:moveTo>
                <a:lnTo>
                  <a:pt x="4575048" y="0"/>
                </a:lnTo>
                <a:lnTo>
                  <a:pt x="4575048" y="2953512"/>
                </a:lnTo>
                <a:lnTo>
                  <a:pt x="0" y="295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8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67743" y="1186573"/>
            <a:ext cx="10656514" cy="4445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11667"/>
              </a:lnSpc>
            </a:pPr>
            <a:r xmlns:a="http://schemas.openxmlformats.org/drawingml/2006/main">
              <a:rPr lang="en" sz="9722" spc="51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9722" spc="515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9722" spc="51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9722" spc="515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9722" spc="51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9722" spc="515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 </a:t>
            </a:r>
            <a:r xmlns:a="http://schemas.openxmlformats.org/drawingml/2006/main">
              <a:rPr lang="en" sz="9722" spc="51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does each padlock support?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8745780">
            <a:off x="7795089" y="2852995"/>
            <a:ext cx="5853922" cy="4530557"/>
            <a:chOff x="0" y="0"/>
            <a:chExt cx="7805230" cy="60407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805165" cy="6040755"/>
            </a:xfrm>
            <a:custGeom>
              <a:avLst/>
              <a:gdLst/>
              <a:ahLst/>
              <a:cxnLst/>
              <a:rect r="r" b="b" t="t" l="l"/>
              <a:pathLst>
                <a:path h="6040755" w="7805165">
                  <a:moveTo>
                    <a:pt x="6096" y="6040755"/>
                  </a:moveTo>
                  <a:lnTo>
                    <a:pt x="7805165" y="5978271"/>
                  </a:lnTo>
                  <a:lnTo>
                    <a:pt x="7780147" y="2853309"/>
                  </a:lnTo>
                  <a:lnTo>
                    <a:pt x="3587369" y="0"/>
                  </a:lnTo>
                  <a:lnTo>
                    <a:pt x="0" y="5271389"/>
                  </a:lnTo>
                  <a:lnTo>
                    <a:pt x="2794" y="5626862"/>
                  </a:lnTo>
                  <a:lnTo>
                    <a:pt x="6096" y="6040755"/>
                  </a:lnTo>
                  <a:close/>
                </a:path>
              </a:pathLst>
            </a:custGeom>
            <a:blipFill>
              <a:blip r:embed="rId2"/>
              <a:stretch>
                <a:fillRect l="-539" t="-553" r="0" b="-3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344667" y="3688080"/>
            <a:ext cx="345443" cy="350520"/>
          </a:xfrm>
          <a:custGeom>
            <a:avLst/>
            <a:gdLst/>
            <a:ahLst/>
            <a:cxnLst/>
            <a:rect r="r" b="b" t="t" l="l"/>
            <a:pathLst>
              <a:path h="350520" w="345443">
                <a:moveTo>
                  <a:pt x="0" y="0"/>
                </a:moveTo>
                <a:lnTo>
                  <a:pt x="345443" y="0"/>
                </a:lnTo>
                <a:lnTo>
                  <a:pt x="345443" y="350520"/>
                </a:lnTo>
                <a:lnTo>
                  <a:pt x="0" y="3505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603747" y="3688080"/>
            <a:ext cx="331470" cy="350520"/>
          </a:xfrm>
          <a:custGeom>
            <a:avLst/>
            <a:gdLst/>
            <a:ahLst/>
            <a:cxnLst/>
            <a:rect r="r" b="b" t="t" l="l"/>
            <a:pathLst>
              <a:path h="350520" w="331470">
                <a:moveTo>
                  <a:pt x="0" y="0"/>
                </a:moveTo>
                <a:lnTo>
                  <a:pt x="331470" y="0"/>
                </a:lnTo>
                <a:lnTo>
                  <a:pt x="331470" y="350520"/>
                </a:lnTo>
                <a:lnTo>
                  <a:pt x="0" y="3505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397496" y="1082040"/>
            <a:ext cx="1790700" cy="2008632"/>
          </a:xfrm>
          <a:custGeom>
            <a:avLst/>
            <a:gdLst/>
            <a:ahLst/>
            <a:cxnLst/>
            <a:rect r="r" b="b" t="t" l="l"/>
            <a:pathLst>
              <a:path h="2008632" w="1790700">
                <a:moveTo>
                  <a:pt x="0" y="0"/>
                </a:moveTo>
                <a:lnTo>
                  <a:pt x="1790700" y="0"/>
                </a:lnTo>
                <a:lnTo>
                  <a:pt x="1790700" y="2008632"/>
                </a:lnTo>
                <a:lnTo>
                  <a:pt x="0" y="20086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617" t="-15244" r="-78255" b="-3439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00684" y="2494084"/>
            <a:ext cx="5494133" cy="3381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 strike="noStrike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can choose any 4-digit password.</a:t>
            </a:r>
          </a:p>
          <a:p>
            <a:pPr algn="l">
              <a:lnSpc>
                <a:spcPts val="2639"/>
              </a:lnSpc>
              <a:spcBef>
                <a:spcPct val="0"/>
              </a:spcBef>
            </a:pPr>
          </a:p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 strike="noStrike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squares are rotating discs, with 10 numbers ranging from 0 to 9.</a:t>
            </a:r>
          </a:p>
          <a:p>
            <a:pPr algn="l">
              <a:lnSpc>
                <a:spcPts val="2639"/>
              </a:lnSpc>
              <a:spcBef>
                <a:spcPct val="0"/>
              </a:spcBef>
            </a:pPr>
          </a:p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 strike="noStrike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open the padlock, the discs must be moved so that the password appears correctly located in each of the 4 boxes.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42087" y="1672653"/>
            <a:ext cx="5252731" cy="475046"/>
            <a:chOff x="0" y="0"/>
            <a:chExt cx="7050116" cy="63759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050145" cy="637605"/>
            </a:xfrm>
            <a:custGeom>
              <a:avLst/>
              <a:gdLst/>
              <a:ahLst/>
              <a:cxnLst/>
              <a:rect r="r" b="b" t="t" l="l"/>
              <a:pathLst>
                <a:path h="637605" w="7050145">
                  <a:moveTo>
                    <a:pt x="0" y="0"/>
                  </a:moveTo>
                  <a:lnTo>
                    <a:pt x="7050145" y="0"/>
                  </a:lnTo>
                  <a:lnTo>
                    <a:pt x="7050145" y="637605"/>
                  </a:lnTo>
                  <a:lnTo>
                    <a:pt x="0" y="637605"/>
                  </a:lnTo>
                  <a:close/>
                </a:path>
              </a:pathLst>
            </a:custGeom>
            <a:solidFill>
              <a:srgbClr val="C7C7D4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7050116" cy="637598"/>
            </a:xfrm>
            <a:prstGeom prst="rect">
              <a:avLst/>
            </a:prstGeom>
          </p:spPr>
          <p:txBody>
            <a:bodyPr anchor="t" rtlCol="false" tIns="50465" lIns="50465" bIns="50465" rIns="50465"/>
            <a:lstStyle/>
            <a:p>
              <a:pPr xmlns:a="http://schemas.openxmlformats.org/drawingml/2006/main" algn="ctr">
                <a:lnSpc>
                  <a:spcPts val="2399"/>
                </a:lnSpc>
              </a:pP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1 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: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Padlock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from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numbering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from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roulette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938064"/>
            <a:ext cx="5908548" cy="2919603"/>
          </a:xfrm>
          <a:custGeom>
            <a:avLst/>
            <a:gdLst/>
            <a:ahLst/>
            <a:cxnLst/>
            <a:rect r="r" b="b" t="t" l="l"/>
            <a:pathLst>
              <a:path h="2919603" w="5908548">
                <a:moveTo>
                  <a:pt x="0" y="0"/>
                </a:moveTo>
                <a:lnTo>
                  <a:pt x="5908548" y="0"/>
                </a:lnTo>
                <a:lnTo>
                  <a:pt x="5908548" y="2919603"/>
                </a:lnTo>
                <a:lnTo>
                  <a:pt x="0" y="29196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20624" y="4175122"/>
            <a:ext cx="2188464" cy="2182368"/>
          </a:xfrm>
          <a:custGeom>
            <a:avLst/>
            <a:gdLst/>
            <a:ahLst/>
            <a:cxnLst/>
            <a:rect r="r" b="b" t="t" l="l"/>
            <a:pathLst>
              <a:path h="2182368" w="2188464">
                <a:moveTo>
                  <a:pt x="0" y="0"/>
                </a:moveTo>
                <a:lnTo>
                  <a:pt x="2188464" y="0"/>
                </a:lnTo>
                <a:lnTo>
                  <a:pt x="2188464" y="2182368"/>
                </a:lnTo>
                <a:lnTo>
                  <a:pt x="0" y="21823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5908548" y="1769364"/>
            <a:ext cx="5338572" cy="3319272"/>
            <a:chOff x="0" y="0"/>
            <a:chExt cx="7118096" cy="44256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118096" cy="4425696"/>
            </a:xfrm>
            <a:custGeom>
              <a:avLst/>
              <a:gdLst/>
              <a:ahLst/>
              <a:cxnLst/>
              <a:rect r="r" b="b" t="t" l="l"/>
              <a:pathLst>
                <a:path h="4425696" w="7118096">
                  <a:moveTo>
                    <a:pt x="0" y="0"/>
                  </a:moveTo>
                  <a:lnTo>
                    <a:pt x="0" y="4425696"/>
                  </a:lnTo>
                  <a:lnTo>
                    <a:pt x="7118096" y="4425696"/>
                  </a:lnTo>
                  <a:lnTo>
                    <a:pt x="7118096" y="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998332" y="5459473"/>
            <a:ext cx="2700528" cy="10668"/>
          </a:xfrm>
          <a:custGeom>
            <a:avLst/>
            <a:gdLst/>
            <a:ahLst/>
            <a:cxnLst/>
            <a:rect r="r" b="b" t="t" l="l"/>
            <a:pathLst>
              <a:path h="10668" w="2700528">
                <a:moveTo>
                  <a:pt x="0" y="0"/>
                </a:moveTo>
                <a:lnTo>
                  <a:pt x="2700528" y="0"/>
                </a:lnTo>
                <a:lnTo>
                  <a:pt x="2700528" y="10668"/>
                </a:lnTo>
                <a:lnTo>
                  <a:pt x="0" y="106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999094" y="5191201"/>
            <a:ext cx="2752830" cy="306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520"/>
              </a:lnSpc>
            </a:pPr>
            <a:r xmlns:a="http://schemas.openxmlformats.org/drawingml/2006/main" xmlns:r="http://schemas.openxmlformats.org/officeDocument/2006/relationships">
              <a:rPr lang="en" sz="1800" spc="-30">
                <a:solidFill>
                  <a:srgbClr val="0563C1"/>
                </a:solidFill>
                <a:latin typeface="IBM Plex Sans Condensed"/>
                <a:ea typeface="IBM Plex Sans Condensed"/>
                <a:cs typeface="IBM Plex Sans Condensed"/>
                <a:sym typeface="IBM Plex Sans Condensed"/>
                <a:hlinkClick r:id="rId8" tooltip="https://youtu.be/zSUG5iQniSc"/>
              </a:rPr>
              <a:t>https://youtu.be/zSUG5iQniSc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16761" y="1721739"/>
            <a:ext cx="5097059" cy="271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 strike="noStrike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can choose a password of a maximum of 3 digits: 1, 2 or 3 digits.</a:t>
            </a:r>
          </a:p>
          <a:p>
            <a:pPr algn="l">
              <a:lnSpc>
                <a:spcPts val="2639"/>
              </a:lnSpc>
              <a:spcBef>
                <a:spcPct val="0"/>
              </a:spcBef>
            </a:pPr>
          </a:p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 strike="noStrike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padlock does not detect the order in which we press the numbers.</a:t>
            </a:r>
          </a:p>
          <a:p>
            <a:pPr algn="l">
              <a:lnSpc>
                <a:spcPts val="2639"/>
              </a:lnSpc>
              <a:spcBef>
                <a:spcPct val="0"/>
              </a:spcBef>
            </a:pPr>
          </a:p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 strike="noStrike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open it, you must slide the bottom tab.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907191"/>
            <a:ext cx="5252731" cy="475046"/>
            <a:chOff x="0" y="0"/>
            <a:chExt cx="7050116" cy="63759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050145" cy="637605"/>
            </a:xfrm>
            <a:custGeom>
              <a:avLst/>
              <a:gdLst/>
              <a:ahLst/>
              <a:cxnLst/>
              <a:rect r="r" b="b" t="t" l="l"/>
              <a:pathLst>
                <a:path h="637605" w="7050145">
                  <a:moveTo>
                    <a:pt x="0" y="0"/>
                  </a:moveTo>
                  <a:lnTo>
                    <a:pt x="7050145" y="0"/>
                  </a:lnTo>
                  <a:lnTo>
                    <a:pt x="7050145" y="637605"/>
                  </a:lnTo>
                  <a:lnTo>
                    <a:pt x="0" y="637605"/>
                  </a:lnTo>
                  <a:close/>
                </a:path>
              </a:pathLst>
            </a:custGeom>
            <a:solidFill>
              <a:srgbClr val="C7C7D4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7050116" cy="637598"/>
            </a:xfrm>
            <a:prstGeom prst="rect">
              <a:avLst/>
            </a:prstGeom>
          </p:spPr>
          <p:txBody>
            <a:bodyPr anchor="t" rtlCol="false" tIns="50465" lIns="50465" bIns="50465" rIns="50465"/>
            <a:lstStyle/>
            <a:p>
              <a:pPr xmlns:a="http://schemas.openxmlformats.org/drawingml/2006/main" algn="ctr">
                <a:lnSpc>
                  <a:spcPts val="2399"/>
                </a:lnSpc>
              </a:pP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 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: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Padlock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push button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15606" y="1382238"/>
            <a:ext cx="2851404" cy="2895600"/>
          </a:xfrm>
          <a:custGeom>
            <a:avLst/>
            <a:gdLst/>
            <a:ahLst/>
            <a:cxnLst/>
            <a:rect r="r" b="b" t="t" l="l"/>
            <a:pathLst>
              <a:path h="2895600" w="2851404">
                <a:moveTo>
                  <a:pt x="0" y="0"/>
                </a:moveTo>
                <a:lnTo>
                  <a:pt x="2851404" y="0"/>
                </a:lnTo>
                <a:lnTo>
                  <a:pt x="2851404" y="2895600"/>
                </a:lnTo>
                <a:lnTo>
                  <a:pt x="0" y="2895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>
            <a:grpSpLocks noChangeAspect="true"/>
          </p:cNvGrpSpPr>
          <p:nvPr/>
        </p:nvGrpSpPr>
        <p:grpSpPr>
          <a:xfrm rot="1359420">
            <a:off x="-490452" y="4584059"/>
            <a:ext cx="5520338" cy="3090386"/>
            <a:chOff x="0" y="0"/>
            <a:chExt cx="7360450" cy="412051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360412" cy="4120515"/>
            </a:xfrm>
            <a:custGeom>
              <a:avLst/>
              <a:gdLst/>
              <a:ahLst/>
              <a:cxnLst/>
              <a:rect r="r" b="b" t="t" l="l"/>
              <a:pathLst>
                <a:path h="4120515" w="7360412">
                  <a:moveTo>
                    <a:pt x="6858" y="0"/>
                  </a:moveTo>
                  <a:lnTo>
                    <a:pt x="0" y="1101090"/>
                  </a:lnTo>
                  <a:lnTo>
                    <a:pt x="1260348" y="4120515"/>
                  </a:lnTo>
                  <a:lnTo>
                    <a:pt x="1266698" y="4120515"/>
                  </a:lnTo>
                  <a:lnTo>
                    <a:pt x="7350887" y="1580896"/>
                  </a:lnTo>
                  <a:lnTo>
                    <a:pt x="7360412" y="45974"/>
                  </a:lnTo>
                  <a:lnTo>
                    <a:pt x="5446395" y="34036"/>
                  </a:lnTo>
                  <a:lnTo>
                    <a:pt x="6858" y="0"/>
                  </a:lnTo>
                  <a:close/>
                </a:path>
              </a:pathLst>
            </a:custGeom>
            <a:blipFill>
              <a:blip r:embed="rId3"/>
              <a:stretch>
                <a:fillRect l="-255" t="-1" r="0" b="-92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82723" y="907191"/>
            <a:ext cx="5252731" cy="475046"/>
            <a:chOff x="0" y="0"/>
            <a:chExt cx="7050116" cy="6375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050145" cy="637605"/>
            </a:xfrm>
            <a:custGeom>
              <a:avLst/>
              <a:gdLst/>
              <a:ahLst/>
              <a:cxnLst/>
              <a:rect r="r" b="b" t="t" l="l"/>
              <a:pathLst>
                <a:path h="637605" w="7050145">
                  <a:moveTo>
                    <a:pt x="0" y="0"/>
                  </a:moveTo>
                  <a:lnTo>
                    <a:pt x="7050145" y="0"/>
                  </a:lnTo>
                  <a:lnTo>
                    <a:pt x="7050145" y="637605"/>
                  </a:lnTo>
                  <a:lnTo>
                    <a:pt x="0" y="637605"/>
                  </a:lnTo>
                  <a:close/>
                </a:path>
              </a:pathLst>
            </a:custGeom>
            <a:solidFill>
              <a:srgbClr val="C7C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7050116" cy="637598"/>
            </a:xfrm>
            <a:prstGeom prst="rect">
              <a:avLst/>
            </a:prstGeom>
          </p:spPr>
          <p:txBody>
            <a:bodyPr anchor="t" rtlCol="false" tIns="50465" lIns="50465" bIns="50465" rIns="50465"/>
            <a:lstStyle/>
            <a:p>
              <a:pPr xmlns:a="http://schemas.openxmlformats.org/drawingml/2006/main" algn="ctr">
                <a:lnSpc>
                  <a:spcPts val="2399"/>
                </a:lnSpc>
              </a:pP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 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: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Padlock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with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dates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16761" y="1721739"/>
            <a:ext cx="7277569" cy="271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474975" indent="-237487" lvl="1">
              <a:lnSpc>
                <a:spcPts val="2639"/>
              </a:lnSpc>
              <a:buFont typeface="Arial"/>
              <a:buChar char="•"/>
            </a:pPr>
            <a:r xmlns:a="http://schemas.openxmlformats.org/drawingml/2006/main">
              <a:rPr lang="en" sz="2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password can be any date in the format DD – M – YY</a:t>
            </a:r>
          </a:p>
          <a:p>
            <a:pPr algn="l">
              <a:lnSpc>
                <a:spcPts val="2639"/>
              </a:lnSpc>
            </a:pPr>
          </a:p>
          <a:p>
            <a:pPr xmlns:a="http://schemas.openxmlformats.org/drawingml/2006/main" algn="l" marL="474975" indent="-237487" lvl="1">
              <a:lnSpc>
                <a:spcPts val="2639"/>
              </a:lnSpc>
              <a:buFont typeface="Arial"/>
              <a:buChar char="•"/>
            </a:pPr>
            <a:r xmlns:a="http://schemas.openxmlformats.org/drawingml/2006/main">
              <a:rPr lang="en" sz="2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Unreal dates are also allowed: 35 – JANUARY – 24</a:t>
            </a:r>
          </a:p>
          <a:p>
            <a:pPr algn="l">
              <a:lnSpc>
                <a:spcPts val="2639"/>
              </a:lnSpc>
            </a:pPr>
          </a:p>
          <a:p>
            <a:pPr xmlns:a="http://schemas.openxmlformats.org/drawingml/2006/main" algn="l" marL="474975" indent="-237487" lvl="1">
              <a:lnSpc>
                <a:spcPts val="2639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2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open it, you must move the discs so that the date is visible, in the positions corresponding to DD, M or YY.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908036" y="2534412"/>
            <a:ext cx="4283964" cy="4323588"/>
          </a:xfrm>
          <a:custGeom>
            <a:avLst/>
            <a:gdLst/>
            <a:ahLst/>
            <a:cxnLst/>
            <a:rect r="r" b="b" t="t" l="l"/>
            <a:pathLst>
              <a:path h="4323588" w="4283964">
                <a:moveTo>
                  <a:pt x="0" y="0"/>
                </a:moveTo>
                <a:lnTo>
                  <a:pt x="4283964" y="0"/>
                </a:lnTo>
                <a:lnTo>
                  <a:pt x="4283964" y="4323588"/>
                </a:lnTo>
                <a:lnTo>
                  <a:pt x="0" y="43235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6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847332" y="1461516"/>
            <a:ext cx="3329940" cy="3429000"/>
          </a:xfrm>
          <a:custGeom>
            <a:avLst/>
            <a:gdLst/>
            <a:ahLst/>
            <a:cxnLst/>
            <a:rect r="r" b="b" t="t" l="l"/>
            <a:pathLst>
              <a:path h="3429000" w="3329940">
                <a:moveTo>
                  <a:pt x="0" y="0"/>
                </a:moveTo>
                <a:lnTo>
                  <a:pt x="3329940" y="0"/>
                </a:lnTo>
                <a:lnTo>
                  <a:pt x="3329940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10980" y="1601069"/>
            <a:ext cx="5680236" cy="515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359676" indent="-179838" lvl="1">
              <a:lnSpc>
                <a:spcPts val="2384"/>
              </a:lnSpc>
              <a:buFont typeface="Arial"/>
              <a:buChar char="•"/>
            </a:pPr>
            <a:r xmlns:a="http://schemas.openxmlformats.org/drawingml/2006/main">
              <a:rPr lang="en" sz="198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You can choose any password with 5-letter words.</a:t>
            </a:r>
          </a:p>
          <a:p>
            <a:pPr algn="l" marL="359676" indent="-179838" lvl="1">
              <a:lnSpc>
                <a:spcPts val="2384"/>
              </a:lnSpc>
            </a:pPr>
          </a:p>
          <a:p>
            <a:pPr xmlns:a="http://schemas.openxmlformats.org/drawingml/2006/main" algn="l" marL="359676" indent="-179838" lvl="1">
              <a:lnSpc>
                <a:spcPts val="2384"/>
              </a:lnSpc>
              <a:buFont typeface="Arial"/>
              <a:buChar char="•"/>
            </a:pPr>
            <a:r xmlns:a="http://schemas.openxmlformats.org/drawingml/2006/main">
              <a:rPr lang="en" sz="198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Only 10 letters are available on each disc.</a:t>
            </a:r>
          </a:p>
          <a:p>
            <a:pPr algn="l" marL="359676" indent="-179838" lvl="1">
              <a:lnSpc>
                <a:spcPts val="2384"/>
              </a:lnSpc>
            </a:pPr>
          </a:p>
          <a:p>
            <a:pPr xmlns:a="http://schemas.openxmlformats.org/drawingml/2006/main" algn="l" marL="359676" indent="-179838" lvl="1">
              <a:lnSpc>
                <a:spcPts val="2384"/>
              </a:lnSpc>
              <a:buFont typeface="Arial"/>
              <a:buChar char="•"/>
            </a:pPr>
            <a:r xmlns:a="http://schemas.openxmlformats.org/drawingml/2006/main">
              <a:rPr lang="en" sz="198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The padlock has no way of checking whether the word entered makes sense or not. Therefore, the password may be a meaningless word.</a:t>
            </a:r>
          </a:p>
          <a:p>
            <a:pPr algn="l" marL="359676" indent="-179838" lvl="1">
              <a:lnSpc>
                <a:spcPts val="2384"/>
              </a:lnSpc>
            </a:pPr>
          </a:p>
          <a:p>
            <a:pPr xmlns:a="http://schemas.openxmlformats.org/drawingml/2006/main" algn="l" marL="359676" indent="-179838" lvl="1">
              <a:lnSpc>
                <a:spcPts val="2384"/>
              </a:lnSpc>
              <a:buFont typeface="Arial"/>
              <a:buChar char="•"/>
            </a:pPr>
            <a:r xmlns:a="http://schemas.openxmlformats.org/drawingml/2006/main">
              <a:rPr lang="en" sz="198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There are repeated lyrics on the different albums.</a:t>
            </a:r>
          </a:p>
          <a:p>
            <a:pPr algn="l" marL="359676" indent="-179838" lvl="1">
              <a:lnSpc>
                <a:spcPts val="2384"/>
              </a:lnSpc>
            </a:pPr>
          </a:p>
          <a:p>
            <a:pPr xmlns:a="http://schemas.openxmlformats.org/drawingml/2006/main" algn="l" marL="359676" indent="-179838" lvl="1">
              <a:lnSpc>
                <a:spcPts val="2384"/>
              </a:lnSpc>
              <a:buFont typeface="Arial"/>
              <a:buChar char="•"/>
            </a:pPr>
            <a:r xmlns:a="http://schemas.openxmlformats.org/drawingml/2006/main">
              <a:rPr lang="en" sz="198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To open it, the discs must be moved so that the password appears in the position next to the tab.</a:t>
            </a:r>
          </a:p>
          <a:p>
            <a:pPr algn="l" marL="359676" indent="-179838" lvl="1">
              <a:lnSpc>
                <a:spcPts val="2384"/>
              </a:lnSpc>
            </a:pPr>
          </a:p>
          <a:p>
            <a:pPr algn="l" marL="359676" indent="-179838" lvl="1">
              <a:lnSpc>
                <a:spcPts val="2384"/>
              </a:lnSpc>
            </a:pPr>
          </a:p>
          <a:p>
            <a:pPr algn="l" marL="359676" indent="-179838" lvl="1">
              <a:lnSpc>
                <a:spcPts val="2384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82723" y="907191"/>
            <a:ext cx="5252731" cy="475046"/>
            <a:chOff x="0" y="0"/>
            <a:chExt cx="7050116" cy="6375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050145" cy="637605"/>
            </a:xfrm>
            <a:custGeom>
              <a:avLst/>
              <a:gdLst/>
              <a:ahLst/>
              <a:cxnLst/>
              <a:rect r="r" b="b" t="t" l="l"/>
              <a:pathLst>
                <a:path h="637605" w="7050145">
                  <a:moveTo>
                    <a:pt x="0" y="0"/>
                  </a:moveTo>
                  <a:lnTo>
                    <a:pt x="7050145" y="0"/>
                  </a:lnTo>
                  <a:lnTo>
                    <a:pt x="7050145" y="637605"/>
                  </a:lnTo>
                  <a:lnTo>
                    <a:pt x="0" y="637605"/>
                  </a:lnTo>
                  <a:close/>
                </a:path>
              </a:pathLst>
            </a:custGeom>
            <a:solidFill>
              <a:srgbClr val="C7C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7050116" cy="637598"/>
            </a:xfrm>
            <a:prstGeom prst="rect">
              <a:avLst/>
            </a:prstGeom>
          </p:spPr>
          <p:txBody>
            <a:bodyPr anchor="t" rtlCol="false" tIns="50465" lIns="50465" bIns="50465" rIns="50465"/>
            <a:lstStyle/>
            <a:p>
              <a:pPr xmlns:a="http://schemas.openxmlformats.org/drawingml/2006/main" algn="ctr">
                <a:lnSpc>
                  <a:spcPts val="2399"/>
                </a:lnSpc>
              </a:pP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 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: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Padlock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with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words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938064"/>
            <a:ext cx="5908548" cy="2919603"/>
          </a:xfrm>
          <a:custGeom>
            <a:avLst/>
            <a:gdLst/>
            <a:ahLst/>
            <a:cxnLst/>
            <a:rect r="r" b="b" t="t" l="l"/>
            <a:pathLst>
              <a:path h="2919603" w="5908548">
                <a:moveTo>
                  <a:pt x="0" y="0"/>
                </a:moveTo>
                <a:lnTo>
                  <a:pt x="5908548" y="0"/>
                </a:lnTo>
                <a:lnTo>
                  <a:pt x="5908548" y="2919603"/>
                </a:lnTo>
                <a:lnTo>
                  <a:pt x="0" y="29196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>
            <a:grpSpLocks noChangeAspect="true"/>
          </p:cNvGrpSpPr>
          <p:nvPr/>
        </p:nvGrpSpPr>
        <p:grpSpPr>
          <a:xfrm rot="8745780">
            <a:off x="7795089" y="2852995"/>
            <a:ext cx="5853922" cy="4530557"/>
            <a:chOff x="0" y="0"/>
            <a:chExt cx="7805230" cy="604074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805165" cy="6040755"/>
            </a:xfrm>
            <a:custGeom>
              <a:avLst/>
              <a:gdLst/>
              <a:ahLst/>
              <a:cxnLst/>
              <a:rect r="r" b="b" t="t" l="l"/>
              <a:pathLst>
                <a:path h="6040755" w="7805165">
                  <a:moveTo>
                    <a:pt x="6096" y="6040755"/>
                  </a:moveTo>
                  <a:lnTo>
                    <a:pt x="7805165" y="5978271"/>
                  </a:lnTo>
                  <a:lnTo>
                    <a:pt x="7780147" y="2853309"/>
                  </a:lnTo>
                  <a:lnTo>
                    <a:pt x="3587369" y="0"/>
                  </a:lnTo>
                  <a:lnTo>
                    <a:pt x="0" y="5271389"/>
                  </a:lnTo>
                  <a:lnTo>
                    <a:pt x="2794" y="5626862"/>
                  </a:lnTo>
                  <a:lnTo>
                    <a:pt x="6096" y="6040755"/>
                  </a:lnTo>
                  <a:close/>
                </a:path>
              </a:pathLst>
            </a:custGeom>
            <a:blipFill>
              <a:blip r:embed="rId3"/>
              <a:stretch>
                <a:fillRect l="-539" t="-553" r="0" b="-3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6966204" y="1275588"/>
            <a:ext cx="4861560" cy="3131820"/>
          </a:xfrm>
          <a:custGeom>
            <a:avLst/>
            <a:gdLst/>
            <a:ahLst/>
            <a:cxnLst/>
            <a:rect r="r" b="b" t="t" l="l"/>
            <a:pathLst>
              <a:path h="3131820" w="4861560">
                <a:moveTo>
                  <a:pt x="0" y="0"/>
                </a:moveTo>
                <a:lnTo>
                  <a:pt x="4861560" y="0"/>
                </a:lnTo>
                <a:lnTo>
                  <a:pt x="4861560" y="3131820"/>
                </a:lnTo>
                <a:lnTo>
                  <a:pt x="0" y="31318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6" id="6"/>
          <p:cNvGrpSpPr>
            <a:grpSpLocks noChangeAspect="true"/>
          </p:cNvGrpSpPr>
          <p:nvPr/>
        </p:nvGrpSpPr>
        <p:grpSpPr>
          <a:xfrm rot="7209240">
            <a:off x="2219773" y="4228167"/>
            <a:ext cx="1317098" cy="2248300"/>
            <a:chOff x="0" y="0"/>
            <a:chExt cx="1756131" cy="29977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56156" cy="2997708"/>
            </a:xfrm>
            <a:custGeom>
              <a:avLst/>
              <a:gdLst/>
              <a:ahLst/>
              <a:cxnLst/>
              <a:rect r="r" b="b" t="t" l="l"/>
              <a:pathLst>
                <a:path h="2997708" w="1756156">
                  <a:moveTo>
                    <a:pt x="0" y="2997708"/>
                  </a:moveTo>
                  <a:lnTo>
                    <a:pt x="1756156" y="2997581"/>
                  </a:lnTo>
                  <a:lnTo>
                    <a:pt x="1756156" y="0"/>
                  </a:lnTo>
                  <a:lnTo>
                    <a:pt x="0" y="0"/>
                  </a:lnTo>
                  <a:lnTo>
                    <a:pt x="0" y="2997708"/>
                  </a:lnTo>
                  <a:close/>
                </a:path>
              </a:pathLst>
            </a:custGeom>
            <a:blipFill>
              <a:blip r:embed="rId5"/>
              <a:stretch>
                <a:fillRect l="0" t="-8772" r="-99965" b="-8695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145531" y="4827908"/>
            <a:ext cx="3528060" cy="10668"/>
          </a:xfrm>
          <a:custGeom>
            <a:avLst/>
            <a:gdLst/>
            <a:ahLst/>
            <a:cxnLst/>
            <a:rect r="r" b="b" t="t" l="l"/>
            <a:pathLst>
              <a:path h="10668" w="3528060">
                <a:moveTo>
                  <a:pt x="0" y="0"/>
                </a:moveTo>
                <a:lnTo>
                  <a:pt x="3528060" y="0"/>
                </a:lnTo>
                <a:lnTo>
                  <a:pt x="3528060" y="10668"/>
                </a:lnTo>
                <a:lnTo>
                  <a:pt x="0" y="1066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1879323" y="174755"/>
            <a:ext cx="78810" cy="213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679"/>
              </a:lnSpc>
            </a:pPr>
            <a:r xmlns:a="http://schemas.openxmlformats.org/drawingml/2006/main">
              <a:rPr lang="en" sz="12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9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9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46293" y="4559370"/>
            <a:ext cx="3598307" cy="306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520"/>
              </a:lnSpc>
            </a:pPr>
            <a:r xmlns:a="http://schemas.openxmlformats.org/drawingml/2006/main" xmlns:r="http://schemas.openxmlformats.org/officeDocument/2006/relationships">
              <a:rPr lang="en" sz="1800" spc="-30">
                <a:solidFill>
                  <a:srgbClr val="0563C1"/>
                </a:solidFill>
                <a:latin typeface="IBM Plex Sans Condensed"/>
                <a:ea typeface="IBM Plex Sans Condensed"/>
                <a:cs typeface="IBM Plex Sans Condensed"/>
                <a:sym typeface="IBM Plex Sans Condensed"/>
                <a:hlinkClick r:id="rId9" tooltip="https://youtu.be/9IAfqFGM56w?t=153"/>
              </a:rPr>
              <a:t>https://youtu.be/9IAfqFGM56w?t=153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5800" y="1694656"/>
            <a:ext cx="5796760" cy="2902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343607" indent="-171803" lvl="1">
              <a:lnSpc>
                <a:spcPts val="2278"/>
              </a:lnSpc>
              <a:buFont typeface="Arial"/>
              <a:buChar char="•"/>
            </a:pPr>
            <a:r xmlns:a="http://schemas.openxmlformats.org/drawingml/2006/main">
              <a:rPr lang="en" sz="189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Any 4-direction password can be chosen (up, down, right, left)</a:t>
            </a:r>
          </a:p>
          <a:p>
            <a:pPr algn="l" marL="343607" indent="-171803" lvl="1">
              <a:lnSpc>
                <a:spcPts val="2278"/>
              </a:lnSpc>
            </a:pPr>
          </a:p>
          <a:p>
            <a:pPr xmlns:a="http://schemas.openxmlformats.org/drawingml/2006/main" algn="l" marL="343607" indent="-171803" lvl="1">
              <a:lnSpc>
                <a:spcPts val="2278"/>
              </a:lnSpc>
              <a:buFont typeface="Arial"/>
              <a:buChar char="•"/>
            </a:pPr>
            <a:r xmlns:a="http://schemas.openxmlformats.org/drawingml/2006/main">
              <a:rPr lang="en" sz="189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password can have repeated elements.</a:t>
            </a:r>
          </a:p>
          <a:p>
            <a:pPr algn="l" marL="343607" indent="-171803" lvl="1">
              <a:lnSpc>
                <a:spcPts val="2278"/>
              </a:lnSpc>
            </a:pPr>
          </a:p>
          <a:p>
            <a:pPr xmlns:a="http://schemas.openxmlformats.org/drawingml/2006/main" algn="l" marL="343607" indent="-171803" lvl="1">
              <a:lnSpc>
                <a:spcPts val="2278"/>
              </a:lnSpc>
              <a:buFont typeface="Arial"/>
              <a:buChar char="•"/>
            </a:pPr>
            <a:r xmlns:a="http://schemas.openxmlformats.org/drawingml/2006/main">
              <a:rPr lang="en" sz="189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To enter a new password, you must press twice against the padlock.</a:t>
            </a:r>
          </a:p>
          <a:p>
            <a:pPr algn="l" marL="343607" indent="-171803" lvl="1">
              <a:lnSpc>
                <a:spcPts val="2278"/>
              </a:lnSpc>
            </a:pPr>
          </a:p>
          <a:p>
            <a:pPr xmlns:a="http://schemas.openxmlformats.org/drawingml/2006/main" algn="l" marL="343607" indent="-171803" lvl="1">
              <a:lnSpc>
                <a:spcPts val="2278"/>
              </a:lnSpc>
              <a:buFont typeface="Arial"/>
              <a:buChar char="•"/>
            </a:pPr>
            <a:r xmlns:a="http://schemas.openxmlformats.org/drawingml/2006/main">
              <a:rPr lang="en" sz="189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When the code is correct, the padlock can be opened.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782723" y="907191"/>
            <a:ext cx="5252731" cy="475046"/>
            <a:chOff x="0" y="0"/>
            <a:chExt cx="7050116" cy="6375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50145" cy="637605"/>
            </a:xfrm>
            <a:custGeom>
              <a:avLst/>
              <a:gdLst/>
              <a:ahLst/>
              <a:cxnLst/>
              <a:rect r="r" b="b" t="t" l="l"/>
              <a:pathLst>
                <a:path h="637605" w="7050145">
                  <a:moveTo>
                    <a:pt x="0" y="0"/>
                  </a:moveTo>
                  <a:lnTo>
                    <a:pt x="7050145" y="0"/>
                  </a:lnTo>
                  <a:lnTo>
                    <a:pt x="7050145" y="637605"/>
                  </a:lnTo>
                  <a:lnTo>
                    <a:pt x="0" y="637605"/>
                  </a:lnTo>
                  <a:close/>
                </a:path>
              </a:pathLst>
            </a:custGeom>
            <a:solidFill>
              <a:srgbClr val="C7C7D4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7050116" cy="637598"/>
            </a:xfrm>
            <a:prstGeom prst="rect">
              <a:avLst/>
            </a:prstGeom>
          </p:spPr>
          <p:txBody>
            <a:bodyPr anchor="t" rtlCol="false" tIns="50465" lIns="50465" bIns="50465" rIns="50465"/>
            <a:lstStyle/>
            <a:p>
              <a:pPr xmlns:a="http://schemas.openxmlformats.org/drawingml/2006/main" algn="ctr">
                <a:lnSpc>
                  <a:spcPts val="2399"/>
                </a:lnSpc>
              </a:pP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 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: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Padlock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directional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1359420">
            <a:off x="-490452" y="4584059"/>
            <a:ext cx="5520338" cy="3090386"/>
            <a:chOff x="0" y="0"/>
            <a:chExt cx="7360450" cy="41205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360412" cy="4120515"/>
            </a:xfrm>
            <a:custGeom>
              <a:avLst/>
              <a:gdLst/>
              <a:ahLst/>
              <a:cxnLst/>
              <a:rect r="r" b="b" t="t" l="l"/>
              <a:pathLst>
                <a:path h="4120515" w="7360412">
                  <a:moveTo>
                    <a:pt x="6858" y="0"/>
                  </a:moveTo>
                  <a:lnTo>
                    <a:pt x="0" y="1101090"/>
                  </a:lnTo>
                  <a:lnTo>
                    <a:pt x="1260348" y="4120515"/>
                  </a:lnTo>
                  <a:lnTo>
                    <a:pt x="1266698" y="4120515"/>
                  </a:lnTo>
                  <a:lnTo>
                    <a:pt x="7350887" y="1580896"/>
                  </a:lnTo>
                  <a:lnTo>
                    <a:pt x="7360412" y="45974"/>
                  </a:lnTo>
                  <a:lnTo>
                    <a:pt x="5446395" y="34036"/>
                  </a:lnTo>
                  <a:lnTo>
                    <a:pt x="6858" y="0"/>
                  </a:lnTo>
                  <a:close/>
                </a:path>
              </a:pathLst>
            </a:custGeom>
            <a:blipFill>
              <a:blip r:embed="rId2"/>
              <a:stretch>
                <a:fillRect l="-255" t="-1" r="0" b="-92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559052" y="4201668"/>
            <a:ext cx="2452116" cy="2414016"/>
          </a:xfrm>
          <a:custGeom>
            <a:avLst/>
            <a:gdLst/>
            <a:ahLst/>
            <a:cxnLst/>
            <a:rect r="r" b="b" t="t" l="l"/>
            <a:pathLst>
              <a:path h="2414016" w="2452116">
                <a:moveTo>
                  <a:pt x="0" y="0"/>
                </a:moveTo>
                <a:lnTo>
                  <a:pt x="2452116" y="0"/>
                </a:lnTo>
                <a:lnTo>
                  <a:pt x="2452116" y="2414016"/>
                </a:lnTo>
                <a:lnTo>
                  <a:pt x="0" y="24140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875020" y="1642872"/>
            <a:ext cx="5844540" cy="3299460"/>
          </a:xfrm>
          <a:custGeom>
            <a:avLst/>
            <a:gdLst/>
            <a:ahLst/>
            <a:cxnLst/>
            <a:rect r="r" b="b" t="t" l="l"/>
            <a:pathLst>
              <a:path h="3299460" w="5844540">
                <a:moveTo>
                  <a:pt x="0" y="0"/>
                </a:moveTo>
                <a:lnTo>
                  <a:pt x="5844540" y="0"/>
                </a:lnTo>
                <a:lnTo>
                  <a:pt x="5844540" y="3299460"/>
                </a:lnTo>
                <a:lnTo>
                  <a:pt x="0" y="32994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008114" y="5529834"/>
            <a:ext cx="2884932" cy="10668"/>
          </a:xfrm>
          <a:custGeom>
            <a:avLst/>
            <a:gdLst/>
            <a:ahLst/>
            <a:cxnLst/>
            <a:rect r="r" b="b" t="t" l="l"/>
            <a:pathLst>
              <a:path h="10668" w="2884932">
                <a:moveTo>
                  <a:pt x="0" y="0"/>
                </a:moveTo>
                <a:lnTo>
                  <a:pt x="2884932" y="0"/>
                </a:lnTo>
                <a:lnTo>
                  <a:pt x="2884932" y="10668"/>
                </a:lnTo>
                <a:lnTo>
                  <a:pt x="0" y="106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1879323" y="174755"/>
            <a:ext cx="158086" cy="213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679"/>
              </a:lnSpc>
            </a:pPr>
            <a:r xmlns:a="http://schemas.openxmlformats.org/drawingml/2006/main">
              <a:rPr lang="en" sz="1200" spc="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904850" y="6483725"/>
            <a:ext cx="209131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08876" y="5261686"/>
            <a:ext cx="2943511" cy="306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520"/>
              </a:lnSpc>
            </a:pPr>
            <a:r xmlns:a="http://schemas.openxmlformats.org/drawingml/2006/main" xmlns:r="http://schemas.openxmlformats.org/officeDocument/2006/relationships">
              <a:rPr lang="en" sz="1800" spc="-30">
                <a:solidFill>
                  <a:srgbClr val="0563C1"/>
                </a:solidFill>
                <a:latin typeface="IBM Plex Sans Condensed"/>
                <a:ea typeface="IBM Plex Sans Condensed"/>
                <a:cs typeface="IBM Plex Sans Condensed"/>
                <a:sym typeface="IBM Plex Sans Condensed"/>
                <a:hlinkClick r:id="rId8" tooltip="https://youtu.be/ednwKwSu7dw"/>
              </a:rPr>
              <a:t>https://youtu.be/ednwKwSu7dw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72440" y="1790599"/>
            <a:ext cx="4939666" cy="2520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372706" indent="-186353" lvl="1">
              <a:lnSpc>
                <a:spcPts val="2471"/>
              </a:lnSpc>
              <a:buFont typeface="Arial"/>
              <a:buChar char="•"/>
            </a:pPr>
            <a:r xmlns:a="http://schemas.openxmlformats.org/drawingml/2006/main">
              <a:rPr lang="en" sz="20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You can choose any password with 3 numbers, between 0 and 39.</a:t>
            </a:r>
          </a:p>
          <a:p>
            <a:pPr algn="l" marL="372706" indent="-186353" lvl="1">
              <a:lnSpc>
                <a:spcPts val="2471"/>
              </a:lnSpc>
            </a:pPr>
          </a:p>
          <a:p>
            <a:pPr xmlns:a="http://schemas.openxmlformats.org/drawingml/2006/main" algn="l" marL="372706" indent="-186353" lvl="1">
              <a:lnSpc>
                <a:spcPts val="2471"/>
              </a:lnSpc>
              <a:buFont typeface="Arial"/>
              <a:buChar char="•"/>
            </a:pPr>
            <a:r xmlns:a="http://schemas.openxmlformats.org/drawingml/2006/main">
              <a:rPr lang="en" sz="20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Password does not support repeated digits.</a:t>
            </a:r>
          </a:p>
          <a:p>
            <a:pPr algn="l" marL="372706" indent="-186353" lvl="1">
              <a:lnSpc>
                <a:spcPts val="2471"/>
              </a:lnSpc>
            </a:pPr>
          </a:p>
          <a:p>
            <a:pPr xmlns:a="http://schemas.openxmlformats.org/drawingml/2006/main" algn="l" marL="372706" indent="-186353" lvl="1">
              <a:lnSpc>
                <a:spcPts val="2471"/>
              </a:lnSpc>
              <a:buFont typeface="Arial"/>
              <a:buChar char="•"/>
            </a:pPr>
            <a:r xmlns:a="http://schemas.openxmlformats.org/drawingml/2006/main">
              <a:rPr lang="en" sz="20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To enter the password: watch the video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782723" y="907191"/>
            <a:ext cx="5252731" cy="475046"/>
            <a:chOff x="0" y="0"/>
            <a:chExt cx="7050116" cy="63759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50145" cy="637605"/>
            </a:xfrm>
            <a:custGeom>
              <a:avLst/>
              <a:gdLst/>
              <a:ahLst/>
              <a:cxnLst/>
              <a:rect r="r" b="b" t="t" l="l"/>
              <a:pathLst>
                <a:path h="637605" w="7050145">
                  <a:moveTo>
                    <a:pt x="0" y="0"/>
                  </a:moveTo>
                  <a:lnTo>
                    <a:pt x="7050145" y="0"/>
                  </a:lnTo>
                  <a:lnTo>
                    <a:pt x="7050145" y="637605"/>
                  </a:lnTo>
                  <a:lnTo>
                    <a:pt x="0" y="637605"/>
                  </a:lnTo>
                  <a:close/>
                </a:path>
              </a:pathLst>
            </a:custGeom>
            <a:solidFill>
              <a:srgbClr val="C7C7D4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7050116" cy="637598"/>
            </a:xfrm>
            <a:prstGeom prst="rect">
              <a:avLst/>
            </a:prstGeom>
          </p:spPr>
          <p:txBody>
            <a:bodyPr anchor="t" rtlCol="false" tIns="50465" lIns="50465" bIns="50465" rIns="50465"/>
            <a:lstStyle/>
            <a:p>
              <a:pPr xmlns:a="http://schemas.openxmlformats.org/drawingml/2006/main" algn="ctr">
                <a:lnSpc>
                  <a:spcPts val="2399"/>
                </a:lnSpc>
              </a:pP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</a:t>
              </a:r>
              <a:r xmlns:a="http://schemas.openxmlformats.org/drawingml/2006/main">
                <a:rPr lang="en" sz="19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</a:t>
              </a:r>
              <a:r xmlns:a="http://schemas.openxmlformats.org/drawingml/2006/main">
                <a:rPr lang="en" b="true" sz="1999" u="sng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 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: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Padlock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from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box</a:t>
              </a:r>
              <a:r xmlns:a="http://schemas.openxmlformats.org/drawingml/2006/main">
                <a:rPr lang="en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  <a:r xmlns:a="http://schemas.openxmlformats.org/drawingml/2006/main">
                <a:rPr lang="en" sz="1999" u="sng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strong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904850" y="6483725"/>
            <a:ext cx="209131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38175"/>
            <a:ext cx="5613970" cy="785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6337"/>
              </a:lnSpc>
            </a:pPr>
            <a:r xmlns:a="http://schemas.openxmlformats.org/drawingml/2006/main">
              <a:rPr lang="en" sz="4875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REPORT Q₁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85800" y="1509675"/>
            <a:ext cx="10220497" cy="581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4725"/>
              </a:lnSpc>
            </a:pPr>
            <a:r xmlns:a="http://schemas.openxmlformats.org/drawingml/2006/main">
              <a:rPr lang="en" sz="3375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Q₁: How many different codes does each padlock support?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61073" y="2386682"/>
            <a:ext cx="10469853" cy="3177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are the characteristics of the padlocks you are studying?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How to generate the list (even if it is partial) of possible codes that the padlock supports?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is the total number of codes that your padlock supports?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counting strategies or techniques were used?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How did we make sure we didn't overcount or undercount codes?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If we had to open the padlock by trying all the codes, how long do you estimate it would take to open the padlock?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If we have the same padlock with one more box, how many total codes does it have?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if we have one more element per box? What would happen then?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5800" y="5813425"/>
            <a:ext cx="10220497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800"/>
              </a:lnSpc>
            </a:pPr>
            <a:r xmlns:a="http://schemas.openxmlformats.org/drawingml/2006/main">
              <a:rPr lang="en" sz="2000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Prepare a presentation to share the results with the other teams.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8774" y="158096"/>
            <a:ext cx="10656514" cy="361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759"/>
              </a:lnSpc>
            </a:pP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Q₁: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How many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codes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different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admits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each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 xmlns:a="http://schemas.openxmlformats.org/drawingml/2006/main">
              <a:rPr lang="en" sz="2299" spc="121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2299" spc="12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703064" y="0"/>
            <a:ext cx="4575048" cy="2953512"/>
          </a:xfrm>
          <a:custGeom>
            <a:avLst/>
            <a:gdLst/>
            <a:ahLst/>
            <a:cxnLst/>
            <a:rect r="r" b="b" t="t" l="l"/>
            <a:pathLst>
              <a:path h="2953512" w="4575048">
                <a:moveTo>
                  <a:pt x="0" y="0"/>
                </a:moveTo>
                <a:lnTo>
                  <a:pt x="4575048" y="0"/>
                </a:lnTo>
                <a:lnTo>
                  <a:pt x="4575048" y="2953512"/>
                </a:lnTo>
                <a:lnTo>
                  <a:pt x="0" y="295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8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904850" y="6483725"/>
            <a:ext cx="104975" cy="290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237"/>
              </a:lnSpc>
            </a:pPr>
            <a:r xmlns:a="http://schemas.openxmlformats.org/drawingml/2006/main">
              <a:rPr lang="en" sz="1598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45867" y="1556929"/>
            <a:ext cx="8042646" cy="666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5142"/>
              </a:lnSpc>
            </a:pPr>
            <a:r xmlns:a="http://schemas.openxmlformats.org/drawingml/2006/main">
              <a:rPr lang="en" sz="428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Sharing!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080428" y="2703623"/>
            <a:ext cx="8031143" cy="2457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6441"/>
              </a:lnSpc>
            </a:pPr>
            <a:r xmlns:a="http://schemas.openxmlformats.org/drawingml/2006/main">
              <a:rPr lang="en" sz="53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Q₀: Of the following collection of </a:t>
            </a:r>
            <a:r xmlns:a="http://schemas.openxmlformats.org/drawingml/2006/main">
              <a:rPr lang="en" sz="53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padlocks </a:t>
            </a:r>
            <a:r xmlns:a="http://schemas.openxmlformats.org/drawingml/2006/main">
              <a:rPr lang="en" sz="53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which is the most </a:t>
            </a:r>
            <a:r xmlns:a="http://schemas.openxmlformats.org/drawingml/2006/main">
              <a:rPr lang="en" sz="5367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secure </a:t>
            </a:r>
            <a:r xmlns:a="http://schemas.openxmlformats.org/drawingml/2006/main">
              <a:rPr lang="en" sz="5367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703064" y="0"/>
            <a:ext cx="4575048" cy="2953512"/>
          </a:xfrm>
          <a:custGeom>
            <a:avLst/>
            <a:gdLst/>
            <a:ahLst/>
            <a:cxnLst/>
            <a:rect r="r" b="b" t="t" l="l"/>
            <a:pathLst>
              <a:path h="2953512" w="4575048">
                <a:moveTo>
                  <a:pt x="0" y="0"/>
                </a:moveTo>
                <a:lnTo>
                  <a:pt x="4575048" y="0"/>
                </a:lnTo>
                <a:lnTo>
                  <a:pt x="4575048" y="2953512"/>
                </a:lnTo>
                <a:lnTo>
                  <a:pt x="0" y="295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8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85800" y="859113"/>
            <a:ext cx="10820400" cy="478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7560"/>
              </a:lnSpc>
            </a:pPr>
            <a:r xmlns:a="http://schemas.openxmlformats.org/drawingml/2006/main">
              <a:rPr lang="en" sz="63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We've been given more information about the password...</a:t>
            </a:r>
          </a:p>
          <a:p>
            <a:pPr xmlns:a="http://schemas.openxmlformats.org/drawingml/2006/main" algn="ctr">
              <a:lnSpc>
                <a:spcPts val="7560"/>
              </a:lnSpc>
            </a:pPr>
            <a:r xmlns:a="http://schemas.openxmlformats.org/drawingml/2006/main">
              <a:rPr lang="en" sz="630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Q₂: Can we find the number of codes with the </a:t>
            </a:r>
            <a:r xmlns:a="http://schemas.openxmlformats.org/drawingml/2006/main">
              <a:rPr lang="en" b="true" sz="6300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new information </a:t>
            </a:r>
            <a:r xmlns:a="http://schemas.openxmlformats.org/drawingml/2006/main">
              <a:rPr lang="en" sz="630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?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5400000">
            <a:off x="913335" y="869587"/>
            <a:ext cx="1461280" cy="1379456"/>
            <a:chOff x="0" y="0"/>
            <a:chExt cx="2837066" cy="26782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37053" cy="2678176"/>
            </a:xfrm>
            <a:custGeom>
              <a:avLst/>
              <a:gdLst/>
              <a:ahLst/>
              <a:cxnLst/>
              <a:rect r="r" b="b" t="t" l="l"/>
              <a:pathLst>
                <a:path h="2678176" w="2837053">
                  <a:moveTo>
                    <a:pt x="0" y="144780"/>
                  </a:moveTo>
                  <a:cubicBezTo>
                    <a:pt x="0" y="64897"/>
                    <a:pt x="64897" y="0"/>
                    <a:pt x="144780" y="0"/>
                  </a:cubicBezTo>
                  <a:lnTo>
                    <a:pt x="2692273" y="0"/>
                  </a:lnTo>
                  <a:cubicBezTo>
                    <a:pt x="2772283" y="0"/>
                    <a:pt x="2837053" y="64897"/>
                    <a:pt x="2837053" y="144780"/>
                  </a:cubicBezTo>
                  <a:lnTo>
                    <a:pt x="2837053" y="2533396"/>
                  </a:lnTo>
                  <a:cubicBezTo>
                    <a:pt x="2837053" y="2613406"/>
                    <a:pt x="2772156" y="2678176"/>
                    <a:pt x="2692273" y="2678176"/>
                  </a:cubicBezTo>
                  <a:lnTo>
                    <a:pt x="144780" y="2678176"/>
                  </a:lnTo>
                  <a:cubicBezTo>
                    <a:pt x="64770" y="2678176"/>
                    <a:pt x="0" y="2613279"/>
                    <a:pt x="0" y="2533396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570087" y="1920975"/>
            <a:ext cx="3497731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19"/>
              </a:lnSpc>
            </a:pPr>
            <a:r xmlns:a="http://schemas.openxmlformats.org/drawingml/2006/main">
              <a:rPr lang="en" sz="1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We know that the password does not contain repeated digits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551519" y="828675"/>
            <a:ext cx="3516299" cy="1111237"/>
            <a:chOff x="0" y="0"/>
            <a:chExt cx="6043284" cy="19098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043310" cy="1909743"/>
            </a:xfrm>
            <a:custGeom>
              <a:avLst/>
              <a:gdLst/>
              <a:ahLst/>
              <a:cxnLst/>
              <a:rect r="r" b="b" t="t" l="l"/>
              <a:pathLst>
                <a:path h="1909743" w="6043310">
                  <a:moveTo>
                    <a:pt x="0" y="0"/>
                  </a:moveTo>
                  <a:lnTo>
                    <a:pt x="6043310" y="0"/>
                  </a:lnTo>
                  <a:lnTo>
                    <a:pt x="6043310" y="1909743"/>
                  </a:lnTo>
                  <a:lnTo>
                    <a:pt x="0" y="1909743"/>
                  </a:lnTo>
                  <a:close/>
                </a:path>
              </a:pathLst>
            </a:custGeom>
            <a:solidFill>
              <a:srgbClr val="7030A0">
                <a:alpha val="1961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6043284" cy="1919351"/>
            </a:xfrm>
            <a:prstGeom prst="rect">
              <a:avLst/>
            </a:prstGeom>
          </p:spPr>
          <p:txBody>
            <a:bodyPr anchor="t" rtlCol="false" tIns="39411" lIns="39411" bIns="39411" rIns="39411"/>
            <a:lstStyle/>
            <a:p>
              <a:pPr xmlns:a="http://schemas.openxmlformats.org/drawingml/2006/main" algn="l">
                <a:lnSpc>
                  <a:spcPts val="2520"/>
                </a:lnSpc>
              </a:pPr>
              <a:r xmlns:a="http://schemas.openxmlformats.org/drawingml/2006/main">
                <a:rPr lang="en" sz="2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 7: </a:t>
              </a:r>
              <a:r xmlns:a="http://schemas.openxmlformats.org/drawingml/2006/main">
                <a:rPr lang="en" sz="21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Roulette numbering padlock (no repeats)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31773" y="967492"/>
            <a:ext cx="1149556" cy="1259660"/>
            <a:chOff x="0" y="0"/>
            <a:chExt cx="2231856" cy="24456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31898" cy="2445639"/>
            </a:xfrm>
            <a:custGeom>
              <a:avLst/>
              <a:gdLst/>
              <a:ahLst/>
              <a:cxnLst/>
              <a:rect r="r" b="b" t="t" l="l"/>
              <a:pathLst>
                <a:path h="2445639" w="2231898">
                  <a:moveTo>
                    <a:pt x="0" y="0"/>
                  </a:moveTo>
                  <a:lnTo>
                    <a:pt x="2231898" y="0"/>
                  </a:lnTo>
                  <a:lnTo>
                    <a:pt x="2231898" y="2445639"/>
                  </a:lnTo>
                  <a:lnTo>
                    <a:pt x="0" y="2445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377" t="-15244" r="-75289" b="-3439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2605556" y="3766778"/>
            <a:ext cx="3735838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19"/>
              </a:lnSpc>
            </a:pPr>
            <a:r xmlns:a="http://schemas.openxmlformats.org/drawingml/2006/main">
              <a:rPr lang="en" sz="1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We know for sure that the password has 7 digits.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2605556" y="2841236"/>
            <a:ext cx="3490444" cy="797025"/>
            <a:chOff x="0" y="0"/>
            <a:chExt cx="5998848" cy="136980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998872" cy="1369747"/>
            </a:xfrm>
            <a:custGeom>
              <a:avLst/>
              <a:gdLst/>
              <a:ahLst/>
              <a:cxnLst/>
              <a:rect r="r" b="b" t="t" l="l"/>
              <a:pathLst>
                <a:path h="1369747" w="5998872">
                  <a:moveTo>
                    <a:pt x="0" y="0"/>
                  </a:moveTo>
                  <a:lnTo>
                    <a:pt x="5998872" y="0"/>
                  </a:lnTo>
                  <a:lnTo>
                    <a:pt x="5998872" y="1369747"/>
                  </a:lnTo>
                  <a:lnTo>
                    <a:pt x="0" y="1369747"/>
                  </a:lnTo>
                  <a:close/>
                </a:path>
              </a:pathLst>
            </a:custGeom>
            <a:solidFill>
              <a:srgbClr val="7030A0">
                <a:alpha val="1961"/>
              </a:srgbClr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5998848" cy="1379331"/>
            </a:xfrm>
            <a:prstGeom prst="rect">
              <a:avLst/>
            </a:prstGeom>
          </p:spPr>
          <p:txBody>
            <a:bodyPr anchor="t" rtlCol="false" tIns="39411" lIns="39411" bIns="39411" rIns="39411"/>
            <a:lstStyle/>
            <a:p>
              <a:pPr xmlns:a="http://schemas.openxmlformats.org/drawingml/2006/main" algn="l">
                <a:lnSpc>
                  <a:spcPts val="2520"/>
                </a:lnSpc>
              </a:pPr>
              <a:r xmlns:a="http://schemas.openxmlformats.org/drawingml/2006/main">
                <a:rPr lang="en" sz="2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 8: </a:t>
              </a:r>
              <a:r xmlns:a="http://schemas.openxmlformats.org/drawingml/2006/main">
                <a:rPr lang="en" sz="21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Push-button padlock (extended)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551519" y="5788376"/>
            <a:ext cx="3516299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19"/>
              </a:lnSpc>
            </a:pPr>
            <a:r xmlns:a="http://schemas.openxmlformats.org/drawingml/2006/main">
              <a:rPr lang="en" sz="1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We know that neither days nor years contain repeated numbers.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51519" y="4853795"/>
            <a:ext cx="3516299" cy="797025"/>
            <a:chOff x="0" y="0"/>
            <a:chExt cx="6043284" cy="136980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43295" cy="1369747"/>
            </a:xfrm>
            <a:custGeom>
              <a:avLst/>
              <a:gdLst/>
              <a:ahLst/>
              <a:cxnLst/>
              <a:rect r="r" b="b" t="t" l="l"/>
              <a:pathLst>
                <a:path h="1369747" w="6043295">
                  <a:moveTo>
                    <a:pt x="0" y="0"/>
                  </a:moveTo>
                  <a:lnTo>
                    <a:pt x="6043295" y="0"/>
                  </a:lnTo>
                  <a:lnTo>
                    <a:pt x="6043295" y="1369747"/>
                  </a:lnTo>
                  <a:lnTo>
                    <a:pt x="0" y="1369747"/>
                  </a:lnTo>
                  <a:close/>
                </a:path>
              </a:pathLst>
            </a:custGeom>
            <a:solidFill>
              <a:srgbClr val="7030A0">
                <a:alpha val="1961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6043284" cy="1379331"/>
            </a:xfrm>
            <a:prstGeom prst="rect">
              <a:avLst/>
            </a:prstGeom>
          </p:spPr>
          <p:txBody>
            <a:bodyPr anchor="t" rtlCol="false" tIns="39411" lIns="39411" bIns="39411" rIns="39411"/>
            <a:lstStyle/>
            <a:p>
              <a:pPr xmlns:a="http://schemas.openxmlformats.org/drawingml/2006/main" algn="l">
                <a:lnSpc>
                  <a:spcPts val="2520"/>
                </a:lnSpc>
              </a:pPr>
              <a:r xmlns:a="http://schemas.openxmlformats.org/drawingml/2006/main">
                <a:rPr lang="en" sz="2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 9: </a:t>
              </a:r>
              <a:r xmlns:a="http://schemas.openxmlformats.org/drawingml/2006/main">
                <a:rPr lang="en" sz="21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Date padlock (no repeats)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7950104" y="2952460"/>
            <a:ext cx="3503713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19"/>
              </a:lnSpc>
            </a:pPr>
            <a:r xmlns:a="http://schemas.openxmlformats.org/drawingml/2006/main">
              <a:rPr lang="en" sz="1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We now know that the password does not contain repeated addresses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7950104" y="1860160"/>
            <a:ext cx="3503713" cy="1111350"/>
            <a:chOff x="0" y="0"/>
            <a:chExt cx="6021654" cy="19100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21705" cy="1909938"/>
            </a:xfrm>
            <a:custGeom>
              <a:avLst/>
              <a:gdLst/>
              <a:ahLst/>
              <a:cxnLst/>
              <a:rect r="r" b="b" t="t" l="l"/>
              <a:pathLst>
                <a:path h="1909938" w="6021705">
                  <a:moveTo>
                    <a:pt x="0" y="0"/>
                  </a:moveTo>
                  <a:lnTo>
                    <a:pt x="6021705" y="0"/>
                  </a:lnTo>
                  <a:lnTo>
                    <a:pt x="6021705" y="1909938"/>
                  </a:lnTo>
                  <a:lnTo>
                    <a:pt x="0" y="1909938"/>
                  </a:lnTo>
                  <a:close/>
                </a:path>
              </a:pathLst>
            </a:custGeom>
            <a:solidFill>
              <a:srgbClr val="7030A0">
                <a:alpha val="1961"/>
              </a:srgbClr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021654" cy="1919546"/>
            </a:xfrm>
            <a:prstGeom prst="rect">
              <a:avLst/>
            </a:prstGeom>
          </p:spPr>
          <p:txBody>
            <a:bodyPr anchor="t" rtlCol="false" tIns="39411" lIns="39411" bIns="39411" rIns="39411"/>
            <a:lstStyle/>
            <a:p>
              <a:pPr xmlns:a="http://schemas.openxmlformats.org/drawingml/2006/main" algn="l">
                <a:lnSpc>
                  <a:spcPts val="2520"/>
                </a:lnSpc>
              </a:pPr>
              <a:r xmlns:a="http://schemas.openxmlformats.org/drawingml/2006/main">
                <a:rPr lang="en" sz="2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 10: </a:t>
              </a:r>
              <a:r xmlns:a="http://schemas.openxmlformats.org/drawingml/2006/main">
                <a:rPr lang="en" sz="21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Directional padlock (no repetitions)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5400000">
            <a:off x="948230" y="2882147"/>
            <a:ext cx="1461280" cy="1379456"/>
            <a:chOff x="0" y="0"/>
            <a:chExt cx="2837066" cy="267820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837053" cy="2678176"/>
            </a:xfrm>
            <a:custGeom>
              <a:avLst/>
              <a:gdLst/>
              <a:ahLst/>
              <a:cxnLst/>
              <a:rect r="r" b="b" t="t" l="l"/>
              <a:pathLst>
                <a:path h="2678176" w="2837053">
                  <a:moveTo>
                    <a:pt x="0" y="144780"/>
                  </a:moveTo>
                  <a:cubicBezTo>
                    <a:pt x="0" y="64897"/>
                    <a:pt x="64897" y="0"/>
                    <a:pt x="144780" y="0"/>
                  </a:cubicBezTo>
                  <a:lnTo>
                    <a:pt x="2692273" y="0"/>
                  </a:lnTo>
                  <a:cubicBezTo>
                    <a:pt x="2772283" y="0"/>
                    <a:pt x="2837053" y="64897"/>
                    <a:pt x="2837053" y="144780"/>
                  </a:cubicBezTo>
                  <a:lnTo>
                    <a:pt x="2837053" y="2533396"/>
                  </a:lnTo>
                  <a:cubicBezTo>
                    <a:pt x="2837053" y="2613406"/>
                    <a:pt x="2772156" y="2678176"/>
                    <a:pt x="2692273" y="2678176"/>
                  </a:cubicBezTo>
                  <a:lnTo>
                    <a:pt x="144780" y="2678176"/>
                  </a:lnTo>
                  <a:cubicBezTo>
                    <a:pt x="64770" y="2678176"/>
                    <a:pt x="0" y="2613279"/>
                    <a:pt x="0" y="2533396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</p:grpSp>
      <p:grpSp>
        <p:nvGrpSpPr>
          <p:cNvPr name="Group 25" id="25"/>
          <p:cNvGrpSpPr/>
          <p:nvPr/>
        </p:nvGrpSpPr>
        <p:grpSpPr>
          <a:xfrm rot="5400000">
            <a:off x="944968" y="4894707"/>
            <a:ext cx="1461280" cy="1379456"/>
            <a:chOff x="0" y="0"/>
            <a:chExt cx="2837066" cy="267820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837053" cy="2678176"/>
            </a:xfrm>
            <a:custGeom>
              <a:avLst/>
              <a:gdLst/>
              <a:ahLst/>
              <a:cxnLst/>
              <a:rect r="r" b="b" t="t" l="l"/>
              <a:pathLst>
                <a:path h="2678176" w="2837053">
                  <a:moveTo>
                    <a:pt x="0" y="144780"/>
                  </a:moveTo>
                  <a:cubicBezTo>
                    <a:pt x="0" y="64897"/>
                    <a:pt x="64897" y="0"/>
                    <a:pt x="144780" y="0"/>
                  </a:cubicBezTo>
                  <a:lnTo>
                    <a:pt x="2692273" y="0"/>
                  </a:lnTo>
                  <a:cubicBezTo>
                    <a:pt x="2772283" y="0"/>
                    <a:pt x="2837053" y="64897"/>
                    <a:pt x="2837053" y="144780"/>
                  </a:cubicBezTo>
                  <a:lnTo>
                    <a:pt x="2837053" y="2533396"/>
                  </a:lnTo>
                  <a:cubicBezTo>
                    <a:pt x="2837053" y="2613406"/>
                    <a:pt x="2772156" y="2678176"/>
                    <a:pt x="2692273" y="2678176"/>
                  </a:cubicBezTo>
                  <a:lnTo>
                    <a:pt x="144780" y="2678176"/>
                  </a:lnTo>
                  <a:cubicBezTo>
                    <a:pt x="64770" y="2678176"/>
                    <a:pt x="0" y="2613279"/>
                    <a:pt x="0" y="2533396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</p:grpSp>
      <p:grpSp>
        <p:nvGrpSpPr>
          <p:cNvPr name="Group 27" id="27"/>
          <p:cNvGrpSpPr/>
          <p:nvPr/>
        </p:nvGrpSpPr>
        <p:grpSpPr>
          <a:xfrm rot="5400000">
            <a:off x="6252336" y="1903849"/>
            <a:ext cx="1560483" cy="1473104"/>
            <a:chOff x="0" y="0"/>
            <a:chExt cx="2837066" cy="267820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837053" cy="2678176"/>
            </a:xfrm>
            <a:custGeom>
              <a:avLst/>
              <a:gdLst/>
              <a:ahLst/>
              <a:cxnLst/>
              <a:rect r="r" b="b" t="t" l="l"/>
              <a:pathLst>
                <a:path h="2678176" w="2837053">
                  <a:moveTo>
                    <a:pt x="0" y="144780"/>
                  </a:moveTo>
                  <a:cubicBezTo>
                    <a:pt x="0" y="64897"/>
                    <a:pt x="64897" y="0"/>
                    <a:pt x="144780" y="0"/>
                  </a:cubicBezTo>
                  <a:lnTo>
                    <a:pt x="2692273" y="0"/>
                  </a:lnTo>
                  <a:cubicBezTo>
                    <a:pt x="2772283" y="0"/>
                    <a:pt x="2837053" y="64897"/>
                    <a:pt x="2837053" y="144780"/>
                  </a:cubicBezTo>
                  <a:lnTo>
                    <a:pt x="2837053" y="2533396"/>
                  </a:lnTo>
                  <a:cubicBezTo>
                    <a:pt x="2837053" y="2613406"/>
                    <a:pt x="2772156" y="2678176"/>
                    <a:pt x="2692273" y="2678176"/>
                  </a:cubicBezTo>
                  <a:lnTo>
                    <a:pt x="144780" y="2678176"/>
                  </a:lnTo>
                  <a:cubicBezTo>
                    <a:pt x="64770" y="2678176"/>
                    <a:pt x="0" y="2613279"/>
                    <a:pt x="0" y="2533396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7950104" y="4995133"/>
            <a:ext cx="3511845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919"/>
              </a:lnSpc>
            </a:pPr>
            <a:r xmlns:a="http://schemas.openxmlformats.org/drawingml/2006/main">
              <a:rPr lang="en" sz="1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We know that the password does not contain repeated addresses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7950104" y="4026188"/>
            <a:ext cx="3503713" cy="797025"/>
            <a:chOff x="0" y="0"/>
            <a:chExt cx="6021654" cy="13698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21705" cy="1369747"/>
            </a:xfrm>
            <a:custGeom>
              <a:avLst/>
              <a:gdLst/>
              <a:ahLst/>
              <a:cxnLst/>
              <a:rect r="r" b="b" t="t" l="l"/>
              <a:pathLst>
                <a:path h="1369747" w="6021705">
                  <a:moveTo>
                    <a:pt x="0" y="0"/>
                  </a:moveTo>
                  <a:lnTo>
                    <a:pt x="6021705" y="0"/>
                  </a:lnTo>
                  <a:lnTo>
                    <a:pt x="6021705" y="1369747"/>
                  </a:lnTo>
                  <a:lnTo>
                    <a:pt x="0" y="1369747"/>
                  </a:lnTo>
                  <a:close/>
                </a:path>
              </a:pathLst>
            </a:custGeom>
            <a:solidFill>
              <a:srgbClr val="7030A0">
                <a:alpha val="1961"/>
              </a:srgbClr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6021654" cy="1379331"/>
            </a:xfrm>
            <a:prstGeom prst="rect">
              <a:avLst/>
            </a:prstGeom>
          </p:spPr>
          <p:txBody>
            <a:bodyPr anchor="t" rtlCol="false" tIns="39411" lIns="39411" bIns="39411" rIns="39411"/>
            <a:lstStyle/>
            <a:p>
              <a:pPr xmlns:a="http://schemas.openxmlformats.org/drawingml/2006/main" algn="l">
                <a:lnSpc>
                  <a:spcPts val="2520"/>
                </a:lnSpc>
              </a:pPr>
              <a:r xmlns:a="http://schemas.openxmlformats.org/drawingml/2006/main">
                <a:rPr lang="en" sz="2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Padlock 11: </a:t>
              </a:r>
              <a:r xmlns:a="http://schemas.openxmlformats.org/drawingml/2006/main">
                <a:rPr lang="en" sz="21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Safe padlock (with repetitions)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5400000">
            <a:off x="6276218" y="4036359"/>
            <a:ext cx="1560483" cy="1473104"/>
            <a:chOff x="0" y="0"/>
            <a:chExt cx="2837066" cy="267820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837053" cy="2678176"/>
            </a:xfrm>
            <a:custGeom>
              <a:avLst/>
              <a:gdLst/>
              <a:ahLst/>
              <a:cxnLst/>
              <a:rect r="r" b="b" t="t" l="l"/>
              <a:pathLst>
                <a:path h="2678176" w="2837053">
                  <a:moveTo>
                    <a:pt x="0" y="144780"/>
                  </a:moveTo>
                  <a:cubicBezTo>
                    <a:pt x="0" y="64897"/>
                    <a:pt x="64897" y="0"/>
                    <a:pt x="144780" y="0"/>
                  </a:cubicBezTo>
                  <a:lnTo>
                    <a:pt x="2692273" y="0"/>
                  </a:lnTo>
                  <a:cubicBezTo>
                    <a:pt x="2772283" y="0"/>
                    <a:pt x="2837053" y="64897"/>
                    <a:pt x="2837053" y="144780"/>
                  </a:cubicBezTo>
                  <a:lnTo>
                    <a:pt x="2837053" y="2533396"/>
                  </a:lnTo>
                  <a:cubicBezTo>
                    <a:pt x="2837053" y="2613406"/>
                    <a:pt x="2772156" y="2678176"/>
                    <a:pt x="2692273" y="2678176"/>
                  </a:cubicBezTo>
                  <a:lnTo>
                    <a:pt x="144780" y="2678176"/>
                  </a:lnTo>
                  <a:cubicBezTo>
                    <a:pt x="64770" y="2678176"/>
                    <a:pt x="0" y="2613279"/>
                    <a:pt x="0" y="2533396"/>
                  </a:cubicBezTo>
                  <a:close/>
                </a:path>
              </a:pathLst>
            </a:custGeom>
            <a:solidFill>
              <a:srgbClr val="733EF6"/>
            </a:solidFill>
          </p:spPr>
        </p:sp>
      </p:grpSp>
      <p:sp>
        <p:nvSpPr>
          <p:cNvPr name="Freeform 35" id="35"/>
          <p:cNvSpPr/>
          <p:nvPr/>
        </p:nvSpPr>
        <p:spPr>
          <a:xfrm flipH="false" flipV="false" rot="0">
            <a:off x="1001957" y="2890458"/>
            <a:ext cx="1366641" cy="1362834"/>
          </a:xfrm>
          <a:custGeom>
            <a:avLst/>
            <a:gdLst/>
            <a:ahLst/>
            <a:cxnLst/>
            <a:rect r="r" b="b" t="t" l="l"/>
            <a:pathLst>
              <a:path h="1362834" w="1366641">
                <a:moveTo>
                  <a:pt x="0" y="0"/>
                </a:moveTo>
                <a:lnTo>
                  <a:pt x="1366641" y="0"/>
                </a:lnTo>
                <a:lnTo>
                  <a:pt x="1366641" y="1362835"/>
                </a:lnTo>
                <a:lnTo>
                  <a:pt x="0" y="13628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038084" y="4931165"/>
            <a:ext cx="1237616" cy="1352511"/>
          </a:xfrm>
          <a:custGeom>
            <a:avLst/>
            <a:gdLst/>
            <a:ahLst/>
            <a:cxnLst/>
            <a:rect r="r" b="b" t="t" l="l"/>
            <a:pathLst>
              <a:path h="1352511" w="1237616">
                <a:moveTo>
                  <a:pt x="0" y="0"/>
                </a:moveTo>
                <a:lnTo>
                  <a:pt x="1237617" y="0"/>
                </a:lnTo>
                <a:lnTo>
                  <a:pt x="1237617" y="1352511"/>
                </a:lnTo>
                <a:lnTo>
                  <a:pt x="0" y="13525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37" id="37"/>
          <p:cNvGrpSpPr>
            <a:grpSpLocks noChangeAspect="true"/>
          </p:cNvGrpSpPr>
          <p:nvPr/>
        </p:nvGrpSpPr>
        <p:grpSpPr>
          <a:xfrm rot="0">
            <a:off x="6575516" y="1860160"/>
            <a:ext cx="914123" cy="1560483"/>
            <a:chOff x="0" y="0"/>
            <a:chExt cx="1756042" cy="299770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756029" cy="2997708"/>
            </a:xfrm>
            <a:custGeom>
              <a:avLst/>
              <a:gdLst/>
              <a:ahLst/>
              <a:cxnLst/>
              <a:rect r="r" b="b" t="t" l="l"/>
              <a:pathLst>
                <a:path h="2997708" w="1756029">
                  <a:moveTo>
                    <a:pt x="0" y="2997708"/>
                  </a:moveTo>
                  <a:lnTo>
                    <a:pt x="1756029" y="2997581"/>
                  </a:lnTo>
                  <a:lnTo>
                    <a:pt x="1756029" y="0"/>
                  </a:lnTo>
                  <a:lnTo>
                    <a:pt x="0" y="0"/>
                  </a:lnTo>
                  <a:lnTo>
                    <a:pt x="0" y="2997708"/>
                  </a:lnTo>
                  <a:close/>
                </a:path>
              </a:pathLst>
            </a:custGeom>
            <a:blipFill>
              <a:blip r:embed="rId6"/>
              <a:stretch>
                <a:fillRect l="0" t="-8768" r="-99979" b="-8698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6343575" y="4093274"/>
            <a:ext cx="1464974" cy="1459878"/>
          </a:xfrm>
          <a:custGeom>
            <a:avLst/>
            <a:gdLst/>
            <a:ahLst/>
            <a:cxnLst/>
            <a:rect r="r" b="b" t="t" l="l"/>
            <a:pathLst>
              <a:path h="1459878" w="1464974">
                <a:moveTo>
                  <a:pt x="0" y="0"/>
                </a:moveTo>
                <a:lnTo>
                  <a:pt x="1464974" y="0"/>
                </a:lnTo>
                <a:lnTo>
                  <a:pt x="1464974" y="1459878"/>
                </a:lnTo>
                <a:lnTo>
                  <a:pt x="0" y="145987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3475057" y="199987"/>
            <a:ext cx="8031143" cy="314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400"/>
              </a:lnSpc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Q₂: Can we find the number of codes with the new information?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61073" y="2386682"/>
            <a:ext cx="10469853" cy="3177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are the characteristics of the padlocks you are studying?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How to generate the list (even if it is partial) of possible codes that the padlock supports?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is the total number of codes that your padlock supports?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counting strategies or techniques were used?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How did we make sure we didn't overcount or undercount codes?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If we had to open the padlock by trying all the codes, how long do you estimate it would take to open the padlock?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If we have the same padlock with one more box, how many total codes does it have?</a:t>
            </a:r>
          </a:p>
          <a:p>
            <a:pPr xmlns:a="http://schemas.openxmlformats.org/drawingml/2006/main" algn="l" marL="431801" indent="-215900" lvl="1">
              <a:lnSpc>
                <a:spcPts val="2800"/>
              </a:lnSpc>
              <a:buFont typeface="Arial"/>
              <a:buChar char="•"/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if we have one more element per box? What would happen then?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38175"/>
            <a:ext cx="5613970" cy="785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6337"/>
              </a:lnSpc>
            </a:pPr>
            <a:r xmlns:a="http://schemas.openxmlformats.org/drawingml/2006/main">
              <a:rPr lang="en" sz="4875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Q₂ REPORT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85800" y="1550353"/>
            <a:ext cx="11808502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4340"/>
              </a:lnSpc>
            </a:pPr>
            <a:r xmlns:a="http://schemas.openxmlformats.org/drawingml/2006/main">
              <a:rPr lang="en" sz="31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Q₂: Can we find the number of codes with the new information?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475057" y="199987"/>
            <a:ext cx="8031143" cy="314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400"/>
              </a:lnSpc>
            </a:pPr>
            <a:r xmlns:a="http://schemas.openxmlformats.org/drawingml/2006/main">
              <a:rPr lang="en" sz="2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Q₂: Can we find the number of codes with the new information?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703064" y="0"/>
            <a:ext cx="4575048" cy="2953512"/>
          </a:xfrm>
          <a:custGeom>
            <a:avLst/>
            <a:gdLst/>
            <a:ahLst/>
            <a:cxnLst/>
            <a:rect r="r" b="b" t="t" l="l"/>
            <a:pathLst>
              <a:path h="2953512" w="4575048">
                <a:moveTo>
                  <a:pt x="0" y="0"/>
                </a:moveTo>
                <a:lnTo>
                  <a:pt x="4575048" y="0"/>
                </a:lnTo>
                <a:lnTo>
                  <a:pt x="4575048" y="2953512"/>
                </a:lnTo>
                <a:lnTo>
                  <a:pt x="0" y="295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8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85800" y="1011056"/>
            <a:ext cx="10820400" cy="4788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9407"/>
              </a:lnSpc>
            </a:pPr>
            <a:r xmlns:a="http://schemas.openxmlformats.org/drawingml/2006/main">
              <a:rPr lang="en" sz="783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Q₃: What characterizes a </a:t>
            </a:r>
            <a:r xmlns:a="http://schemas.openxmlformats.org/drawingml/2006/main">
              <a:rPr lang="en" sz="783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7839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model ?</a:t>
            </a:r>
          </a:p>
          <a:p>
            <a:pPr xmlns:a="http://schemas.openxmlformats.org/drawingml/2006/main" algn="ctr">
              <a:lnSpc>
                <a:spcPts val="9407"/>
              </a:lnSpc>
            </a:pPr>
            <a:r xmlns:a="http://schemas.openxmlformats.org/drawingml/2006/main">
              <a:rPr lang="en" sz="7839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models </a:t>
            </a:r>
            <a:r xmlns:a="http://schemas.openxmlformats.org/drawingml/2006/main">
              <a:rPr lang="en" sz="783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are there?</a:t>
            </a:r>
          </a:p>
          <a:p>
            <a:pPr xmlns:a="http://schemas.openxmlformats.org/drawingml/2006/main" algn="ctr">
              <a:lnSpc>
                <a:spcPts val="9407"/>
              </a:lnSpc>
            </a:pPr>
            <a:r xmlns:a="http://schemas.openxmlformats.org/drawingml/2006/main">
              <a:rPr lang="en" sz="783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</a:t>
            </a:r>
            <a:r xmlns:a="http://schemas.openxmlformats.org/drawingml/2006/main">
              <a:rPr lang="en" sz="7839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do we call them?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85800" y="638138"/>
            <a:ext cx="5613970" cy="7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6337"/>
              </a:lnSpc>
            </a:pPr>
            <a:r xmlns:a="http://schemas.openxmlformats.org/drawingml/2006/main">
              <a:rPr lang="en" sz="4875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REPORT Q₃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58211" y="1608670"/>
            <a:ext cx="11427303" cy="398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3220"/>
              </a:lnSpc>
            </a:pPr>
            <a:r xmlns:a="http://schemas.openxmlformats.org/drawingml/2006/main">
              <a:rPr lang="en" sz="2300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Q₃: What characterizes a padlock model? What models are there? What do we call them?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85800" y="2192058"/>
            <a:ext cx="10820400" cy="2798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Are there strategies shared by different padlocks?</a:t>
            </a:r>
          </a:p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classification originates from the different strategies?</a:t>
            </a:r>
          </a:p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numerical/algebraic formulas can be deduced from the strategies?</a:t>
            </a:r>
          </a:p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variables appear?</a:t>
            </a:r>
          </a:p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models are there?</a:t>
            </a:r>
          </a:p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characterizes each model?</a:t>
            </a:r>
          </a:p>
          <a:p>
            <a:pPr xmlns:a="http://schemas.openxmlformats.org/drawingml/2006/main" algn="l" marL="496571" indent="-248285" lvl="1">
              <a:lnSpc>
                <a:spcPts val="3220"/>
              </a:lnSpc>
              <a:buFont typeface="Arial"/>
              <a:buChar char="•"/>
            </a:pPr>
            <a:r xmlns:a="http://schemas.openxmlformats.org/drawingml/2006/main">
              <a:rPr lang="en" sz="23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What do we call them?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5800" y="88392"/>
            <a:ext cx="1082040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280"/>
              </a:lnSpc>
            </a:pPr>
            <a:r xmlns:a="http://schemas.openxmlformats.org/drawingml/2006/main">
              <a:rPr lang="en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Q₃: What characterizes a </a:t>
            </a:r>
            <a:r xmlns:a="http://schemas.openxmlformats.org/drawingml/2006/main">
              <a:rPr lang="en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19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model ? </a:t>
            </a:r>
            <a:r xmlns:a="http://schemas.openxmlformats.org/drawingml/2006/main">
              <a:rPr lang="en" sz="19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models </a:t>
            </a:r>
            <a:r xmlns:a="http://schemas.openxmlformats.org/drawingml/2006/main">
              <a:rPr lang="en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are there? What </a:t>
            </a:r>
            <a:r xmlns:a="http://schemas.openxmlformats.org/drawingml/2006/main">
              <a:rPr lang="en" sz="19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do we call them?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1759451" y="2749171"/>
            <a:ext cx="0" cy="2990238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108559" y="4121989"/>
            <a:ext cx="663537" cy="0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" id="5"/>
          <p:cNvGrpSpPr/>
          <p:nvPr/>
        </p:nvGrpSpPr>
        <p:grpSpPr>
          <a:xfrm rot="-5400000">
            <a:off x="187288" y="3874192"/>
            <a:ext cx="1842541" cy="470304"/>
            <a:chOff x="0" y="0"/>
            <a:chExt cx="2456721" cy="6270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56721" cy="627072"/>
            </a:xfrm>
            <a:custGeom>
              <a:avLst/>
              <a:gdLst/>
              <a:ahLst/>
              <a:cxnLst/>
              <a:rect r="r" b="b" t="t" l="l"/>
              <a:pathLst>
                <a:path h="627072" w="2456721">
                  <a:moveTo>
                    <a:pt x="0" y="0"/>
                  </a:moveTo>
                  <a:lnTo>
                    <a:pt x="2456721" y="0"/>
                  </a:lnTo>
                  <a:lnTo>
                    <a:pt x="2456721" y="627072"/>
                  </a:lnTo>
                  <a:lnTo>
                    <a:pt x="0" y="627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-145888" r="0" b="-14588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63789" y="160591"/>
              <a:ext cx="2105487" cy="2738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788"/>
                </a:lnSpc>
              </a:pPr>
              <a:r xmlns:a="http://schemas.openxmlformats.org/drawingml/2006/main">
                <a:rPr lang="en" b="true" sz="1277">
                  <a:solidFill>
                    <a:srgbClr val="737373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DOES IT INFLUENCE ORDER?</a:t>
              </a:r>
            </a:p>
          </p:txBody>
        </p:sp>
      </p:grpSp>
      <p:sp>
        <p:nvSpPr>
          <p:cNvPr name="AutoShape 8" id="8"/>
          <p:cNvSpPr/>
          <p:nvPr/>
        </p:nvSpPr>
        <p:spPr>
          <a:xfrm>
            <a:off x="1788586" y="2670491"/>
            <a:ext cx="974794" cy="0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474077" y="2547077"/>
            <a:ext cx="545456" cy="246828"/>
            <a:chOff x="0" y="0"/>
            <a:chExt cx="727275" cy="32910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7275" cy="329104"/>
            </a:xfrm>
            <a:custGeom>
              <a:avLst/>
              <a:gdLst/>
              <a:ahLst/>
              <a:cxnLst/>
              <a:rect r="r" b="b" t="t" l="l"/>
              <a:pathLst>
                <a:path h="329104" w="727275">
                  <a:moveTo>
                    <a:pt x="0" y="0"/>
                  </a:moveTo>
                  <a:lnTo>
                    <a:pt x="727275" y="0"/>
                  </a:lnTo>
                  <a:lnTo>
                    <a:pt x="727275" y="329104"/>
                  </a:lnTo>
                  <a:lnTo>
                    <a:pt x="0" y="329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-60493" r="0" b="-6049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231469" y="48234"/>
              <a:ext cx="264336" cy="2135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367"/>
                </a:lnSpc>
              </a:pPr>
              <a:r xmlns:a="http://schemas.openxmlformats.org/drawingml/2006/main">
                <a:rPr lang="en" sz="976" b="true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Yes</a:t>
              </a:r>
            </a:p>
          </p:txBody>
        </p:sp>
      </p:grpSp>
      <p:sp>
        <p:nvSpPr>
          <p:cNvPr name="AutoShape 12" id="12"/>
          <p:cNvSpPr/>
          <p:nvPr/>
        </p:nvSpPr>
        <p:spPr>
          <a:xfrm>
            <a:off x="6598166" y="715306"/>
            <a:ext cx="0" cy="5968677"/>
          </a:xfrm>
          <a:prstGeom prst="line">
            <a:avLst/>
          </a:prstGeom>
          <a:ln cap="flat" w="9525">
            <a:solidFill>
              <a:srgbClr val="ECE5F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089612" y="686192"/>
            <a:ext cx="0" cy="6171808"/>
          </a:xfrm>
          <a:prstGeom prst="line">
            <a:avLst/>
          </a:prstGeom>
          <a:ln cap="flat" w="9525">
            <a:solidFill>
              <a:srgbClr val="ECE5F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5134776" y="695250"/>
            <a:ext cx="0" cy="5923928"/>
          </a:xfrm>
          <a:prstGeom prst="line">
            <a:avLst/>
          </a:prstGeom>
          <a:ln cap="flat" w="9525">
            <a:solidFill>
              <a:srgbClr val="ECE5F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3581101" y="715306"/>
            <a:ext cx="0" cy="5968677"/>
          </a:xfrm>
          <a:prstGeom prst="line">
            <a:avLst/>
          </a:prstGeom>
          <a:ln cap="flat" w="9525">
            <a:solidFill>
              <a:srgbClr val="ECE5F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2738088" y="1700415"/>
            <a:ext cx="1021894" cy="0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0">
            <a:off x="3755918" y="1388999"/>
            <a:ext cx="1308816" cy="591444"/>
            <a:chOff x="0" y="0"/>
            <a:chExt cx="1745088" cy="788592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1745088" cy="788592"/>
              <a:chOff x="0" y="0"/>
              <a:chExt cx="5072791" cy="229235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072791" cy="2292355"/>
              </a:xfrm>
              <a:custGeom>
                <a:avLst/>
                <a:gdLst/>
                <a:ahLst/>
                <a:cxnLst/>
                <a:rect r="r" b="b" t="t" l="l"/>
                <a:pathLst>
                  <a:path h="2292355" w="5072791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2292355"/>
                    </a:lnTo>
                    <a:lnTo>
                      <a:pt x="5072791" y="2292355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2213615"/>
                    </a:lnTo>
                    <a:lnTo>
                      <a:pt x="78740" y="2213615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733EF6"/>
              </a:solidFill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183674" y="131819"/>
              <a:ext cx="1406193" cy="5059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</a:pPr>
              <a:r xmlns:a="http://schemas.openxmlformats.org/drawingml/2006/main">
                <a:rPr lang="en" sz="746" b="true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Variation with repetition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 considered from r to r.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-44829" y="569608"/>
            <a:ext cx="12355689" cy="291396"/>
          </a:xfrm>
          <a:custGeom>
            <a:avLst/>
            <a:gdLst/>
            <a:ahLst/>
            <a:cxnLst/>
            <a:rect r="r" b="b" t="t" l="l"/>
            <a:pathLst>
              <a:path h="291396" w="12355689">
                <a:moveTo>
                  <a:pt x="0" y="0"/>
                </a:moveTo>
                <a:lnTo>
                  <a:pt x="12355689" y="0"/>
                </a:lnTo>
                <a:lnTo>
                  <a:pt x="12355689" y="291396"/>
                </a:lnTo>
                <a:lnTo>
                  <a:pt x="0" y="29139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2070085" r="0" b="-2070085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-118999" y="6597843"/>
            <a:ext cx="12375399" cy="351874"/>
          </a:xfrm>
          <a:custGeom>
            <a:avLst/>
            <a:gdLst/>
            <a:ahLst/>
            <a:cxnLst/>
            <a:rect r="r" b="b" t="t" l="l"/>
            <a:pathLst>
              <a:path h="351874" w="12375399">
                <a:moveTo>
                  <a:pt x="0" y="0"/>
                </a:moveTo>
                <a:lnTo>
                  <a:pt x="12375400" y="0"/>
                </a:lnTo>
                <a:lnTo>
                  <a:pt x="12375400" y="351873"/>
                </a:lnTo>
                <a:lnTo>
                  <a:pt x="0" y="35187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1708499" r="0" b="-1708499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-5400000">
            <a:off x="1505561" y="2435339"/>
            <a:ext cx="1842541" cy="470304"/>
            <a:chOff x="0" y="0"/>
            <a:chExt cx="2456721" cy="62707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56721" cy="627072"/>
            </a:xfrm>
            <a:custGeom>
              <a:avLst/>
              <a:gdLst/>
              <a:ahLst/>
              <a:cxnLst/>
              <a:rect r="r" b="b" t="t" l="l"/>
              <a:pathLst>
                <a:path h="627072" w="2456721">
                  <a:moveTo>
                    <a:pt x="0" y="0"/>
                  </a:moveTo>
                  <a:lnTo>
                    <a:pt x="2456721" y="0"/>
                  </a:lnTo>
                  <a:lnTo>
                    <a:pt x="2456721" y="627072"/>
                  </a:lnTo>
                  <a:lnTo>
                    <a:pt x="0" y="627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-145888" r="0" b="-14588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63789" y="160591"/>
              <a:ext cx="2105487" cy="2738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788"/>
                </a:lnSpc>
              </a:pPr>
              <a:r xmlns:a="http://schemas.openxmlformats.org/drawingml/2006/main">
                <a:rPr lang="en" b="true" sz="1277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CAN THEY BE REPEATED?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2817037" y="1577001"/>
            <a:ext cx="545456" cy="246828"/>
            <a:chOff x="0" y="0"/>
            <a:chExt cx="727275" cy="3291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27275" cy="329104"/>
            </a:xfrm>
            <a:custGeom>
              <a:avLst/>
              <a:gdLst/>
              <a:ahLst/>
              <a:cxnLst/>
              <a:rect r="r" b="b" t="t" l="l"/>
              <a:pathLst>
                <a:path h="329104" w="727275">
                  <a:moveTo>
                    <a:pt x="0" y="0"/>
                  </a:moveTo>
                  <a:lnTo>
                    <a:pt x="727275" y="0"/>
                  </a:lnTo>
                  <a:lnTo>
                    <a:pt x="727275" y="329104"/>
                  </a:lnTo>
                  <a:lnTo>
                    <a:pt x="0" y="329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-60493" r="0" b="-6049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231469" y="48234"/>
              <a:ext cx="264336" cy="2135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367"/>
                </a:lnSpc>
              </a:pPr>
              <a:r xmlns:a="http://schemas.openxmlformats.org/drawingml/2006/main">
                <a:rPr lang="en" sz="976" b="true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Yes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>
            <a:off x="2738088" y="3105051"/>
            <a:ext cx="1021894" cy="0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2817037" y="2974524"/>
            <a:ext cx="545456" cy="246828"/>
            <a:chOff x="0" y="0"/>
            <a:chExt cx="727275" cy="32910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27275" cy="329104"/>
            </a:xfrm>
            <a:custGeom>
              <a:avLst/>
              <a:gdLst/>
              <a:ahLst/>
              <a:cxnLst/>
              <a:rect r="r" b="b" t="t" l="l"/>
              <a:pathLst>
                <a:path h="329104" w="727275">
                  <a:moveTo>
                    <a:pt x="0" y="0"/>
                  </a:moveTo>
                  <a:lnTo>
                    <a:pt x="727275" y="0"/>
                  </a:lnTo>
                  <a:lnTo>
                    <a:pt x="727275" y="329104"/>
                  </a:lnTo>
                  <a:lnTo>
                    <a:pt x="0" y="329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-60493" r="0" b="-6049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 rot="0">
              <a:off x="231469" y="48234"/>
              <a:ext cx="264336" cy="2135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367"/>
                </a:lnSpc>
              </a:pPr>
              <a:r xmlns:a="http://schemas.openxmlformats.org/drawingml/2006/main">
                <a:rPr lang="en" sz="976" b="true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No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672778" y="1388999"/>
            <a:ext cx="1308816" cy="761057"/>
            <a:chOff x="0" y="0"/>
            <a:chExt cx="1745088" cy="1014743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1745088" cy="1014743"/>
              <a:chOff x="0" y="0"/>
              <a:chExt cx="5072791" cy="2949752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5072791" cy="2949752"/>
              </a:xfrm>
              <a:custGeom>
                <a:avLst/>
                <a:gdLst/>
                <a:ahLst/>
                <a:cxnLst/>
                <a:rect r="r" b="b" t="t" l="l"/>
                <a:pathLst>
                  <a:path h="2949752" w="5072791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2949752"/>
                    </a:lnTo>
                    <a:lnTo>
                      <a:pt x="5072791" y="2949752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2871012"/>
                    </a:lnTo>
                    <a:lnTo>
                      <a:pt x="78740" y="2871012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733EF6"/>
              </a:solidFill>
            </p:spPr>
          </p:sp>
        </p:grpSp>
        <p:sp>
          <p:nvSpPr>
            <p:cNvPr name="TextBox 36" id="36"/>
            <p:cNvSpPr txBox="true"/>
            <p:nvPr/>
          </p:nvSpPr>
          <p:spPr>
            <a:xfrm rot="0">
              <a:off x="78705" y="77220"/>
              <a:ext cx="1612873" cy="8367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  <a:spcBef>
                  <a:spcPct val="0"/>
                </a:spcBef>
              </a:pP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choose codes?</a:t>
              </a:r>
              <a:r xmlns:a="http://schemas.openxmlformats.org/drawingml/2006/main">
                <a:rPr lang="en" b="true" sz="746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with r boxes in elements in each box and if </a:t>
              </a:r>
              <a:r xmlns:a="http://schemas.openxmlformats.org/drawingml/2006/main">
                <a:rPr lang="en" b="true" sz="746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we can repeat elements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?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3747788" y="2749171"/>
            <a:ext cx="1316945" cy="591444"/>
            <a:chOff x="0" y="0"/>
            <a:chExt cx="1755927" cy="788592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0" y="0"/>
              <a:ext cx="1755927" cy="788592"/>
              <a:chOff x="0" y="0"/>
              <a:chExt cx="5104299" cy="2292355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5104299" cy="2292355"/>
              </a:xfrm>
              <a:custGeom>
                <a:avLst/>
                <a:gdLst/>
                <a:ahLst/>
                <a:cxnLst/>
                <a:rect r="r" b="b" t="t" l="l"/>
                <a:pathLst>
                  <a:path h="2292355" w="5104299">
                    <a:moveTo>
                      <a:pt x="5104299" y="279400"/>
                    </a:moveTo>
                    <a:lnTo>
                      <a:pt x="5104299" y="0"/>
                    </a:lnTo>
                    <a:lnTo>
                      <a:pt x="0" y="0"/>
                    </a:lnTo>
                    <a:lnTo>
                      <a:pt x="0" y="2292355"/>
                    </a:lnTo>
                    <a:lnTo>
                      <a:pt x="5104299" y="2292355"/>
                    </a:lnTo>
                    <a:lnTo>
                      <a:pt x="5104299" y="279400"/>
                    </a:lnTo>
                    <a:close/>
                    <a:moveTo>
                      <a:pt x="5025559" y="279400"/>
                    </a:moveTo>
                    <a:lnTo>
                      <a:pt x="5025559" y="2213615"/>
                    </a:lnTo>
                    <a:lnTo>
                      <a:pt x="78740" y="2213615"/>
                    </a:lnTo>
                    <a:lnTo>
                      <a:pt x="78740" y="78740"/>
                    </a:lnTo>
                    <a:lnTo>
                      <a:pt x="5025559" y="78740"/>
                    </a:lnTo>
                    <a:lnTo>
                      <a:pt x="5025559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</p:sp>
        </p:grpSp>
        <p:sp>
          <p:nvSpPr>
            <p:cNvPr name="TextBox 40" id="40"/>
            <p:cNvSpPr txBox="true"/>
            <p:nvPr/>
          </p:nvSpPr>
          <p:spPr>
            <a:xfrm rot="0">
              <a:off x="192470" y="138853"/>
              <a:ext cx="1456390" cy="5059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</a:pPr>
              <a:r xmlns:a="http://schemas.openxmlformats.org/drawingml/2006/main">
                <a:rPr lang="en" sz="746" b="true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Variation without repetition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 considered from r to r.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672778" y="2578308"/>
            <a:ext cx="1292558" cy="911054"/>
            <a:chOff x="0" y="0"/>
            <a:chExt cx="1723410" cy="1214738"/>
          </a:xfrm>
        </p:grpSpPr>
        <p:grpSp>
          <p:nvGrpSpPr>
            <p:cNvPr name="Group 42" id="42"/>
            <p:cNvGrpSpPr/>
            <p:nvPr/>
          </p:nvGrpSpPr>
          <p:grpSpPr>
            <a:xfrm rot="0">
              <a:off x="0" y="0"/>
              <a:ext cx="1723410" cy="1214738"/>
              <a:chOff x="0" y="0"/>
              <a:chExt cx="5009775" cy="3531118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5009775" cy="3531118"/>
              </a:xfrm>
              <a:custGeom>
                <a:avLst/>
                <a:gdLst/>
                <a:ahLst/>
                <a:cxnLst/>
                <a:rect r="r" b="b" t="t" l="l"/>
                <a:pathLst>
                  <a:path h="3531118" w="5009775">
                    <a:moveTo>
                      <a:pt x="5009775" y="279400"/>
                    </a:moveTo>
                    <a:lnTo>
                      <a:pt x="5009775" y="0"/>
                    </a:lnTo>
                    <a:lnTo>
                      <a:pt x="0" y="0"/>
                    </a:lnTo>
                    <a:lnTo>
                      <a:pt x="0" y="3531118"/>
                    </a:lnTo>
                    <a:lnTo>
                      <a:pt x="5009775" y="3531118"/>
                    </a:lnTo>
                    <a:lnTo>
                      <a:pt x="5009775" y="279400"/>
                    </a:lnTo>
                    <a:close/>
                    <a:moveTo>
                      <a:pt x="4931035" y="279400"/>
                    </a:moveTo>
                    <a:lnTo>
                      <a:pt x="4931035" y="3452378"/>
                    </a:lnTo>
                    <a:lnTo>
                      <a:pt x="78740" y="3452378"/>
                    </a:lnTo>
                    <a:lnTo>
                      <a:pt x="78740" y="78740"/>
                    </a:lnTo>
                    <a:lnTo>
                      <a:pt x="4931035" y="78740"/>
                    </a:lnTo>
                    <a:lnTo>
                      <a:pt x="4931035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</p:sp>
        </p:grpSp>
        <p:sp>
          <p:nvSpPr>
            <p:cNvPr name="TextBox 44" id="44"/>
            <p:cNvSpPr txBox="true"/>
            <p:nvPr/>
          </p:nvSpPr>
          <p:spPr>
            <a:xfrm rot="0">
              <a:off x="150611" y="84254"/>
              <a:ext cx="1482805" cy="10178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  <a:spcBef>
                  <a:spcPct val="0"/>
                </a:spcBef>
              </a:pP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choose codes with r boxes and n elements in each box, if </a:t>
              </a:r>
              <a:r xmlns:a="http://schemas.openxmlformats.org/drawingml/2006/main">
                <a:rPr lang="en" b="true" sz="746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we cannot repeat elements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?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5208387" y="1388999"/>
            <a:ext cx="1308816" cy="597541"/>
            <a:chOff x="0" y="0"/>
            <a:chExt cx="5072791" cy="231598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072791" cy="2315987"/>
            </a:xfrm>
            <a:custGeom>
              <a:avLst/>
              <a:gdLst/>
              <a:ahLst/>
              <a:cxnLst/>
              <a:rect r="r" b="b" t="t" l="l"/>
              <a:pathLst>
                <a:path h="2315987" w="5072791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733EF6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5208387" y="2749171"/>
            <a:ext cx="1308816" cy="597541"/>
            <a:chOff x="0" y="0"/>
            <a:chExt cx="5072791" cy="2315987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072791" cy="2315987"/>
            </a:xfrm>
            <a:custGeom>
              <a:avLst/>
              <a:gdLst/>
              <a:ahLst/>
              <a:cxnLst/>
              <a:rect r="r" b="b" t="t" l="l"/>
              <a:pathLst>
                <a:path h="2315987" w="5072791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00BF63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5208387" y="5469516"/>
            <a:ext cx="1308816" cy="597541"/>
            <a:chOff x="0" y="0"/>
            <a:chExt cx="5072791" cy="231598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072791" cy="2315987"/>
            </a:xfrm>
            <a:custGeom>
              <a:avLst/>
              <a:gdLst/>
              <a:ahLst/>
              <a:cxnLst/>
              <a:rect r="r" b="b" t="t" l="l"/>
              <a:pathLst>
                <a:path h="2315987" w="5072791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FF66C4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5208387" y="4109344"/>
            <a:ext cx="1308816" cy="597541"/>
            <a:chOff x="0" y="0"/>
            <a:chExt cx="5072791" cy="2315987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072791" cy="2315987"/>
            </a:xfrm>
            <a:custGeom>
              <a:avLst/>
              <a:gdLst/>
              <a:ahLst/>
              <a:cxnLst/>
              <a:rect r="r" b="b" t="t" l="l"/>
              <a:pathLst>
                <a:path h="2315987" w="5072791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00BF63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3759982" y="5469516"/>
            <a:ext cx="1308816" cy="591444"/>
            <a:chOff x="0" y="0"/>
            <a:chExt cx="1745088" cy="788592"/>
          </a:xfrm>
        </p:grpSpPr>
        <p:grpSp>
          <p:nvGrpSpPr>
            <p:cNvPr name="Group 54" id="54"/>
            <p:cNvGrpSpPr/>
            <p:nvPr/>
          </p:nvGrpSpPr>
          <p:grpSpPr>
            <a:xfrm rot="0">
              <a:off x="0" y="0"/>
              <a:ext cx="1745088" cy="788592"/>
              <a:chOff x="0" y="0"/>
              <a:chExt cx="5072791" cy="2292355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5072791" cy="2292355"/>
              </a:xfrm>
              <a:custGeom>
                <a:avLst/>
                <a:gdLst/>
                <a:ahLst/>
                <a:cxnLst/>
                <a:rect r="r" b="b" t="t" l="l"/>
                <a:pathLst>
                  <a:path h="2292355" w="5072791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2292355"/>
                    </a:lnTo>
                    <a:lnTo>
                      <a:pt x="5072791" y="2292355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2213615"/>
                    </a:lnTo>
                    <a:lnTo>
                      <a:pt x="78740" y="2213615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FF66C4"/>
              </a:solidFill>
            </p:spPr>
          </p:sp>
        </p:grpSp>
        <p:sp>
          <p:nvSpPr>
            <p:cNvPr name="TextBox 56" id="56"/>
            <p:cNvSpPr txBox="true"/>
            <p:nvPr/>
          </p:nvSpPr>
          <p:spPr>
            <a:xfrm rot="0">
              <a:off x="183674" y="131819"/>
              <a:ext cx="1406193" cy="5059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</a:pPr>
              <a:r xmlns:a="http://schemas.openxmlformats.org/drawingml/2006/main">
                <a:rPr lang="en" sz="746" b="true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Combination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 considered from</a:t>
              </a:r>
            </a:p>
            <a:p>
              <a:pPr xmlns:a="http://schemas.openxmlformats.org/drawingml/2006/main" algn="ctr">
                <a:lnSpc>
                  <a:spcPts val="1045"/>
                </a:lnSpc>
              </a:pP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r in r.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672778" y="5057434"/>
            <a:ext cx="1308816" cy="1010807"/>
            <a:chOff x="0" y="0"/>
            <a:chExt cx="1745088" cy="1347742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0"/>
              <a:ext cx="1745088" cy="1347742"/>
              <a:chOff x="0" y="0"/>
              <a:chExt cx="5072791" cy="3917748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5072791" cy="3917748"/>
              </a:xfrm>
              <a:custGeom>
                <a:avLst/>
                <a:gdLst/>
                <a:ahLst/>
                <a:cxnLst/>
                <a:rect r="r" b="b" t="t" l="l"/>
                <a:pathLst>
                  <a:path h="3917748" w="5072791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3917748"/>
                    </a:lnTo>
                    <a:lnTo>
                      <a:pt x="5072791" y="3917748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3839008"/>
                    </a:lnTo>
                    <a:lnTo>
                      <a:pt x="78740" y="3839008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FF66C4"/>
              </a:solidFill>
            </p:spPr>
          </p:sp>
        </p:grpSp>
        <p:sp>
          <p:nvSpPr>
            <p:cNvPr name="TextBox 60" id="60"/>
            <p:cNvSpPr txBox="true"/>
            <p:nvPr/>
          </p:nvSpPr>
          <p:spPr>
            <a:xfrm rot="0">
              <a:off x="85576" y="137016"/>
              <a:ext cx="1612873" cy="10585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940"/>
                </a:lnSpc>
                <a:spcBef>
                  <a:spcPct val="0"/>
                </a:spcBef>
              </a:pPr>
              <a:r xmlns:a="http://schemas.openxmlformats.org/drawingml/2006/main">
                <a:rPr lang="en" sz="672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choose </a:t>
              </a:r>
              <a:r xmlns:a="http://schemas.openxmlformats.org/drawingml/2006/main">
                <a:rPr lang="en" b="true" sz="672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combinations </a:t>
              </a:r>
              <a:r xmlns:a="http://schemas.openxmlformats.org/drawingml/2006/main">
                <a:rPr lang="en" sz="672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with r squares and n elements in each square, if the combinations </a:t>
              </a:r>
              <a:r xmlns:a="http://schemas.openxmlformats.org/drawingml/2006/main">
                <a:rPr lang="en" b="true" sz="672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cannot repeat elements and the order of the elements is indifferent </a:t>
              </a:r>
              <a:r xmlns:a="http://schemas.openxmlformats.org/drawingml/2006/main">
                <a:rPr lang="en" sz="672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?</a:t>
              </a:r>
            </a:p>
          </p:txBody>
        </p:sp>
      </p:grpSp>
      <p:sp>
        <p:nvSpPr>
          <p:cNvPr name="AutoShape 61" id="61"/>
          <p:cNvSpPr/>
          <p:nvPr/>
        </p:nvSpPr>
        <p:spPr>
          <a:xfrm>
            <a:off x="1884205" y="5768287"/>
            <a:ext cx="1875777" cy="0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2" id="62"/>
          <p:cNvGrpSpPr/>
          <p:nvPr/>
        </p:nvGrpSpPr>
        <p:grpSpPr>
          <a:xfrm rot="0">
            <a:off x="1474077" y="5644873"/>
            <a:ext cx="545456" cy="246828"/>
            <a:chOff x="0" y="0"/>
            <a:chExt cx="727275" cy="32910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27275" cy="329104"/>
            </a:xfrm>
            <a:custGeom>
              <a:avLst/>
              <a:gdLst/>
              <a:ahLst/>
              <a:cxnLst/>
              <a:rect r="r" b="b" t="t" l="l"/>
              <a:pathLst>
                <a:path h="329104" w="727275">
                  <a:moveTo>
                    <a:pt x="0" y="0"/>
                  </a:moveTo>
                  <a:lnTo>
                    <a:pt x="727275" y="0"/>
                  </a:lnTo>
                  <a:lnTo>
                    <a:pt x="727275" y="329104"/>
                  </a:lnTo>
                  <a:lnTo>
                    <a:pt x="0" y="329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-60493" r="0" b="-6049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 rot="0">
              <a:off x="231469" y="48234"/>
              <a:ext cx="264336" cy="2135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367"/>
                </a:lnSpc>
              </a:pPr>
              <a:r xmlns:a="http://schemas.openxmlformats.org/drawingml/2006/main">
                <a:rPr lang="en" sz="976" b="true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No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6672778" y="3944399"/>
            <a:ext cx="1292558" cy="717508"/>
            <a:chOff x="0" y="0"/>
            <a:chExt cx="1723410" cy="956677"/>
          </a:xfrm>
        </p:grpSpPr>
        <p:grpSp>
          <p:nvGrpSpPr>
            <p:cNvPr name="Group 66" id="66"/>
            <p:cNvGrpSpPr/>
            <p:nvPr/>
          </p:nvGrpSpPr>
          <p:grpSpPr>
            <a:xfrm rot="0">
              <a:off x="0" y="0"/>
              <a:ext cx="1723410" cy="956677"/>
              <a:chOff x="0" y="0"/>
              <a:chExt cx="5009775" cy="2780961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5009775" cy="2780961"/>
              </a:xfrm>
              <a:custGeom>
                <a:avLst/>
                <a:gdLst/>
                <a:ahLst/>
                <a:cxnLst/>
                <a:rect r="r" b="b" t="t" l="l"/>
                <a:pathLst>
                  <a:path h="2780961" w="5009775">
                    <a:moveTo>
                      <a:pt x="5009775" y="279400"/>
                    </a:moveTo>
                    <a:lnTo>
                      <a:pt x="5009775" y="0"/>
                    </a:lnTo>
                    <a:lnTo>
                      <a:pt x="0" y="0"/>
                    </a:lnTo>
                    <a:lnTo>
                      <a:pt x="0" y="2780961"/>
                    </a:lnTo>
                    <a:lnTo>
                      <a:pt x="5009775" y="2780961"/>
                    </a:lnTo>
                    <a:lnTo>
                      <a:pt x="5009775" y="279400"/>
                    </a:lnTo>
                    <a:close/>
                    <a:moveTo>
                      <a:pt x="4931035" y="279400"/>
                    </a:moveTo>
                    <a:lnTo>
                      <a:pt x="4931035" y="2702221"/>
                    </a:lnTo>
                    <a:lnTo>
                      <a:pt x="78740" y="2702221"/>
                    </a:lnTo>
                    <a:lnTo>
                      <a:pt x="78740" y="78740"/>
                    </a:lnTo>
                    <a:lnTo>
                      <a:pt x="4931035" y="78740"/>
                    </a:lnTo>
                    <a:lnTo>
                      <a:pt x="4931035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</p:sp>
        </p:grpSp>
        <p:sp>
          <p:nvSpPr>
            <p:cNvPr name="TextBox 68" id="68"/>
            <p:cNvSpPr txBox="true"/>
            <p:nvPr/>
          </p:nvSpPr>
          <p:spPr>
            <a:xfrm rot="0">
              <a:off x="143740" y="109751"/>
              <a:ext cx="1482805" cy="6766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  <a:spcBef>
                  <a:spcPct val="0"/>
                </a:spcBef>
              </a:pP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</a:t>
              </a:r>
              <a:r xmlns:a="http://schemas.openxmlformats.org/drawingml/2006/main">
                <a:rPr lang="en" b="true" sz="746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sort a given code </a:t>
              </a: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elements?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3755918" y="4109344"/>
            <a:ext cx="1316945" cy="599573"/>
            <a:chOff x="0" y="0"/>
            <a:chExt cx="1755927" cy="799431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0"/>
              <a:ext cx="1755927" cy="799431"/>
              <a:chOff x="0" y="0"/>
              <a:chExt cx="5104299" cy="2323864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5104299" cy="2323864"/>
              </a:xfrm>
              <a:custGeom>
                <a:avLst/>
                <a:gdLst/>
                <a:ahLst/>
                <a:cxnLst/>
                <a:rect r="r" b="b" t="t" l="l"/>
                <a:pathLst>
                  <a:path h="2323864" w="5104299">
                    <a:moveTo>
                      <a:pt x="5104299" y="279400"/>
                    </a:moveTo>
                    <a:lnTo>
                      <a:pt x="5104299" y="0"/>
                    </a:lnTo>
                    <a:lnTo>
                      <a:pt x="0" y="0"/>
                    </a:lnTo>
                    <a:lnTo>
                      <a:pt x="0" y="2323864"/>
                    </a:lnTo>
                    <a:lnTo>
                      <a:pt x="5104299" y="2323864"/>
                    </a:lnTo>
                    <a:lnTo>
                      <a:pt x="5104299" y="279400"/>
                    </a:lnTo>
                    <a:close/>
                    <a:moveTo>
                      <a:pt x="5025559" y="279400"/>
                    </a:moveTo>
                    <a:lnTo>
                      <a:pt x="5025559" y="2245123"/>
                    </a:lnTo>
                    <a:lnTo>
                      <a:pt x="78740" y="2245123"/>
                    </a:lnTo>
                    <a:lnTo>
                      <a:pt x="78740" y="78740"/>
                    </a:lnTo>
                    <a:lnTo>
                      <a:pt x="5025559" y="78740"/>
                    </a:lnTo>
                    <a:lnTo>
                      <a:pt x="5025559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</p:sp>
        </p:grpSp>
        <p:sp>
          <p:nvSpPr>
            <p:cNvPr name="TextBox 72" id="72"/>
            <p:cNvSpPr txBox="true"/>
            <p:nvPr/>
          </p:nvSpPr>
          <p:spPr>
            <a:xfrm rot="0">
              <a:off x="104787" y="563575"/>
              <a:ext cx="1557940" cy="1671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</a:pPr>
              <a:r xmlns:a="http://schemas.openxmlformats.org/drawingml/2006/main">
                <a:rPr lang="en" sz="746" b="true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Permutation of n elements</a:t>
              </a:r>
            </a:p>
          </p:txBody>
        </p:sp>
        <p:sp>
          <p:nvSpPr>
            <p:cNvPr name="TextBox 73" id="73"/>
            <p:cNvSpPr txBox="true"/>
            <p:nvPr/>
          </p:nvSpPr>
          <p:spPr>
            <a:xfrm rot="0">
              <a:off x="88558" y="85347"/>
              <a:ext cx="1557940" cy="1671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ctr">
                <a:lnSpc>
                  <a:spcPts val="1045"/>
                </a:lnSpc>
              </a:pPr>
              <a:r xmlns:a="http://schemas.openxmlformats.org/drawingml/2006/main">
                <a:rPr lang="en" sz="746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(Particular case)</a:t>
              </a:r>
            </a:p>
          </p:txBody>
        </p:sp>
      </p:grpSp>
      <p:sp>
        <p:nvSpPr>
          <p:cNvPr name="AutoShape 74" id="74"/>
          <p:cNvSpPr/>
          <p:nvPr/>
        </p:nvSpPr>
        <p:spPr>
          <a:xfrm>
            <a:off x="2750734" y="1687769"/>
            <a:ext cx="0" cy="1420982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>
            <a:off x="4401745" y="3346712"/>
            <a:ext cx="0" cy="762632"/>
          </a:xfrm>
          <a:prstGeom prst="line">
            <a:avLst/>
          </a:prstGeom>
          <a:ln cap="rnd" w="28575">
            <a:solidFill>
              <a:srgbClr val="70797E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76" id="76"/>
          <p:cNvSpPr/>
          <p:nvPr/>
        </p:nvSpPr>
        <p:spPr>
          <a:xfrm flipH="false" flipV="false" rot="0">
            <a:off x="1389795" y="1932688"/>
            <a:ext cx="221782" cy="243005"/>
          </a:xfrm>
          <a:custGeom>
            <a:avLst/>
            <a:gdLst/>
            <a:ahLst/>
            <a:cxnLst/>
            <a:rect r="r" b="b" t="t" l="l"/>
            <a:pathLst>
              <a:path h="243005" w="221782">
                <a:moveTo>
                  <a:pt x="0" y="0"/>
                </a:moveTo>
                <a:lnTo>
                  <a:pt x="221782" y="0"/>
                </a:lnTo>
                <a:lnTo>
                  <a:pt x="221782" y="243005"/>
                </a:lnTo>
                <a:lnTo>
                  <a:pt x="0" y="2430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3619" t="-15239" r="-78252" b="-3442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1598941" y="2057641"/>
            <a:ext cx="215642" cy="236104"/>
          </a:xfrm>
          <a:custGeom>
            <a:avLst/>
            <a:gdLst/>
            <a:ahLst/>
            <a:cxnLst/>
            <a:rect r="r" b="b" t="t" l="l"/>
            <a:pathLst>
              <a:path h="236104" w="215642">
                <a:moveTo>
                  <a:pt x="0" y="0"/>
                </a:moveTo>
                <a:lnTo>
                  <a:pt x="215642" y="0"/>
                </a:lnTo>
                <a:lnTo>
                  <a:pt x="215642" y="236104"/>
                </a:lnTo>
                <a:lnTo>
                  <a:pt x="0" y="236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1791579" y="1932688"/>
            <a:ext cx="256382" cy="256382"/>
          </a:xfrm>
          <a:custGeom>
            <a:avLst/>
            <a:gdLst/>
            <a:ahLst/>
            <a:cxnLst/>
            <a:rect r="r" b="b" t="t" l="l"/>
            <a:pathLst>
              <a:path h="256382" w="256382">
                <a:moveTo>
                  <a:pt x="0" y="0"/>
                </a:moveTo>
                <a:lnTo>
                  <a:pt x="256382" y="0"/>
                </a:lnTo>
                <a:lnTo>
                  <a:pt x="256382" y="256382"/>
                </a:lnTo>
                <a:lnTo>
                  <a:pt x="0" y="25638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79" id="79"/>
          <p:cNvSpPr/>
          <p:nvPr/>
        </p:nvSpPr>
        <p:spPr>
          <a:xfrm flipH="false" flipV="false" rot="5400000">
            <a:off x="1849240" y="2143685"/>
            <a:ext cx="188416" cy="320734"/>
          </a:xfrm>
          <a:custGeom>
            <a:avLst/>
            <a:gdLst/>
            <a:ahLst/>
            <a:cxnLst/>
            <a:rect r="r" b="b" t="t" l="l"/>
            <a:pathLst>
              <a:path h="320734" w="188416">
                <a:moveTo>
                  <a:pt x="0" y="0"/>
                </a:moveTo>
                <a:lnTo>
                  <a:pt x="188416" y="0"/>
                </a:lnTo>
                <a:lnTo>
                  <a:pt x="188416" y="320734"/>
                </a:lnTo>
                <a:lnTo>
                  <a:pt x="0" y="32073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8770" r="-99966" b="-8699"/>
            </a:stretch>
          </a:blipFill>
        </p:spPr>
      </p:sp>
      <p:sp>
        <p:nvSpPr>
          <p:cNvPr name="Freeform 80" id="80"/>
          <p:cNvSpPr/>
          <p:nvPr/>
        </p:nvSpPr>
        <p:spPr>
          <a:xfrm flipH="false" flipV="false" rot="0">
            <a:off x="1525898" y="5859214"/>
            <a:ext cx="430912" cy="430912"/>
          </a:xfrm>
          <a:custGeom>
            <a:avLst/>
            <a:gdLst/>
            <a:ahLst/>
            <a:cxnLst/>
            <a:rect r="r" b="b" t="t" l="l"/>
            <a:pathLst>
              <a:path h="430912" w="430912">
                <a:moveTo>
                  <a:pt x="0" y="0"/>
                </a:moveTo>
                <a:lnTo>
                  <a:pt x="430912" y="0"/>
                </a:lnTo>
                <a:lnTo>
                  <a:pt x="430912" y="430912"/>
                </a:lnTo>
                <a:lnTo>
                  <a:pt x="0" y="4309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81" id="81"/>
          <p:cNvSpPr/>
          <p:nvPr/>
        </p:nvSpPr>
        <p:spPr>
          <a:xfrm flipH="false" flipV="false" rot="-82866">
            <a:off x="1575609" y="1732920"/>
            <a:ext cx="262306" cy="258391"/>
          </a:xfrm>
          <a:custGeom>
            <a:avLst/>
            <a:gdLst/>
            <a:ahLst/>
            <a:cxnLst/>
            <a:rect r="r" b="b" t="t" l="l"/>
            <a:pathLst>
              <a:path h="258391" w="262306">
                <a:moveTo>
                  <a:pt x="0" y="0"/>
                </a:moveTo>
                <a:lnTo>
                  <a:pt x="262306" y="0"/>
                </a:lnTo>
                <a:lnTo>
                  <a:pt x="262306" y="258391"/>
                </a:lnTo>
                <a:lnTo>
                  <a:pt x="0" y="25839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82" id="82"/>
          <p:cNvSpPr/>
          <p:nvPr/>
        </p:nvSpPr>
        <p:spPr>
          <a:xfrm flipH="false" flipV="false" rot="-82866">
            <a:off x="2959296" y="3250437"/>
            <a:ext cx="262306" cy="258391"/>
          </a:xfrm>
          <a:custGeom>
            <a:avLst/>
            <a:gdLst/>
            <a:ahLst/>
            <a:cxnLst/>
            <a:rect r="r" b="b" t="t" l="l"/>
            <a:pathLst>
              <a:path h="258391" w="262306">
                <a:moveTo>
                  <a:pt x="0" y="0"/>
                </a:moveTo>
                <a:lnTo>
                  <a:pt x="262306" y="0"/>
                </a:lnTo>
                <a:lnTo>
                  <a:pt x="262306" y="258392"/>
                </a:lnTo>
                <a:lnTo>
                  <a:pt x="0" y="258392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83" id="83"/>
          <p:cNvSpPr/>
          <p:nvPr/>
        </p:nvSpPr>
        <p:spPr>
          <a:xfrm flipH="false" flipV="false" rot="0">
            <a:off x="2696541" y="1084341"/>
            <a:ext cx="221782" cy="243005"/>
          </a:xfrm>
          <a:custGeom>
            <a:avLst/>
            <a:gdLst/>
            <a:ahLst/>
            <a:cxnLst/>
            <a:rect r="r" b="b" t="t" l="l"/>
            <a:pathLst>
              <a:path h="243005" w="221782">
                <a:moveTo>
                  <a:pt x="0" y="0"/>
                </a:moveTo>
                <a:lnTo>
                  <a:pt x="221781" y="0"/>
                </a:lnTo>
                <a:lnTo>
                  <a:pt x="221781" y="243004"/>
                </a:lnTo>
                <a:lnTo>
                  <a:pt x="0" y="24300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3619" t="-15239" r="-78252" b="-3442"/>
            </a:stretch>
          </a:blipFill>
        </p:spPr>
      </p:sp>
      <p:sp>
        <p:nvSpPr>
          <p:cNvPr name="Freeform 84" id="84"/>
          <p:cNvSpPr/>
          <p:nvPr/>
        </p:nvSpPr>
        <p:spPr>
          <a:xfrm flipH="false" flipV="false" rot="0">
            <a:off x="2905686" y="1209293"/>
            <a:ext cx="215642" cy="236104"/>
          </a:xfrm>
          <a:custGeom>
            <a:avLst/>
            <a:gdLst/>
            <a:ahLst/>
            <a:cxnLst/>
            <a:rect r="r" b="b" t="t" l="l"/>
            <a:pathLst>
              <a:path h="236104" w="215642">
                <a:moveTo>
                  <a:pt x="0" y="0"/>
                </a:moveTo>
                <a:lnTo>
                  <a:pt x="215642" y="0"/>
                </a:lnTo>
                <a:lnTo>
                  <a:pt x="215642" y="236104"/>
                </a:lnTo>
                <a:lnTo>
                  <a:pt x="0" y="236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85" id="85"/>
          <p:cNvSpPr/>
          <p:nvPr/>
        </p:nvSpPr>
        <p:spPr>
          <a:xfrm flipH="false" flipV="false" rot="0">
            <a:off x="3098324" y="1084341"/>
            <a:ext cx="256382" cy="256382"/>
          </a:xfrm>
          <a:custGeom>
            <a:avLst/>
            <a:gdLst/>
            <a:ahLst/>
            <a:cxnLst/>
            <a:rect r="r" b="b" t="t" l="l"/>
            <a:pathLst>
              <a:path h="256382" w="256382">
                <a:moveTo>
                  <a:pt x="0" y="0"/>
                </a:moveTo>
                <a:lnTo>
                  <a:pt x="256382" y="0"/>
                </a:lnTo>
                <a:lnTo>
                  <a:pt x="256382" y="256382"/>
                </a:lnTo>
                <a:lnTo>
                  <a:pt x="0" y="25638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86" id="86"/>
          <p:cNvSpPr/>
          <p:nvPr/>
        </p:nvSpPr>
        <p:spPr>
          <a:xfrm flipH="false" flipV="false" rot="5400000">
            <a:off x="3155985" y="1295337"/>
            <a:ext cx="188416" cy="320734"/>
          </a:xfrm>
          <a:custGeom>
            <a:avLst/>
            <a:gdLst/>
            <a:ahLst/>
            <a:cxnLst/>
            <a:rect r="r" b="b" t="t" l="l"/>
            <a:pathLst>
              <a:path h="320734" w="188416">
                <a:moveTo>
                  <a:pt x="0" y="0"/>
                </a:moveTo>
                <a:lnTo>
                  <a:pt x="188416" y="0"/>
                </a:lnTo>
                <a:lnTo>
                  <a:pt x="188416" y="320734"/>
                </a:lnTo>
                <a:lnTo>
                  <a:pt x="0" y="32073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8770" r="-99966" b="-8699"/>
            </a:stretch>
          </a:blipFill>
        </p:spPr>
      </p:sp>
      <p:grpSp>
        <p:nvGrpSpPr>
          <p:cNvPr name="Group 87" id="87"/>
          <p:cNvGrpSpPr/>
          <p:nvPr/>
        </p:nvGrpSpPr>
        <p:grpSpPr>
          <a:xfrm rot="0">
            <a:off x="8170575" y="4982291"/>
            <a:ext cx="3373325" cy="1565896"/>
            <a:chOff x="0" y="0"/>
            <a:chExt cx="4497766" cy="2087861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2506" cy="702506"/>
            </a:xfrm>
            <a:custGeom>
              <a:avLst/>
              <a:gdLst/>
              <a:ahLst/>
              <a:cxnLst/>
              <a:rect r="r" b="b" t="t" l="l"/>
              <a:pathLst>
                <a:path h="702506" w="702506">
                  <a:moveTo>
                    <a:pt x="0" y="0"/>
                  </a:moveTo>
                  <a:lnTo>
                    <a:pt x="702506" y="0"/>
                  </a:lnTo>
                  <a:lnTo>
                    <a:pt x="702506" y="702506"/>
                  </a:lnTo>
                  <a:lnTo>
                    <a:pt x="0" y="702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3644924" y="944160"/>
              <a:ext cx="741948" cy="586106"/>
            </a:xfrm>
            <a:custGeom>
              <a:avLst/>
              <a:gdLst/>
              <a:ahLst/>
              <a:cxnLst/>
              <a:rect r="r" b="b" t="t" l="l"/>
              <a:pathLst>
                <a:path h="586106" w="741948">
                  <a:moveTo>
                    <a:pt x="0" y="0"/>
                  </a:moveTo>
                  <a:lnTo>
                    <a:pt x="741947" y="0"/>
                  </a:lnTo>
                  <a:lnTo>
                    <a:pt x="741947" y="586105"/>
                  </a:lnTo>
                  <a:lnTo>
                    <a:pt x="0" y="586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-11519"/>
              </a:stretch>
            </a:blipFill>
          </p:spPr>
        </p:sp>
        <p:sp>
          <p:nvSpPr>
            <p:cNvPr name="Freeform 90" id="90"/>
            <p:cNvSpPr/>
            <p:nvPr/>
          </p:nvSpPr>
          <p:spPr>
            <a:xfrm flipH="false" flipV="false" rot="0">
              <a:off x="3442172" y="251874"/>
              <a:ext cx="1055595" cy="510427"/>
            </a:xfrm>
            <a:custGeom>
              <a:avLst/>
              <a:gdLst/>
              <a:ahLst/>
              <a:cxnLst/>
              <a:rect r="r" b="b" t="t" l="l"/>
              <a:pathLst>
                <a:path h="510427" w="1055595">
                  <a:moveTo>
                    <a:pt x="0" y="0"/>
                  </a:moveTo>
                  <a:lnTo>
                    <a:pt x="1055594" y="0"/>
                  </a:lnTo>
                  <a:lnTo>
                    <a:pt x="1055594" y="510426"/>
                  </a:lnTo>
                  <a:lnTo>
                    <a:pt x="0" y="510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</p:sp>
        <p:sp>
          <p:nvSpPr>
            <p:cNvPr name="Freeform 91" id="91"/>
            <p:cNvSpPr/>
            <p:nvPr/>
          </p:nvSpPr>
          <p:spPr>
            <a:xfrm flipH="false" flipV="false" rot="0">
              <a:off x="757070" y="831805"/>
              <a:ext cx="1787774" cy="1256056"/>
            </a:xfrm>
            <a:custGeom>
              <a:avLst/>
              <a:gdLst/>
              <a:ahLst/>
              <a:cxnLst/>
              <a:rect r="r" b="b" t="t" l="l"/>
              <a:pathLst>
                <a:path h="1256056" w="1787774">
                  <a:moveTo>
                    <a:pt x="0" y="0"/>
                  </a:moveTo>
                  <a:lnTo>
                    <a:pt x="1787774" y="0"/>
                  </a:lnTo>
                  <a:lnTo>
                    <a:pt x="1787774" y="1256056"/>
                  </a:lnTo>
                  <a:lnTo>
                    <a:pt x="0" y="1256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-29507" t="0" r="0" b="-456"/>
              </a:stretch>
            </a:blipFill>
          </p:spPr>
        </p:sp>
        <p:sp>
          <p:nvSpPr>
            <p:cNvPr name="AutoShape 92" id="92"/>
            <p:cNvSpPr/>
            <p:nvPr/>
          </p:nvSpPr>
          <p:spPr>
            <a:xfrm flipV="true">
              <a:off x="2245212" y="1351881"/>
              <a:ext cx="84058" cy="126609"/>
            </a:xfrm>
            <a:prstGeom prst="line">
              <a:avLst/>
            </a:prstGeom>
            <a:ln cap="rnd" w="15155">
              <a:solidFill>
                <a:srgbClr val="FF3131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3" id="93"/>
            <p:cNvSpPr/>
            <p:nvPr/>
          </p:nvSpPr>
          <p:spPr>
            <a:xfrm flipV="true">
              <a:off x="2081583" y="1548103"/>
              <a:ext cx="84058" cy="126609"/>
            </a:xfrm>
            <a:prstGeom prst="line">
              <a:avLst/>
            </a:prstGeom>
            <a:ln cap="rnd" w="15155">
              <a:solidFill>
                <a:srgbClr val="FF3131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94" id="94"/>
            <p:cNvSpPr txBox="true"/>
            <p:nvPr/>
          </p:nvSpPr>
          <p:spPr>
            <a:xfrm rot="0">
              <a:off x="757070" y="-28575"/>
              <a:ext cx="2659165" cy="2765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1656"/>
                </a:lnSpc>
              </a:pPr>
              <a:r xmlns:a="http://schemas.openxmlformats.org/drawingml/2006/main">
                <a:rPr lang="en" sz="1226" b="true">
                  <a:solidFill>
                    <a:srgbClr val="FF66C4"/>
                  </a:solidFill>
                  <a:latin typeface="Economica Bold"/>
                  <a:ea typeface="Economica Bold"/>
                  <a:cs typeface="Economica Bold"/>
                  <a:sym typeface="Economica Bold"/>
                </a:rPr>
                <a:t>Push-button padlock</a:t>
              </a:r>
            </a:p>
          </p:txBody>
        </p:sp>
        <p:sp>
          <p:nvSpPr>
            <p:cNvPr name="TextBox 95" id="95"/>
            <p:cNvSpPr txBox="true"/>
            <p:nvPr/>
          </p:nvSpPr>
          <p:spPr>
            <a:xfrm rot="0">
              <a:off x="754489" y="292618"/>
              <a:ext cx="2642218" cy="4098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829"/>
                </a:lnSpc>
              </a:pPr>
              <a:r xmlns:a="http://schemas.openxmlformats.org/drawingml/2006/main">
                <a:rPr lang="en" sz="571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There are 10 keys to choose from, of which only 3 must be chosen.</a:t>
              </a:r>
            </a:p>
            <a:p>
              <a:pPr xmlns:a="http://schemas.openxmlformats.org/drawingml/2006/main" algn="l">
                <a:lnSpc>
                  <a:spcPts val="829"/>
                </a:lnSpc>
              </a:pPr>
              <a:r xmlns:a="http://schemas.openxmlformats.org/drawingml/2006/main">
                <a:rPr lang="en" sz="571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Combinations with the same numbers, but out of order, count as the same combination.</a:t>
              </a:r>
            </a:p>
          </p:txBody>
        </p:sp>
      </p:grpSp>
      <p:sp>
        <p:nvSpPr>
          <p:cNvPr name="Freeform 96" id="96"/>
          <p:cNvSpPr/>
          <p:nvPr/>
        </p:nvSpPr>
        <p:spPr>
          <a:xfrm flipH="false" flipV="false" rot="0">
            <a:off x="5211467" y="5603303"/>
            <a:ext cx="1267909" cy="329969"/>
          </a:xfrm>
          <a:custGeom>
            <a:avLst/>
            <a:gdLst/>
            <a:ahLst/>
            <a:cxnLst/>
            <a:rect r="r" b="b" t="t" l="l"/>
            <a:pathLst>
              <a:path h="329969" w="1267909">
                <a:moveTo>
                  <a:pt x="0" y="0"/>
                </a:moveTo>
                <a:lnTo>
                  <a:pt x="1267909" y="0"/>
                </a:lnTo>
                <a:lnTo>
                  <a:pt x="1267909" y="329968"/>
                </a:lnTo>
                <a:lnTo>
                  <a:pt x="0" y="329968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-257825" r="0" b="0"/>
            </a:stretch>
          </a:blipFill>
        </p:spPr>
      </p:sp>
      <p:sp>
        <p:nvSpPr>
          <p:cNvPr name="Freeform 97" id="97"/>
          <p:cNvSpPr/>
          <p:nvPr/>
        </p:nvSpPr>
        <p:spPr>
          <a:xfrm flipH="false" flipV="false" rot="0">
            <a:off x="5228840" y="4240938"/>
            <a:ext cx="1267909" cy="329969"/>
          </a:xfrm>
          <a:custGeom>
            <a:avLst/>
            <a:gdLst/>
            <a:ahLst/>
            <a:cxnLst/>
            <a:rect r="r" b="b" t="t" l="l"/>
            <a:pathLst>
              <a:path h="329969" w="1267909">
                <a:moveTo>
                  <a:pt x="0" y="0"/>
                </a:moveTo>
                <a:lnTo>
                  <a:pt x="1267910" y="0"/>
                </a:lnTo>
                <a:lnTo>
                  <a:pt x="1267910" y="329969"/>
                </a:lnTo>
                <a:lnTo>
                  <a:pt x="0" y="32996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27816" t="-265284" r="-22557" b="-172791"/>
            </a:stretch>
          </a:blipFill>
        </p:spPr>
      </p:sp>
      <p:sp>
        <p:nvSpPr>
          <p:cNvPr name="Freeform 98" id="98"/>
          <p:cNvSpPr/>
          <p:nvPr/>
        </p:nvSpPr>
        <p:spPr>
          <a:xfrm flipH="false" flipV="false" rot="0">
            <a:off x="5229526" y="2868935"/>
            <a:ext cx="1238896" cy="418041"/>
          </a:xfrm>
          <a:custGeom>
            <a:avLst/>
            <a:gdLst/>
            <a:ahLst/>
            <a:cxnLst/>
            <a:rect r="r" b="b" t="t" l="l"/>
            <a:pathLst>
              <a:path h="418041" w="1238896">
                <a:moveTo>
                  <a:pt x="0" y="0"/>
                </a:moveTo>
                <a:lnTo>
                  <a:pt x="1238896" y="0"/>
                </a:lnTo>
                <a:lnTo>
                  <a:pt x="1238896" y="418041"/>
                </a:lnTo>
                <a:lnTo>
                  <a:pt x="0" y="41804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23762" t="-85301" r="-22231" b="-217608"/>
            </a:stretch>
          </a:blipFill>
        </p:spPr>
      </p:sp>
      <p:sp>
        <p:nvSpPr>
          <p:cNvPr name="Freeform 99" id="99"/>
          <p:cNvSpPr/>
          <p:nvPr/>
        </p:nvSpPr>
        <p:spPr>
          <a:xfrm flipH="false" flipV="false" rot="0">
            <a:off x="5220496" y="1519736"/>
            <a:ext cx="1267909" cy="329969"/>
          </a:xfrm>
          <a:custGeom>
            <a:avLst/>
            <a:gdLst/>
            <a:ahLst/>
            <a:cxnLst/>
            <a:rect r="r" b="b" t="t" l="l"/>
            <a:pathLst>
              <a:path h="329969" w="1267909">
                <a:moveTo>
                  <a:pt x="0" y="0"/>
                </a:moveTo>
                <a:lnTo>
                  <a:pt x="1267909" y="0"/>
                </a:lnTo>
                <a:lnTo>
                  <a:pt x="1267909" y="329969"/>
                </a:lnTo>
                <a:lnTo>
                  <a:pt x="0" y="32996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39458" t="0" r="-35574" b="-526311"/>
            </a:stretch>
          </a:blipFill>
        </p:spPr>
      </p:sp>
      <p:sp>
        <p:nvSpPr>
          <p:cNvPr name="Freeform 100" id="100"/>
          <p:cNvSpPr/>
          <p:nvPr/>
        </p:nvSpPr>
        <p:spPr>
          <a:xfrm flipH="false" flipV="false" rot="0">
            <a:off x="4072034" y="4352400"/>
            <a:ext cx="659421" cy="203102"/>
          </a:xfrm>
          <a:custGeom>
            <a:avLst/>
            <a:gdLst/>
            <a:ahLst/>
            <a:cxnLst/>
            <a:rect r="r" b="b" t="t" l="l"/>
            <a:pathLst>
              <a:path h="203102" w="659421">
                <a:moveTo>
                  <a:pt x="0" y="0"/>
                </a:moveTo>
                <a:lnTo>
                  <a:pt x="659422" y="0"/>
                </a:lnTo>
                <a:lnTo>
                  <a:pt x="659422" y="203101"/>
                </a:lnTo>
                <a:lnTo>
                  <a:pt x="0" y="20310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TextBox 101" id="101"/>
          <p:cNvSpPr txBox="true"/>
          <p:nvPr/>
        </p:nvSpPr>
        <p:spPr>
          <a:xfrm rot="0">
            <a:off x="5473319" y="1055766"/>
            <a:ext cx="778951" cy="19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1592"/>
              </a:lnSpc>
              <a:spcBef>
                <a:spcPct val="0"/>
              </a:spcBef>
            </a:pPr>
            <a:r xmlns:a="http://schemas.openxmlformats.org/drawingml/2006/main">
              <a:rPr lang="en" sz="1137">
                <a:solidFill>
                  <a:srgbClr val="70797E"/>
                </a:solidFill>
                <a:latin typeface="Economica"/>
                <a:ea typeface="Economica"/>
                <a:cs typeface="Economica"/>
                <a:sym typeface="Economica"/>
              </a:rPr>
              <a:t>Formula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6656519" y="1050661"/>
            <a:ext cx="1308816" cy="19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1592"/>
              </a:lnSpc>
              <a:spcBef>
                <a:spcPct val="0"/>
              </a:spcBef>
            </a:pPr>
            <a:r xmlns:a="http://schemas.openxmlformats.org/drawingml/2006/main">
              <a:rPr lang="en" sz="1137">
                <a:solidFill>
                  <a:srgbClr val="70797E"/>
                </a:solidFill>
                <a:latin typeface="Economica"/>
                <a:ea typeface="Economica"/>
                <a:cs typeface="Economica"/>
                <a:sym typeface="Economica"/>
              </a:rPr>
              <a:t>Answer the question...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893903" y="825970"/>
            <a:ext cx="1625718" cy="379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1540"/>
              </a:lnSpc>
              <a:spcBef>
                <a:spcPct val="0"/>
              </a:spcBef>
            </a:pPr>
            <a:r xmlns:a="http://schemas.openxmlformats.org/drawingml/2006/main">
              <a:rPr lang="en" sz="1100" b="true">
                <a:solidFill>
                  <a:srgbClr val="70797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 </a:t>
            </a:r>
            <a:r xmlns:a="http://schemas.openxmlformats.org/drawingml/2006/main">
              <a:rPr lang="en" sz="1100">
                <a:solidFill>
                  <a:srgbClr val="70797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boxes</a:t>
            </a:r>
          </a:p>
          <a:p>
            <a:pPr xmlns:a="http://schemas.openxmlformats.org/drawingml/2006/main" algn="l">
              <a:lnSpc>
                <a:spcPts val="1540"/>
              </a:lnSpc>
              <a:spcBef>
                <a:spcPct val="0"/>
              </a:spcBef>
            </a:pPr>
            <a:r xmlns:a="http://schemas.openxmlformats.org/drawingml/2006/main">
              <a:rPr lang="en" sz="1100" b="true">
                <a:solidFill>
                  <a:srgbClr val="70797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 </a:t>
            </a:r>
            <a:r xmlns:a="http://schemas.openxmlformats.org/drawingml/2006/main">
              <a:rPr lang="en" sz="1100">
                <a:solidFill>
                  <a:srgbClr val="70797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elements in each box</a:t>
            </a:r>
          </a:p>
        </p:txBody>
      </p:sp>
      <p:grpSp>
        <p:nvGrpSpPr>
          <p:cNvPr name="Group 104" id="104"/>
          <p:cNvGrpSpPr/>
          <p:nvPr/>
        </p:nvGrpSpPr>
        <p:grpSpPr>
          <a:xfrm rot="0">
            <a:off x="8189625" y="1452808"/>
            <a:ext cx="2741745" cy="541626"/>
            <a:chOff x="0" y="0"/>
            <a:chExt cx="3655660" cy="722168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94309" cy="651180"/>
            </a:xfrm>
            <a:custGeom>
              <a:avLst/>
              <a:gdLst/>
              <a:ahLst/>
              <a:cxnLst/>
              <a:rect r="r" b="b" t="t" l="l"/>
              <a:pathLst>
                <a:path h="651180" w="594309">
                  <a:moveTo>
                    <a:pt x="0" y="0"/>
                  </a:moveTo>
                  <a:lnTo>
                    <a:pt x="594309" y="0"/>
                  </a:lnTo>
                  <a:lnTo>
                    <a:pt x="594309" y="651180"/>
                  </a:lnTo>
                  <a:lnTo>
                    <a:pt x="0" y="651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-3619" t="-15239" r="-78252" b="-3442"/>
              </a:stretch>
            </a:blipFill>
          </p:spPr>
        </p:sp>
        <p:sp>
          <p:nvSpPr>
            <p:cNvPr name="Freeform 106" id="106"/>
            <p:cNvSpPr/>
            <p:nvPr/>
          </p:nvSpPr>
          <p:spPr>
            <a:xfrm flipH="false" flipV="false" rot="0">
              <a:off x="3171807" y="101322"/>
              <a:ext cx="483853" cy="495856"/>
            </a:xfrm>
            <a:custGeom>
              <a:avLst/>
              <a:gdLst/>
              <a:ahLst/>
              <a:cxnLst/>
              <a:rect r="r" b="b" t="t" l="l"/>
              <a:pathLst>
                <a:path h="495856" w="483853">
                  <a:moveTo>
                    <a:pt x="0" y="0"/>
                  </a:moveTo>
                  <a:lnTo>
                    <a:pt x="483853" y="0"/>
                  </a:lnTo>
                  <a:lnTo>
                    <a:pt x="483853" y="495856"/>
                  </a:lnTo>
                  <a:lnTo>
                    <a:pt x="0" y="495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>
                <a:fillRect l="-319647" t="0" r="0" b="0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 rot="0">
              <a:off x="738050" y="-28575"/>
              <a:ext cx="2698221" cy="2814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1680"/>
                </a:lnSpc>
              </a:pPr>
              <a:r xmlns:a="http://schemas.openxmlformats.org/drawingml/2006/main">
                <a:rPr lang="en" sz="1244" b="true">
                  <a:solidFill>
                    <a:srgbClr val="733EF6"/>
                  </a:solidFill>
                  <a:latin typeface="Economica Bold"/>
                  <a:ea typeface="Economica Bold"/>
                  <a:cs typeface="Economica Bold"/>
                  <a:sym typeface="Economica Bold"/>
                </a:rPr>
                <a:t>Roulette numbering padlock</a:t>
              </a:r>
            </a:p>
          </p:txBody>
        </p:sp>
        <p:sp>
          <p:nvSpPr>
            <p:cNvPr name="TextBox 108" id="108"/>
            <p:cNvSpPr txBox="true"/>
            <p:nvPr/>
          </p:nvSpPr>
          <p:spPr>
            <a:xfrm rot="0">
              <a:off x="738050" y="306540"/>
              <a:ext cx="2219607" cy="415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Combinations of 4 numbers can be chosen.</a:t>
              </a:r>
            </a:p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Each box has 10 elements.</a:t>
              </a:r>
            </a:p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A combination can have repeated elements.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103900" y="2150056"/>
            <a:ext cx="3108897" cy="1496705"/>
            <a:chOff x="0" y="0"/>
            <a:chExt cx="4145197" cy="1995607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835603" y="1676431"/>
              <a:ext cx="2236803" cy="319176"/>
            </a:xfrm>
            <a:custGeom>
              <a:avLst/>
              <a:gdLst/>
              <a:ahLst/>
              <a:cxnLst/>
              <a:rect r="r" b="b" t="t" l="l"/>
              <a:pathLst>
                <a:path h="319176" w="2236803">
                  <a:moveTo>
                    <a:pt x="0" y="0"/>
                  </a:moveTo>
                  <a:lnTo>
                    <a:pt x="2236803" y="0"/>
                  </a:lnTo>
                  <a:lnTo>
                    <a:pt x="2236803" y="319176"/>
                  </a:lnTo>
                  <a:lnTo>
                    <a:pt x="0" y="3191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>
                <a:fillRect l="0" t="0" r="0" b="0"/>
              </a:stretch>
            </a:blipFill>
          </p:spPr>
        </p:sp>
        <p:sp>
          <p:nvSpPr>
            <p:cNvPr name="AutoShape 111" id="111"/>
            <p:cNvSpPr/>
            <p:nvPr/>
          </p:nvSpPr>
          <p:spPr>
            <a:xfrm>
              <a:off x="1489815" y="1771961"/>
              <a:ext cx="875724" cy="7183"/>
            </a:xfrm>
            <a:prstGeom prst="line">
              <a:avLst/>
            </a:prstGeom>
            <a:ln cap="rnd" w="14471">
              <a:solidFill>
                <a:srgbClr val="FF3131">
                  <a:alpha val="49804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12" id="112"/>
            <p:cNvSpPr/>
            <p:nvPr/>
          </p:nvSpPr>
          <p:spPr>
            <a:xfrm>
              <a:off x="1092922" y="1906126"/>
              <a:ext cx="1049690" cy="0"/>
            </a:xfrm>
            <a:prstGeom prst="line">
              <a:avLst/>
            </a:prstGeom>
            <a:ln cap="rnd" w="14471">
              <a:solidFill>
                <a:srgbClr val="FF3131">
                  <a:alpha val="37647"/>
                </a:srgbClr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3" id="113"/>
            <p:cNvGrpSpPr/>
            <p:nvPr/>
          </p:nvGrpSpPr>
          <p:grpSpPr>
            <a:xfrm rot="0">
              <a:off x="1776037" y="1389740"/>
              <a:ext cx="238624" cy="238624"/>
              <a:chOff x="0" y="0"/>
              <a:chExt cx="1913890" cy="1913890"/>
            </a:xfrm>
          </p:grpSpPr>
          <p:sp>
            <p:nvSpPr>
              <p:cNvPr name="Freeform 114" id="114"/>
              <p:cNvSpPr/>
              <p:nvPr/>
            </p:nvSpPr>
            <p:spPr>
              <a:xfrm flipH="false" flipV="false" rot="0">
                <a:off x="0" y="0"/>
                <a:ext cx="1913890" cy="1913890"/>
              </a:xfrm>
              <a:custGeom>
                <a:avLst/>
                <a:gdLst/>
                <a:ahLst/>
                <a:cxnLst/>
                <a:rect r="r" b="b" t="t" l="l"/>
                <a:pathLst>
                  <a:path h="1913890" w="1913890">
                    <a:moveTo>
                      <a:pt x="0" y="0"/>
                    </a:moveTo>
                    <a:lnTo>
                      <a:pt x="1913890" y="0"/>
                    </a:lnTo>
                    <a:lnTo>
                      <a:pt x="1913890" y="1913890"/>
                    </a:lnTo>
                    <a:lnTo>
                      <a:pt x="0" y="191389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Freeform 115" id="115"/>
            <p:cNvSpPr/>
            <p:nvPr/>
          </p:nvSpPr>
          <p:spPr>
            <a:xfrm flipH="false" flipV="false" rot="-82866">
              <a:off x="9439" y="9585"/>
              <a:ext cx="804929" cy="792915"/>
            </a:xfrm>
            <a:custGeom>
              <a:avLst/>
              <a:gdLst/>
              <a:ahLst/>
              <a:cxnLst/>
              <a:rect r="r" b="b" t="t" l="l"/>
              <a:pathLst>
                <a:path h="792915" w="804929">
                  <a:moveTo>
                    <a:pt x="0" y="0"/>
                  </a:moveTo>
                  <a:lnTo>
                    <a:pt x="804929" y="0"/>
                  </a:lnTo>
                  <a:lnTo>
                    <a:pt x="804929" y="792915"/>
                  </a:lnTo>
                  <a:lnTo>
                    <a:pt x="0" y="7929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  <p:sp>
          <p:nvSpPr>
            <p:cNvPr name="Freeform 116" id="116"/>
            <p:cNvSpPr/>
            <p:nvPr/>
          </p:nvSpPr>
          <p:spPr>
            <a:xfrm flipH="false" flipV="false" rot="0">
              <a:off x="852799" y="1187653"/>
              <a:ext cx="1203335" cy="460942"/>
            </a:xfrm>
            <a:custGeom>
              <a:avLst/>
              <a:gdLst/>
              <a:ahLst/>
              <a:cxnLst/>
              <a:rect r="r" b="b" t="t" l="l"/>
              <a:pathLst>
                <a:path h="460942" w="1203335">
                  <a:moveTo>
                    <a:pt x="0" y="0"/>
                  </a:moveTo>
                  <a:lnTo>
                    <a:pt x="1203335" y="0"/>
                  </a:lnTo>
                  <a:lnTo>
                    <a:pt x="1203335" y="460942"/>
                  </a:lnTo>
                  <a:lnTo>
                    <a:pt x="0" y="4609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>
                <a:fillRect l="-44403" t="0" r="0" b="0"/>
              </a:stretch>
            </a:blipFill>
          </p:spPr>
        </p:sp>
        <p:sp>
          <p:nvSpPr>
            <p:cNvPr name="Freeform 117" id="117"/>
            <p:cNvSpPr/>
            <p:nvPr/>
          </p:nvSpPr>
          <p:spPr>
            <a:xfrm flipH="false" flipV="false" rot="0">
              <a:off x="3089602" y="693387"/>
              <a:ext cx="1055595" cy="453807"/>
            </a:xfrm>
            <a:custGeom>
              <a:avLst/>
              <a:gdLst/>
              <a:ahLst/>
              <a:cxnLst/>
              <a:rect r="r" b="b" t="t" l="l"/>
              <a:pathLst>
                <a:path h="453807" w="1055595">
                  <a:moveTo>
                    <a:pt x="0" y="0"/>
                  </a:moveTo>
                  <a:lnTo>
                    <a:pt x="1055595" y="0"/>
                  </a:lnTo>
                  <a:lnTo>
                    <a:pt x="1055595" y="453807"/>
                  </a:lnTo>
                  <a:lnTo>
                    <a:pt x="0" y="4538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>
                <a:fillRect l="0" t="0" r="0" b="0"/>
              </a:stretch>
            </a:blipFill>
          </p:spPr>
        </p:sp>
        <p:sp>
          <p:nvSpPr>
            <p:cNvPr name="Freeform 118" id="118"/>
            <p:cNvSpPr/>
            <p:nvPr/>
          </p:nvSpPr>
          <p:spPr>
            <a:xfrm flipH="false" flipV="false" rot="0">
              <a:off x="3250558" y="1256647"/>
              <a:ext cx="741948" cy="708972"/>
            </a:xfrm>
            <a:custGeom>
              <a:avLst/>
              <a:gdLst/>
              <a:ahLst/>
              <a:cxnLst/>
              <a:rect r="r" b="b" t="t" l="l"/>
              <a:pathLst>
                <a:path h="708972" w="741948">
                  <a:moveTo>
                    <a:pt x="0" y="0"/>
                  </a:moveTo>
                  <a:lnTo>
                    <a:pt x="741948" y="0"/>
                  </a:lnTo>
                  <a:lnTo>
                    <a:pt x="741948" y="708972"/>
                  </a:lnTo>
                  <a:lnTo>
                    <a:pt x="0" y="7089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 l="0" t="0" r="0" b="0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 rot="0">
              <a:off x="869996" y="227520"/>
              <a:ext cx="2101195" cy="2620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1563"/>
                </a:lnSpc>
              </a:pPr>
              <a:r xmlns:a="http://schemas.openxmlformats.org/drawingml/2006/main">
                <a:rPr lang="en" sz="1157" b="true">
                  <a:solidFill>
                    <a:srgbClr val="00BF63"/>
                  </a:solidFill>
                  <a:latin typeface="Economica Bold"/>
                  <a:ea typeface="Economica Bold"/>
                  <a:cs typeface="Economica Bold"/>
                  <a:sym typeface="Economica Bold"/>
                </a:rPr>
                <a:t>Safe padlock</a:t>
              </a:r>
            </a:p>
          </p:txBody>
        </p:sp>
        <p:sp>
          <p:nvSpPr>
            <p:cNvPr name="TextBox 120" id="120"/>
            <p:cNvSpPr txBox="true"/>
            <p:nvPr/>
          </p:nvSpPr>
          <p:spPr>
            <a:xfrm rot="0">
              <a:off x="869996" y="674337"/>
              <a:ext cx="2219607" cy="421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Combinations of 3 numbers can be chosen.</a:t>
              </a:r>
            </a:p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Each box has 40 elements.</a:t>
              </a:r>
            </a:p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 b="true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A combination cannot have repeated elements.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189625" y="3869131"/>
            <a:ext cx="2375380" cy="966537"/>
            <a:chOff x="0" y="0"/>
            <a:chExt cx="3167173" cy="1288717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571184" cy="972306"/>
            </a:xfrm>
            <a:custGeom>
              <a:avLst/>
              <a:gdLst/>
              <a:ahLst/>
              <a:cxnLst/>
              <a:rect r="r" b="b" t="t" l="l"/>
              <a:pathLst>
                <a:path h="972306" w="571184">
                  <a:moveTo>
                    <a:pt x="0" y="0"/>
                  </a:moveTo>
                  <a:lnTo>
                    <a:pt x="571184" y="0"/>
                  </a:lnTo>
                  <a:lnTo>
                    <a:pt x="571184" y="972306"/>
                  </a:lnTo>
                  <a:lnTo>
                    <a:pt x="0" y="9723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>
                <a:fillRect l="0" t="-8770" r="-99966" b="-8699"/>
              </a:stretch>
            </a:blipFill>
          </p:spPr>
        </p:sp>
        <p:sp>
          <p:nvSpPr>
            <p:cNvPr name="Freeform 123" id="123"/>
            <p:cNvSpPr/>
            <p:nvPr/>
          </p:nvSpPr>
          <p:spPr>
            <a:xfrm flipH="false" flipV="false" rot="0">
              <a:off x="778774" y="996817"/>
              <a:ext cx="2097838" cy="291900"/>
            </a:xfrm>
            <a:custGeom>
              <a:avLst/>
              <a:gdLst/>
              <a:ahLst/>
              <a:cxnLst/>
              <a:rect r="r" b="b" t="t" l="l"/>
              <a:pathLst>
                <a:path h="291900" w="2097838">
                  <a:moveTo>
                    <a:pt x="0" y="0"/>
                  </a:moveTo>
                  <a:lnTo>
                    <a:pt x="2097838" y="0"/>
                  </a:lnTo>
                  <a:lnTo>
                    <a:pt x="2097838" y="291900"/>
                  </a:lnTo>
                  <a:lnTo>
                    <a:pt x="0" y="29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>
                <a:fillRect l="-35907" t="0" r="0" b="0"/>
              </a:stretch>
            </a:blipFill>
          </p:spPr>
        </p:sp>
        <p:sp>
          <p:nvSpPr>
            <p:cNvPr name="TextBox 124" id="124"/>
            <p:cNvSpPr txBox="true"/>
            <p:nvPr/>
          </p:nvSpPr>
          <p:spPr>
            <a:xfrm rot="0">
              <a:off x="726488" y="24215"/>
              <a:ext cx="2101195" cy="5283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1563"/>
                </a:lnSpc>
              </a:pPr>
              <a:r xmlns:a="http://schemas.openxmlformats.org/drawingml/2006/main">
                <a:rPr lang="en" sz="1157" b="true">
                  <a:solidFill>
                    <a:srgbClr val="00BF63"/>
                  </a:solidFill>
                  <a:latin typeface="Economica Bold"/>
                  <a:ea typeface="Economica Bold"/>
                  <a:cs typeface="Economica Bold"/>
                  <a:sym typeface="Economica Bold"/>
                </a:rPr>
                <a:t>Directional padlock (restrictions)</a:t>
              </a:r>
            </a:p>
          </p:txBody>
        </p:sp>
        <p:sp>
          <p:nvSpPr>
            <p:cNvPr name="TextBox 125" id="125"/>
            <p:cNvSpPr txBox="true"/>
            <p:nvPr/>
          </p:nvSpPr>
          <p:spPr>
            <a:xfrm rot="0">
              <a:off x="743684" y="592271"/>
              <a:ext cx="2423489" cy="2752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You can choose combinations of 4 elements ⬆️⬇️➡️⬅️</a:t>
              </a:r>
            </a:p>
            <a:p>
              <a:pPr xmlns:a="http://schemas.openxmlformats.org/drawingml/2006/main" algn="l">
                <a:lnSpc>
                  <a:spcPts val="841"/>
                </a:lnSpc>
              </a:pPr>
              <a:r xmlns:a="http://schemas.openxmlformats.org/drawingml/2006/main">
                <a:rPr lang="en" sz="580" b="true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A combination cannot have repeated elements.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3757150" y="1055766"/>
            <a:ext cx="1308816" cy="19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1592"/>
              </a:lnSpc>
              <a:spcBef>
                <a:spcPct val="0"/>
              </a:spcBef>
            </a:pPr>
            <a:r xmlns:a="http://schemas.openxmlformats.org/drawingml/2006/main">
              <a:rPr lang="en" sz="1137">
                <a:solidFill>
                  <a:srgbClr val="70797E"/>
                </a:solidFill>
                <a:latin typeface="Economica"/>
                <a:ea typeface="Economica"/>
                <a:cs typeface="Economica"/>
                <a:sym typeface="Economica"/>
              </a:rPr>
              <a:t>Model name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685800" y="88392"/>
            <a:ext cx="1082040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280"/>
              </a:lnSpc>
            </a:pPr>
            <a:r xmlns:a="http://schemas.openxmlformats.org/drawingml/2006/main">
              <a:rPr lang="en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Q₃: What characterizes a </a:t>
            </a:r>
            <a:r xmlns:a="http://schemas.openxmlformats.org/drawingml/2006/main">
              <a:rPr lang="en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padlock </a:t>
            </a:r>
            <a:r xmlns:a="http://schemas.openxmlformats.org/drawingml/2006/main">
              <a:rPr lang="en" sz="19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model ? </a:t>
            </a:r>
            <a:r xmlns:a="http://schemas.openxmlformats.org/drawingml/2006/main">
              <a:rPr lang="en" sz="19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models </a:t>
            </a:r>
            <a:r xmlns:a="http://schemas.openxmlformats.org/drawingml/2006/main">
              <a:rPr lang="en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are there? What </a:t>
            </a:r>
            <a:r xmlns:a="http://schemas.openxmlformats.org/drawingml/2006/main">
              <a:rPr lang="en" sz="19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do we call them?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3365640">
            <a:off x="193538" y="4137965"/>
            <a:ext cx="2985135" cy="1470612"/>
            <a:chOff x="0" y="0"/>
            <a:chExt cx="3980180" cy="1960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80180" cy="1960753"/>
            </a:xfrm>
            <a:custGeom>
              <a:avLst/>
              <a:gdLst/>
              <a:ahLst/>
              <a:cxnLst/>
              <a:rect r="r" b="b" t="t" l="l"/>
              <a:pathLst>
                <a:path h="1960753" w="3980180">
                  <a:moveTo>
                    <a:pt x="254" y="0"/>
                  </a:moveTo>
                  <a:lnTo>
                    <a:pt x="0" y="1960245"/>
                  </a:lnTo>
                  <a:lnTo>
                    <a:pt x="3979926" y="1960753"/>
                  </a:lnTo>
                  <a:lnTo>
                    <a:pt x="3980180" y="635"/>
                  </a:lnTo>
                  <a:lnTo>
                    <a:pt x="254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66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703064" y="0"/>
            <a:ext cx="4575048" cy="2953512"/>
          </a:xfrm>
          <a:custGeom>
            <a:avLst/>
            <a:gdLst/>
            <a:ahLst/>
            <a:cxnLst/>
            <a:rect r="r" b="b" t="t" l="l"/>
            <a:pathLst>
              <a:path h="2953512" w="4575048">
                <a:moveTo>
                  <a:pt x="0" y="0"/>
                </a:moveTo>
                <a:lnTo>
                  <a:pt x="4575048" y="0"/>
                </a:lnTo>
                <a:lnTo>
                  <a:pt x="4575048" y="2953512"/>
                </a:lnTo>
                <a:lnTo>
                  <a:pt x="0" y="295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8"/>
            </a:stretch>
          </a:blipFill>
        </p:spPr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8718720">
            <a:off x="9046445" y="4184247"/>
            <a:ext cx="3083509" cy="2732208"/>
            <a:chOff x="0" y="0"/>
            <a:chExt cx="4111346" cy="3642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11371" cy="3642995"/>
            </a:xfrm>
            <a:custGeom>
              <a:avLst/>
              <a:gdLst/>
              <a:ahLst/>
              <a:cxnLst/>
              <a:rect r="r" b="b" t="t" l="l"/>
              <a:pathLst>
                <a:path h="3642995" w="4111371">
                  <a:moveTo>
                    <a:pt x="381" y="3642995"/>
                  </a:moveTo>
                  <a:lnTo>
                    <a:pt x="4111371" y="3642360"/>
                  </a:lnTo>
                  <a:lnTo>
                    <a:pt x="4111117" y="1123696"/>
                  </a:lnTo>
                  <a:lnTo>
                    <a:pt x="2487549" y="0"/>
                  </a:lnTo>
                  <a:lnTo>
                    <a:pt x="715518" y="254"/>
                  </a:lnTo>
                  <a:lnTo>
                    <a:pt x="0" y="1034034"/>
                  </a:lnTo>
                  <a:lnTo>
                    <a:pt x="381" y="3642995"/>
                  </a:lnTo>
                  <a:close/>
                </a:path>
              </a:pathLst>
            </a:custGeom>
            <a:blipFill>
              <a:blip r:embed="rId4"/>
              <a:stretch>
                <a:fillRect l="-3" t="-9" r="-1" b="1"/>
              </a:stretch>
            </a:blip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2700000">
            <a:off x="9957787" y="620744"/>
            <a:ext cx="2156517" cy="2156517"/>
            <a:chOff x="0" y="0"/>
            <a:chExt cx="2875356" cy="287535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75407" cy="2875407"/>
            </a:xfrm>
            <a:custGeom>
              <a:avLst/>
              <a:gdLst/>
              <a:ahLst/>
              <a:cxnLst/>
              <a:rect r="r" b="b" t="t" l="l"/>
              <a:pathLst>
                <a:path h="2875407" w="2875407">
                  <a:moveTo>
                    <a:pt x="0" y="0"/>
                  </a:moveTo>
                  <a:lnTo>
                    <a:pt x="0" y="2875407"/>
                  </a:lnTo>
                  <a:lnTo>
                    <a:pt x="2875407" y="2875407"/>
                  </a:lnTo>
                  <a:lnTo>
                    <a:pt x="2875407" y="695706"/>
                  </a:lnTo>
                  <a:lnTo>
                    <a:pt x="2179828" y="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4195572" y="2953512"/>
            <a:ext cx="2685288" cy="2970276"/>
          </a:xfrm>
          <a:custGeom>
            <a:avLst/>
            <a:gdLst/>
            <a:ahLst/>
            <a:cxnLst/>
            <a:rect r="r" b="b" t="t" l="l"/>
            <a:pathLst>
              <a:path h="2970276" w="2685288">
                <a:moveTo>
                  <a:pt x="0" y="0"/>
                </a:moveTo>
                <a:lnTo>
                  <a:pt x="2685288" y="0"/>
                </a:lnTo>
                <a:lnTo>
                  <a:pt x="2685288" y="2970276"/>
                </a:lnTo>
                <a:lnTo>
                  <a:pt x="0" y="297027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8" b="0"/>
            </a:stretch>
          </a:blipFill>
        </p:spPr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-1279320">
            <a:off x="86230" y="192967"/>
            <a:ext cx="3818153" cy="1910458"/>
            <a:chOff x="0" y="0"/>
            <a:chExt cx="5090871" cy="254727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90795" cy="2547239"/>
            </a:xfrm>
            <a:custGeom>
              <a:avLst/>
              <a:gdLst/>
              <a:ahLst/>
              <a:cxnLst/>
              <a:rect r="r" b="b" t="t" l="l"/>
              <a:pathLst>
                <a:path h="2547239" w="5090795">
                  <a:moveTo>
                    <a:pt x="3492754" y="0"/>
                  </a:moveTo>
                  <a:lnTo>
                    <a:pt x="185674" y="2540"/>
                  </a:lnTo>
                  <a:lnTo>
                    <a:pt x="0" y="478282"/>
                  </a:lnTo>
                  <a:lnTo>
                    <a:pt x="1524" y="2547239"/>
                  </a:lnTo>
                  <a:lnTo>
                    <a:pt x="5090795" y="2543429"/>
                  </a:lnTo>
                  <a:lnTo>
                    <a:pt x="5089779" y="1177671"/>
                  </a:lnTo>
                  <a:lnTo>
                    <a:pt x="5089398" y="623189"/>
                  </a:lnTo>
                  <a:close/>
                </a:path>
              </a:pathLst>
            </a:custGeom>
            <a:blipFill>
              <a:blip r:embed="rId7"/>
              <a:stretch>
                <a:fillRect l="-7" t="-46" r="-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09960" y="657225"/>
            <a:ext cx="9972081" cy="551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ctr">
              <a:lnSpc>
                <a:spcPts val="8669"/>
              </a:lnSpc>
            </a:pPr>
            <a:r xmlns:a="http://schemas.openxmlformats.org/drawingml/2006/main">
              <a:rPr lang="en" sz="72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Q₄: Do these </a:t>
            </a:r>
            <a:r xmlns:a="http://schemas.openxmlformats.org/drawingml/2006/main">
              <a:rPr lang="en" sz="7224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models work </a:t>
            </a:r>
            <a:r xmlns:a="http://schemas.openxmlformats.org/drawingml/2006/main">
              <a:rPr lang="en" sz="72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to solve more </a:t>
            </a:r>
            <a:r xmlns:a="http://schemas.openxmlformats.org/drawingml/2006/main">
              <a:rPr lang="en" sz="7224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problems </a:t>
            </a:r>
            <a:r xmlns:a="http://schemas.openxmlformats.org/drawingml/2006/main">
              <a:rPr lang="en" sz="72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with contexts other than padlocks?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4236" y="146304"/>
            <a:ext cx="989076" cy="188976"/>
          </a:xfrm>
          <a:custGeom>
            <a:avLst/>
            <a:gdLst/>
            <a:ahLst/>
            <a:cxnLst/>
            <a:rect r="r" b="b" t="t" l="l"/>
            <a:pathLst>
              <a:path h="188976" w="989076">
                <a:moveTo>
                  <a:pt x="0" y="0"/>
                </a:moveTo>
                <a:lnTo>
                  <a:pt x="989076" y="0"/>
                </a:lnTo>
                <a:lnTo>
                  <a:pt x="989076" y="188976"/>
                </a:lnTo>
                <a:lnTo>
                  <a:pt x="0" y="188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85800" y="2245501"/>
            <a:ext cx="10820400" cy="4011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100"/>
              </a:lnSpc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How many different ways are there to...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Elect a president, secretary and spokesperson from a group of 12 people if one person cannot hold more than one position.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Elect a president, secretary and spokesperson from a group of 12 people if one person can hold more than one position.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Form words of three different letters with the letters of the word PERMUTATION.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Paint a flag with 3 available colors in a horizontal arrangement and we must use a minimum of 2 and a maximum of 3, and the colors cannot be repeated.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Choosing an ice cream if there are 6 different flavors and we are allowed to choose 2 different flavors.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With 4 cans of paint of different colors, how many mixtures of 2 different colors can we make?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Answer 4 questions from a list of 5.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Assign 2 twin brothers so that they do not coincide in the same class if the school has 4 3rd ESO classes.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Assemble a bead bracelet if we have 10 beads available, all of different colors.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Organize homework for 3 subjects in one afternoon.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Combine 10 t-shirts for a week so as not to repeat a t-shirt any day of the week.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Combine the shirts from the previous case with 3 pairs of pants</a:t>
            </a:r>
          </a:p>
          <a:p>
            <a:pPr xmlns:a="http://schemas.openxmlformats.org/drawingml/2006/main" algn="l" marL="323850" indent="-161925" lvl="1">
              <a:lnSpc>
                <a:spcPts val="2100"/>
              </a:lnSpc>
              <a:buFont typeface="Arial"/>
              <a:buChar char="•"/>
            </a:pPr>
            <a:r xmlns:a="http://schemas.openxmlformats.org/drawingml/2006/main">
              <a:rPr lang="en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Make vehicle registration plates that consist of 4 numbers and 3 letters of the alphabet, excluding vowels.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38138"/>
            <a:ext cx="5613970" cy="7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6337"/>
              </a:lnSpc>
            </a:pPr>
            <a:r xmlns:a="http://schemas.openxmlformats.org/drawingml/2006/main">
              <a:rPr lang="en" sz="4875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REPORT Q₄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58211" y="1648675"/>
            <a:ext cx="11293043" cy="35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l">
              <a:lnSpc>
                <a:spcPts val="2800"/>
              </a:lnSpc>
            </a:pPr>
            <a:r xmlns:a="http://schemas.openxmlformats.org/drawingml/2006/main">
              <a:rPr lang="en" sz="2000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Q₄: Do these models work to solve more problems with contexts other than padlocks?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0681" y="93136"/>
            <a:ext cx="10685519" cy="276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xmlns:a="http://schemas.openxmlformats.org/drawingml/2006/main" algn="r">
              <a:lnSpc>
                <a:spcPts val="2040"/>
              </a:lnSpc>
            </a:pPr>
            <a:r xmlns:a="http://schemas.openxmlformats.org/drawingml/2006/main">
              <a:rPr lang="en" sz="1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Q₄: Do these </a:t>
            </a:r>
            <a:r xmlns:a="http://schemas.openxmlformats.org/drawingml/2006/main">
              <a:rPr lang="en" sz="17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models work </a:t>
            </a:r>
            <a:r xmlns:a="http://schemas.openxmlformats.org/drawingml/2006/main">
              <a:rPr lang="en" sz="1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to solve more </a:t>
            </a:r>
            <a:r xmlns:a="http://schemas.openxmlformats.org/drawingml/2006/main">
              <a:rPr lang="en" sz="17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problems </a:t>
            </a:r>
            <a:r xmlns:a="http://schemas.openxmlformats.org/drawingml/2006/main">
              <a:rPr lang="en" sz="1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with contexts other than padlocks?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DAGcwhh10Jo</dc:identifier>
  <dcterms:modified xsi:type="dcterms:W3CDTF">2011-08-01T06:04:30Z</dcterms:modified>
  <cp:revision>1</cp:revision>
  <dc:title>Presentació REI Cadenats</dc:title>
</cp:coreProperties>
</file>