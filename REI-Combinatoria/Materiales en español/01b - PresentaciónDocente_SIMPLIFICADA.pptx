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Arimo" panose="020B0604020202020204" charset="0"/>
      <p:regular r:id="rId23"/>
    </p:embeddedFont>
    <p:embeddedFont>
      <p:font typeface="Arimo Bold" panose="020B0604020202020204" charset="0"/>
      <p:regular r:id="rId24"/>
    </p:embeddedFont>
    <p:embeddedFont>
      <p:font typeface="Calibri (MS)" panose="020B0604020202020204" charset="0"/>
      <p:regular r:id="rId25"/>
    </p:embeddedFont>
    <p:embeddedFont>
      <p:font typeface="Economica" panose="020B0604020202020204" charset="0"/>
      <p:regular r:id="rId26"/>
    </p:embeddedFont>
    <p:embeddedFont>
      <p:font typeface="Economica Bold" panose="020B0604020202020204" charset="0"/>
      <p:regular r:id="rId27"/>
    </p:embeddedFont>
    <p:embeddedFont>
      <p:font typeface="Garet" panose="020B0604020202020204" charset="0"/>
      <p:regular r:id="rId28"/>
    </p:embeddedFont>
    <p:embeddedFont>
      <p:font typeface="Garet Bold" panose="020B0604020202020204" charset="0"/>
      <p:regular r:id="rId29"/>
    </p:embeddedFont>
    <p:embeddedFont>
      <p:font typeface="Glacial Indifference" pitchFamily="50" charset="0"/>
      <p:regular r:id="rId30"/>
      <p:bold r:id="rId31"/>
      <p:italic r:id="rId32"/>
    </p:embeddedFont>
    <p:embeddedFont>
      <p:font typeface="Glacial Indifference Bold" panose="020B0604020202020204" charset="0"/>
      <p:regular r:id="rId33"/>
    </p:embeddedFont>
    <p:embeddedFont>
      <p:font typeface="IBM Plex Sans Condensed" panose="020B0506050203000203" pitchFamily="34" charset="0"/>
      <p:regular r:id="rId34"/>
    </p:embeddedFont>
    <p:embeddedFont>
      <p:font typeface="IBM Plex Sans Condensed Bold" panose="020B0604020202020204" charset="0"/>
      <p:regular r:id="rId35"/>
    </p:embeddedFont>
    <p:embeddedFont>
      <p:font typeface="Lato" panose="020F0502020204030203" pitchFamily="34" charset="0"/>
      <p:regular r:id="rId36"/>
    </p:embeddedFont>
    <p:embeddedFont>
      <p:font typeface="Lato Bold" panose="020F0502020204030203" charset="0"/>
      <p:regular r:id="rId37"/>
    </p:embeddedFont>
    <p:embeddedFont>
      <p:font typeface="League Spartan" panose="020B0604020202020204" charset="0"/>
      <p:regular r:id="rId38"/>
    </p:embeddedFont>
    <p:embeddedFont>
      <p:font typeface="Roboto" panose="02000000000000000000" pitchFamily="2" charset="0"/>
      <p:regular r:id="rId39"/>
    </p:embeddedFont>
    <p:embeddedFont>
      <p:font typeface="Roboto Bold" panose="02000000000000000000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5DA52A-3CA6-4E71-A317-D73CD485EFDC}" v="1" dt="2025-10-16T17:30:21.2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1" d="100"/>
          <a:sy n="101" d="100"/>
        </p:scale>
        <p:origin x="876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a Vasquez Elias" userId="e776416f-e583-4d77-b224-146689d50a03" providerId="ADAL" clId="{3C100498-C411-419B-B5E6-C2EF21CD595F}"/>
    <pc:docChg chg="modSld">
      <pc:chgData name="Susana Vasquez Elias" userId="e776416f-e583-4d77-b224-146689d50a03" providerId="ADAL" clId="{3C100498-C411-419B-B5E6-C2EF21CD595F}" dt="2025-10-16T17:30:22.893" v="1" actId="1076"/>
      <pc:docMkLst>
        <pc:docMk/>
      </pc:docMkLst>
      <pc:sldChg chg="addSp modSp mod">
        <pc:chgData name="Susana Vasquez Elias" userId="e776416f-e583-4d77-b224-146689d50a03" providerId="ADAL" clId="{3C100498-C411-419B-B5E6-C2EF21CD595F}" dt="2025-10-16T17:30:22.893" v="1" actId="1076"/>
        <pc:sldMkLst>
          <pc:docMk/>
          <pc:sldMk cId="0" sldId="256"/>
        </pc:sldMkLst>
        <pc:picChg chg="add mod">
          <ac:chgData name="Susana Vasquez Elias" userId="e776416f-e583-4d77-b224-146689d50a03" providerId="ADAL" clId="{3C100498-C411-419B-B5E6-C2EF21CD595F}" dt="2025-10-16T17:30:22.893" v="1" actId="1076"/>
          <ac:picMkLst>
            <pc:docMk/>
            <pc:sldMk cId="0" sldId="256"/>
            <ac:picMk id="15" creationId="{2ADF4236-C311-988C-1EAF-F33444BF898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zSUG5iQniSc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25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.png"/><Relationship Id="rId4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19.png"/><Relationship Id="rId7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28.jpeg"/><Relationship Id="rId9" Type="http://schemas.openxmlformats.org/officeDocument/2006/relationships/hyperlink" Target="https://youtu.be/9IAfqFGM56w?t=153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ednwKwSu7dw" TargetMode="External"/><Relationship Id="rId3" Type="http://schemas.openxmlformats.org/officeDocument/2006/relationships/image" Target="../media/image14.png"/><Relationship Id="rId7" Type="http://schemas.openxmlformats.org/officeDocument/2006/relationships/image" Target="../media/image33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18.png"/><Relationship Id="rId4" Type="http://schemas.openxmlformats.org/officeDocument/2006/relationships/image" Target="../media/image3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" Type="http://schemas.openxmlformats.org/officeDocument/2006/relationships/image" Target="../media/image34.png"/><Relationship Id="rId21" Type="http://schemas.openxmlformats.org/officeDocument/2006/relationships/image" Target="../media/image52.png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17" Type="http://schemas.openxmlformats.org/officeDocument/2006/relationships/image" Target="../media/image48.png"/><Relationship Id="rId25" Type="http://schemas.openxmlformats.org/officeDocument/2006/relationships/image" Target="../media/image56.jpeg"/><Relationship Id="rId2" Type="http://schemas.openxmlformats.org/officeDocument/2006/relationships/image" Target="../media/image18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32" Type="http://schemas.openxmlformats.org/officeDocument/2006/relationships/image" Target="../media/image63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28" Type="http://schemas.openxmlformats.org/officeDocument/2006/relationships/image" Target="../media/image59.png"/><Relationship Id="rId10" Type="http://schemas.openxmlformats.org/officeDocument/2006/relationships/image" Target="../media/image41.svg"/><Relationship Id="rId19" Type="http://schemas.openxmlformats.org/officeDocument/2006/relationships/image" Target="../media/image50.jpeg"/><Relationship Id="rId31" Type="http://schemas.openxmlformats.org/officeDocument/2006/relationships/image" Target="../media/image62.jpeg"/><Relationship Id="rId4" Type="http://schemas.openxmlformats.org/officeDocument/2006/relationships/image" Target="../media/image35.sv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231086" y="4646905"/>
            <a:ext cx="2045799" cy="2045799"/>
            <a:chOff x="0" y="0"/>
            <a:chExt cx="2045792" cy="2045792"/>
          </a:xfrm>
        </p:grpSpPr>
        <p:sp>
          <p:nvSpPr>
            <p:cNvPr id="3" name="Freeform 3"/>
            <p:cNvSpPr/>
            <p:nvPr/>
          </p:nvSpPr>
          <p:spPr>
            <a:xfrm>
              <a:off x="-11176" y="0"/>
              <a:ext cx="2060575" cy="2045716"/>
            </a:xfrm>
            <a:custGeom>
              <a:avLst/>
              <a:gdLst/>
              <a:ahLst/>
              <a:cxnLst/>
              <a:rect l="l" t="t" r="r" b="b"/>
              <a:pathLst>
                <a:path w="2060575" h="2045716">
                  <a:moveTo>
                    <a:pt x="1032891" y="0"/>
                  </a:moveTo>
                  <a:cubicBezTo>
                    <a:pt x="1005586" y="0"/>
                    <a:pt x="978408" y="10287"/>
                    <a:pt x="956437" y="30988"/>
                  </a:cubicBezTo>
                  <a:lnTo>
                    <a:pt x="956437" y="30988"/>
                  </a:lnTo>
                  <a:lnTo>
                    <a:pt x="44450" y="942975"/>
                  </a:lnTo>
                  <a:cubicBezTo>
                    <a:pt x="3429" y="985139"/>
                    <a:pt x="0" y="1049909"/>
                    <a:pt x="36068" y="1094613"/>
                  </a:cubicBezTo>
                  <a:lnTo>
                    <a:pt x="36068" y="1094613"/>
                  </a:lnTo>
                  <a:lnTo>
                    <a:pt x="962279" y="2020824"/>
                  </a:lnTo>
                  <a:cubicBezTo>
                    <a:pt x="982980" y="2037461"/>
                    <a:pt x="1007872" y="2045716"/>
                    <a:pt x="1032891" y="2045716"/>
                  </a:cubicBezTo>
                  <a:cubicBezTo>
                    <a:pt x="1049020" y="2045716"/>
                    <a:pt x="1065149" y="2042287"/>
                    <a:pt x="1080262" y="2035429"/>
                  </a:cubicBezTo>
                  <a:lnTo>
                    <a:pt x="2047621" y="1068070"/>
                  </a:lnTo>
                  <a:lnTo>
                    <a:pt x="2047621" y="1068070"/>
                  </a:lnTo>
                  <a:cubicBezTo>
                    <a:pt x="2060575" y="1038733"/>
                    <a:pt x="2059940" y="1005586"/>
                    <a:pt x="2046224" y="976376"/>
                  </a:cubicBezTo>
                  <a:lnTo>
                    <a:pt x="2046224" y="976376"/>
                  </a:lnTo>
                  <a:lnTo>
                    <a:pt x="1080516" y="10795"/>
                  </a:lnTo>
                  <a:lnTo>
                    <a:pt x="1080516" y="10795"/>
                  </a:lnTo>
                  <a:cubicBezTo>
                    <a:pt x="1065403" y="3556"/>
                    <a:pt x="1049147" y="0"/>
                    <a:pt x="1032891" y="0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379981" y="-787384"/>
            <a:ext cx="11626882" cy="7589025"/>
            <a:chOff x="0" y="0"/>
            <a:chExt cx="11626888" cy="7589025"/>
          </a:xfrm>
        </p:grpSpPr>
        <p:sp>
          <p:nvSpPr>
            <p:cNvPr id="5" name="Freeform 5"/>
            <p:cNvSpPr/>
            <p:nvPr/>
          </p:nvSpPr>
          <p:spPr>
            <a:xfrm>
              <a:off x="5872988" y="2410079"/>
              <a:ext cx="3556127" cy="3505581"/>
            </a:xfrm>
            <a:custGeom>
              <a:avLst/>
              <a:gdLst/>
              <a:ahLst/>
              <a:cxnLst/>
              <a:rect l="l" t="t" r="r" b="b"/>
              <a:pathLst>
                <a:path w="3556127" h="3505581">
                  <a:moveTo>
                    <a:pt x="2420112" y="0"/>
                  </a:moveTo>
                  <a:cubicBezTo>
                    <a:pt x="2402078" y="0"/>
                    <a:pt x="2383917" y="3937"/>
                    <a:pt x="2366899" y="11684"/>
                  </a:cubicBezTo>
                  <a:lnTo>
                    <a:pt x="2366899" y="11684"/>
                  </a:lnTo>
                  <a:lnTo>
                    <a:pt x="22225" y="2292477"/>
                  </a:lnTo>
                  <a:lnTo>
                    <a:pt x="22225" y="2292477"/>
                  </a:lnTo>
                  <a:cubicBezTo>
                    <a:pt x="0" y="2338070"/>
                    <a:pt x="6985" y="2392934"/>
                    <a:pt x="44323" y="2432558"/>
                  </a:cubicBezTo>
                  <a:lnTo>
                    <a:pt x="44323" y="2432558"/>
                  </a:lnTo>
                  <a:lnTo>
                    <a:pt x="1052322" y="3468751"/>
                  </a:lnTo>
                  <a:lnTo>
                    <a:pt x="1052322" y="3468751"/>
                  </a:lnTo>
                  <a:cubicBezTo>
                    <a:pt x="1077595" y="3493135"/>
                    <a:pt x="1110234" y="3505581"/>
                    <a:pt x="1142746" y="3505581"/>
                  </a:cubicBezTo>
                  <a:cubicBezTo>
                    <a:pt x="1170051" y="3505581"/>
                    <a:pt x="1197483" y="3496818"/>
                    <a:pt x="1220343" y="3478784"/>
                  </a:cubicBezTo>
                  <a:lnTo>
                    <a:pt x="1220343" y="3478784"/>
                  </a:lnTo>
                  <a:lnTo>
                    <a:pt x="3519551" y="1242314"/>
                  </a:lnTo>
                  <a:lnTo>
                    <a:pt x="3519551" y="1242314"/>
                  </a:lnTo>
                  <a:cubicBezTo>
                    <a:pt x="3548126" y="1207770"/>
                    <a:pt x="3556127" y="1161669"/>
                    <a:pt x="3543046" y="1120521"/>
                  </a:cubicBezTo>
                  <a:lnTo>
                    <a:pt x="3543046" y="1120521"/>
                  </a:lnTo>
                  <a:lnTo>
                    <a:pt x="2459355" y="6477"/>
                  </a:lnTo>
                  <a:lnTo>
                    <a:pt x="2459355" y="6477"/>
                  </a:lnTo>
                  <a:cubicBezTo>
                    <a:pt x="2446655" y="2159"/>
                    <a:pt x="2433447" y="127"/>
                    <a:pt x="2420111" y="127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3500" y="787400"/>
              <a:ext cx="4575048" cy="4247388"/>
            </a:xfrm>
            <a:custGeom>
              <a:avLst/>
              <a:gdLst/>
              <a:ahLst/>
              <a:cxnLst/>
              <a:rect l="l" t="t" r="r" b="b"/>
              <a:pathLst>
                <a:path w="4575048" h="4247388">
                  <a:moveTo>
                    <a:pt x="1098677" y="0"/>
                  </a:moveTo>
                  <a:cubicBezTo>
                    <a:pt x="439166" y="400939"/>
                    <a:pt x="0" y="1125220"/>
                    <a:pt x="0" y="1953006"/>
                  </a:cubicBezTo>
                  <a:cubicBezTo>
                    <a:pt x="0" y="3220593"/>
                    <a:pt x="1022223" y="4247388"/>
                    <a:pt x="2289810" y="4247388"/>
                  </a:cubicBezTo>
                  <a:cubicBezTo>
                    <a:pt x="3504057" y="4247388"/>
                    <a:pt x="4499991" y="3298317"/>
                    <a:pt x="4575048" y="2098675"/>
                  </a:cubicBezTo>
                  <a:lnTo>
                    <a:pt x="4575048" y="2098675"/>
                  </a:lnTo>
                  <a:lnTo>
                    <a:pt x="4575048" y="1807972"/>
                  </a:lnTo>
                  <a:lnTo>
                    <a:pt x="4575048" y="1807972"/>
                  </a:lnTo>
                  <a:cubicBezTo>
                    <a:pt x="4526915" y="1041146"/>
                    <a:pt x="4099687" y="377317"/>
                    <a:pt x="3478911" y="0"/>
                  </a:cubicBezTo>
                  <a:close/>
                </a:path>
              </a:pathLst>
            </a:custGeom>
            <a:solidFill>
              <a:srgbClr val="F9735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8152003" y="4051935"/>
              <a:ext cx="3382645" cy="3346323"/>
            </a:xfrm>
            <a:custGeom>
              <a:avLst/>
              <a:gdLst/>
              <a:ahLst/>
              <a:cxnLst/>
              <a:rect l="l" t="t" r="r" b="b"/>
              <a:pathLst>
                <a:path w="3382645" h="3346323">
                  <a:moveTo>
                    <a:pt x="2344674" y="0"/>
                  </a:moveTo>
                  <a:cubicBezTo>
                    <a:pt x="2291080" y="0"/>
                    <a:pt x="2237105" y="19812"/>
                    <a:pt x="2194433" y="63119"/>
                  </a:cubicBezTo>
                  <a:lnTo>
                    <a:pt x="78359" y="2207514"/>
                  </a:lnTo>
                  <a:cubicBezTo>
                    <a:pt x="2159" y="2284730"/>
                    <a:pt x="0" y="2398014"/>
                    <a:pt x="52070" y="2479421"/>
                  </a:cubicBezTo>
                  <a:lnTo>
                    <a:pt x="52070" y="2479421"/>
                  </a:lnTo>
                  <a:lnTo>
                    <a:pt x="120777" y="2547239"/>
                  </a:lnTo>
                  <a:lnTo>
                    <a:pt x="120777" y="2547239"/>
                  </a:lnTo>
                  <a:cubicBezTo>
                    <a:pt x="138175" y="2557907"/>
                    <a:pt x="157480" y="2566416"/>
                    <a:pt x="178434" y="2572131"/>
                  </a:cubicBezTo>
                  <a:lnTo>
                    <a:pt x="3100705" y="3339465"/>
                  </a:lnTo>
                  <a:cubicBezTo>
                    <a:pt x="3119120" y="3344164"/>
                    <a:pt x="3137408" y="3346323"/>
                    <a:pt x="3155187" y="3346323"/>
                  </a:cubicBezTo>
                  <a:cubicBezTo>
                    <a:pt x="3196335" y="3346323"/>
                    <a:pt x="3235070" y="3334639"/>
                    <a:pt x="3268091" y="3314318"/>
                  </a:cubicBezTo>
                  <a:lnTo>
                    <a:pt x="3268091" y="3314318"/>
                  </a:lnTo>
                  <a:lnTo>
                    <a:pt x="3343529" y="3237864"/>
                  </a:lnTo>
                  <a:lnTo>
                    <a:pt x="3343529" y="3237864"/>
                  </a:lnTo>
                  <a:cubicBezTo>
                    <a:pt x="3371849" y="3190112"/>
                    <a:pt x="3382645" y="3131058"/>
                    <a:pt x="3366389" y="3070097"/>
                  </a:cubicBezTo>
                  <a:lnTo>
                    <a:pt x="2558034" y="160782"/>
                  </a:lnTo>
                  <a:cubicBezTo>
                    <a:pt x="2529332" y="59817"/>
                    <a:pt x="2437765" y="0"/>
                    <a:pt x="2344801" y="0"/>
                  </a:cubicBezTo>
                  <a:close/>
                </a:path>
              </a:pathLst>
            </a:custGeom>
            <a:solidFill>
              <a:srgbClr val="4BDCAB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8882888" y="787400"/>
              <a:ext cx="2680463" cy="2244344"/>
            </a:xfrm>
            <a:custGeom>
              <a:avLst/>
              <a:gdLst/>
              <a:ahLst/>
              <a:cxnLst/>
              <a:rect l="l" t="t" r="r" b="b"/>
              <a:pathLst>
                <a:path w="2680463" h="2244344">
                  <a:moveTo>
                    <a:pt x="47752" y="0"/>
                  </a:moveTo>
                  <a:cubicBezTo>
                    <a:pt x="17018" y="53848"/>
                    <a:pt x="127" y="115824"/>
                    <a:pt x="0" y="180594"/>
                  </a:cubicBezTo>
                  <a:lnTo>
                    <a:pt x="0" y="180594"/>
                  </a:lnTo>
                  <a:lnTo>
                    <a:pt x="0" y="1317752"/>
                  </a:lnTo>
                  <a:lnTo>
                    <a:pt x="0" y="1317752"/>
                  </a:lnTo>
                  <a:cubicBezTo>
                    <a:pt x="127" y="1446911"/>
                    <a:pt x="67437" y="1565148"/>
                    <a:pt x="177673" y="1629664"/>
                  </a:cubicBezTo>
                  <a:lnTo>
                    <a:pt x="1162685" y="2197862"/>
                  </a:lnTo>
                  <a:cubicBezTo>
                    <a:pt x="1217803" y="2228850"/>
                    <a:pt x="1279779" y="2244344"/>
                    <a:pt x="1341628" y="2244344"/>
                  </a:cubicBezTo>
                  <a:cubicBezTo>
                    <a:pt x="1403478" y="2244344"/>
                    <a:pt x="1465453" y="2228850"/>
                    <a:pt x="1520572" y="2197862"/>
                  </a:cubicBezTo>
                  <a:lnTo>
                    <a:pt x="2505584" y="1629664"/>
                  </a:lnTo>
                  <a:cubicBezTo>
                    <a:pt x="2602992" y="1572641"/>
                    <a:pt x="2666874" y="1473581"/>
                    <a:pt x="2680463" y="1362202"/>
                  </a:cubicBezTo>
                  <a:lnTo>
                    <a:pt x="2680463" y="1362202"/>
                  </a:lnTo>
                  <a:lnTo>
                    <a:pt x="2680463" y="136017"/>
                  </a:lnTo>
                  <a:lnTo>
                    <a:pt x="2680463" y="136017"/>
                  </a:lnTo>
                  <a:cubicBezTo>
                    <a:pt x="2674494" y="87503"/>
                    <a:pt x="2659127" y="41275"/>
                    <a:pt x="2635505" y="0"/>
                  </a:cubicBezTo>
                  <a:close/>
                </a:path>
              </a:pathLst>
            </a:custGeom>
            <a:solidFill>
              <a:srgbClr val="FCAEFB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723388" y="5085207"/>
              <a:ext cx="3814191" cy="2440305"/>
            </a:xfrm>
            <a:custGeom>
              <a:avLst/>
              <a:gdLst/>
              <a:ahLst/>
              <a:cxnLst/>
              <a:rect l="l" t="t" r="r" b="b"/>
              <a:pathLst>
                <a:path w="3814191" h="2440305">
                  <a:moveTo>
                    <a:pt x="348234" y="0"/>
                  </a:moveTo>
                  <a:cubicBezTo>
                    <a:pt x="275590" y="0"/>
                    <a:pt x="207264" y="37211"/>
                    <a:pt x="165989" y="96647"/>
                  </a:cubicBezTo>
                  <a:lnTo>
                    <a:pt x="165989" y="96647"/>
                  </a:lnTo>
                  <a:lnTo>
                    <a:pt x="119507" y="247142"/>
                  </a:lnTo>
                  <a:lnTo>
                    <a:pt x="119507" y="247142"/>
                  </a:lnTo>
                  <a:cubicBezTo>
                    <a:pt x="0" y="1082421"/>
                    <a:pt x="443611" y="1898904"/>
                    <a:pt x="1211961" y="2256663"/>
                  </a:cubicBezTo>
                  <a:lnTo>
                    <a:pt x="1211961" y="2256663"/>
                  </a:lnTo>
                  <a:lnTo>
                    <a:pt x="1723390" y="2414524"/>
                  </a:lnTo>
                  <a:lnTo>
                    <a:pt x="1723390" y="2414524"/>
                  </a:lnTo>
                  <a:cubicBezTo>
                    <a:pt x="1828546" y="2431795"/>
                    <a:pt x="1933575" y="2440305"/>
                    <a:pt x="2037588" y="2440305"/>
                  </a:cubicBezTo>
                  <a:cubicBezTo>
                    <a:pt x="2775331" y="2440305"/>
                    <a:pt x="3460877" y="2015744"/>
                    <a:pt x="3778250" y="1329436"/>
                  </a:cubicBezTo>
                  <a:lnTo>
                    <a:pt x="3778250" y="1329436"/>
                  </a:lnTo>
                  <a:lnTo>
                    <a:pt x="3800094" y="1258570"/>
                  </a:lnTo>
                  <a:lnTo>
                    <a:pt x="3800094" y="1258570"/>
                  </a:lnTo>
                  <a:cubicBezTo>
                    <a:pt x="3814190" y="1161542"/>
                    <a:pt x="3768979" y="1063879"/>
                    <a:pt x="3680840" y="1021588"/>
                  </a:cubicBezTo>
                  <a:lnTo>
                    <a:pt x="3680840" y="1021588"/>
                  </a:lnTo>
                  <a:lnTo>
                    <a:pt x="379857" y="2413"/>
                  </a:lnTo>
                  <a:lnTo>
                    <a:pt x="379857" y="2413"/>
                  </a:lnTo>
                  <a:cubicBezTo>
                    <a:pt x="369316" y="762"/>
                    <a:pt x="358648" y="0"/>
                    <a:pt x="348234" y="0"/>
                  </a:cubicBezTo>
                  <a:close/>
                </a:path>
              </a:pathLst>
            </a:custGeom>
            <a:solidFill>
              <a:srgbClr val="FCAEFB"/>
            </a:solid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9578340" y="530352"/>
            <a:ext cx="2052828" cy="394716"/>
          </a:xfrm>
          <a:custGeom>
            <a:avLst/>
            <a:gdLst/>
            <a:ahLst/>
            <a:cxnLst/>
            <a:rect l="l" t="t" r="r" b="b"/>
            <a:pathLst>
              <a:path w="2052828" h="394716">
                <a:moveTo>
                  <a:pt x="0" y="0"/>
                </a:moveTo>
                <a:lnTo>
                  <a:pt x="2052828" y="0"/>
                </a:lnTo>
                <a:lnTo>
                  <a:pt x="2052828" y="394716"/>
                </a:lnTo>
                <a:lnTo>
                  <a:pt x="0" y="394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1" name="TextBox 11"/>
          <p:cNvSpPr txBox="1"/>
          <p:nvPr/>
        </p:nvSpPr>
        <p:spPr>
          <a:xfrm>
            <a:off x="3877371" y="5357889"/>
            <a:ext cx="2441851" cy="57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33"/>
              </a:lnSpc>
            </a:pPr>
            <a:r>
              <a:rPr lang="en-US" sz="1667" b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Máster en formación del Profesorado de Secundaria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65584" y="4991955"/>
            <a:ext cx="2865584" cy="64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45"/>
              </a:lnSpc>
            </a:pPr>
            <a:r>
              <a:rPr lang="en-US" sz="3389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Curso 2024-25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7762" y="661035"/>
            <a:ext cx="3910923" cy="1410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37"/>
              </a:lnSpc>
            </a:pPr>
            <a:r>
              <a:rPr lang="en-US" sz="2669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Una posible situación de aprendizaje que estudiaremos juntos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8149" y="2389612"/>
            <a:ext cx="4130149" cy="1172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75"/>
              </a:lnSpc>
            </a:pPr>
            <a:r>
              <a:rPr lang="en-US" sz="333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¿Qué candado es más seguro?</a:t>
            </a:r>
          </a:p>
        </p:txBody>
      </p:sp>
      <p:pic>
        <p:nvPicPr>
          <p:cNvPr id="15" name="Picture 14" descr="A grey square with white text&#10;&#10;AI-generated content may be incorrect.">
            <a:extLst>
              <a:ext uri="{FF2B5EF4-FFF2-40B4-BE49-F238E27FC236}">
                <a16:creationId xmlns:a16="http://schemas.microsoft.com/office/drawing/2014/main" id="{2ADF4236-C311-988C-1EAF-F33444BF89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1" b="16231"/>
          <a:stretch>
            <a:fillRect/>
          </a:stretch>
        </p:blipFill>
        <p:spPr bwMode="auto">
          <a:xfrm>
            <a:off x="5871077" y="257320"/>
            <a:ext cx="2092960" cy="5568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698492" y="0"/>
            <a:ext cx="4576572" cy="2990088"/>
          </a:xfrm>
          <a:custGeom>
            <a:avLst/>
            <a:gdLst/>
            <a:ahLst/>
            <a:cxnLst/>
            <a:rect l="l" t="t" r="r" b="b"/>
            <a:pathLst>
              <a:path w="4576572" h="2990088">
                <a:moveTo>
                  <a:pt x="0" y="0"/>
                </a:moveTo>
                <a:lnTo>
                  <a:pt x="4576572" y="0"/>
                </a:lnTo>
                <a:lnTo>
                  <a:pt x="4576572" y="2990088"/>
                </a:lnTo>
                <a:lnTo>
                  <a:pt x="0" y="299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6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7318947" y="298566"/>
            <a:ext cx="1554480" cy="1699260"/>
          </a:xfrm>
          <a:custGeom>
            <a:avLst/>
            <a:gdLst/>
            <a:ahLst/>
            <a:cxnLst/>
            <a:rect l="l" t="t" r="r" b="b"/>
            <a:pathLst>
              <a:path w="1554480" h="1699260">
                <a:moveTo>
                  <a:pt x="0" y="0"/>
                </a:moveTo>
                <a:lnTo>
                  <a:pt x="1554480" y="0"/>
                </a:lnTo>
                <a:lnTo>
                  <a:pt x="1554480" y="1699260"/>
                </a:lnTo>
                <a:lnTo>
                  <a:pt x="0" y="16992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619" t="-15239" r="-78251" b="-3445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Freeform 13"/>
          <p:cNvSpPr/>
          <p:nvPr/>
        </p:nvSpPr>
        <p:spPr>
          <a:xfrm>
            <a:off x="9173537" y="57012"/>
            <a:ext cx="2188464" cy="2182368"/>
          </a:xfrm>
          <a:custGeom>
            <a:avLst/>
            <a:gdLst/>
            <a:ahLst/>
            <a:cxnLst/>
            <a:rect l="l" t="t" r="r" b="b"/>
            <a:pathLst>
              <a:path w="2188464" h="2182368">
                <a:moveTo>
                  <a:pt x="0" y="0"/>
                </a:moveTo>
                <a:lnTo>
                  <a:pt x="2188464" y="0"/>
                </a:lnTo>
                <a:lnTo>
                  <a:pt x="2188464" y="2182368"/>
                </a:lnTo>
                <a:lnTo>
                  <a:pt x="0" y="21823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4" name="Freeform 14"/>
          <p:cNvSpPr/>
          <p:nvPr/>
        </p:nvSpPr>
        <p:spPr>
          <a:xfrm>
            <a:off x="9589389" y="2463238"/>
            <a:ext cx="1510284" cy="1650492"/>
          </a:xfrm>
          <a:custGeom>
            <a:avLst/>
            <a:gdLst/>
            <a:ahLst/>
            <a:cxnLst/>
            <a:rect l="l" t="t" r="r" b="b"/>
            <a:pathLst>
              <a:path w="1510284" h="1650492">
                <a:moveTo>
                  <a:pt x="0" y="0"/>
                </a:moveTo>
                <a:lnTo>
                  <a:pt x="1510284" y="0"/>
                </a:lnTo>
                <a:lnTo>
                  <a:pt x="1510284" y="1650492"/>
                </a:lnTo>
                <a:lnTo>
                  <a:pt x="0" y="1650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5" name="Freeform 15"/>
          <p:cNvSpPr/>
          <p:nvPr/>
        </p:nvSpPr>
        <p:spPr>
          <a:xfrm>
            <a:off x="7197027" y="2328219"/>
            <a:ext cx="1798320" cy="1792224"/>
          </a:xfrm>
          <a:custGeom>
            <a:avLst/>
            <a:gdLst/>
            <a:ahLst/>
            <a:cxnLst/>
            <a:rect l="l" t="t" r="r" b="b"/>
            <a:pathLst>
              <a:path w="1798320" h="1792224">
                <a:moveTo>
                  <a:pt x="0" y="0"/>
                </a:moveTo>
                <a:lnTo>
                  <a:pt x="1798320" y="0"/>
                </a:lnTo>
                <a:lnTo>
                  <a:pt x="1798320" y="1792224"/>
                </a:lnTo>
                <a:lnTo>
                  <a:pt x="0" y="17922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 rot="7209240">
            <a:off x="7697592" y="4282645"/>
            <a:ext cx="1317031" cy="2248281"/>
            <a:chOff x="0" y="0"/>
            <a:chExt cx="1756042" cy="29977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56029" cy="2997708"/>
            </a:xfrm>
            <a:custGeom>
              <a:avLst/>
              <a:gdLst/>
              <a:ahLst/>
              <a:cxnLst/>
              <a:rect l="l" t="t" r="r" b="b"/>
              <a:pathLst>
                <a:path w="1756029" h="2997708">
                  <a:moveTo>
                    <a:pt x="0" y="2997708"/>
                  </a:moveTo>
                  <a:lnTo>
                    <a:pt x="1756029" y="2997581"/>
                  </a:lnTo>
                  <a:lnTo>
                    <a:pt x="1756029" y="0"/>
                  </a:lnTo>
                  <a:lnTo>
                    <a:pt x="0" y="0"/>
                  </a:lnTo>
                  <a:lnTo>
                    <a:pt x="0" y="2997708"/>
                  </a:lnTo>
                  <a:close/>
                </a:path>
              </a:pathLst>
            </a:custGeom>
            <a:blipFill>
              <a:blip r:embed="rId12"/>
              <a:stretch>
                <a:fillRect t="-8768" r="-99979" b="-8698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9658917" y="4342330"/>
            <a:ext cx="1752600" cy="1746504"/>
          </a:xfrm>
          <a:custGeom>
            <a:avLst/>
            <a:gdLst/>
            <a:ahLst/>
            <a:cxnLst/>
            <a:rect l="l" t="t" r="r" b="b"/>
            <a:pathLst>
              <a:path w="1752600" h="1746504">
                <a:moveTo>
                  <a:pt x="0" y="0"/>
                </a:moveTo>
                <a:lnTo>
                  <a:pt x="1752600" y="0"/>
                </a:lnTo>
                <a:lnTo>
                  <a:pt x="1752600" y="1746504"/>
                </a:lnTo>
                <a:lnTo>
                  <a:pt x="0" y="174650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9" name="Freeform 19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20" name="TextBox 20"/>
          <p:cNvSpPr txBox="1"/>
          <p:nvPr/>
        </p:nvSpPr>
        <p:spPr>
          <a:xfrm>
            <a:off x="682526" y="678160"/>
            <a:ext cx="6103770" cy="499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16"/>
              </a:lnSpc>
            </a:pPr>
            <a:r>
              <a:rPr lang="en-US" sz="651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Q₀: De la siguiente colección de candados, ¿cuál es más seguro?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698492" y="0"/>
            <a:ext cx="4576572" cy="2990088"/>
          </a:xfrm>
          <a:custGeom>
            <a:avLst/>
            <a:gdLst/>
            <a:ahLst/>
            <a:cxnLst/>
            <a:rect l="l" t="t" r="r" b="b"/>
            <a:pathLst>
              <a:path w="4576572" h="2990088">
                <a:moveTo>
                  <a:pt x="0" y="0"/>
                </a:moveTo>
                <a:lnTo>
                  <a:pt x="4576572" y="0"/>
                </a:lnTo>
                <a:lnTo>
                  <a:pt x="4576572" y="2990088"/>
                </a:lnTo>
                <a:lnTo>
                  <a:pt x="0" y="299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6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900317" y="1739817"/>
            <a:ext cx="1279584" cy="1398761"/>
          </a:xfrm>
          <a:custGeom>
            <a:avLst/>
            <a:gdLst/>
            <a:ahLst/>
            <a:cxnLst/>
            <a:rect l="l" t="t" r="r" b="b"/>
            <a:pathLst>
              <a:path w="1279584" h="1398761">
                <a:moveTo>
                  <a:pt x="0" y="0"/>
                </a:moveTo>
                <a:lnTo>
                  <a:pt x="1279583" y="0"/>
                </a:lnTo>
                <a:lnTo>
                  <a:pt x="1279583" y="1398760"/>
                </a:lnTo>
                <a:lnTo>
                  <a:pt x="0" y="13987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619" t="-15239" r="-78251" b="-3445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Freeform 13"/>
          <p:cNvSpPr/>
          <p:nvPr/>
        </p:nvSpPr>
        <p:spPr>
          <a:xfrm>
            <a:off x="3526478" y="2996820"/>
            <a:ext cx="1801453" cy="1796435"/>
          </a:xfrm>
          <a:custGeom>
            <a:avLst/>
            <a:gdLst/>
            <a:ahLst/>
            <a:cxnLst/>
            <a:rect l="l" t="t" r="r" b="b"/>
            <a:pathLst>
              <a:path w="1801453" h="1796435">
                <a:moveTo>
                  <a:pt x="0" y="0"/>
                </a:moveTo>
                <a:lnTo>
                  <a:pt x="1801453" y="0"/>
                </a:lnTo>
                <a:lnTo>
                  <a:pt x="1801453" y="1796435"/>
                </a:lnTo>
                <a:lnTo>
                  <a:pt x="0" y="1796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4" name="Freeform 14"/>
          <p:cNvSpPr/>
          <p:nvPr/>
        </p:nvSpPr>
        <p:spPr>
          <a:xfrm>
            <a:off x="7016479" y="3216356"/>
            <a:ext cx="1243203" cy="1358617"/>
          </a:xfrm>
          <a:custGeom>
            <a:avLst/>
            <a:gdLst/>
            <a:ahLst/>
            <a:cxnLst/>
            <a:rect l="l" t="t" r="r" b="b"/>
            <a:pathLst>
              <a:path w="1243203" h="1358617">
                <a:moveTo>
                  <a:pt x="0" y="0"/>
                </a:moveTo>
                <a:lnTo>
                  <a:pt x="1243204" y="0"/>
                </a:lnTo>
                <a:lnTo>
                  <a:pt x="1243204" y="1358617"/>
                </a:lnTo>
                <a:lnTo>
                  <a:pt x="0" y="135861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5" name="Freeform 15"/>
          <p:cNvSpPr/>
          <p:nvPr/>
        </p:nvSpPr>
        <p:spPr>
          <a:xfrm>
            <a:off x="5536177" y="3560087"/>
            <a:ext cx="1480303" cy="1475285"/>
          </a:xfrm>
          <a:custGeom>
            <a:avLst/>
            <a:gdLst/>
            <a:ahLst/>
            <a:cxnLst/>
            <a:rect l="l" t="t" r="r" b="b"/>
            <a:pathLst>
              <a:path w="1480303" h="1475285">
                <a:moveTo>
                  <a:pt x="0" y="0"/>
                </a:moveTo>
                <a:lnTo>
                  <a:pt x="1480302" y="0"/>
                </a:lnTo>
                <a:lnTo>
                  <a:pt x="1480302" y="1475285"/>
                </a:lnTo>
                <a:lnTo>
                  <a:pt x="0" y="14752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 rot="7209240">
            <a:off x="7051041" y="1707192"/>
            <a:ext cx="1084126" cy="1850692"/>
            <a:chOff x="0" y="0"/>
            <a:chExt cx="1756042" cy="29977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56029" cy="2997708"/>
            </a:xfrm>
            <a:custGeom>
              <a:avLst/>
              <a:gdLst/>
              <a:ahLst/>
              <a:cxnLst/>
              <a:rect l="l" t="t" r="r" b="b"/>
              <a:pathLst>
                <a:path w="1756029" h="2997708">
                  <a:moveTo>
                    <a:pt x="0" y="2997708"/>
                  </a:moveTo>
                  <a:lnTo>
                    <a:pt x="1756029" y="2997581"/>
                  </a:lnTo>
                  <a:lnTo>
                    <a:pt x="1756029" y="0"/>
                  </a:lnTo>
                  <a:lnTo>
                    <a:pt x="0" y="0"/>
                  </a:lnTo>
                  <a:lnTo>
                    <a:pt x="0" y="2997708"/>
                  </a:lnTo>
                  <a:close/>
                </a:path>
              </a:pathLst>
            </a:custGeom>
            <a:blipFill>
              <a:blip r:embed="rId12"/>
              <a:stretch>
                <a:fillRect t="-8768" r="-99979" b="-8698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5233844" y="1927991"/>
            <a:ext cx="1442668" cy="1437650"/>
          </a:xfrm>
          <a:custGeom>
            <a:avLst/>
            <a:gdLst/>
            <a:ahLst/>
            <a:cxnLst/>
            <a:rect l="l" t="t" r="r" b="b"/>
            <a:pathLst>
              <a:path w="1442668" h="1437650">
                <a:moveTo>
                  <a:pt x="0" y="0"/>
                </a:moveTo>
                <a:lnTo>
                  <a:pt x="1442668" y="0"/>
                </a:lnTo>
                <a:lnTo>
                  <a:pt x="1442668" y="1437650"/>
                </a:lnTo>
                <a:lnTo>
                  <a:pt x="0" y="14376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9" name="Freeform 19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20" name="TextBox 20"/>
          <p:cNvSpPr txBox="1"/>
          <p:nvPr/>
        </p:nvSpPr>
        <p:spPr>
          <a:xfrm>
            <a:off x="11904850" y="6483725"/>
            <a:ext cx="104975" cy="29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09"/>
              </a:lnSpc>
            </a:pPr>
            <a:r>
              <a:rPr lang="en-US" sz="15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0358" y="1032096"/>
            <a:ext cx="11449404" cy="48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81"/>
              </a:lnSpc>
            </a:pPr>
            <a:r>
              <a:rPr lang="en-US" sz="30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Q₀: De la siguiente colección de candados, ¿cuál es más seguro?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38057" y="5064595"/>
            <a:ext cx="5914006" cy="95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81"/>
              </a:lnSpc>
            </a:pPr>
            <a:r>
              <a:rPr lang="en-US" sz="30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¿Qué cuestiones propone abordar a partir de la presentada?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73737" y="6045632"/>
            <a:ext cx="8042646" cy="6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2"/>
              </a:lnSpc>
            </a:pPr>
            <a:r>
              <a:rPr lang="en-US" sz="428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¡Puesta en común!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9217" y="520151"/>
            <a:ext cx="6858000" cy="5817689"/>
          </a:xfrm>
          <a:custGeom>
            <a:avLst/>
            <a:gdLst/>
            <a:ahLst/>
            <a:cxnLst/>
            <a:rect l="l" t="t" r="r" b="b"/>
            <a:pathLst>
              <a:path w="6858000" h="5817689">
                <a:moveTo>
                  <a:pt x="0" y="0"/>
                </a:moveTo>
                <a:lnTo>
                  <a:pt x="6858000" y="0"/>
                </a:lnTo>
                <a:lnTo>
                  <a:pt x="6858000" y="5817689"/>
                </a:lnTo>
                <a:lnTo>
                  <a:pt x="0" y="5817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Freeform 3"/>
          <p:cNvSpPr/>
          <p:nvPr/>
        </p:nvSpPr>
        <p:spPr>
          <a:xfrm>
            <a:off x="5644896" y="2360676"/>
            <a:ext cx="1845564" cy="1696212"/>
          </a:xfrm>
          <a:custGeom>
            <a:avLst/>
            <a:gdLst/>
            <a:ahLst/>
            <a:cxnLst/>
            <a:rect l="l" t="t" r="r" b="b"/>
            <a:pathLst>
              <a:path w="1845564" h="1696212">
                <a:moveTo>
                  <a:pt x="0" y="0"/>
                </a:moveTo>
                <a:lnTo>
                  <a:pt x="1845564" y="0"/>
                </a:lnTo>
                <a:lnTo>
                  <a:pt x="1845564" y="1696212"/>
                </a:lnTo>
                <a:lnTo>
                  <a:pt x="0" y="1696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4" name="Freeform 4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5" name="TextBox 5"/>
          <p:cNvSpPr txBox="1"/>
          <p:nvPr/>
        </p:nvSpPr>
        <p:spPr>
          <a:xfrm>
            <a:off x="11904850" y="6483725"/>
            <a:ext cx="104975" cy="29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09"/>
              </a:lnSpc>
            </a:pPr>
            <a:r>
              <a:rPr lang="en-US" sz="15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1521209"/>
            <a:ext cx="5347510" cy="451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909"/>
              </a:lnSpc>
            </a:pPr>
            <a:r>
              <a:rPr lang="en-US" sz="159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Código:</a:t>
            </a:r>
          </a:p>
          <a:p>
            <a:pPr marL="0" lvl="1" indent="0" algn="l">
              <a:lnSpc>
                <a:spcPts val="1909"/>
              </a:lnSpc>
            </a:pPr>
            <a:r>
              <a:rPr lang="en-US" sz="159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Posible contraseña que se puede introducir en el candado. </a:t>
            </a:r>
          </a:p>
          <a:p>
            <a:pPr marL="0" lvl="0" indent="0" algn="l">
              <a:lnSpc>
                <a:spcPts val="1909"/>
              </a:lnSpc>
            </a:pPr>
            <a:endParaRPr lang="en-US" sz="159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0" lvl="1" indent="0" algn="l">
              <a:lnSpc>
                <a:spcPts val="1909"/>
              </a:lnSpc>
            </a:pPr>
            <a:r>
              <a:rPr lang="en-US" sz="159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Elementos del código: </a:t>
            </a:r>
          </a:p>
          <a:p>
            <a:pPr marL="0" lvl="1" indent="0" algn="l">
              <a:lnSpc>
                <a:spcPts val="1909"/>
              </a:lnSpc>
            </a:pPr>
            <a:r>
              <a:rPr lang="en-US" sz="159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Números, letras, símbolos,... que componen un código.</a:t>
            </a:r>
          </a:p>
          <a:p>
            <a:pPr marL="0" lvl="0" indent="0" algn="l">
              <a:lnSpc>
                <a:spcPts val="1909"/>
              </a:lnSpc>
            </a:pPr>
            <a:endParaRPr lang="en-US" sz="159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0" lvl="0" indent="0" algn="l">
              <a:lnSpc>
                <a:spcPts val="1909"/>
              </a:lnSpc>
            </a:pPr>
            <a:r>
              <a:rPr lang="en-US" sz="159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Casilla:</a:t>
            </a:r>
          </a:p>
          <a:p>
            <a:pPr marL="0" lvl="1" indent="0" algn="l">
              <a:lnSpc>
                <a:spcPts val="1909"/>
              </a:lnSpc>
            </a:pPr>
            <a:r>
              <a:rPr lang="en-US" sz="159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Espacio (físico o no) del candado en el que se introducen los elementos del código.</a:t>
            </a:r>
          </a:p>
          <a:p>
            <a:pPr marL="0" lvl="0" indent="0" algn="l">
              <a:lnSpc>
                <a:spcPts val="1909"/>
              </a:lnSpc>
            </a:pPr>
            <a:endParaRPr lang="en-US" sz="159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0" lvl="1" indent="0" algn="l">
              <a:lnSpc>
                <a:spcPts val="1909"/>
              </a:lnSpc>
            </a:pPr>
            <a:r>
              <a:rPr lang="en-US" sz="159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Elementos de casilla:</a:t>
            </a:r>
          </a:p>
          <a:p>
            <a:pPr marL="0" lvl="1" indent="0" algn="l">
              <a:lnSpc>
                <a:spcPts val="1909"/>
              </a:lnSpc>
            </a:pPr>
            <a:r>
              <a:rPr lang="en-US" sz="159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Números, letras, símbolos,... que pueden insertarse en una casilla.</a:t>
            </a:r>
          </a:p>
          <a:p>
            <a:pPr marL="0" lvl="0" indent="0" algn="l">
              <a:lnSpc>
                <a:spcPts val="1909"/>
              </a:lnSpc>
            </a:pPr>
            <a:endParaRPr lang="en-US" sz="159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0" lvl="1" indent="0" algn="l">
              <a:lnSpc>
                <a:spcPts val="1909"/>
              </a:lnSpc>
            </a:pPr>
            <a:r>
              <a:rPr lang="en-US" sz="159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Contraseña:</a:t>
            </a:r>
          </a:p>
          <a:p>
            <a:pPr marL="0" lvl="1" indent="0" algn="l">
              <a:lnSpc>
                <a:spcPts val="1909"/>
              </a:lnSpc>
            </a:pPr>
            <a:r>
              <a:rPr lang="en-US" sz="159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Código correcto. Cuando lo introduzcamos, el candado se abre.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4125" y="1511684"/>
            <a:ext cx="4192075" cy="4705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5"/>
              </a:lnSpc>
            </a:pPr>
            <a:r>
              <a:rPr lang="en-US" sz="1629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Código:</a:t>
            </a:r>
          </a:p>
          <a:p>
            <a:pPr algn="l">
              <a:lnSpc>
                <a:spcPts val="1955"/>
              </a:lnSpc>
            </a:pPr>
            <a:r>
              <a:rPr lang="en-US" sz="1629">
                <a:solidFill>
                  <a:srgbClr val="733EF6"/>
                </a:solidFill>
                <a:latin typeface="Garet"/>
                <a:ea typeface="Garet"/>
                <a:cs typeface="Garet"/>
                <a:sym typeface="Garet"/>
              </a:rPr>
              <a:t>1234, 2930, 1240, ... entre otras posibilidades.</a:t>
            </a:r>
          </a:p>
          <a:p>
            <a:pPr algn="l">
              <a:lnSpc>
                <a:spcPts val="1955"/>
              </a:lnSpc>
            </a:pPr>
            <a:endParaRPr lang="en-US" sz="1629">
              <a:solidFill>
                <a:srgbClr val="733EF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55"/>
              </a:lnSpc>
            </a:pPr>
            <a:r>
              <a:rPr lang="en-US" sz="1629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Elementos del código: </a:t>
            </a:r>
          </a:p>
          <a:p>
            <a:pPr algn="l">
              <a:lnSpc>
                <a:spcPts val="1955"/>
              </a:lnSpc>
            </a:pPr>
            <a:r>
              <a:rPr lang="en-US" sz="1629">
                <a:solidFill>
                  <a:srgbClr val="733EF6"/>
                </a:solidFill>
                <a:latin typeface="Garet"/>
                <a:ea typeface="Garet"/>
                <a:cs typeface="Garet"/>
                <a:sym typeface="Garet"/>
              </a:rPr>
              <a:t>El código 1234 tiene 4 elementos: 1, 2, 3 y 4.</a:t>
            </a:r>
          </a:p>
          <a:p>
            <a:pPr algn="l">
              <a:lnSpc>
                <a:spcPts val="1955"/>
              </a:lnSpc>
            </a:pPr>
            <a:endParaRPr lang="en-US" sz="1629">
              <a:solidFill>
                <a:srgbClr val="733EF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55"/>
              </a:lnSpc>
            </a:pPr>
            <a:r>
              <a:rPr lang="en-US" sz="1629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Casilla:</a:t>
            </a:r>
          </a:p>
          <a:p>
            <a:pPr algn="l">
              <a:lnSpc>
                <a:spcPts val="1955"/>
              </a:lnSpc>
            </a:pPr>
            <a:r>
              <a:rPr lang="en-US" sz="1629">
                <a:solidFill>
                  <a:srgbClr val="733EF6"/>
                </a:solidFill>
                <a:latin typeface="Garet"/>
                <a:ea typeface="Garet"/>
                <a:cs typeface="Garet"/>
                <a:sym typeface="Garet"/>
              </a:rPr>
              <a:t>Tiene 4 casillas. Cada espacio donde insertamos una cifra</a:t>
            </a:r>
          </a:p>
          <a:p>
            <a:pPr algn="l">
              <a:lnSpc>
                <a:spcPts val="1955"/>
              </a:lnSpc>
            </a:pPr>
            <a:endParaRPr lang="en-US" sz="1629">
              <a:solidFill>
                <a:srgbClr val="733EF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55"/>
              </a:lnSpc>
            </a:pPr>
            <a:r>
              <a:rPr lang="en-US" sz="1629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Elementos de casilla:</a:t>
            </a:r>
          </a:p>
          <a:p>
            <a:pPr algn="l">
              <a:lnSpc>
                <a:spcPts val="1955"/>
              </a:lnSpc>
            </a:pPr>
            <a:r>
              <a:rPr lang="en-US" sz="1629">
                <a:solidFill>
                  <a:srgbClr val="733EF6"/>
                </a:solidFill>
                <a:latin typeface="Garet"/>
                <a:ea typeface="Garet"/>
                <a:cs typeface="Garet"/>
                <a:sym typeface="Garet"/>
              </a:rPr>
              <a:t>Números entre 0 y 9. Opciones que tenemos en cada casilla.</a:t>
            </a:r>
          </a:p>
          <a:p>
            <a:pPr algn="l">
              <a:lnSpc>
                <a:spcPts val="1955"/>
              </a:lnSpc>
            </a:pPr>
            <a:endParaRPr lang="en-US" sz="1629">
              <a:solidFill>
                <a:srgbClr val="733EF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55"/>
              </a:lnSpc>
            </a:pPr>
            <a:r>
              <a:rPr lang="en-US" sz="1629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Contraseña:</a:t>
            </a:r>
          </a:p>
          <a:p>
            <a:pPr algn="l">
              <a:lnSpc>
                <a:spcPts val="1955"/>
              </a:lnSpc>
            </a:pPr>
            <a:r>
              <a:rPr lang="en-US" sz="1629">
                <a:solidFill>
                  <a:srgbClr val="733EF6"/>
                </a:solidFill>
                <a:latin typeface="Garet"/>
                <a:ea typeface="Garet"/>
                <a:cs typeface="Garet"/>
                <a:sym typeface="Garet"/>
              </a:rPr>
              <a:t>4921 (Porque cuando lo insertamos, se abre)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1035434"/>
            <a:ext cx="5984436" cy="219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752"/>
              </a:lnSpc>
            </a:pPr>
            <a:r>
              <a:rPr lang="en-US" sz="1460" b="1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Vocabulario: palabras que es necesario aclarar su significado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0420" y="50283"/>
            <a:ext cx="10945780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21"/>
              </a:lnSpc>
            </a:pPr>
            <a:r>
              <a:rPr lang="en-US" sz="22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Q₀: De la siguiente colección de candados, ¿cuál es más seguro?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03064" y="0"/>
            <a:ext cx="4575048" cy="2953512"/>
          </a:xfrm>
          <a:custGeom>
            <a:avLst/>
            <a:gdLst/>
            <a:ahLst/>
            <a:cxnLst/>
            <a:rect l="l" t="t" r="r" b="b"/>
            <a:pathLst>
              <a:path w="4575048" h="2953512">
                <a:moveTo>
                  <a:pt x="0" y="0"/>
                </a:moveTo>
                <a:lnTo>
                  <a:pt x="4575048" y="0"/>
                </a:lnTo>
                <a:lnTo>
                  <a:pt x="4575048" y="2953512"/>
                </a:lnTo>
                <a:lnTo>
                  <a:pt x="0" y="2953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TextBox 13"/>
          <p:cNvSpPr txBox="1"/>
          <p:nvPr/>
        </p:nvSpPr>
        <p:spPr>
          <a:xfrm>
            <a:off x="11904850" y="6483725"/>
            <a:ext cx="104975" cy="29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09"/>
              </a:lnSpc>
            </a:pPr>
            <a:r>
              <a:rPr lang="en-US" sz="15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7743" y="1676400"/>
            <a:ext cx="10656514" cy="346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27"/>
              </a:lnSpc>
              <a:spcBef>
                <a:spcPct val="0"/>
              </a:spcBef>
            </a:pPr>
            <a:r>
              <a:rPr lang="en-US" sz="7523" u="sng" strike="noStrike" spc="3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</a:t>
            </a:r>
            <a:r>
              <a:rPr lang="en-US" sz="7523" strike="noStrike" spc="3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7523" u="sng" strike="noStrike" spc="3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¿Cuántos</a:t>
            </a:r>
            <a:r>
              <a:rPr lang="en-US" sz="7523" strike="noStrike" spc="3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7523" u="sng" strike="noStrike" spc="3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códigos diferentes</a:t>
            </a:r>
            <a:r>
              <a:rPr lang="en-US" sz="7523" strike="noStrike" spc="3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admite cada candado?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8745780">
            <a:off x="7795089" y="2852995"/>
            <a:ext cx="5853922" cy="4530557"/>
            <a:chOff x="0" y="0"/>
            <a:chExt cx="7805230" cy="60407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05165" cy="6040755"/>
            </a:xfrm>
            <a:custGeom>
              <a:avLst/>
              <a:gdLst/>
              <a:ahLst/>
              <a:cxnLst/>
              <a:rect l="l" t="t" r="r" b="b"/>
              <a:pathLst>
                <a:path w="7805165" h="6040755">
                  <a:moveTo>
                    <a:pt x="6096" y="6040755"/>
                  </a:moveTo>
                  <a:lnTo>
                    <a:pt x="7805165" y="5978271"/>
                  </a:lnTo>
                  <a:lnTo>
                    <a:pt x="7780147" y="2853309"/>
                  </a:lnTo>
                  <a:lnTo>
                    <a:pt x="3587369" y="0"/>
                  </a:lnTo>
                  <a:lnTo>
                    <a:pt x="0" y="5271389"/>
                  </a:lnTo>
                  <a:lnTo>
                    <a:pt x="2794" y="5626862"/>
                  </a:lnTo>
                  <a:lnTo>
                    <a:pt x="6096" y="6040755"/>
                  </a:lnTo>
                  <a:close/>
                </a:path>
              </a:pathLst>
            </a:custGeom>
            <a:blipFill>
              <a:blip r:embed="rId2"/>
              <a:stretch>
                <a:fillRect l="-539" t="-553" b="-3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344667" y="3688080"/>
            <a:ext cx="345443" cy="350520"/>
          </a:xfrm>
          <a:custGeom>
            <a:avLst/>
            <a:gdLst/>
            <a:ahLst/>
            <a:cxnLst/>
            <a:rect l="l" t="t" r="r" b="b"/>
            <a:pathLst>
              <a:path w="345443" h="350520">
                <a:moveTo>
                  <a:pt x="0" y="0"/>
                </a:moveTo>
                <a:lnTo>
                  <a:pt x="345443" y="0"/>
                </a:lnTo>
                <a:lnTo>
                  <a:pt x="345443" y="350520"/>
                </a:lnTo>
                <a:lnTo>
                  <a:pt x="0" y="350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5" name="Freeform 5"/>
          <p:cNvSpPr/>
          <p:nvPr/>
        </p:nvSpPr>
        <p:spPr>
          <a:xfrm>
            <a:off x="4603747" y="3688080"/>
            <a:ext cx="331470" cy="350520"/>
          </a:xfrm>
          <a:custGeom>
            <a:avLst/>
            <a:gdLst/>
            <a:ahLst/>
            <a:cxnLst/>
            <a:rect l="l" t="t" r="r" b="b"/>
            <a:pathLst>
              <a:path w="331470" h="350520">
                <a:moveTo>
                  <a:pt x="0" y="0"/>
                </a:moveTo>
                <a:lnTo>
                  <a:pt x="331470" y="0"/>
                </a:lnTo>
                <a:lnTo>
                  <a:pt x="331470" y="350520"/>
                </a:lnTo>
                <a:lnTo>
                  <a:pt x="0" y="350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6" name="Freeform 6"/>
          <p:cNvSpPr/>
          <p:nvPr/>
        </p:nvSpPr>
        <p:spPr>
          <a:xfrm>
            <a:off x="7397496" y="1082040"/>
            <a:ext cx="1790700" cy="2008632"/>
          </a:xfrm>
          <a:custGeom>
            <a:avLst/>
            <a:gdLst/>
            <a:ahLst/>
            <a:cxnLst/>
            <a:rect l="l" t="t" r="r" b="b"/>
            <a:pathLst>
              <a:path w="1790700" h="2008632">
                <a:moveTo>
                  <a:pt x="0" y="0"/>
                </a:moveTo>
                <a:lnTo>
                  <a:pt x="1790700" y="0"/>
                </a:lnTo>
                <a:lnTo>
                  <a:pt x="1790700" y="2008632"/>
                </a:lnTo>
                <a:lnTo>
                  <a:pt x="0" y="20086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17" t="-15244" r="-78255" b="-3439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7" name="Freeform 7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" name="TextBox 8"/>
          <p:cNvSpPr txBox="1"/>
          <p:nvPr/>
        </p:nvSpPr>
        <p:spPr>
          <a:xfrm>
            <a:off x="11904850" y="6483725"/>
            <a:ext cx="104975" cy="29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09"/>
              </a:lnSpc>
            </a:pPr>
            <a:r>
              <a:rPr lang="en-US" sz="15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59"/>
              </a:lnSpc>
            </a:pP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¿Cuántos códigos diferentes admite cada candado?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0684" y="2484559"/>
            <a:ext cx="5494133" cy="361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9037" lvl="1" indent="-234518" algn="l">
              <a:lnSpc>
                <a:spcPts val="2606"/>
              </a:lnSpc>
              <a:spcBef>
                <a:spcPct val="0"/>
              </a:spcBef>
              <a:buFont typeface="Arial"/>
              <a:buChar char="•"/>
            </a:pPr>
            <a:r>
              <a:rPr lang="en-US" sz="2172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puede elegir cualquier contraseña de 4 números.</a:t>
            </a:r>
          </a:p>
          <a:p>
            <a:pPr marL="0" lvl="0" indent="0" algn="l">
              <a:lnSpc>
                <a:spcPts val="2606"/>
              </a:lnSpc>
              <a:spcBef>
                <a:spcPct val="0"/>
              </a:spcBef>
            </a:pPr>
            <a:endParaRPr lang="en-US" sz="2172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037" lvl="1" indent="-234518" algn="l">
              <a:lnSpc>
                <a:spcPts val="2606"/>
              </a:lnSpc>
              <a:spcBef>
                <a:spcPct val="0"/>
              </a:spcBef>
              <a:buFont typeface="Arial"/>
              <a:buChar char="•"/>
            </a:pPr>
            <a:r>
              <a:rPr lang="en-US" sz="2172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casillas son discos que giran, con 10 números comprendidos del 0 al 9.</a:t>
            </a:r>
          </a:p>
          <a:p>
            <a:pPr marL="0" lvl="0" indent="0" algn="l">
              <a:lnSpc>
                <a:spcPts val="2606"/>
              </a:lnSpc>
              <a:spcBef>
                <a:spcPct val="0"/>
              </a:spcBef>
            </a:pPr>
            <a:endParaRPr lang="en-US" sz="2172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037" lvl="1" indent="-234518" algn="l">
              <a:lnSpc>
                <a:spcPts val="2606"/>
              </a:lnSpc>
              <a:spcBef>
                <a:spcPct val="0"/>
              </a:spcBef>
              <a:buFont typeface="Arial"/>
              <a:buChar char="•"/>
            </a:pPr>
            <a:r>
              <a:rPr lang="en-US" sz="2172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poder abrir el candado, es necesario que se muevan los discos de forma que la contraseña aparezca correctamente situada en cada una de las 4 casillas.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42087" y="1672653"/>
            <a:ext cx="5252731" cy="448805"/>
            <a:chOff x="0" y="0"/>
            <a:chExt cx="7050116" cy="60237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50145" cy="602384"/>
            </a:xfrm>
            <a:custGeom>
              <a:avLst/>
              <a:gdLst/>
              <a:ahLst/>
              <a:cxnLst/>
              <a:rect l="l" t="t" r="r" b="b"/>
              <a:pathLst>
                <a:path w="7050145" h="602384">
                  <a:moveTo>
                    <a:pt x="0" y="0"/>
                  </a:moveTo>
                  <a:lnTo>
                    <a:pt x="7050145" y="0"/>
                  </a:lnTo>
                  <a:lnTo>
                    <a:pt x="7050145" y="602384"/>
                  </a:lnTo>
                  <a:lnTo>
                    <a:pt x="0" y="602384"/>
                  </a:lnTo>
                  <a:close/>
                </a:path>
              </a:pathLst>
            </a:custGeom>
            <a:solidFill>
              <a:srgbClr val="C7C7D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7050116" cy="630952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marL="0" lvl="0" indent="0" algn="ctr">
                <a:lnSpc>
                  <a:spcPts val="2234"/>
                </a:lnSpc>
              </a:pPr>
              <a:r>
                <a:rPr lang="en-US" sz="1862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Candado 1</a:t>
              </a:r>
              <a:r>
                <a:rPr lang="en-US" sz="1862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: </a:t>
              </a:r>
              <a:r>
                <a:rPr lang="en-US" sz="1862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Candado</a:t>
              </a:r>
              <a:r>
                <a:rPr lang="en-US" sz="1862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862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</a:t>
              </a:r>
              <a:r>
                <a:rPr lang="en-US" sz="1862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862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numeración</a:t>
              </a:r>
              <a:r>
                <a:rPr lang="en-US" sz="1862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862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</a:t>
              </a:r>
              <a:r>
                <a:rPr lang="en-US" sz="1862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862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ruleta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938064"/>
            <a:ext cx="5908548" cy="2919603"/>
          </a:xfrm>
          <a:custGeom>
            <a:avLst/>
            <a:gdLst/>
            <a:ahLst/>
            <a:cxnLst/>
            <a:rect l="l" t="t" r="r" b="b"/>
            <a:pathLst>
              <a:path w="5908548" h="2919603">
                <a:moveTo>
                  <a:pt x="0" y="0"/>
                </a:moveTo>
                <a:lnTo>
                  <a:pt x="5908548" y="0"/>
                </a:lnTo>
                <a:lnTo>
                  <a:pt x="5908548" y="2919603"/>
                </a:lnTo>
                <a:lnTo>
                  <a:pt x="0" y="2919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Freeform 3"/>
          <p:cNvSpPr/>
          <p:nvPr/>
        </p:nvSpPr>
        <p:spPr>
          <a:xfrm>
            <a:off x="1220624" y="4175122"/>
            <a:ext cx="2188464" cy="2182368"/>
          </a:xfrm>
          <a:custGeom>
            <a:avLst/>
            <a:gdLst/>
            <a:ahLst/>
            <a:cxnLst/>
            <a:rect l="l" t="t" r="r" b="b"/>
            <a:pathLst>
              <a:path w="2188464" h="2182368">
                <a:moveTo>
                  <a:pt x="0" y="0"/>
                </a:moveTo>
                <a:lnTo>
                  <a:pt x="2188464" y="0"/>
                </a:lnTo>
                <a:lnTo>
                  <a:pt x="2188464" y="2182368"/>
                </a:lnTo>
                <a:lnTo>
                  <a:pt x="0" y="21823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5908548" y="1769364"/>
            <a:ext cx="5338572" cy="3319272"/>
            <a:chOff x="0" y="0"/>
            <a:chExt cx="7118096" cy="44256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118096" cy="4425696"/>
            </a:xfrm>
            <a:custGeom>
              <a:avLst/>
              <a:gdLst/>
              <a:ahLst/>
              <a:cxnLst/>
              <a:rect l="l" t="t" r="r" b="b"/>
              <a:pathLst>
                <a:path w="7118096" h="4425696">
                  <a:moveTo>
                    <a:pt x="0" y="0"/>
                  </a:moveTo>
                  <a:lnTo>
                    <a:pt x="0" y="4425696"/>
                  </a:lnTo>
                  <a:lnTo>
                    <a:pt x="7118096" y="4425696"/>
                  </a:lnTo>
                  <a:lnTo>
                    <a:pt x="7118096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6" name="Freeform 6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7" name="Freeform 7"/>
          <p:cNvSpPr/>
          <p:nvPr/>
        </p:nvSpPr>
        <p:spPr>
          <a:xfrm>
            <a:off x="6998332" y="5459473"/>
            <a:ext cx="2700528" cy="10668"/>
          </a:xfrm>
          <a:custGeom>
            <a:avLst/>
            <a:gdLst/>
            <a:ahLst/>
            <a:cxnLst/>
            <a:rect l="l" t="t" r="r" b="b"/>
            <a:pathLst>
              <a:path w="2700528" h="10668">
                <a:moveTo>
                  <a:pt x="0" y="0"/>
                </a:moveTo>
                <a:lnTo>
                  <a:pt x="2700528" y="0"/>
                </a:lnTo>
                <a:lnTo>
                  <a:pt x="2700528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" name="TextBox 8"/>
          <p:cNvSpPr txBox="1"/>
          <p:nvPr/>
        </p:nvSpPr>
        <p:spPr>
          <a:xfrm>
            <a:off x="6999094" y="5191201"/>
            <a:ext cx="2752830" cy="306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spc="-30">
                <a:solidFill>
                  <a:srgbClr val="0563C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8" tooltip="https://youtu.be/zSUG5iQniSc"/>
              </a:rPr>
              <a:t>https://youtu.be/zSUG5iQniSc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59"/>
              </a:lnSpc>
            </a:pP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¿Cuántos códigos diferentes admite cada candado?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6761" y="1721739"/>
            <a:ext cx="5097059" cy="304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5" lvl="1" indent="-237487" algn="l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puede elegir una contraseña de como máximo 3 cifras: 1, 2 o 3 cifras.</a:t>
            </a:r>
          </a:p>
          <a:p>
            <a:pPr marL="0" lvl="0" indent="0" algn="l">
              <a:lnSpc>
                <a:spcPts val="2639"/>
              </a:lnSpc>
              <a:spcBef>
                <a:spcPct val="0"/>
              </a:spcBef>
            </a:pPr>
            <a:endParaRPr lang="en-US" sz="2199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4975" lvl="1" indent="-237487" algn="l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candado no detecta el orden con el que pulsamos las cifras.</a:t>
            </a:r>
          </a:p>
          <a:p>
            <a:pPr marL="0" lvl="0" indent="0" algn="l">
              <a:lnSpc>
                <a:spcPts val="2639"/>
              </a:lnSpc>
              <a:spcBef>
                <a:spcPct val="0"/>
              </a:spcBef>
            </a:pPr>
            <a:endParaRPr lang="en-US" sz="2199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4975" lvl="1" indent="-237487" algn="l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abrirlo debe desplazarse la pestaña inferior.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85800" y="907191"/>
            <a:ext cx="5252731" cy="475046"/>
            <a:chOff x="0" y="0"/>
            <a:chExt cx="7050116" cy="6375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50145" cy="637605"/>
            </a:xfrm>
            <a:custGeom>
              <a:avLst/>
              <a:gdLst/>
              <a:ahLst/>
              <a:cxnLst/>
              <a:rect l="l" t="t" r="r" b="b"/>
              <a:pathLst>
                <a:path w="7050145" h="637605">
                  <a:moveTo>
                    <a:pt x="0" y="0"/>
                  </a:moveTo>
                  <a:lnTo>
                    <a:pt x="7050145" y="0"/>
                  </a:lnTo>
                  <a:lnTo>
                    <a:pt x="7050145" y="637605"/>
                  </a:lnTo>
                  <a:lnTo>
                    <a:pt x="0" y="637605"/>
                  </a:lnTo>
                  <a:close/>
                </a:path>
              </a:pathLst>
            </a:custGeom>
            <a:solidFill>
              <a:srgbClr val="C7C7D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7050116" cy="637598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marL="0" lvl="0" indent="0" algn="ctr">
                <a:lnSpc>
                  <a:spcPts val="2399"/>
                </a:lnSpc>
              </a:pP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Candado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: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Candado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pulsador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15606" y="1382238"/>
            <a:ext cx="2851404" cy="2895600"/>
          </a:xfrm>
          <a:custGeom>
            <a:avLst/>
            <a:gdLst/>
            <a:ahLst/>
            <a:cxnLst/>
            <a:rect l="l" t="t" r="r" b="b"/>
            <a:pathLst>
              <a:path w="2851404" h="2895600">
                <a:moveTo>
                  <a:pt x="0" y="0"/>
                </a:moveTo>
                <a:lnTo>
                  <a:pt x="2851404" y="0"/>
                </a:lnTo>
                <a:lnTo>
                  <a:pt x="2851404" y="2895600"/>
                </a:lnTo>
                <a:lnTo>
                  <a:pt x="0" y="2895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1359420">
            <a:off x="-490452" y="4584059"/>
            <a:ext cx="5520338" cy="3090386"/>
            <a:chOff x="0" y="0"/>
            <a:chExt cx="7360450" cy="41205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60412" cy="4120515"/>
            </a:xfrm>
            <a:custGeom>
              <a:avLst/>
              <a:gdLst/>
              <a:ahLst/>
              <a:cxnLst/>
              <a:rect l="l" t="t" r="r" b="b"/>
              <a:pathLst>
                <a:path w="7360412" h="4120515">
                  <a:moveTo>
                    <a:pt x="6858" y="0"/>
                  </a:moveTo>
                  <a:lnTo>
                    <a:pt x="0" y="1101090"/>
                  </a:lnTo>
                  <a:lnTo>
                    <a:pt x="1260348" y="4120515"/>
                  </a:lnTo>
                  <a:lnTo>
                    <a:pt x="1266698" y="4120515"/>
                  </a:lnTo>
                  <a:lnTo>
                    <a:pt x="7350887" y="1580896"/>
                  </a:lnTo>
                  <a:lnTo>
                    <a:pt x="7360412" y="45974"/>
                  </a:lnTo>
                  <a:lnTo>
                    <a:pt x="5446395" y="34036"/>
                  </a:lnTo>
                  <a:lnTo>
                    <a:pt x="6858" y="0"/>
                  </a:lnTo>
                  <a:close/>
                </a:path>
              </a:pathLst>
            </a:custGeom>
            <a:blipFill>
              <a:blip r:embed="rId3"/>
              <a:stretch>
                <a:fillRect l="-255" t="-1" b="-920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5" name="Freeform 5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6" name="TextBox 6"/>
          <p:cNvSpPr txBox="1"/>
          <p:nvPr/>
        </p:nvSpPr>
        <p:spPr>
          <a:xfrm>
            <a:off x="11904850" y="6483725"/>
            <a:ext cx="104975" cy="29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09"/>
              </a:lnSpc>
            </a:pPr>
            <a:r>
              <a:rPr lang="en-US" sz="15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59"/>
              </a:lnSpc>
            </a:pP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¿Cuántos códigos diferentes admite cada candado?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82723" y="907191"/>
            <a:ext cx="5252731" cy="475046"/>
            <a:chOff x="0" y="0"/>
            <a:chExt cx="7050116" cy="6375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50145" cy="637605"/>
            </a:xfrm>
            <a:custGeom>
              <a:avLst/>
              <a:gdLst/>
              <a:ahLst/>
              <a:cxnLst/>
              <a:rect l="l" t="t" r="r" b="b"/>
              <a:pathLst>
                <a:path w="7050145" h="637605">
                  <a:moveTo>
                    <a:pt x="0" y="0"/>
                  </a:moveTo>
                  <a:lnTo>
                    <a:pt x="7050145" y="0"/>
                  </a:lnTo>
                  <a:lnTo>
                    <a:pt x="7050145" y="637605"/>
                  </a:lnTo>
                  <a:lnTo>
                    <a:pt x="0" y="637605"/>
                  </a:lnTo>
                  <a:close/>
                </a:path>
              </a:pathLst>
            </a:custGeom>
            <a:solidFill>
              <a:srgbClr val="C7C7D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7050116" cy="637598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marL="0" lvl="0" indent="0" algn="ctr">
                <a:lnSpc>
                  <a:spcPts val="2399"/>
                </a:lnSpc>
              </a:pP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Candado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: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Candado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fechas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16761" y="1721739"/>
            <a:ext cx="7277569" cy="271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5" lvl="1" indent="-237487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contraseña puede ser cualquier fecha que tenga el formato DD – M – AA</a:t>
            </a:r>
          </a:p>
          <a:p>
            <a:pPr marL="0" lvl="0" indent="0" algn="l">
              <a:lnSpc>
                <a:spcPts val="2639"/>
              </a:lnSpc>
            </a:pPr>
            <a:endParaRPr lang="en-US" sz="21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permitidas también fechas irreales: 35 – ENERO – 24</a:t>
            </a:r>
          </a:p>
          <a:p>
            <a:pPr marL="0" lvl="0" indent="0" algn="l">
              <a:lnSpc>
                <a:spcPts val="2639"/>
              </a:lnSpc>
            </a:pPr>
            <a:endParaRPr lang="en-US" sz="21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abrirlo es necesario mover los discos para que la fecha quede visible, en las posiciones que corresponden a DD, M o AA.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08036" y="2534412"/>
            <a:ext cx="4283964" cy="4323588"/>
          </a:xfrm>
          <a:custGeom>
            <a:avLst/>
            <a:gdLst/>
            <a:ahLst/>
            <a:cxnLst/>
            <a:rect l="l" t="t" r="r" b="b"/>
            <a:pathLst>
              <a:path w="4283964" h="4323588">
                <a:moveTo>
                  <a:pt x="0" y="0"/>
                </a:moveTo>
                <a:lnTo>
                  <a:pt x="4283964" y="0"/>
                </a:lnTo>
                <a:lnTo>
                  <a:pt x="4283964" y="4323588"/>
                </a:lnTo>
                <a:lnTo>
                  <a:pt x="0" y="4323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Freeform 3"/>
          <p:cNvSpPr/>
          <p:nvPr/>
        </p:nvSpPr>
        <p:spPr>
          <a:xfrm>
            <a:off x="6847332" y="1461516"/>
            <a:ext cx="3329940" cy="3429000"/>
          </a:xfrm>
          <a:custGeom>
            <a:avLst/>
            <a:gdLst/>
            <a:ahLst/>
            <a:cxnLst/>
            <a:rect l="l" t="t" r="r" b="b"/>
            <a:pathLst>
              <a:path w="3329940" h="3429000">
                <a:moveTo>
                  <a:pt x="0" y="0"/>
                </a:moveTo>
                <a:lnTo>
                  <a:pt x="3329940" y="0"/>
                </a:lnTo>
                <a:lnTo>
                  <a:pt x="332994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4" name="Freeform 4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5" name="TextBox 5"/>
          <p:cNvSpPr txBox="1"/>
          <p:nvPr/>
        </p:nvSpPr>
        <p:spPr>
          <a:xfrm>
            <a:off x="11904850" y="6483725"/>
            <a:ext cx="104975" cy="29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09"/>
              </a:lnSpc>
            </a:pPr>
            <a:r>
              <a:rPr lang="en-US" sz="15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0980" y="1601069"/>
            <a:ext cx="5680236" cy="455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9676" lvl="1" indent="-179838" algn="l">
              <a:lnSpc>
                <a:spcPts val="2384"/>
              </a:lnSpc>
              <a:buFont typeface="Arial"/>
              <a:buChar char="•"/>
            </a:pPr>
            <a:r>
              <a:rPr lang="en-US" sz="19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 puede elegir cualquier contraseña con palabras de 5 letras.</a:t>
            </a:r>
          </a:p>
          <a:p>
            <a:pPr marL="0" lvl="0" indent="0" algn="l">
              <a:lnSpc>
                <a:spcPts val="2384"/>
              </a:lnSpc>
            </a:pPr>
            <a:endParaRPr lang="en-US" sz="198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9676" lvl="1" indent="-179838" algn="l">
              <a:lnSpc>
                <a:spcPts val="2384"/>
              </a:lnSpc>
              <a:buFont typeface="Arial"/>
              <a:buChar char="•"/>
            </a:pPr>
            <a:r>
              <a:rPr lang="en-US" sz="19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Sólo están disponibles 10 letras en cada disco.</a:t>
            </a:r>
          </a:p>
          <a:p>
            <a:pPr marL="0" lvl="0" indent="0" algn="l">
              <a:lnSpc>
                <a:spcPts val="2384"/>
              </a:lnSpc>
            </a:pPr>
            <a:endParaRPr lang="en-US" sz="198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9676" lvl="1" indent="-179838" algn="l">
              <a:lnSpc>
                <a:spcPts val="2384"/>
              </a:lnSpc>
              <a:buFont typeface="Arial"/>
              <a:buChar char="•"/>
            </a:pPr>
            <a:r>
              <a:rPr lang="en-US" sz="19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El candado no tiene forma de comprobar si la palabra introducida tiene o no sentido. Por tanto, la contraseña puede ser una palabra sin sentido.</a:t>
            </a:r>
          </a:p>
          <a:p>
            <a:pPr marL="0" lvl="0" indent="0" algn="l">
              <a:lnSpc>
                <a:spcPts val="2384"/>
              </a:lnSpc>
            </a:pPr>
            <a:endParaRPr lang="en-US" sz="198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9676" lvl="1" indent="-179838" algn="l">
              <a:lnSpc>
                <a:spcPts val="2384"/>
              </a:lnSpc>
              <a:buFont typeface="Arial"/>
              <a:buChar char="•"/>
            </a:pPr>
            <a:r>
              <a:rPr lang="en-US" sz="19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Hay letras repetidas en los distintos discos.</a:t>
            </a:r>
          </a:p>
          <a:p>
            <a:pPr marL="0" lvl="0" indent="0" algn="l">
              <a:lnSpc>
                <a:spcPts val="2384"/>
              </a:lnSpc>
            </a:pPr>
            <a:endParaRPr lang="en-US" sz="198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9676" lvl="1" indent="-179838" algn="l">
              <a:lnSpc>
                <a:spcPts val="2384"/>
              </a:lnSpc>
              <a:buFont typeface="Arial"/>
              <a:buChar char="•"/>
            </a:pPr>
            <a:r>
              <a:rPr lang="en-US" sz="19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Para abrirlo es necesario que se muevan los discos de forma que la contraseña aparezca en la posición contigua a la pestaña.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59"/>
              </a:lnSpc>
            </a:pP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¿Cuántos códigos diferentes admite cada candado?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82723" y="907191"/>
            <a:ext cx="5252731" cy="475046"/>
            <a:chOff x="0" y="0"/>
            <a:chExt cx="7050116" cy="6375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50145" cy="637605"/>
            </a:xfrm>
            <a:custGeom>
              <a:avLst/>
              <a:gdLst/>
              <a:ahLst/>
              <a:cxnLst/>
              <a:rect l="l" t="t" r="r" b="b"/>
              <a:pathLst>
                <a:path w="7050145" h="637605">
                  <a:moveTo>
                    <a:pt x="0" y="0"/>
                  </a:moveTo>
                  <a:lnTo>
                    <a:pt x="7050145" y="0"/>
                  </a:lnTo>
                  <a:lnTo>
                    <a:pt x="7050145" y="637605"/>
                  </a:lnTo>
                  <a:lnTo>
                    <a:pt x="0" y="637605"/>
                  </a:lnTo>
                  <a:close/>
                </a:path>
              </a:pathLst>
            </a:custGeom>
            <a:solidFill>
              <a:srgbClr val="C7C7D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7050116" cy="637598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marL="0" lvl="0" indent="0" algn="ctr">
                <a:lnSpc>
                  <a:spcPts val="2399"/>
                </a:lnSpc>
              </a:pP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Candado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: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Candado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palabras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938064"/>
            <a:ext cx="5908548" cy="2919603"/>
          </a:xfrm>
          <a:custGeom>
            <a:avLst/>
            <a:gdLst/>
            <a:ahLst/>
            <a:cxnLst/>
            <a:rect l="l" t="t" r="r" b="b"/>
            <a:pathLst>
              <a:path w="5908548" h="2919603">
                <a:moveTo>
                  <a:pt x="0" y="0"/>
                </a:moveTo>
                <a:lnTo>
                  <a:pt x="5908548" y="0"/>
                </a:lnTo>
                <a:lnTo>
                  <a:pt x="5908548" y="2919603"/>
                </a:lnTo>
                <a:lnTo>
                  <a:pt x="0" y="2919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8745780">
            <a:off x="7795089" y="2852995"/>
            <a:ext cx="5853922" cy="4530557"/>
            <a:chOff x="0" y="0"/>
            <a:chExt cx="7805230" cy="60407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05165" cy="6040755"/>
            </a:xfrm>
            <a:custGeom>
              <a:avLst/>
              <a:gdLst/>
              <a:ahLst/>
              <a:cxnLst/>
              <a:rect l="l" t="t" r="r" b="b"/>
              <a:pathLst>
                <a:path w="7805165" h="6040755">
                  <a:moveTo>
                    <a:pt x="6096" y="6040755"/>
                  </a:moveTo>
                  <a:lnTo>
                    <a:pt x="7805165" y="5978271"/>
                  </a:lnTo>
                  <a:lnTo>
                    <a:pt x="7780147" y="2853309"/>
                  </a:lnTo>
                  <a:lnTo>
                    <a:pt x="3587369" y="0"/>
                  </a:lnTo>
                  <a:lnTo>
                    <a:pt x="0" y="5271389"/>
                  </a:lnTo>
                  <a:lnTo>
                    <a:pt x="2794" y="5626862"/>
                  </a:lnTo>
                  <a:lnTo>
                    <a:pt x="6096" y="6040755"/>
                  </a:lnTo>
                  <a:close/>
                </a:path>
              </a:pathLst>
            </a:custGeom>
            <a:blipFill>
              <a:blip r:embed="rId3"/>
              <a:stretch>
                <a:fillRect l="-539" t="-553" b="-3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5" name="Freeform 5"/>
          <p:cNvSpPr/>
          <p:nvPr/>
        </p:nvSpPr>
        <p:spPr>
          <a:xfrm>
            <a:off x="6966204" y="1275588"/>
            <a:ext cx="4861560" cy="3131820"/>
          </a:xfrm>
          <a:custGeom>
            <a:avLst/>
            <a:gdLst/>
            <a:ahLst/>
            <a:cxnLst/>
            <a:rect l="l" t="t" r="r" b="b"/>
            <a:pathLst>
              <a:path w="4861560" h="3131820">
                <a:moveTo>
                  <a:pt x="0" y="0"/>
                </a:moveTo>
                <a:lnTo>
                  <a:pt x="4861560" y="0"/>
                </a:lnTo>
                <a:lnTo>
                  <a:pt x="4861560" y="3131820"/>
                </a:lnTo>
                <a:lnTo>
                  <a:pt x="0" y="3131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 rot="7209240">
            <a:off x="2219773" y="4228167"/>
            <a:ext cx="1317098" cy="2248300"/>
            <a:chOff x="0" y="0"/>
            <a:chExt cx="1756131" cy="29977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6156" cy="2997708"/>
            </a:xfrm>
            <a:custGeom>
              <a:avLst/>
              <a:gdLst/>
              <a:ahLst/>
              <a:cxnLst/>
              <a:rect l="l" t="t" r="r" b="b"/>
              <a:pathLst>
                <a:path w="1756156" h="2997708">
                  <a:moveTo>
                    <a:pt x="0" y="2997708"/>
                  </a:moveTo>
                  <a:lnTo>
                    <a:pt x="1756156" y="2997581"/>
                  </a:lnTo>
                  <a:lnTo>
                    <a:pt x="1756156" y="0"/>
                  </a:lnTo>
                  <a:lnTo>
                    <a:pt x="0" y="0"/>
                  </a:lnTo>
                  <a:lnTo>
                    <a:pt x="0" y="2997708"/>
                  </a:lnTo>
                  <a:close/>
                </a:path>
              </a:pathLst>
            </a:custGeom>
            <a:blipFill>
              <a:blip r:embed="rId5"/>
              <a:stretch>
                <a:fillRect t="-8772" r="-99965" b="-8695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8" name="Freeform 8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9" name="Freeform 9"/>
          <p:cNvSpPr/>
          <p:nvPr/>
        </p:nvSpPr>
        <p:spPr>
          <a:xfrm>
            <a:off x="7145531" y="4827908"/>
            <a:ext cx="3528060" cy="10668"/>
          </a:xfrm>
          <a:custGeom>
            <a:avLst/>
            <a:gdLst/>
            <a:ahLst/>
            <a:cxnLst/>
            <a:rect l="l" t="t" r="r" b="b"/>
            <a:pathLst>
              <a:path w="3528060" h="10668">
                <a:moveTo>
                  <a:pt x="0" y="0"/>
                </a:moveTo>
                <a:lnTo>
                  <a:pt x="3528060" y="0"/>
                </a:lnTo>
                <a:lnTo>
                  <a:pt x="3528060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0" name="TextBox 10"/>
          <p:cNvSpPr txBox="1"/>
          <p:nvPr/>
        </p:nvSpPr>
        <p:spPr>
          <a:xfrm>
            <a:off x="11879323" y="174755"/>
            <a:ext cx="78810" cy="217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04850" y="6483725"/>
            <a:ext cx="104975" cy="29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09"/>
              </a:lnSpc>
            </a:pPr>
            <a:r>
              <a:rPr lang="en-US" sz="15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46293" y="4559370"/>
            <a:ext cx="3598307" cy="306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spc="-30">
                <a:solidFill>
                  <a:srgbClr val="0563C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9" tooltip="https://youtu.be/9IAfqFGM56w?t=153"/>
              </a:rPr>
              <a:t>https://youtu.be/9IAfqFGM56w?t=153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800" y="1694656"/>
            <a:ext cx="5796760" cy="3192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3607" lvl="1" indent="-171803" algn="l">
              <a:lnSpc>
                <a:spcPts val="2278"/>
              </a:lnSpc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 puede escoger cualquier contraseña de 4 direcciones (arriba, abajo, derecha, izquierda)</a:t>
            </a:r>
          </a:p>
          <a:p>
            <a:pPr marL="0" lvl="0" indent="0" algn="l">
              <a:lnSpc>
                <a:spcPts val="2278"/>
              </a:lnSpc>
            </a:pPr>
            <a:endParaRPr lang="en-US" sz="1898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3607" lvl="1" indent="-171803" algn="l">
              <a:lnSpc>
                <a:spcPts val="2278"/>
              </a:lnSpc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Una contraseña puede contener elementos repetidos.</a:t>
            </a:r>
          </a:p>
          <a:p>
            <a:pPr marL="0" lvl="0" indent="0" algn="l">
              <a:lnSpc>
                <a:spcPts val="2278"/>
              </a:lnSpc>
            </a:pPr>
            <a:endParaRPr lang="en-US" sz="1898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3607" lvl="1" indent="-171803" algn="l">
              <a:lnSpc>
                <a:spcPts val="2278"/>
              </a:lnSpc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Para introducir una nueva contraseña se debe presionar 2 veces contra el candado.</a:t>
            </a:r>
          </a:p>
          <a:p>
            <a:pPr marL="0" lvl="0" indent="0" algn="l">
              <a:lnSpc>
                <a:spcPts val="2278"/>
              </a:lnSpc>
            </a:pPr>
            <a:endParaRPr lang="en-US" sz="1898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3607" lvl="1" indent="-171803" algn="l">
              <a:lnSpc>
                <a:spcPts val="2278"/>
              </a:lnSpc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Cuando el código sea correcto, el candado podrá abrirse.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59"/>
              </a:lnSpc>
            </a:pP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¿Cuántos códigos diferentes admite cada candado?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82723" y="907191"/>
            <a:ext cx="5252731" cy="475046"/>
            <a:chOff x="0" y="0"/>
            <a:chExt cx="7050116" cy="63759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50145" cy="637605"/>
            </a:xfrm>
            <a:custGeom>
              <a:avLst/>
              <a:gdLst/>
              <a:ahLst/>
              <a:cxnLst/>
              <a:rect l="l" t="t" r="r" b="b"/>
              <a:pathLst>
                <a:path w="7050145" h="637605">
                  <a:moveTo>
                    <a:pt x="0" y="0"/>
                  </a:moveTo>
                  <a:lnTo>
                    <a:pt x="7050145" y="0"/>
                  </a:lnTo>
                  <a:lnTo>
                    <a:pt x="7050145" y="637605"/>
                  </a:lnTo>
                  <a:lnTo>
                    <a:pt x="0" y="637605"/>
                  </a:lnTo>
                  <a:close/>
                </a:path>
              </a:pathLst>
            </a:custGeom>
            <a:solidFill>
              <a:srgbClr val="C7C7D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7050116" cy="637598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marL="0" lvl="0" indent="0" algn="ctr">
                <a:lnSpc>
                  <a:spcPts val="2399"/>
                </a:lnSpc>
              </a:pP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Candado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: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Candato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direccional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1359420">
            <a:off x="-490452" y="4584059"/>
            <a:ext cx="5520338" cy="3090386"/>
            <a:chOff x="0" y="0"/>
            <a:chExt cx="7360450" cy="41205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60412" cy="4120515"/>
            </a:xfrm>
            <a:custGeom>
              <a:avLst/>
              <a:gdLst/>
              <a:ahLst/>
              <a:cxnLst/>
              <a:rect l="l" t="t" r="r" b="b"/>
              <a:pathLst>
                <a:path w="7360412" h="4120515">
                  <a:moveTo>
                    <a:pt x="6858" y="0"/>
                  </a:moveTo>
                  <a:lnTo>
                    <a:pt x="0" y="1101090"/>
                  </a:lnTo>
                  <a:lnTo>
                    <a:pt x="1260348" y="4120515"/>
                  </a:lnTo>
                  <a:lnTo>
                    <a:pt x="1266698" y="4120515"/>
                  </a:lnTo>
                  <a:lnTo>
                    <a:pt x="7350887" y="1580896"/>
                  </a:lnTo>
                  <a:lnTo>
                    <a:pt x="7360412" y="45974"/>
                  </a:lnTo>
                  <a:lnTo>
                    <a:pt x="5446395" y="34036"/>
                  </a:lnTo>
                  <a:lnTo>
                    <a:pt x="6858" y="0"/>
                  </a:lnTo>
                  <a:close/>
                </a:path>
              </a:pathLst>
            </a:custGeom>
            <a:blipFill>
              <a:blip r:embed="rId2"/>
              <a:stretch>
                <a:fillRect l="-255" t="-1" b="-920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1559052" y="4201668"/>
            <a:ext cx="2452116" cy="2414016"/>
          </a:xfrm>
          <a:custGeom>
            <a:avLst/>
            <a:gdLst/>
            <a:ahLst/>
            <a:cxnLst/>
            <a:rect l="l" t="t" r="r" b="b"/>
            <a:pathLst>
              <a:path w="2452116" h="2414016">
                <a:moveTo>
                  <a:pt x="0" y="0"/>
                </a:moveTo>
                <a:lnTo>
                  <a:pt x="2452116" y="0"/>
                </a:lnTo>
                <a:lnTo>
                  <a:pt x="2452116" y="2414016"/>
                </a:lnTo>
                <a:lnTo>
                  <a:pt x="0" y="2414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5" name="Freeform 5"/>
          <p:cNvSpPr/>
          <p:nvPr/>
        </p:nvSpPr>
        <p:spPr>
          <a:xfrm>
            <a:off x="5875020" y="1642872"/>
            <a:ext cx="5844540" cy="3299460"/>
          </a:xfrm>
          <a:custGeom>
            <a:avLst/>
            <a:gdLst/>
            <a:ahLst/>
            <a:cxnLst/>
            <a:rect l="l" t="t" r="r" b="b"/>
            <a:pathLst>
              <a:path w="5844540" h="3299460">
                <a:moveTo>
                  <a:pt x="0" y="0"/>
                </a:moveTo>
                <a:lnTo>
                  <a:pt x="5844540" y="0"/>
                </a:lnTo>
                <a:lnTo>
                  <a:pt x="5844540" y="3299460"/>
                </a:lnTo>
                <a:lnTo>
                  <a:pt x="0" y="32994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6" name="Freeform 6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7" name="Freeform 7"/>
          <p:cNvSpPr/>
          <p:nvPr/>
        </p:nvSpPr>
        <p:spPr>
          <a:xfrm>
            <a:off x="7008114" y="5529834"/>
            <a:ext cx="2884932" cy="10668"/>
          </a:xfrm>
          <a:custGeom>
            <a:avLst/>
            <a:gdLst/>
            <a:ahLst/>
            <a:cxnLst/>
            <a:rect l="l" t="t" r="r" b="b"/>
            <a:pathLst>
              <a:path w="2884932" h="10668">
                <a:moveTo>
                  <a:pt x="0" y="0"/>
                </a:moveTo>
                <a:lnTo>
                  <a:pt x="2884932" y="0"/>
                </a:lnTo>
                <a:lnTo>
                  <a:pt x="2884932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" name="TextBox 8"/>
          <p:cNvSpPr txBox="1"/>
          <p:nvPr/>
        </p:nvSpPr>
        <p:spPr>
          <a:xfrm>
            <a:off x="11879323" y="174755"/>
            <a:ext cx="158086" cy="217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 spc="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04850" y="6483725"/>
            <a:ext cx="209131" cy="29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09"/>
              </a:lnSpc>
            </a:pPr>
            <a:r>
              <a:rPr lang="en-US" sz="15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08876" y="5261686"/>
            <a:ext cx="2943511" cy="306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spc="-30">
                <a:solidFill>
                  <a:srgbClr val="0563C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8" tooltip="https://youtu.be/ednwKwSu7dw"/>
              </a:rPr>
              <a:t>https://youtu.be/ednwKwSu7dw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2440" y="1790599"/>
            <a:ext cx="4939666" cy="252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2706" lvl="1" indent="-186353" algn="l">
              <a:lnSpc>
                <a:spcPts val="2471"/>
              </a:lnSpc>
              <a:buFont typeface="Arial"/>
              <a:buChar char="•"/>
            </a:pPr>
            <a:r>
              <a:rPr lang="en-US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 puede elegir cualquier contraseña con 3 números, entre 0 y 39.</a:t>
            </a:r>
          </a:p>
          <a:p>
            <a:pPr marL="0" lvl="0" indent="0" algn="l">
              <a:lnSpc>
                <a:spcPts val="2471"/>
              </a:lnSpc>
            </a:pPr>
            <a:endParaRPr lang="en-US" sz="205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72706" lvl="1" indent="-186353" algn="l">
              <a:lnSpc>
                <a:spcPts val="2471"/>
              </a:lnSpc>
              <a:buFont typeface="Arial"/>
              <a:buChar char="•"/>
            </a:pPr>
            <a:r>
              <a:rPr lang="en-US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 contraseña no admite cifras repetidas</a:t>
            </a:r>
          </a:p>
          <a:p>
            <a:pPr marL="0" lvl="0" indent="0" algn="l">
              <a:lnSpc>
                <a:spcPts val="2471"/>
              </a:lnSpc>
            </a:pPr>
            <a:endParaRPr lang="en-US" sz="205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72706" lvl="1" indent="-186353" algn="l">
              <a:lnSpc>
                <a:spcPts val="2471"/>
              </a:lnSpc>
              <a:buFont typeface="Arial"/>
              <a:buChar char="•"/>
            </a:pPr>
            <a:r>
              <a:rPr lang="en-US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Para introducir la contraseña: ver el vídeo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59"/>
              </a:lnSpc>
            </a:pP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¿Cuántos códigos diferentes admite cada candado?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82723" y="907191"/>
            <a:ext cx="5252731" cy="475046"/>
            <a:chOff x="0" y="0"/>
            <a:chExt cx="7050116" cy="63759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050145" cy="637605"/>
            </a:xfrm>
            <a:custGeom>
              <a:avLst/>
              <a:gdLst/>
              <a:ahLst/>
              <a:cxnLst/>
              <a:rect l="l" t="t" r="r" b="b"/>
              <a:pathLst>
                <a:path w="7050145" h="637605">
                  <a:moveTo>
                    <a:pt x="0" y="0"/>
                  </a:moveTo>
                  <a:lnTo>
                    <a:pt x="7050145" y="0"/>
                  </a:lnTo>
                  <a:lnTo>
                    <a:pt x="7050145" y="637605"/>
                  </a:lnTo>
                  <a:lnTo>
                    <a:pt x="0" y="637605"/>
                  </a:lnTo>
                  <a:close/>
                </a:path>
              </a:pathLst>
            </a:custGeom>
            <a:solidFill>
              <a:srgbClr val="C7C7D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7050116" cy="637598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marL="0" lvl="0" indent="0" algn="ctr">
                <a:lnSpc>
                  <a:spcPts val="2399"/>
                </a:lnSpc>
              </a:pP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Candado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: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Candado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caja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fuerte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TextBox 3"/>
          <p:cNvSpPr txBox="1"/>
          <p:nvPr/>
        </p:nvSpPr>
        <p:spPr>
          <a:xfrm>
            <a:off x="11904850" y="6483725"/>
            <a:ext cx="209131" cy="29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09"/>
              </a:lnSpc>
            </a:pPr>
            <a:r>
              <a:rPr lang="en-US" sz="15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638194"/>
            <a:ext cx="5613970" cy="785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37"/>
              </a:lnSpc>
            </a:pPr>
            <a:r>
              <a:rPr lang="en-US" sz="487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INFORME Q₁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1525548"/>
            <a:ext cx="10220497" cy="565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47"/>
              </a:lnSpc>
            </a:pPr>
            <a:r>
              <a:rPr lang="en-US" sz="324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Q₁: ¿Cuántos códigos diferentes admite cada candado?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1073" y="2385672"/>
            <a:ext cx="10469853" cy="3178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¿Cuáles son las características de los candados que está estudiando?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¿Cómo generar la lista (aunque sea parcial) de posibles códigos que admite el candado?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¿Cuál es el total de códigos que admite su candado?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¿Qué estrategias o técnicas de recuento se han utilizado?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¿Cómo nos hemos asegurado que no hemos contado códigos de más o menos?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 tenemos que abrir el candado probando todos los códigos, ¿cuánto tiempo estima que tardaría en abrir el candado?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 tenemos el mismo candado con una casilla más, ¿cuántos códigos totales tiene?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¿Y si tenemos un elemento más por casilla? ¿Qué pasaría entonces?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5831821"/>
            <a:ext cx="10220497" cy="340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65"/>
              </a:lnSpc>
            </a:pPr>
            <a:r>
              <a:rPr lang="en-US" sz="1975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Prepare una presentación para compartir los resultados con los demás equipos.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59"/>
              </a:lnSpc>
            </a:pP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¿Cuántos códigos diferentes admite cada candado?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03064" y="0"/>
            <a:ext cx="4575048" cy="2953512"/>
          </a:xfrm>
          <a:custGeom>
            <a:avLst/>
            <a:gdLst/>
            <a:ahLst/>
            <a:cxnLst/>
            <a:rect l="l" t="t" r="r" b="b"/>
            <a:pathLst>
              <a:path w="4575048" h="2953512">
                <a:moveTo>
                  <a:pt x="0" y="0"/>
                </a:moveTo>
                <a:lnTo>
                  <a:pt x="4575048" y="0"/>
                </a:lnTo>
                <a:lnTo>
                  <a:pt x="4575048" y="2953512"/>
                </a:lnTo>
                <a:lnTo>
                  <a:pt x="0" y="2953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TextBox 13"/>
          <p:cNvSpPr txBox="1"/>
          <p:nvPr/>
        </p:nvSpPr>
        <p:spPr>
          <a:xfrm>
            <a:off x="11904850" y="6483725"/>
            <a:ext cx="104975" cy="293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09"/>
              </a:lnSpc>
            </a:pPr>
            <a:r>
              <a:rPr lang="en-US" sz="15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45867" y="1556929"/>
            <a:ext cx="8042646" cy="6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2"/>
              </a:lnSpc>
            </a:pPr>
            <a:r>
              <a:rPr lang="en-US" sz="428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¡Puesta en común!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80428" y="2703623"/>
            <a:ext cx="8031143" cy="245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41"/>
              </a:lnSpc>
            </a:pPr>
            <a:r>
              <a:rPr lang="en-US" sz="53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Q₀: De la siguiente colección de </a:t>
            </a:r>
            <a:r>
              <a:rPr lang="en-US" sz="53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candados</a:t>
            </a:r>
            <a:r>
              <a:rPr lang="en-US" sz="53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¿cuál es más </a:t>
            </a:r>
            <a:r>
              <a:rPr lang="en-US" sz="53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seguro</a:t>
            </a:r>
            <a:r>
              <a:rPr lang="en-US" sz="53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03064" y="0"/>
            <a:ext cx="4575048" cy="2953512"/>
          </a:xfrm>
          <a:custGeom>
            <a:avLst/>
            <a:gdLst/>
            <a:ahLst/>
            <a:cxnLst/>
            <a:rect l="l" t="t" r="r" b="b"/>
            <a:pathLst>
              <a:path w="4575048" h="2953512">
                <a:moveTo>
                  <a:pt x="0" y="0"/>
                </a:moveTo>
                <a:lnTo>
                  <a:pt x="4575048" y="0"/>
                </a:lnTo>
                <a:lnTo>
                  <a:pt x="4575048" y="2953512"/>
                </a:lnTo>
                <a:lnTo>
                  <a:pt x="0" y="2953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TextBox 13"/>
          <p:cNvSpPr txBox="1"/>
          <p:nvPr/>
        </p:nvSpPr>
        <p:spPr>
          <a:xfrm>
            <a:off x="685800" y="859113"/>
            <a:ext cx="10820400" cy="4686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71"/>
              </a:lnSpc>
            </a:pPr>
            <a:r>
              <a:rPr lang="en-US" sz="61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Nos han dado más información sobre la contraseña...</a:t>
            </a:r>
          </a:p>
          <a:p>
            <a:pPr marL="0" lvl="0" indent="0" algn="ctr">
              <a:lnSpc>
                <a:spcPts val="7371"/>
              </a:lnSpc>
            </a:pPr>
            <a:r>
              <a:rPr lang="en-US" sz="614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Q₂: ¿Podemos encontrar el número de códigos con la </a:t>
            </a:r>
            <a:r>
              <a:rPr lang="en-US" sz="6142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nueva</a:t>
            </a:r>
            <a:r>
              <a:rPr lang="en-US" sz="614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6142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información</a:t>
            </a:r>
            <a:r>
              <a:rPr lang="en-US" sz="614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3" name="Group 3"/>
          <p:cNvGrpSpPr/>
          <p:nvPr/>
        </p:nvGrpSpPr>
        <p:grpSpPr>
          <a:xfrm rot="5400000">
            <a:off x="913335" y="869587"/>
            <a:ext cx="1461280" cy="1379456"/>
            <a:chOff x="0" y="0"/>
            <a:chExt cx="2837066" cy="26782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37053" cy="2678176"/>
            </a:xfrm>
            <a:custGeom>
              <a:avLst/>
              <a:gdLst/>
              <a:ahLst/>
              <a:cxnLst/>
              <a:rect l="l" t="t" r="r" b="b"/>
              <a:pathLst>
                <a:path w="2837053" h="2678176">
                  <a:moveTo>
                    <a:pt x="0" y="144780"/>
                  </a:moveTo>
                  <a:cubicBezTo>
                    <a:pt x="0" y="64897"/>
                    <a:pt x="64897" y="0"/>
                    <a:pt x="144780" y="0"/>
                  </a:cubicBezTo>
                  <a:lnTo>
                    <a:pt x="2692273" y="0"/>
                  </a:lnTo>
                  <a:cubicBezTo>
                    <a:pt x="2772283" y="0"/>
                    <a:pt x="2837053" y="64897"/>
                    <a:pt x="2837053" y="144780"/>
                  </a:cubicBezTo>
                  <a:lnTo>
                    <a:pt x="2837053" y="2533396"/>
                  </a:lnTo>
                  <a:cubicBezTo>
                    <a:pt x="2837053" y="2613406"/>
                    <a:pt x="2772156" y="2678176"/>
                    <a:pt x="2692273" y="2678176"/>
                  </a:cubicBezTo>
                  <a:lnTo>
                    <a:pt x="144780" y="2678176"/>
                  </a:lnTo>
                  <a:cubicBezTo>
                    <a:pt x="64770" y="2678176"/>
                    <a:pt x="0" y="2613279"/>
                    <a:pt x="0" y="2533396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570087" y="1920975"/>
            <a:ext cx="349773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Sabemos que la contraseña no contiene cifras repetidas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551519" y="828675"/>
            <a:ext cx="3516299" cy="1111237"/>
            <a:chOff x="0" y="0"/>
            <a:chExt cx="6043284" cy="19098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43310" cy="1909743"/>
            </a:xfrm>
            <a:custGeom>
              <a:avLst/>
              <a:gdLst/>
              <a:ahLst/>
              <a:cxnLst/>
              <a:rect l="l" t="t" r="r" b="b"/>
              <a:pathLst>
                <a:path w="6043310" h="1909743">
                  <a:moveTo>
                    <a:pt x="0" y="0"/>
                  </a:moveTo>
                  <a:lnTo>
                    <a:pt x="6043310" y="0"/>
                  </a:lnTo>
                  <a:lnTo>
                    <a:pt x="6043310" y="1909743"/>
                  </a:lnTo>
                  <a:lnTo>
                    <a:pt x="0" y="1909743"/>
                  </a:lnTo>
                  <a:close/>
                </a:path>
              </a:pathLst>
            </a:custGeom>
            <a:solidFill>
              <a:srgbClr val="7030A0">
                <a:alpha val="1961"/>
              </a:srgbClr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6043284" cy="1919351"/>
            </a:xfrm>
            <a:prstGeom prst="rect">
              <a:avLst/>
            </a:prstGeom>
          </p:spPr>
          <p:txBody>
            <a:bodyPr lIns="39411" tIns="39411" rIns="39411" bIns="39411" rtlCol="0" anchor="t"/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Candado 7</a:t>
              </a: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: Candado de numeración de ruleta (sin repeticiones)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31773" y="967492"/>
            <a:ext cx="1149556" cy="1259660"/>
            <a:chOff x="0" y="0"/>
            <a:chExt cx="2231856" cy="24456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1898" cy="2445639"/>
            </a:xfrm>
            <a:custGeom>
              <a:avLst/>
              <a:gdLst/>
              <a:ahLst/>
              <a:cxnLst/>
              <a:rect l="l" t="t" r="r" b="b"/>
              <a:pathLst>
                <a:path w="2231898" h="2445639">
                  <a:moveTo>
                    <a:pt x="0" y="0"/>
                  </a:moveTo>
                  <a:lnTo>
                    <a:pt x="2231898" y="0"/>
                  </a:lnTo>
                  <a:lnTo>
                    <a:pt x="2231898" y="2445639"/>
                  </a:lnTo>
                  <a:lnTo>
                    <a:pt x="0" y="2445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77" t="-15244" r="-75289" b="-3439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605556" y="3766778"/>
            <a:ext cx="373583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Sabemos con seguridad que su contraseña tiene 7 cifras.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605556" y="2841236"/>
            <a:ext cx="3490444" cy="796949"/>
            <a:chOff x="0" y="0"/>
            <a:chExt cx="5998848" cy="13696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98872" cy="1369617"/>
            </a:xfrm>
            <a:custGeom>
              <a:avLst/>
              <a:gdLst/>
              <a:ahLst/>
              <a:cxnLst/>
              <a:rect l="l" t="t" r="r" b="b"/>
              <a:pathLst>
                <a:path w="5998872" h="1369617">
                  <a:moveTo>
                    <a:pt x="0" y="0"/>
                  </a:moveTo>
                  <a:lnTo>
                    <a:pt x="5998872" y="0"/>
                  </a:lnTo>
                  <a:lnTo>
                    <a:pt x="5998872" y="1369617"/>
                  </a:lnTo>
                  <a:lnTo>
                    <a:pt x="0" y="1369617"/>
                  </a:lnTo>
                  <a:close/>
                </a:path>
              </a:pathLst>
            </a:custGeom>
            <a:solidFill>
              <a:srgbClr val="7030A0">
                <a:alpha val="1961"/>
              </a:srgbClr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5998848" cy="1379201"/>
            </a:xfrm>
            <a:prstGeom prst="rect">
              <a:avLst/>
            </a:prstGeom>
          </p:spPr>
          <p:txBody>
            <a:bodyPr lIns="39411" tIns="39411" rIns="39411" bIns="39411" rtlCol="0" anchor="t"/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Candado 8</a:t>
              </a: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: Candado pulsador (ampliado)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551519" y="5788376"/>
            <a:ext cx="351629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Sabemos que ni en los días ni en los años contienen cifras repetidas.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551519" y="4853795"/>
            <a:ext cx="3516299" cy="796949"/>
            <a:chOff x="0" y="0"/>
            <a:chExt cx="6043284" cy="13696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043295" cy="1369617"/>
            </a:xfrm>
            <a:custGeom>
              <a:avLst/>
              <a:gdLst/>
              <a:ahLst/>
              <a:cxnLst/>
              <a:rect l="l" t="t" r="r" b="b"/>
              <a:pathLst>
                <a:path w="6043295" h="1369617">
                  <a:moveTo>
                    <a:pt x="0" y="0"/>
                  </a:moveTo>
                  <a:lnTo>
                    <a:pt x="6043295" y="0"/>
                  </a:lnTo>
                  <a:lnTo>
                    <a:pt x="6043295" y="1369617"/>
                  </a:lnTo>
                  <a:lnTo>
                    <a:pt x="0" y="1369617"/>
                  </a:lnTo>
                  <a:close/>
                </a:path>
              </a:pathLst>
            </a:custGeom>
            <a:solidFill>
              <a:srgbClr val="7030A0">
                <a:alpha val="1961"/>
              </a:srgbClr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6043284" cy="1379201"/>
            </a:xfrm>
            <a:prstGeom prst="rect">
              <a:avLst/>
            </a:prstGeom>
          </p:spPr>
          <p:txBody>
            <a:bodyPr lIns="39411" tIns="39411" rIns="39411" bIns="39411" rtlCol="0" anchor="t"/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Candado 9</a:t>
              </a: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: Candato de fechas (sin repeticiones)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950104" y="2952460"/>
            <a:ext cx="3503713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Sabemos ahora que la contraseña no contiene direcciones repetidas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950104" y="1860160"/>
            <a:ext cx="3503713" cy="796949"/>
            <a:chOff x="0" y="0"/>
            <a:chExt cx="6021654" cy="13696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021705" cy="1369617"/>
            </a:xfrm>
            <a:custGeom>
              <a:avLst/>
              <a:gdLst/>
              <a:ahLst/>
              <a:cxnLst/>
              <a:rect l="l" t="t" r="r" b="b"/>
              <a:pathLst>
                <a:path w="6021705" h="1369617">
                  <a:moveTo>
                    <a:pt x="0" y="0"/>
                  </a:moveTo>
                  <a:lnTo>
                    <a:pt x="6021705" y="0"/>
                  </a:lnTo>
                  <a:lnTo>
                    <a:pt x="6021705" y="1369617"/>
                  </a:lnTo>
                  <a:lnTo>
                    <a:pt x="0" y="1369617"/>
                  </a:lnTo>
                  <a:close/>
                </a:path>
              </a:pathLst>
            </a:custGeom>
            <a:solidFill>
              <a:srgbClr val="7030A0">
                <a:alpha val="1961"/>
              </a:srgbClr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6021654" cy="1379201"/>
            </a:xfrm>
            <a:prstGeom prst="rect">
              <a:avLst/>
            </a:prstGeom>
          </p:spPr>
          <p:txBody>
            <a:bodyPr lIns="39411" tIns="39411" rIns="39411" bIns="39411" rtlCol="0" anchor="t"/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Candado 10</a:t>
              </a: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: Candado direccional (sin repeticiones)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948230" y="2882147"/>
            <a:ext cx="1461280" cy="1379456"/>
            <a:chOff x="0" y="0"/>
            <a:chExt cx="2837066" cy="267820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837053" cy="2678176"/>
            </a:xfrm>
            <a:custGeom>
              <a:avLst/>
              <a:gdLst/>
              <a:ahLst/>
              <a:cxnLst/>
              <a:rect l="l" t="t" r="r" b="b"/>
              <a:pathLst>
                <a:path w="2837053" h="2678176">
                  <a:moveTo>
                    <a:pt x="0" y="144780"/>
                  </a:moveTo>
                  <a:cubicBezTo>
                    <a:pt x="0" y="64897"/>
                    <a:pt x="64897" y="0"/>
                    <a:pt x="144780" y="0"/>
                  </a:cubicBezTo>
                  <a:lnTo>
                    <a:pt x="2692273" y="0"/>
                  </a:lnTo>
                  <a:cubicBezTo>
                    <a:pt x="2772283" y="0"/>
                    <a:pt x="2837053" y="64897"/>
                    <a:pt x="2837053" y="144780"/>
                  </a:cubicBezTo>
                  <a:lnTo>
                    <a:pt x="2837053" y="2533396"/>
                  </a:lnTo>
                  <a:cubicBezTo>
                    <a:pt x="2837053" y="2613406"/>
                    <a:pt x="2772156" y="2678176"/>
                    <a:pt x="2692273" y="2678176"/>
                  </a:cubicBezTo>
                  <a:lnTo>
                    <a:pt x="144780" y="2678176"/>
                  </a:lnTo>
                  <a:cubicBezTo>
                    <a:pt x="64770" y="2678176"/>
                    <a:pt x="0" y="2613279"/>
                    <a:pt x="0" y="2533396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25" name="Group 25"/>
          <p:cNvGrpSpPr/>
          <p:nvPr/>
        </p:nvGrpSpPr>
        <p:grpSpPr>
          <a:xfrm rot="5400000">
            <a:off x="944968" y="4894707"/>
            <a:ext cx="1461280" cy="1379456"/>
            <a:chOff x="0" y="0"/>
            <a:chExt cx="2837066" cy="267820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837053" cy="2678176"/>
            </a:xfrm>
            <a:custGeom>
              <a:avLst/>
              <a:gdLst/>
              <a:ahLst/>
              <a:cxnLst/>
              <a:rect l="l" t="t" r="r" b="b"/>
              <a:pathLst>
                <a:path w="2837053" h="2678176">
                  <a:moveTo>
                    <a:pt x="0" y="144780"/>
                  </a:moveTo>
                  <a:cubicBezTo>
                    <a:pt x="0" y="64897"/>
                    <a:pt x="64897" y="0"/>
                    <a:pt x="144780" y="0"/>
                  </a:cubicBezTo>
                  <a:lnTo>
                    <a:pt x="2692273" y="0"/>
                  </a:lnTo>
                  <a:cubicBezTo>
                    <a:pt x="2772283" y="0"/>
                    <a:pt x="2837053" y="64897"/>
                    <a:pt x="2837053" y="144780"/>
                  </a:cubicBezTo>
                  <a:lnTo>
                    <a:pt x="2837053" y="2533396"/>
                  </a:lnTo>
                  <a:cubicBezTo>
                    <a:pt x="2837053" y="2613406"/>
                    <a:pt x="2772156" y="2678176"/>
                    <a:pt x="2692273" y="2678176"/>
                  </a:cubicBezTo>
                  <a:lnTo>
                    <a:pt x="144780" y="2678176"/>
                  </a:lnTo>
                  <a:cubicBezTo>
                    <a:pt x="64770" y="2678176"/>
                    <a:pt x="0" y="2613279"/>
                    <a:pt x="0" y="2533396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27" name="Group 27"/>
          <p:cNvGrpSpPr/>
          <p:nvPr/>
        </p:nvGrpSpPr>
        <p:grpSpPr>
          <a:xfrm rot="5400000">
            <a:off x="6252336" y="1903849"/>
            <a:ext cx="1560483" cy="1473104"/>
            <a:chOff x="0" y="0"/>
            <a:chExt cx="2837066" cy="26782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837053" cy="2678176"/>
            </a:xfrm>
            <a:custGeom>
              <a:avLst/>
              <a:gdLst/>
              <a:ahLst/>
              <a:cxnLst/>
              <a:rect l="l" t="t" r="r" b="b"/>
              <a:pathLst>
                <a:path w="2837053" h="2678176">
                  <a:moveTo>
                    <a:pt x="0" y="144780"/>
                  </a:moveTo>
                  <a:cubicBezTo>
                    <a:pt x="0" y="64897"/>
                    <a:pt x="64897" y="0"/>
                    <a:pt x="144780" y="0"/>
                  </a:cubicBezTo>
                  <a:lnTo>
                    <a:pt x="2692273" y="0"/>
                  </a:lnTo>
                  <a:cubicBezTo>
                    <a:pt x="2772283" y="0"/>
                    <a:pt x="2837053" y="64897"/>
                    <a:pt x="2837053" y="144780"/>
                  </a:cubicBezTo>
                  <a:lnTo>
                    <a:pt x="2837053" y="2533396"/>
                  </a:lnTo>
                  <a:cubicBezTo>
                    <a:pt x="2837053" y="2613406"/>
                    <a:pt x="2772156" y="2678176"/>
                    <a:pt x="2692273" y="2678176"/>
                  </a:cubicBezTo>
                  <a:lnTo>
                    <a:pt x="144780" y="2678176"/>
                  </a:lnTo>
                  <a:cubicBezTo>
                    <a:pt x="64770" y="2678176"/>
                    <a:pt x="0" y="2613279"/>
                    <a:pt x="0" y="2533396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950104" y="4995133"/>
            <a:ext cx="351184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Sabemos que la contraseña no contiene direcciones repetidas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950104" y="4026188"/>
            <a:ext cx="3503713" cy="752138"/>
            <a:chOff x="0" y="0"/>
            <a:chExt cx="6021654" cy="129266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021705" cy="1292606"/>
            </a:xfrm>
            <a:custGeom>
              <a:avLst/>
              <a:gdLst/>
              <a:ahLst/>
              <a:cxnLst/>
              <a:rect l="l" t="t" r="r" b="b"/>
              <a:pathLst>
                <a:path w="6021705" h="1292606">
                  <a:moveTo>
                    <a:pt x="0" y="0"/>
                  </a:moveTo>
                  <a:lnTo>
                    <a:pt x="6021705" y="0"/>
                  </a:lnTo>
                  <a:lnTo>
                    <a:pt x="6021705" y="1292606"/>
                  </a:lnTo>
                  <a:lnTo>
                    <a:pt x="0" y="1292606"/>
                  </a:lnTo>
                  <a:close/>
                </a:path>
              </a:pathLst>
            </a:custGeom>
            <a:solidFill>
              <a:srgbClr val="7030A0">
                <a:alpha val="1961"/>
              </a:srgbClr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6021654" cy="1311712"/>
            </a:xfrm>
            <a:prstGeom prst="rect">
              <a:avLst/>
            </a:prstGeom>
          </p:spPr>
          <p:txBody>
            <a:bodyPr lIns="39411" tIns="39411" rIns="39411" bIns="39411" rtlCol="0" anchor="t"/>
            <a:lstStyle/>
            <a:p>
              <a:pPr marL="0" lvl="0" indent="0" algn="l">
                <a:lnSpc>
                  <a:spcPts val="2331"/>
                </a:lnSpc>
              </a:pPr>
              <a:r>
                <a:rPr lang="en-US" sz="1942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Candado 11</a:t>
              </a:r>
              <a:r>
                <a:rPr lang="en-US" sz="1942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: Candado de caja fuerte (con repeticiones)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 rot="5400000">
            <a:off x="6276218" y="4036359"/>
            <a:ext cx="1560483" cy="1473104"/>
            <a:chOff x="0" y="0"/>
            <a:chExt cx="2837066" cy="267820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837053" cy="2678176"/>
            </a:xfrm>
            <a:custGeom>
              <a:avLst/>
              <a:gdLst/>
              <a:ahLst/>
              <a:cxnLst/>
              <a:rect l="l" t="t" r="r" b="b"/>
              <a:pathLst>
                <a:path w="2837053" h="2678176">
                  <a:moveTo>
                    <a:pt x="0" y="144780"/>
                  </a:moveTo>
                  <a:cubicBezTo>
                    <a:pt x="0" y="64897"/>
                    <a:pt x="64897" y="0"/>
                    <a:pt x="144780" y="0"/>
                  </a:cubicBezTo>
                  <a:lnTo>
                    <a:pt x="2692273" y="0"/>
                  </a:lnTo>
                  <a:cubicBezTo>
                    <a:pt x="2772283" y="0"/>
                    <a:pt x="2837053" y="64897"/>
                    <a:pt x="2837053" y="144780"/>
                  </a:cubicBezTo>
                  <a:lnTo>
                    <a:pt x="2837053" y="2533396"/>
                  </a:lnTo>
                  <a:cubicBezTo>
                    <a:pt x="2837053" y="2613406"/>
                    <a:pt x="2772156" y="2678176"/>
                    <a:pt x="2692273" y="2678176"/>
                  </a:cubicBezTo>
                  <a:lnTo>
                    <a:pt x="144780" y="2678176"/>
                  </a:lnTo>
                  <a:cubicBezTo>
                    <a:pt x="64770" y="2678176"/>
                    <a:pt x="0" y="2613279"/>
                    <a:pt x="0" y="2533396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35" name="Freeform 35"/>
          <p:cNvSpPr/>
          <p:nvPr/>
        </p:nvSpPr>
        <p:spPr>
          <a:xfrm>
            <a:off x="1001957" y="2890458"/>
            <a:ext cx="1366641" cy="1362834"/>
          </a:xfrm>
          <a:custGeom>
            <a:avLst/>
            <a:gdLst/>
            <a:ahLst/>
            <a:cxnLst/>
            <a:rect l="l" t="t" r="r" b="b"/>
            <a:pathLst>
              <a:path w="1366641" h="1362834">
                <a:moveTo>
                  <a:pt x="0" y="0"/>
                </a:moveTo>
                <a:lnTo>
                  <a:pt x="1366641" y="0"/>
                </a:lnTo>
                <a:lnTo>
                  <a:pt x="1366641" y="1362835"/>
                </a:lnTo>
                <a:lnTo>
                  <a:pt x="0" y="13628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6" name="Freeform 36"/>
          <p:cNvSpPr/>
          <p:nvPr/>
        </p:nvSpPr>
        <p:spPr>
          <a:xfrm>
            <a:off x="1038084" y="4931165"/>
            <a:ext cx="1237616" cy="1352511"/>
          </a:xfrm>
          <a:custGeom>
            <a:avLst/>
            <a:gdLst/>
            <a:ahLst/>
            <a:cxnLst/>
            <a:rect l="l" t="t" r="r" b="b"/>
            <a:pathLst>
              <a:path w="1237616" h="1352511">
                <a:moveTo>
                  <a:pt x="0" y="0"/>
                </a:moveTo>
                <a:lnTo>
                  <a:pt x="1237617" y="0"/>
                </a:lnTo>
                <a:lnTo>
                  <a:pt x="1237617" y="1352511"/>
                </a:lnTo>
                <a:lnTo>
                  <a:pt x="0" y="13525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37" name="Group 37"/>
          <p:cNvGrpSpPr>
            <a:grpSpLocks noChangeAspect="1"/>
          </p:cNvGrpSpPr>
          <p:nvPr/>
        </p:nvGrpSpPr>
        <p:grpSpPr>
          <a:xfrm>
            <a:off x="6575516" y="1860160"/>
            <a:ext cx="914123" cy="1560483"/>
            <a:chOff x="0" y="0"/>
            <a:chExt cx="1756042" cy="299770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56029" cy="2997708"/>
            </a:xfrm>
            <a:custGeom>
              <a:avLst/>
              <a:gdLst/>
              <a:ahLst/>
              <a:cxnLst/>
              <a:rect l="l" t="t" r="r" b="b"/>
              <a:pathLst>
                <a:path w="1756029" h="2997708">
                  <a:moveTo>
                    <a:pt x="0" y="2997708"/>
                  </a:moveTo>
                  <a:lnTo>
                    <a:pt x="1756029" y="2997581"/>
                  </a:lnTo>
                  <a:lnTo>
                    <a:pt x="1756029" y="0"/>
                  </a:lnTo>
                  <a:lnTo>
                    <a:pt x="0" y="0"/>
                  </a:lnTo>
                  <a:lnTo>
                    <a:pt x="0" y="2997708"/>
                  </a:lnTo>
                  <a:close/>
                </a:path>
              </a:pathLst>
            </a:custGeom>
            <a:blipFill>
              <a:blip r:embed="rId6"/>
              <a:stretch>
                <a:fillRect t="-8768" r="-99979" b="-8698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39" name="Freeform 39"/>
          <p:cNvSpPr/>
          <p:nvPr/>
        </p:nvSpPr>
        <p:spPr>
          <a:xfrm>
            <a:off x="6343575" y="4093274"/>
            <a:ext cx="1464974" cy="1459878"/>
          </a:xfrm>
          <a:custGeom>
            <a:avLst/>
            <a:gdLst/>
            <a:ahLst/>
            <a:cxnLst/>
            <a:rect l="l" t="t" r="r" b="b"/>
            <a:pathLst>
              <a:path w="1464974" h="1459878">
                <a:moveTo>
                  <a:pt x="0" y="0"/>
                </a:moveTo>
                <a:lnTo>
                  <a:pt x="1464974" y="0"/>
                </a:lnTo>
                <a:lnTo>
                  <a:pt x="1464974" y="1459878"/>
                </a:lnTo>
                <a:lnTo>
                  <a:pt x="0" y="14598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40" name="TextBox 40"/>
          <p:cNvSpPr txBox="1"/>
          <p:nvPr/>
        </p:nvSpPr>
        <p:spPr>
          <a:xfrm>
            <a:off x="3475057" y="190462"/>
            <a:ext cx="8031143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10"/>
              </a:lnSpc>
            </a:pPr>
            <a:r>
              <a:rPr lang="en-US" sz="19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Q₂: ¿Podemos encontrar el número de códigos con la nueva información?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TextBox 3"/>
          <p:cNvSpPr txBox="1"/>
          <p:nvPr/>
        </p:nvSpPr>
        <p:spPr>
          <a:xfrm>
            <a:off x="861073" y="2385672"/>
            <a:ext cx="10469853" cy="3178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¿Cuáles son las características de los candados que está estudiando?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¿Cómo generar la lista (aunque sea parcial) de posibles códigos que admite el candado?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¿Cuál es el total de códigos que admite su candado?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¿Qué estrategias o técnicas de recuento se han utilizado?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¿Cómo nos hemos asegurado que no hemos contado códigos de más o menos?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 tenemos que abrir el candado probando todos los códigos, ¿cuánto tiempo estima que tardaría en abrir el candado?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 tenemos el mismo candado con una casilla más, ¿cuántos códigos totales tiene?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¿Y si tenemos un elemento más por casilla? ¿Qué pasaría entonces?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638194"/>
            <a:ext cx="5613970" cy="785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37"/>
              </a:lnSpc>
            </a:pPr>
            <a:r>
              <a:rPr lang="en-US" sz="487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INFORME Q₂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1600575"/>
            <a:ext cx="11808502" cy="490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60"/>
              </a:lnSpc>
            </a:pPr>
            <a:r>
              <a:rPr lang="en-US" sz="282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Q₂: ¿Podemos encontrar el número de códigos con la nueva información?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75057" y="190462"/>
            <a:ext cx="8031143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10"/>
              </a:lnSpc>
            </a:pPr>
            <a:r>
              <a:rPr lang="en-US" sz="19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Q₂: ¿Podemos encontrar el número de códigos con la nueva información?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03064" y="0"/>
            <a:ext cx="4575048" cy="2953512"/>
          </a:xfrm>
          <a:custGeom>
            <a:avLst/>
            <a:gdLst/>
            <a:ahLst/>
            <a:cxnLst/>
            <a:rect l="l" t="t" r="r" b="b"/>
            <a:pathLst>
              <a:path w="4575048" h="2953512">
                <a:moveTo>
                  <a:pt x="0" y="0"/>
                </a:moveTo>
                <a:lnTo>
                  <a:pt x="4575048" y="0"/>
                </a:lnTo>
                <a:lnTo>
                  <a:pt x="4575048" y="2953512"/>
                </a:lnTo>
                <a:lnTo>
                  <a:pt x="0" y="2953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TextBox 13"/>
          <p:cNvSpPr txBox="1"/>
          <p:nvPr/>
        </p:nvSpPr>
        <p:spPr>
          <a:xfrm>
            <a:off x="243234" y="1030106"/>
            <a:ext cx="11671974" cy="4333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25"/>
              </a:lnSpc>
            </a:pPr>
            <a:r>
              <a:rPr lang="en-US" sz="710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Q₃: ¿Qué caracteriza a un </a:t>
            </a:r>
            <a:r>
              <a:rPr lang="en-US" sz="7104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modelo</a:t>
            </a:r>
            <a:r>
              <a:rPr lang="en-US" sz="710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candado?</a:t>
            </a:r>
          </a:p>
          <a:p>
            <a:pPr marL="0" lvl="0" indent="0" algn="ctr">
              <a:lnSpc>
                <a:spcPts val="8525"/>
              </a:lnSpc>
            </a:pPr>
            <a:r>
              <a:rPr lang="en-US" sz="710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¿Qué modelos </a:t>
            </a:r>
            <a:r>
              <a:rPr lang="en-US" sz="7104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existen</a:t>
            </a:r>
            <a:r>
              <a:rPr lang="en-US" sz="710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  <a:p>
            <a:pPr marL="0" lvl="0" indent="0" algn="ctr">
              <a:lnSpc>
                <a:spcPts val="8525"/>
              </a:lnSpc>
            </a:pPr>
            <a:r>
              <a:rPr lang="en-US" sz="710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¿Cómo los </a:t>
            </a:r>
            <a:r>
              <a:rPr lang="en-US" sz="7104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denominamos</a:t>
            </a:r>
            <a:r>
              <a:rPr lang="en-US" sz="710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TextBox 3"/>
          <p:cNvSpPr txBox="1"/>
          <p:nvPr/>
        </p:nvSpPr>
        <p:spPr>
          <a:xfrm>
            <a:off x="685800" y="638194"/>
            <a:ext cx="5613970" cy="785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37"/>
              </a:lnSpc>
            </a:pPr>
            <a:r>
              <a:rPr lang="en-US" sz="487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INFORME Q₃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8211" y="1640079"/>
            <a:ext cx="11427303" cy="367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3"/>
              </a:lnSpc>
            </a:pPr>
            <a:r>
              <a:rPr lang="en-US" sz="203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Q₃: ¿Qué caracteriza a un modelo de candado? ¿Qué modelos existen? ¿Cómo les denominamos?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2200068"/>
            <a:ext cx="10820400" cy="27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0364" lvl="1" indent="-245182" algn="l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¿Existen estrategias compartidas por candados diferentes?</a:t>
            </a:r>
          </a:p>
          <a:p>
            <a:pPr marL="490364" lvl="1" indent="-245182" algn="l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¿Qué clasificación se origina a partir de las distintas estrategias?</a:t>
            </a:r>
          </a:p>
          <a:p>
            <a:pPr marL="490364" lvl="1" indent="-245182" algn="l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¿Qué fórmulas numéricas/algebraicas se pueden deducir de las estrategias?</a:t>
            </a:r>
          </a:p>
          <a:p>
            <a:pPr marL="490364" lvl="1" indent="-245182" algn="l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¿Qué variables aparecen?</a:t>
            </a:r>
          </a:p>
          <a:p>
            <a:pPr marL="490364" lvl="1" indent="-245182" algn="l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¿Qué modelos existen?</a:t>
            </a:r>
          </a:p>
          <a:p>
            <a:pPr marL="490364" lvl="1" indent="-245182" algn="l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¿Qué caracteriza a cada modelo?</a:t>
            </a:r>
          </a:p>
          <a:p>
            <a:pPr marL="490364" lvl="1" indent="-245182" algn="l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¿Cómo les denominamos?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5115" y="88392"/>
            <a:ext cx="108204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80"/>
              </a:lnSpc>
            </a:pPr>
            <a:r>
              <a:rPr lang="en-US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Q₃: ¿Qué caracteriza a un modelo de candado? ¿Qué modelos existen? ¿Cómo los denominamos?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AutoShape 3"/>
          <p:cNvSpPr/>
          <p:nvPr/>
        </p:nvSpPr>
        <p:spPr>
          <a:xfrm>
            <a:off x="1759451" y="2749171"/>
            <a:ext cx="0" cy="2990238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4" name="AutoShape 4"/>
          <p:cNvSpPr/>
          <p:nvPr/>
        </p:nvSpPr>
        <p:spPr>
          <a:xfrm>
            <a:off x="1108559" y="4121989"/>
            <a:ext cx="663537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/>
          <p:nvPr/>
        </p:nvGrpSpPr>
        <p:grpSpPr>
          <a:xfrm rot="-5400000">
            <a:off x="185771" y="3875709"/>
            <a:ext cx="1842541" cy="467270"/>
            <a:chOff x="0" y="0"/>
            <a:chExt cx="2456721" cy="6230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56721" cy="623027"/>
            </a:xfrm>
            <a:custGeom>
              <a:avLst/>
              <a:gdLst/>
              <a:ahLst/>
              <a:cxnLst/>
              <a:rect l="l" t="t" r="r" b="b"/>
              <a:pathLst>
                <a:path w="2456721" h="623027">
                  <a:moveTo>
                    <a:pt x="0" y="0"/>
                  </a:moveTo>
                  <a:lnTo>
                    <a:pt x="2456721" y="0"/>
                  </a:lnTo>
                  <a:lnTo>
                    <a:pt x="2456721" y="623027"/>
                  </a:lnTo>
                  <a:lnTo>
                    <a:pt x="0" y="62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147160" b="-147160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3789" y="160591"/>
              <a:ext cx="2105487" cy="269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788"/>
                </a:lnSpc>
              </a:pPr>
              <a:r>
                <a:rPr lang="en-US" sz="1277" b="1">
                  <a:solidFill>
                    <a:srgbClr val="737373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¿INFLUYE EL ORDEN?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1788586" y="2670491"/>
            <a:ext cx="974794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grpSp>
        <p:nvGrpSpPr>
          <p:cNvPr id="9" name="Group 9"/>
          <p:cNvGrpSpPr/>
          <p:nvPr/>
        </p:nvGrpSpPr>
        <p:grpSpPr>
          <a:xfrm>
            <a:off x="1474077" y="2547077"/>
            <a:ext cx="545456" cy="246814"/>
            <a:chOff x="0" y="0"/>
            <a:chExt cx="727275" cy="3290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7275" cy="329085"/>
            </a:xfrm>
            <a:custGeom>
              <a:avLst/>
              <a:gdLst/>
              <a:ahLst/>
              <a:cxnLst/>
              <a:rect l="l" t="t" r="r" b="b"/>
              <a:pathLst>
                <a:path w="727275" h="329085">
                  <a:moveTo>
                    <a:pt x="0" y="0"/>
                  </a:moveTo>
                  <a:lnTo>
                    <a:pt x="727275" y="0"/>
                  </a:lnTo>
                  <a:lnTo>
                    <a:pt x="727275" y="329085"/>
                  </a:lnTo>
                  <a:lnTo>
                    <a:pt x="0" y="32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60499" b="-60499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1469" y="48234"/>
              <a:ext cx="264336" cy="2135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367"/>
                </a:lnSpc>
              </a:pPr>
              <a:r>
                <a:rPr lang="en-US" sz="976" b="1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Y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6598166" y="715306"/>
            <a:ext cx="0" cy="5968677"/>
          </a:xfrm>
          <a:prstGeom prst="line">
            <a:avLst/>
          </a:prstGeom>
          <a:ln w="9525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13" name="AutoShape 13"/>
          <p:cNvSpPr/>
          <p:nvPr/>
        </p:nvSpPr>
        <p:spPr>
          <a:xfrm>
            <a:off x="8089612" y="686192"/>
            <a:ext cx="0" cy="6171808"/>
          </a:xfrm>
          <a:prstGeom prst="line">
            <a:avLst/>
          </a:prstGeom>
          <a:ln w="9525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14" name="AutoShape 14"/>
          <p:cNvSpPr/>
          <p:nvPr/>
        </p:nvSpPr>
        <p:spPr>
          <a:xfrm>
            <a:off x="5134776" y="695250"/>
            <a:ext cx="0" cy="5923928"/>
          </a:xfrm>
          <a:prstGeom prst="line">
            <a:avLst/>
          </a:prstGeom>
          <a:ln w="9525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15" name="AutoShape 15"/>
          <p:cNvSpPr/>
          <p:nvPr/>
        </p:nvSpPr>
        <p:spPr>
          <a:xfrm>
            <a:off x="3581101" y="715306"/>
            <a:ext cx="0" cy="5968677"/>
          </a:xfrm>
          <a:prstGeom prst="line">
            <a:avLst/>
          </a:prstGeom>
          <a:ln w="9525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16" name="AutoShape 16"/>
          <p:cNvSpPr/>
          <p:nvPr/>
        </p:nvSpPr>
        <p:spPr>
          <a:xfrm>
            <a:off x="2738088" y="1700415"/>
            <a:ext cx="1021894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grpSp>
        <p:nvGrpSpPr>
          <p:cNvPr id="17" name="Group 17"/>
          <p:cNvGrpSpPr/>
          <p:nvPr/>
        </p:nvGrpSpPr>
        <p:grpSpPr>
          <a:xfrm>
            <a:off x="3755918" y="1388999"/>
            <a:ext cx="1308816" cy="719367"/>
            <a:chOff x="0" y="0"/>
            <a:chExt cx="1745088" cy="959157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745088" cy="959157"/>
              <a:chOff x="0" y="0"/>
              <a:chExt cx="5072791" cy="278816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5072791" cy="2788169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788169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788169"/>
                    </a:lnTo>
                    <a:lnTo>
                      <a:pt x="5072791" y="2788169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709429"/>
                    </a:lnTo>
                    <a:lnTo>
                      <a:pt x="78740" y="2709429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733EF6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83674" y="131819"/>
              <a:ext cx="1406193" cy="6764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45"/>
                </a:lnSpc>
              </a:pPr>
              <a:r>
                <a:rPr lang="en-US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Variación con repetición de n elementos considerados de r en r.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-44829" y="569608"/>
            <a:ext cx="12355689" cy="291396"/>
          </a:xfrm>
          <a:custGeom>
            <a:avLst/>
            <a:gdLst/>
            <a:ahLst/>
            <a:cxnLst/>
            <a:rect l="l" t="t" r="r" b="b"/>
            <a:pathLst>
              <a:path w="12355689" h="291396">
                <a:moveTo>
                  <a:pt x="0" y="0"/>
                </a:moveTo>
                <a:lnTo>
                  <a:pt x="12355689" y="0"/>
                </a:lnTo>
                <a:lnTo>
                  <a:pt x="12355689" y="291396"/>
                </a:lnTo>
                <a:lnTo>
                  <a:pt x="0" y="2913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070085" b="-2070085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22" name="Freeform 22"/>
          <p:cNvSpPr/>
          <p:nvPr/>
        </p:nvSpPr>
        <p:spPr>
          <a:xfrm>
            <a:off x="-118999" y="6597843"/>
            <a:ext cx="12375399" cy="351874"/>
          </a:xfrm>
          <a:custGeom>
            <a:avLst/>
            <a:gdLst/>
            <a:ahLst/>
            <a:cxnLst/>
            <a:rect l="l" t="t" r="r" b="b"/>
            <a:pathLst>
              <a:path w="12375399" h="351874">
                <a:moveTo>
                  <a:pt x="0" y="0"/>
                </a:moveTo>
                <a:lnTo>
                  <a:pt x="12375400" y="0"/>
                </a:lnTo>
                <a:lnTo>
                  <a:pt x="12375400" y="351873"/>
                </a:lnTo>
                <a:lnTo>
                  <a:pt x="0" y="3518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708499" b="-1708499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23" name="Group 23"/>
          <p:cNvGrpSpPr/>
          <p:nvPr/>
        </p:nvGrpSpPr>
        <p:grpSpPr>
          <a:xfrm rot="-5400000">
            <a:off x="1504044" y="2436856"/>
            <a:ext cx="1842541" cy="467270"/>
            <a:chOff x="0" y="0"/>
            <a:chExt cx="2456721" cy="62302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56721" cy="623027"/>
            </a:xfrm>
            <a:custGeom>
              <a:avLst/>
              <a:gdLst/>
              <a:ahLst/>
              <a:cxnLst/>
              <a:rect l="l" t="t" r="r" b="b"/>
              <a:pathLst>
                <a:path w="2456721" h="623027">
                  <a:moveTo>
                    <a:pt x="0" y="0"/>
                  </a:moveTo>
                  <a:lnTo>
                    <a:pt x="2456721" y="0"/>
                  </a:lnTo>
                  <a:lnTo>
                    <a:pt x="2456721" y="623027"/>
                  </a:lnTo>
                  <a:lnTo>
                    <a:pt x="0" y="62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147160" b="-147160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3789" y="160591"/>
              <a:ext cx="2105487" cy="269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788"/>
                </a:lnSpc>
              </a:pPr>
              <a:r>
                <a:rPr lang="en-US" sz="1277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SE PUEDEN REPETIR?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817037" y="1577001"/>
            <a:ext cx="545456" cy="246814"/>
            <a:chOff x="0" y="0"/>
            <a:chExt cx="727275" cy="32908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27275" cy="329085"/>
            </a:xfrm>
            <a:custGeom>
              <a:avLst/>
              <a:gdLst/>
              <a:ahLst/>
              <a:cxnLst/>
              <a:rect l="l" t="t" r="r" b="b"/>
              <a:pathLst>
                <a:path w="727275" h="329085">
                  <a:moveTo>
                    <a:pt x="0" y="0"/>
                  </a:moveTo>
                  <a:lnTo>
                    <a:pt x="727275" y="0"/>
                  </a:lnTo>
                  <a:lnTo>
                    <a:pt x="727275" y="329085"/>
                  </a:lnTo>
                  <a:lnTo>
                    <a:pt x="0" y="32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t="-60499" b="-60499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1469" y="48234"/>
              <a:ext cx="264336" cy="2135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367"/>
                </a:lnSpc>
              </a:pPr>
              <a:r>
                <a:rPr lang="en-US" sz="976" b="1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Y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>
            <a:off x="2738088" y="3105051"/>
            <a:ext cx="1021894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grpSp>
        <p:nvGrpSpPr>
          <p:cNvPr id="30" name="Group 30"/>
          <p:cNvGrpSpPr/>
          <p:nvPr/>
        </p:nvGrpSpPr>
        <p:grpSpPr>
          <a:xfrm>
            <a:off x="2817037" y="2974524"/>
            <a:ext cx="545456" cy="246814"/>
            <a:chOff x="0" y="0"/>
            <a:chExt cx="727275" cy="32908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27275" cy="329085"/>
            </a:xfrm>
            <a:custGeom>
              <a:avLst/>
              <a:gdLst/>
              <a:ahLst/>
              <a:cxnLst/>
              <a:rect l="l" t="t" r="r" b="b"/>
              <a:pathLst>
                <a:path w="727275" h="329085">
                  <a:moveTo>
                    <a:pt x="0" y="0"/>
                  </a:moveTo>
                  <a:lnTo>
                    <a:pt x="727275" y="0"/>
                  </a:lnTo>
                  <a:lnTo>
                    <a:pt x="727275" y="329085"/>
                  </a:lnTo>
                  <a:lnTo>
                    <a:pt x="0" y="32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t="-60499" b="-60499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1469" y="48234"/>
              <a:ext cx="264336" cy="2135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367"/>
                </a:lnSpc>
              </a:pPr>
              <a:r>
                <a:rPr lang="en-US" sz="976" b="1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672778" y="1388999"/>
            <a:ext cx="1308816" cy="761372"/>
            <a:chOff x="0" y="0"/>
            <a:chExt cx="1745088" cy="1015163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745088" cy="1015163"/>
              <a:chOff x="0" y="0"/>
              <a:chExt cx="5072791" cy="295097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5072791" cy="2950975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950975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950975"/>
                    </a:lnTo>
                    <a:lnTo>
                      <a:pt x="5072791" y="2950975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872234"/>
                    </a:lnTo>
                    <a:lnTo>
                      <a:pt x="78740" y="2872234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733EF6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78705" y="67695"/>
              <a:ext cx="1612873" cy="8467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32"/>
                </a:lnSpc>
                <a:spcBef>
                  <a:spcPct val="0"/>
                </a:spcBef>
              </a:pPr>
              <a:r>
                <a:rPr lang="en-US" sz="737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¿De cuántas formas diferentes podemos elegir códigos con r casillas y n elementos en cada casilla y si podemos repetir elementos?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747788" y="2749171"/>
            <a:ext cx="1316945" cy="591359"/>
            <a:chOff x="0" y="0"/>
            <a:chExt cx="1755927" cy="788479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755927" cy="788479"/>
              <a:chOff x="0" y="0"/>
              <a:chExt cx="5104299" cy="229202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5104299" cy="2292027"/>
              </a:xfrm>
              <a:custGeom>
                <a:avLst/>
                <a:gdLst/>
                <a:ahLst/>
                <a:cxnLst/>
                <a:rect l="l" t="t" r="r" b="b"/>
                <a:pathLst>
                  <a:path w="5104299" h="2292027">
                    <a:moveTo>
                      <a:pt x="5104299" y="279400"/>
                    </a:moveTo>
                    <a:lnTo>
                      <a:pt x="5104299" y="0"/>
                    </a:lnTo>
                    <a:lnTo>
                      <a:pt x="0" y="0"/>
                    </a:lnTo>
                    <a:lnTo>
                      <a:pt x="0" y="2292027"/>
                    </a:lnTo>
                    <a:lnTo>
                      <a:pt x="5104299" y="2292027"/>
                    </a:lnTo>
                    <a:lnTo>
                      <a:pt x="5104299" y="279400"/>
                    </a:lnTo>
                    <a:close/>
                    <a:moveTo>
                      <a:pt x="5025559" y="279400"/>
                    </a:moveTo>
                    <a:lnTo>
                      <a:pt x="5025559" y="2213287"/>
                    </a:lnTo>
                    <a:lnTo>
                      <a:pt x="78740" y="2213287"/>
                    </a:lnTo>
                    <a:lnTo>
                      <a:pt x="78740" y="78740"/>
                    </a:lnTo>
                    <a:lnTo>
                      <a:pt x="5025559" y="78740"/>
                    </a:lnTo>
                    <a:lnTo>
                      <a:pt x="5025559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92470" y="138853"/>
              <a:ext cx="1456390" cy="505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45"/>
                </a:lnSpc>
              </a:pPr>
              <a:r>
                <a:rPr lang="en-US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Variación sin repetición de n elementos considerados de r en r.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672778" y="2578308"/>
            <a:ext cx="1292558" cy="911054"/>
            <a:chOff x="0" y="0"/>
            <a:chExt cx="1723410" cy="1214738"/>
          </a:xfrm>
        </p:grpSpPr>
        <p:grpSp>
          <p:nvGrpSpPr>
            <p:cNvPr id="42" name="Group 42"/>
            <p:cNvGrpSpPr/>
            <p:nvPr/>
          </p:nvGrpSpPr>
          <p:grpSpPr>
            <a:xfrm>
              <a:off x="0" y="0"/>
              <a:ext cx="1723410" cy="1214738"/>
              <a:chOff x="0" y="0"/>
              <a:chExt cx="5009775" cy="3531118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5009775" cy="3531119"/>
              </a:xfrm>
              <a:custGeom>
                <a:avLst/>
                <a:gdLst/>
                <a:ahLst/>
                <a:cxnLst/>
                <a:rect l="l" t="t" r="r" b="b"/>
                <a:pathLst>
                  <a:path w="5009775" h="3531119">
                    <a:moveTo>
                      <a:pt x="5009775" y="279400"/>
                    </a:moveTo>
                    <a:lnTo>
                      <a:pt x="5009775" y="0"/>
                    </a:lnTo>
                    <a:lnTo>
                      <a:pt x="0" y="0"/>
                    </a:lnTo>
                    <a:lnTo>
                      <a:pt x="0" y="3531119"/>
                    </a:lnTo>
                    <a:lnTo>
                      <a:pt x="5009775" y="3531119"/>
                    </a:lnTo>
                    <a:lnTo>
                      <a:pt x="5009775" y="279400"/>
                    </a:lnTo>
                    <a:close/>
                    <a:moveTo>
                      <a:pt x="4931035" y="279400"/>
                    </a:moveTo>
                    <a:lnTo>
                      <a:pt x="4931035" y="3452378"/>
                    </a:lnTo>
                    <a:lnTo>
                      <a:pt x="78740" y="3452378"/>
                    </a:lnTo>
                    <a:lnTo>
                      <a:pt x="78740" y="78740"/>
                    </a:lnTo>
                    <a:lnTo>
                      <a:pt x="4931035" y="78740"/>
                    </a:lnTo>
                    <a:lnTo>
                      <a:pt x="4931035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150611" y="84254"/>
              <a:ext cx="1482805" cy="10178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45"/>
                </a:lnSpc>
                <a:spcBef>
                  <a:spcPct val="0"/>
                </a:spcBef>
              </a:pPr>
              <a:r>
                <a:rPr lang="en-US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¿De cuántas formas diferentes podemos elegir códigos con r casillas y n elementos en cada casilla, si no podemos repetir elementos?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08387" y="1388999"/>
            <a:ext cx="1308816" cy="597541"/>
            <a:chOff x="0" y="0"/>
            <a:chExt cx="5072791" cy="231598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08387" y="2749171"/>
            <a:ext cx="1308816" cy="597541"/>
            <a:chOff x="0" y="0"/>
            <a:chExt cx="5072791" cy="231598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08387" y="5469516"/>
            <a:ext cx="1308816" cy="597541"/>
            <a:chOff x="0" y="0"/>
            <a:chExt cx="5072791" cy="231598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FF66C4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208387" y="4109344"/>
            <a:ext cx="1308816" cy="597541"/>
            <a:chOff x="0" y="0"/>
            <a:chExt cx="5072791" cy="231598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759982" y="5469516"/>
            <a:ext cx="1308816" cy="691852"/>
            <a:chOff x="0" y="0"/>
            <a:chExt cx="1745088" cy="922469"/>
          </a:xfrm>
        </p:grpSpPr>
        <p:grpSp>
          <p:nvGrpSpPr>
            <p:cNvPr id="54" name="Group 54"/>
            <p:cNvGrpSpPr/>
            <p:nvPr/>
          </p:nvGrpSpPr>
          <p:grpSpPr>
            <a:xfrm>
              <a:off x="0" y="0"/>
              <a:ext cx="1745088" cy="922469"/>
              <a:chOff x="0" y="0"/>
              <a:chExt cx="5072791" cy="26815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5072791" cy="2681523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681523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681523"/>
                    </a:lnTo>
                    <a:lnTo>
                      <a:pt x="5072791" y="2681523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602783"/>
                    </a:lnTo>
                    <a:lnTo>
                      <a:pt x="78740" y="2602783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183674" y="122294"/>
              <a:ext cx="1406193" cy="6493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06"/>
                </a:lnSpc>
              </a:pPr>
              <a:r>
                <a:rPr lang="en-US" sz="718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Combinación de n elementos considerados de</a:t>
              </a:r>
            </a:p>
            <a:p>
              <a:pPr marL="0" lvl="0" indent="0" algn="ctr">
                <a:lnSpc>
                  <a:spcPts val="1006"/>
                </a:lnSpc>
              </a:pPr>
              <a:r>
                <a:rPr lang="en-US" sz="718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r a r.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672778" y="5057434"/>
            <a:ext cx="1308816" cy="1124943"/>
            <a:chOff x="0" y="0"/>
            <a:chExt cx="1745088" cy="1499924"/>
          </a:xfrm>
        </p:grpSpPr>
        <p:grpSp>
          <p:nvGrpSpPr>
            <p:cNvPr id="58" name="Group 58"/>
            <p:cNvGrpSpPr/>
            <p:nvPr/>
          </p:nvGrpSpPr>
          <p:grpSpPr>
            <a:xfrm>
              <a:off x="0" y="0"/>
              <a:ext cx="1745088" cy="1499924"/>
              <a:chOff x="0" y="0"/>
              <a:chExt cx="5072791" cy="43601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5072791" cy="4360125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4360125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4360125"/>
                    </a:lnTo>
                    <a:lnTo>
                      <a:pt x="5072791" y="4360125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4281385"/>
                    </a:lnTo>
                    <a:lnTo>
                      <a:pt x="78740" y="4281385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85576" y="137016"/>
              <a:ext cx="1612873" cy="1210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29"/>
                </a:lnSpc>
                <a:spcBef>
                  <a:spcPct val="0"/>
                </a:spcBef>
              </a:pPr>
              <a:r>
                <a:rPr lang="en-US" sz="663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¿De cuántas formas diferentes podemos elegir combinaciones con r casillas y n elementos en cada casilla, si las combinaciones no pueden repetir elementos y es indiferente el orden de los elementos?</a:t>
              </a:r>
            </a:p>
          </p:txBody>
        </p:sp>
      </p:grpSp>
      <p:sp>
        <p:nvSpPr>
          <p:cNvPr id="61" name="AutoShape 61"/>
          <p:cNvSpPr/>
          <p:nvPr/>
        </p:nvSpPr>
        <p:spPr>
          <a:xfrm>
            <a:off x="1884205" y="5768287"/>
            <a:ext cx="1875777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grpSp>
        <p:nvGrpSpPr>
          <p:cNvPr id="62" name="Group 62"/>
          <p:cNvGrpSpPr/>
          <p:nvPr/>
        </p:nvGrpSpPr>
        <p:grpSpPr>
          <a:xfrm>
            <a:off x="1474077" y="5644873"/>
            <a:ext cx="545456" cy="246814"/>
            <a:chOff x="0" y="0"/>
            <a:chExt cx="727275" cy="329085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27275" cy="329085"/>
            </a:xfrm>
            <a:custGeom>
              <a:avLst/>
              <a:gdLst/>
              <a:ahLst/>
              <a:cxnLst/>
              <a:rect l="l" t="t" r="r" b="b"/>
              <a:pathLst>
                <a:path w="727275" h="329085">
                  <a:moveTo>
                    <a:pt x="0" y="0"/>
                  </a:moveTo>
                  <a:lnTo>
                    <a:pt x="727275" y="0"/>
                  </a:lnTo>
                  <a:lnTo>
                    <a:pt x="727275" y="329085"/>
                  </a:lnTo>
                  <a:lnTo>
                    <a:pt x="0" y="32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t="-60499" b="-60499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31469" y="48234"/>
              <a:ext cx="264336" cy="2135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367"/>
                </a:lnSpc>
              </a:pPr>
              <a:r>
                <a:rPr lang="en-US" sz="976" b="1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672778" y="3944399"/>
            <a:ext cx="1292558" cy="717395"/>
            <a:chOff x="0" y="0"/>
            <a:chExt cx="1723410" cy="956527"/>
          </a:xfrm>
        </p:grpSpPr>
        <p:grpSp>
          <p:nvGrpSpPr>
            <p:cNvPr id="66" name="Group 66"/>
            <p:cNvGrpSpPr/>
            <p:nvPr/>
          </p:nvGrpSpPr>
          <p:grpSpPr>
            <a:xfrm>
              <a:off x="0" y="0"/>
              <a:ext cx="1723410" cy="956527"/>
              <a:chOff x="0" y="0"/>
              <a:chExt cx="5009775" cy="2780524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5009775" cy="2780524"/>
              </a:xfrm>
              <a:custGeom>
                <a:avLst/>
                <a:gdLst/>
                <a:ahLst/>
                <a:cxnLst/>
                <a:rect l="l" t="t" r="r" b="b"/>
                <a:pathLst>
                  <a:path w="5009775" h="2780524">
                    <a:moveTo>
                      <a:pt x="5009775" y="279400"/>
                    </a:moveTo>
                    <a:lnTo>
                      <a:pt x="5009775" y="0"/>
                    </a:lnTo>
                    <a:lnTo>
                      <a:pt x="0" y="0"/>
                    </a:lnTo>
                    <a:lnTo>
                      <a:pt x="0" y="2780524"/>
                    </a:lnTo>
                    <a:lnTo>
                      <a:pt x="5009775" y="2780524"/>
                    </a:lnTo>
                    <a:lnTo>
                      <a:pt x="5009775" y="279400"/>
                    </a:lnTo>
                    <a:close/>
                    <a:moveTo>
                      <a:pt x="4931035" y="279400"/>
                    </a:moveTo>
                    <a:lnTo>
                      <a:pt x="4931035" y="2701784"/>
                    </a:lnTo>
                    <a:lnTo>
                      <a:pt x="78740" y="2701784"/>
                    </a:lnTo>
                    <a:lnTo>
                      <a:pt x="78740" y="78740"/>
                    </a:lnTo>
                    <a:lnTo>
                      <a:pt x="4931035" y="78740"/>
                    </a:lnTo>
                    <a:lnTo>
                      <a:pt x="4931035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68" name="TextBox 68"/>
            <p:cNvSpPr txBox="1"/>
            <p:nvPr/>
          </p:nvSpPr>
          <p:spPr>
            <a:xfrm>
              <a:off x="143740" y="109751"/>
              <a:ext cx="1482805" cy="6764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45"/>
                </a:lnSpc>
                <a:spcBef>
                  <a:spcPct val="0"/>
                </a:spcBef>
              </a:pPr>
              <a:r>
                <a:rPr lang="en-US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¿De cuántas formas diferentes podemos ordenar un determinado código de n elementos?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3755918" y="4109344"/>
            <a:ext cx="1316945" cy="723460"/>
            <a:chOff x="0" y="0"/>
            <a:chExt cx="1755927" cy="964614"/>
          </a:xfrm>
        </p:grpSpPr>
        <p:grpSp>
          <p:nvGrpSpPr>
            <p:cNvPr id="70" name="Group 70"/>
            <p:cNvGrpSpPr/>
            <p:nvPr/>
          </p:nvGrpSpPr>
          <p:grpSpPr>
            <a:xfrm>
              <a:off x="0" y="0"/>
              <a:ext cx="1755927" cy="964614"/>
              <a:chOff x="0" y="0"/>
              <a:chExt cx="5104299" cy="280403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5104299" cy="2804033"/>
              </a:xfrm>
              <a:custGeom>
                <a:avLst/>
                <a:gdLst/>
                <a:ahLst/>
                <a:cxnLst/>
                <a:rect l="l" t="t" r="r" b="b"/>
                <a:pathLst>
                  <a:path w="5104299" h="2804033">
                    <a:moveTo>
                      <a:pt x="5104299" y="279400"/>
                    </a:moveTo>
                    <a:lnTo>
                      <a:pt x="5104299" y="0"/>
                    </a:lnTo>
                    <a:lnTo>
                      <a:pt x="0" y="0"/>
                    </a:lnTo>
                    <a:lnTo>
                      <a:pt x="0" y="2804033"/>
                    </a:lnTo>
                    <a:lnTo>
                      <a:pt x="5104299" y="2804033"/>
                    </a:lnTo>
                    <a:lnTo>
                      <a:pt x="5104299" y="279400"/>
                    </a:lnTo>
                    <a:close/>
                    <a:moveTo>
                      <a:pt x="5025559" y="279400"/>
                    </a:moveTo>
                    <a:lnTo>
                      <a:pt x="5025559" y="2725293"/>
                    </a:lnTo>
                    <a:lnTo>
                      <a:pt x="78740" y="2725293"/>
                    </a:lnTo>
                    <a:lnTo>
                      <a:pt x="78740" y="78740"/>
                    </a:lnTo>
                    <a:lnTo>
                      <a:pt x="5025559" y="78740"/>
                    </a:lnTo>
                    <a:lnTo>
                      <a:pt x="5025559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72" name="TextBox 72"/>
            <p:cNvSpPr txBox="1"/>
            <p:nvPr/>
          </p:nvSpPr>
          <p:spPr>
            <a:xfrm>
              <a:off x="104787" y="560827"/>
              <a:ext cx="1557940" cy="3351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45"/>
                </a:lnSpc>
              </a:pPr>
              <a:r>
                <a:rPr lang="en-US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Permutación de n elementos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8558" y="85347"/>
              <a:ext cx="1557940" cy="164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45"/>
                </a:lnSpc>
              </a:pPr>
              <a:r>
                <a:rPr lang="en-US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(Caso particular)</a:t>
              </a:r>
            </a:p>
          </p:txBody>
        </p:sp>
      </p:grpSp>
      <p:sp>
        <p:nvSpPr>
          <p:cNvPr id="74" name="AutoShape 74"/>
          <p:cNvSpPr/>
          <p:nvPr/>
        </p:nvSpPr>
        <p:spPr>
          <a:xfrm>
            <a:off x="2750734" y="1687769"/>
            <a:ext cx="0" cy="1420982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75" name="AutoShape 75"/>
          <p:cNvSpPr/>
          <p:nvPr/>
        </p:nvSpPr>
        <p:spPr>
          <a:xfrm>
            <a:off x="4401745" y="3346712"/>
            <a:ext cx="0" cy="762632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ca-ES"/>
          </a:p>
        </p:txBody>
      </p:sp>
      <p:sp>
        <p:nvSpPr>
          <p:cNvPr id="76" name="Freeform 76"/>
          <p:cNvSpPr/>
          <p:nvPr/>
        </p:nvSpPr>
        <p:spPr>
          <a:xfrm>
            <a:off x="1389795" y="1932688"/>
            <a:ext cx="221782" cy="243005"/>
          </a:xfrm>
          <a:custGeom>
            <a:avLst/>
            <a:gdLst/>
            <a:ahLst/>
            <a:cxnLst/>
            <a:rect l="l" t="t" r="r" b="b"/>
            <a:pathLst>
              <a:path w="221782" h="243005">
                <a:moveTo>
                  <a:pt x="0" y="0"/>
                </a:moveTo>
                <a:lnTo>
                  <a:pt x="221782" y="0"/>
                </a:lnTo>
                <a:lnTo>
                  <a:pt x="221782" y="243005"/>
                </a:lnTo>
                <a:lnTo>
                  <a:pt x="0" y="2430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619" t="-15239" r="-78252" b="-3442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77" name="Freeform 77"/>
          <p:cNvSpPr/>
          <p:nvPr/>
        </p:nvSpPr>
        <p:spPr>
          <a:xfrm>
            <a:off x="1598941" y="2057641"/>
            <a:ext cx="215642" cy="236104"/>
          </a:xfrm>
          <a:custGeom>
            <a:avLst/>
            <a:gdLst/>
            <a:ahLst/>
            <a:cxnLst/>
            <a:rect l="l" t="t" r="r" b="b"/>
            <a:pathLst>
              <a:path w="215642" h="236104">
                <a:moveTo>
                  <a:pt x="0" y="0"/>
                </a:moveTo>
                <a:lnTo>
                  <a:pt x="215642" y="0"/>
                </a:lnTo>
                <a:lnTo>
                  <a:pt x="215642" y="236104"/>
                </a:lnTo>
                <a:lnTo>
                  <a:pt x="0" y="236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78" name="Freeform 78"/>
          <p:cNvSpPr/>
          <p:nvPr/>
        </p:nvSpPr>
        <p:spPr>
          <a:xfrm>
            <a:off x="1791579" y="1932688"/>
            <a:ext cx="256382" cy="256382"/>
          </a:xfrm>
          <a:custGeom>
            <a:avLst/>
            <a:gdLst/>
            <a:ahLst/>
            <a:cxnLst/>
            <a:rect l="l" t="t" r="r" b="b"/>
            <a:pathLst>
              <a:path w="256382" h="256382">
                <a:moveTo>
                  <a:pt x="0" y="0"/>
                </a:moveTo>
                <a:lnTo>
                  <a:pt x="256382" y="0"/>
                </a:lnTo>
                <a:lnTo>
                  <a:pt x="256382" y="256382"/>
                </a:lnTo>
                <a:lnTo>
                  <a:pt x="0" y="25638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79" name="Freeform 79"/>
          <p:cNvSpPr/>
          <p:nvPr/>
        </p:nvSpPr>
        <p:spPr>
          <a:xfrm rot="5400000">
            <a:off x="1849240" y="2143685"/>
            <a:ext cx="188416" cy="320734"/>
          </a:xfrm>
          <a:custGeom>
            <a:avLst/>
            <a:gdLst/>
            <a:ahLst/>
            <a:cxnLst/>
            <a:rect l="l" t="t" r="r" b="b"/>
            <a:pathLst>
              <a:path w="188416" h="320734">
                <a:moveTo>
                  <a:pt x="0" y="0"/>
                </a:moveTo>
                <a:lnTo>
                  <a:pt x="188416" y="0"/>
                </a:lnTo>
                <a:lnTo>
                  <a:pt x="188416" y="320734"/>
                </a:lnTo>
                <a:lnTo>
                  <a:pt x="0" y="32073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8770" r="-99966" b="-8699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0" name="Freeform 80"/>
          <p:cNvSpPr/>
          <p:nvPr/>
        </p:nvSpPr>
        <p:spPr>
          <a:xfrm>
            <a:off x="1525898" y="5859214"/>
            <a:ext cx="430912" cy="430912"/>
          </a:xfrm>
          <a:custGeom>
            <a:avLst/>
            <a:gdLst/>
            <a:ahLst/>
            <a:cxnLst/>
            <a:rect l="l" t="t" r="r" b="b"/>
            <a:pathLst>
              <a:path w="430912" h="430912">
                <a:moveTo>
                  <a:pt x="0" y="0"/>
                </a:moveTo>
                <a:lnTo>
                  <a:pt x="430912" y="0"/>
                </a:lnTo>
                <a:lnTo>
                  <a:pt x="430912" y="430912"/>
                </a:lnTo>
                <a:lnTo>
                  <a:pt x="0" y="4309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1" name="Freeform 81"/>
          <p:cNvSpPr/>
          <p:nvPr/>
        </p:nvSpPr>
        <p:spPr>
          <a:xfrm rot="-82866">
            <a:off x="1575609" y="1732920"/>
            <a:ext cx="262306" cy="258391"/>
          </a:xfrm>
          <a:custGeom>
            <a:avLst/>
            <a:gdLst/>
            <a:ahLst/>
            <a:cxnLst/>
            <a:rect l="l" t="t" r="r" b="b"/>
            <a:pathLst>
              <a:path w="262306" h="258391">
                <a:moveTo>
                  <a:pt x="0" y="0"/>
                </a:moveTo>
                <a:lnTo>
                  <a:pt x="262306" y="0"/>
                </a:lnTo>
                <a:lnTo>
                  <a:pt x="262306" y="258391"/>
                </a:lnTo>
                <a:lnTo>
                  <a:pt x="0" y="25839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2" name="Freeform 82"/>
          <p:cNvSpPr/>
          <p:nvPr/>
        </p:nvSpPr>
        <p:spPr>
          <a:xfrm rot="-82866">
            <a:off x="2959296" y="3250437"/>
            <a:ext cx="262306" cy="258391"/>
          </a:xfrm>
          <a:custGeom>
            <a:avLst/>
            <a:gdLst/>
            <a:ahLst/>
            <a:cxnLst/>
            <a:rect l="l" t="t" r="r" b="b"/>
            <a:pathLst>
              <a:path w="262306" h="258391">
                <a:moveTo>
                  <a:pt x="0" y="0"/>
                </a:moveTo>
                <a:lnTo>
                  <a:pt x="262306" y="0"/>
                </a:lnTo>
                <a:lnTo>
                  <a:pt x="262306" y="258392"/>
                </a:lnTo>
                <a:lnTo>
                  <a:pt x="0" y="25839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3" name="Freeform 83"/>
          <p:cNvSpPr/>
          <p:nvPr/>
        </p:nvSpPr>
        <p:spPr>
          <a:xfrm>
            <a:off x="2696541" y="1084341"/>
            <a:ext cx="221782" cy="243005"/>
          </a:xfrm>
          <a:custGeom>
            <a:avLst/>
            <a:gdLst/>
            <a:ahLst/>
            <a:cxnLst/>
            <a:rect l="l" t="t" r="r" b="b"/>
            <a:pathLst>
              <a:path w="221782" h="243005">
                <a:moveTo>
                  <a:pt x="0" y="0"/>
                </a:moveTo>
                <a:lnTo>
                  <a:pt x="221781" y="0"/>
                </a:lnTo>
                <a:lnTo>
                  <a:pt x="221781" y="243004"/>
                </a:lnTo>
                <a:lnTo>
                  <a:pt x="0" y="24300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619" t="-15239" r="-78252" b="-3442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4" name="Freeform 84"/>
          <p:cNvSpPr/>
          <p:nvPr/>
        </p:nvSpPr>
        <p:spPr>
          <a:xfrm>
            <a:off x="2905686" y="1209293"/>
            <a:ext cx="215642" cy="236104"/>
          </a:xfrm>
          <a:custGeom>
            <a:avLst/>
            <a:gdLst/>
            <a:ahLst/>
            <a:cxnLst/>
            <a:rect l="l" t="t" r="r" b="b"/>
            <a:pathLst>
              <a:path w="215642" h="236104">
                <a:moveTo>
                  <a:pt x="0" y="0"/>
                </a:moveTo>
                <a:lnTo>
                  <a:pt x="215642" y="0"/>
                </a:lnTo>
                <a:lnTo>
                  <a:pt x="215642" y="236104"/>
                </a:lnTo>
                <a:lnTo>
                  <a:pt x="0" y="236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5" name="Freeform 85"/>
          <p:cNvSpPr/>
          <p:nvPr/>
        </p:nvSpPr>
        <p:spPr>
          <a:xfrm>
            <a:off x="3098324" y="1084341"/>
            <a:ext cx="256382" cy="256382"/>
          </a:xfrm>
          <a:custGeom>
            <a:avLst/>
            <a:gdLst/>
            <a:ahLst/>
            <a:cxnLst/>
            <a:rect l="l" t="t" r="r" b="b"/>
            <a:pathLst>
              <a:path w="256382" h="256382">
                <a:moveTo>
                  <a:pt x="0" y="0"/>
                </a:moveTo>
                <a:lnTo>
                  <a:pt x="256382" y="0"/>
                </a:lnTo>
                <a:lnTo>
                  <a:pt x="256382" y="256382"/>
                </a:lnTo>
                <a:lnTo>
                  <a:pt x="0" y="25638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6" name="Freeform 86"/>
          <p:cNvSpPr/>
          <p:nvPr/>
        </p:nvSpPr>
        <p:spPr>
          <a:xfrm rot="5400000">
            <a:off x="3155985" y="1295337"/>
            <a:ext cx="188416" cy="320734"/>
          </a:xfrm>
          <a:custGeom>
            <a:avLst/>
            <a:gdLst/>
            <a:ahLst/>
            <a:cxnLst/>
            <a:rect l="l" t="t" r="r" b="b"/>
            <a:pathLst>
              <a:path w="188416" h="320734">
                <a:moveTo>
                  <a:pt x="0" y="0"/>
                </a:moveTo>
                <a:lnTo>
                  <a:pt x="188416" y="0"/>
                </a:lnTo>
                <a:lnTo>
                  <a:pt x="188416" y="320734"/>
                </a:lnTo>
                <a:lnTo>
                  <a:pt x="0" y="32073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8770" r="-99966" b="-8699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87" name="Group 87"/>
          <p:cNvGrpSpPr/>
          <p:nvPr/>
        </p:nvGrpSpPr>
        <p:grpSpPr>
          <a:xfrm>
            <a:off x="8170575" y="4982291"/>
            <a:ext cx="3373325" cy="1565896"/>
            <a:chOff x="0" y="0"/>
            <a:chExt cx="4497766" cy="2087861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702506" cy="702506"/>
            </a:xfrm>
            <a:custGeom>
              <a:avLst/>
              <a:gdLst/>
              <a:ahLst/>
              <a:cxnLst/>
              <a:rect l="l" t="t" r="r" b="b"/>
              <a:pathLst>
                <a:path w="702506" h="702506">
                  <a:moveTo>
                    <a:pt x="0" y="0"/>
                  </a:moveTo>
                  <a:lnTo>
                    <a:pt x="702506" y="0"/>
                  </a:lnTo>
                  <a:lnTo>
                    <a:pt x="702506" y="702506"/>
                  </a:lnTo>
                  <a:lnTo>
                    <a:pt x="0" y="702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89" name="Freeform 89"/>
            <p:cNvSpPr/>
            <p:nvPr/>
          </p:nvSpPr>
          <p:spPr>
            <a:xfrm>
              <a:off x="3644924" y="944160"/>
              <a:ext cx="741948" cy="586106"/>
            </a:xfrm>
            <a:custGeom>
              <a:avLst/>
              <a:gdLst/>
              <a:ahLst/>
              <a:cxnLst/>
              <a:rect l="l" t="t" r="r" b="b"/>
              <a:pathLst>
                <a:path w="741948" h="586106">
                  <a:moveTo>
                    <a:pt x="0" y="0"/>
                  </a:moveTo>
                  <a:lnTo>
                    <a:pt x="741947" y="0"/>
                  </a:lnTo>
                  <a:lnTo>
                    <a:pt x="741947" y="586105"/>
                  </a:lnTo>
                  <a:lnTo>
                    <a:pt x="0" y="586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b="-11519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90" name="Freeform 90"/>
            <p:cNvSpPr/>
            <p:nvPr/>
          </p:nvSpPr>
          <p:spPr>
            <a:xfrm>
              <a:off x="3442172" y="251874"/>
              <a:ext cx="1055595" cy="510427"/>
            </a:xfrm>
            <a:custGeom>
              <a:avLst/>
              <a:gdLst/>
              <a:ahLst/>
              <a:cxnLst/>
              <a:rect l="l" t="t" r="r" b="b"/>
              <a:pathLst>
                <a:path w="1055595" h="510427">
                  <a:moveTo>
                    <a:pt x="0" y="0"/>
                  </a:moveTo>
                  <a:lnTo>
                    <a:pt x="1055594" y="0"/>
                  </a:lnTo>
                  <a:lnTo>
                    <a:pt x="1055594" y="510426"/>
                  </a:lnTo>
                  <a:lnTo>
                    <a:pt x="0" y="510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91" name="Freeform 91"/>
            <p:cNvSpPr/>
            <p:nvPr/>
          </p:nvSpPr>
          <p:spPr>
            <a:xfrm>
              <a:off x="757070" y="831805"/>
              <a:ext cx="1787774" cy="1256056"/>
            </a:xfrm>
            <a:custGeom>
              <a:avLst/>
              <a:gdLst/>
              <a:ahLst/>
              <a:cxnLst/>
              <a:rect l="l" t="t" r="r" b="b"/>
              <a:pathLst>
                <a:path w="1787774" h="1256056">
                  <a:moveTo>
                    <a:pt x="0" y="0"/>
                  </a:moveTo>
                  <a:lnTo>
                    <a:pt x="1787774" y="0"/>
                  </a:lnTo>
                  <a:lnTo>
                    <a:pt x="1787774" y="1256056"/>
                  </a:lnTo>
                  <a:lnTo>
                    <a:pt x="0" y="1256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29507" b="-456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92" name="AutoShape 92"/>
            <p:cNvSpPr/>
            <p:nvPr/>
          </p:nvSpPr>
          <p:spPr>
            <a:xfrm flipV="1">
              <a:off x="2245212" y="1351881"/>
              <a:ext cx="84058" cy="126609"/>
            </a:xfrm>
            <a:prstGeom prst="line">
              <a:avLst/>
            </a:prstGeom>
            <a:ln w="15155" cap="rnd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/>
            </a:p>
          </p:txBody>
        </p:sp>
        <p:sp>
          <p:nvSpPr>
            <p:cNvPr id="93" name="AutoShape 93"/>
            <p:cNvSpPr/>
            <p:nvPr/>
          </p:nvSpPr>
          <p:spPr>
            <a:xfrm flipV="1">
              <a:off x="2081583" y="1548103"/>
              <a:ext cx="84058" cy="126609"/>
            </a:xfrm>
            <a:prstGeom prst="line">
              <a:avLst/>
            </a:prstGeom>
            <a:ln w="15155" cap="rnd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57070" y="-28281"/>
              <a:ext cx="2659165" cy="275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656"/>
                </a:lnSpc>
              </a:pPr>
              <a:r>
                <a:rPr lang="en-US" sz="1226" b="1">
                  <a:solidFill>
                    <a:srgbClr val="FF66C4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Candado pulsador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54489" y="289520"/>
              <a:ext cx="2642218" cy="416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29"/>
                </a:lnSpc>
              </a:pPr>
              <a:r>
                <a:rPr lang="en-US" sz="571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Hay 10 teclas para elegir, de las que deben elegirse sólo 3 Combinaciones con las mismas cifras, pero desordenadas cuentan como la misma combinación.</a:t>
              </a:r>
            </a:p>
          </p:txBody>
        </p:sp>
      </p:grpSp>
      <p:sp>
        <p:nvSpPr>
          <p:cNvPr id="96" name="Freeform 96"/>
          <p:cNvSpPr/>
          <p:nvPr/>
        </p:nvSpPr>
        <p:spPr>
          <a:xfrm>
            <a:off x="5211467" y="5603303"/>
            <a:ext cx="1267909" cy="329969"/>
          </a:xfrm>
          <a:custGeom>
            <a:avLst/>
            <a:gdLst/>
            <a:ahLst/>
            <a:cxnLst/>
            <a:rect l="l" t="t" r="r" b="b"/>
            <a:pathLst>
              <a:path w="1267909" h="329969">
                <a:moveTo>
                  <a:pt x="0" y="0"/>
                </a:moveTo>
                <a:lnTo>
                  <a:pt x="1267909" y="0"/>
                </a:lnTo>
                <a:lnTo>
                  <a:pt x="1267909" y="329968"/>
                </a:lnTo>
                <a:lnTo>
                  <a:pt x="0" y="32996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t="-257825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97" name="Freeform 97"/>
          <p:cNvSpPr/>
          <p:nvPr/>
        </p:nvSpPr>
        <p:spPr>
          <a:xfrm>
            <a:off x="5228840" y="4240938"/>
            <a:ext cx="1267909" cy="329969"/>
          </a:xfrm>
          <a:custGeom>
            <a:avLst/>
            <a:gdLst/>
            <a:ahLst/>
            <a:cxnLst/>
            <a:rect l="l" t="t" r="r" b="b"/>
            <a:pathLst>
              <a:path w="1267909" h="329969">
                <a:moveTo>
                  <a:pt x="0" y="0"/>
                </a:moveTo>
                <a:lnTo>
                  <a:pt x="1267910" y="0"/>
                </a:lnTo>
                <a:lnTo>
                  <a:pt x="1267910" y="329969"/>
                </a:lnTo>
                <a:lnTo>
                  <a:pt x="0" y="32996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27816" t="-265284" r="-22557" b="-172791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98" name="Freeform 98"/>
          <p:cNvSpPr/>
          <p:nvPr/>
        </p:nvSpPr>
        <p:spPr>
          <a:xfrm>
            <a:off x="5229526" y="2868935"/>
            <a:ext cx="1238896" cy="418041"/>
          </a:xfrm>
          <a:custGeom>
            <a:avLst/>
            <a:gdLst/>
            <a:ahLst/>
            <a:cxnLst/>
            <a:rect l="l" t="t" r="r" b="b"/>
            <a:pathLst>
              <a:path w="1238896" h="418041">
                <a:moveTo>
                  <a:pt x="0" y="0"/>
                </a:moveTo>
                <a:lnTo>
                  <a:pt x="1238896" y="0"/>
                </a:lnTo>
                <a:lnTo>
                  <a:pt x="1238896" y="418041"/>
                </a:lnTo>
                <a:lnTo>
                  <a:pt x="0" y="41804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23762" t="-85301" r="-22231" b="-217608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99" name="Freeform 99"/>
          <p:cNvSpPr/>
          <p:nvPr/>
        </p:nvSpPr>
        <p:spPr>
          <a:xfrm>
            <a:off x="5220496" y="1519736"/>
            <a:ext cx="1267909" cy="329969"/>
          </a:xfrm>
          <a:custGeom>
            <a:avLst/>
            <a:gdLst/>
            <a:ahLst/>
            <a:cxnLst/>
            <a:rect l="l" t="t" r="r" b="b"/>
            <a:pathLst>
              <a:path w="1267909" h="329969">
                <a:moveTo>
                  <a:pt x="0" y="0"/>
                </a:moveTo>
                <a:lnTo>
                  <a:pt x="1267909" y="0"/>
                </a:lnTo>
                <a:lnTo>
                  <a:pt x="1267909" y="329969"/>
                </a:lnTo>
                <a:lnTo>
                  <a:pt x="0" y="32996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39458" r="-35574" b="-526311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00" name="Freeform 100"/>
          <p:cNvSpPr/>
          <p:nvPr/>
        </p:nvSpPr>
        <p:spPr>
          <a:xfrm>
            <a:off x="4072034" y="4352400"/>
            <a:ext cx="659421" cy="203102"/>
          </a:xfrm>
          <a:custGeom>
            <a:avLst/>
            <a:gdLst/>
            <a:ahLst/>
            <a:cxnLst/>
            <a:rect l="l" t="t" r="r" b="b"/>
            <a:pathLst>
              <a:path w="659421" h="203102">
                <a:moveTo>
                  <a:pt x="0" y="0"/>
                </a:moveTo>
                <a:lnTo>
                  <a:pt x="659422" y="0"/>
                </a:lnTo>
                <a:lnTo>
                  <a:pt x="659422" y="203101"/>
                </a:lnTo>
                <a:lnTo>
                  <a:pt x="0" y="20310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01" name="TextBox 101"/>
          <p:cNvSpPr txBox="1"/>
          <p:nvPr/>
        </p:nvSpPr>
        <p:spPr>
          <a:xfrm>
            <a:off x="5473319" y="1055766"/>
            <a:ext cx="778951" cy="19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72"/>
              </a:lnSpc>
              <a:spcBef>
                <a:spcPct val="0"/>
              </a:spcBef>
            </a:pPr>
            <a:r>
              <a:rPr lang="en-US" sz="1123">
                <a:solidFill>
                  <a:srgbClr val="70797E"/>
                </a:solidFill>
                <a:latin typeface="Economica"/>
                <a:ea typeface="Economica"/>
                <a:cs typeface="Economica"/>
                <a:sym typeface="Economica"/>
              </a:rPr>
              <a:t>Fórmula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656519" y="1050661"/>
            <a:ext cx="1308816" cy="19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72"/>
              </a:lnSpc>
              <a:spcBef>
                <a:spcPct val="0"/>
              </a:spcBef>
            </a:pPr>
            <a:r>
              <a:rPr lang="en-US" sz="1123">
                <a:solidFill>
                  <a:srgbClr val="70797E"/>
                </a:solidFill>
                <a:latin typeface="Economica"/>
                <a:ea typeface="Economica"/>
                <a:cs typeface="Economica"/>
                <a:sym typeface="Economica"/>
              </a:rPr>
              <a:t>Respon a la pregunta...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93903" y="825970"/>
            <a:ext cx="1625718" cy="381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40"/>
              </a:lnSpc>
              <a:spcBef>
                <a:spcPct val="0"/>
              </a:spcBef>
            </a:pPr>
            <a:r>
              <a:rPr lang="en-US" sz="1100" b="1">
                <a:solidFill>
                  <a:srgbClr val="70797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</a:t>
            </a:r>
            <a:r>
              <a:rPr lang="en-US" sz="1100">
                <a:solidFill>
                  <a:srgbClr val="70797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caselles </a:t>
            </a:r>
          </a:p>
          <a:p>
            <a:pPr marL="0" lvl="0" indent="0" algn="l">
              <a:lnSpc>
                <a:spcPts val="1540"/>
              </a:lnSpc>
              <a:spcBef>
                <a:spcPct val="0"/>
              </a:spcBef>
            </a:pPr>
            <a:r>
              <a:rPr lang="en-US" sz="1100" b="1">
                <a:solidFill>
                  <a:srgbClr val="70797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 </a:t>
            </a:r>
            <a:r>
              <a:rPr lang="en-US" sz="1100">
                <a:solidFill>
                  <a:srgbClr val="70797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elements a cada casella</a:t>
            </a:r>
          </a:p>
        </p:txBody>
      </p:sp>
      <p:grpSp>
        <p:nvGrpSpPr>
          <p:cNvPr id="104" name="Group 104"/>
          <p:cNvGrpSpPr/>
          <p:nvPr/>
        </p:nvGrpSpPr>
        <p:grpSpPr>
          <a:xfrm>
            <a:off x="8189625" y="1452808"/>
            <a:ext cx="2741745" cy="533538"/>
            <a:chOff x="0" y="0"/>
            <a:chExt cx="3655660" cy="711384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594309" cy="651180"/>
            </a:xfrm>
            <a:custGeom>
              <a:avLst/>
              <a:gdLst/>
              <a:ahLst/>
              <a:cxnLst/>
              <a:rect l="l" t="t" r="r" b="b"/>
              <a:pathLst>
                <a:path w="594309" h="651180">
                  <a:moveTo>
                    <a:pt x="0" y="0"/>
                  </a:moveTo>
                  <a:lnTo>
                    <a:pt x="594309" y="0"/>
                  </a:lnTo>
                  <a:lnTo>
                    <a:pt x="594309" y="651180"/>
                  </a:lnTo>
                  <a:lnTo>
                    <a:pt x="0" y="651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-3619" t="-15239" r="-78252" b="-3442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06" name="Freeform 106"/>
            <p:cNvSpPr/>
            <p:nvPr/>
          </p:nvSpPr>
          <p:spPr>
            <a:xfrm>
              <a:off x="3171807" y="101322"/>
              <a:ext cx="483853" cy="495856"/>
            </a:xfrm>
            <a:custGeom>
              <a:avLst/>
              <a:gdLst/>
              <a:ahLst/>
              <a:cxnLst/>
              <a:rect l="l" t="t" r="r" b="b"/>
              <a:pathLst>
                <a:path w="483853" h="495856">
                  <a:moveTo>
                    <a:pt x="0" y="0"/>
                  </a:moveTo>
                  <a:lnTo>
                    <a:pt x="483853" y="0"/>
                  </a:lnTo>
                  <a:lnTo>
                    <a:pt x="483853" y="495856"/>
                  </a:lnTo>
                  <a:lnTo>
                    <a:pt x="0" y="495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-319647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38050" y="-27651"/>
              <a:ext cx="2698221" cy="279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680"/>
                </a:lnSpc>
              </a:pPr>
              <a:r>
                <a:rPr lang="en-US" sz="1244" b="1">
                  <a:solidFill>
                    <a:srgbClr val="733EF6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Candado de numeración de ruleta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38050" y="326850"/>
              <a:ext cx="2219607" cy="384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88"/>
                </a:lnSpc>
              </a:pPr>
              <a:r>
                <a:rPr lang="en-US" sz="544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Se pueden elegir combinaciones de 4 números.</a:t>
              </a:r>
            </a:p>
            <a:p>
              <a:pPr marL="0" lvl="0" indent="0" algn="l">
                <a:lnSpc>
                  <a:spcPts val="788"/>
                </a:lnSpc>
              </a:pPr>
              <a:r>
                <a:rPr lang="en-US" sz="544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Cada casilla tiene 10 elementos.</a:t>
              </a:r>
            </a:p>
            <a:p>
              <a:pPr marL="0" lvl="0" indent="0" algn="l">
                <a:lnSpc>
                  <a:spcPts val="788"/>
                </a:lnSpc>
              </a:pPr>
              <a:r>
                <a:rPr lang="en-US" sz="544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Una combinación puede contener elementos repetidos.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103900" y="2150056"/>
            <a:ext cx="3108897" cy="1496705"/>
            <a:chOff x="0" y="0"/>
            <a:chExt cx="4145197" cy="1995607"/>
          </a:xfrm>
        </p:grpSpPr>
        <p:sp>
          <p:nvSpPr>
            <p:cNvPr id="110" name="Freeform 110"/>
            <p:cNvSpPr/>
            <p:nvPr/>
          </p:nvSpPr>
          <p:spPr>
            <a:xfrm>
              <a:off x="835603" y="1676431"/>
              <a:ext cx="2236803" cy="319176"/>
            </a:xfrm>
            <a:custGeom>
              <a:avLst/>
              <a:gdLst/>
              <a:ahLst/>
              <a:cxnLst/>
              <a:rect l="l" t="t" r="r" b="b"/>
              <a:pathLst>
                <a:path w="2236803" h="319176">
                  <a:moveTo>
                    <a:pt x="0" y="0"/>
                  </a:moveTo>
                  <a:lnTo>
                    <a:pt x="2236803" y="0"/>
                  </a:lnTo>
                  <a:lnTo>
                    <a:pt x="2236803" y="319176"/>
                  </a:lnTo>
                  <a:lnTo>
                    <a:pt x="0" y="319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11" name="AutoShape 111"/>
            <p:cNvSpPr/>
            <p:nvPr/>
          </p:nvSpPr>
          <p:spPr>
            <a:xfrm>
              <a:off x="1489815" y="1771961"/>
              <a:ext cx="875724" cy="7183"/>
            </a:xfrm>
            <a:prstGeom prst="line">
              <a:avLst/>
            </a:prstGeom>
            <a:ln w="14471" cap="rnd">
              <a:solidFill>
                <a:srgbClr val="FF3131">
                  <a:alpha val="49804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/>
            </a:p>
          </p:txBody>
        </p:sp>
        <p:sp>
          <p:nvSpPr>
            <p:cNvPr id="112" name="AutoShape 112"/>
            <p:cNvSpPr/>
            <p:nvPr/>
          </p:nvSpPr>
          <p:spPr>
            <a:xfrm>
              <a:off x="1092922" y="1906126"/>
              <a:ext cx="1049690" cy="0"/>
            </a:xfrm>
            <a:prstGeom prst="line">
              <a:avLst/>
            </a:prstGeom>
            <a:ln w="14471" cap="rnd">
              <a:solidFill>
                <a:srgbClr val="FF3131">
                  <a:alpha val="37647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/>
            </a:p>
          </p:txBody>
        </p:sp>
        <p:grpSp>
          <p:nvGrpSpPr>
            <p:cNvPr id="113" name="Group 113"/>
            <p:cNvGrpSpPr/>
            <p:nvPr/>
          </p:nvGrpSpPr>
          <p:grpSpPr>
            <a:xfrm>
              <a:off x="1776037" y="1389740"/>
              <a:ext cx="238624" cy="238624"/>
              <a:chOff x="0" y="0"/>
              <a:chExt cx="1913890" cy="1913890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115" name="Freeform 115"/>
            <p:cNvSpPr/>
            <p:nvPr/>
          </p:nvSpPr>
          <p:spPr>
            <a:xfrm rot="-82866">
              <a:off x="9439" y="9585"/>
              <a:ext cx="804929" cy="792915"/>
            </a:xfrm>
            <a:custGeom>
              <a:avLst/>
              <a:gdLst/>
              <a:ahLst/>
              <a:cxnLst/>
              <a:rect l="l" t="t" r="r" b="b"/>
              <a:pathLst>
                <a:path w="804929" h="792915">
                  <a:moveTo>
                    <a:pt x="0" y="0"/>
                  </a:moveTo>
                  <a:lnTo>
                    <a:pt x="804929" y="0"/>
                  </a:lnTo>
                  <a:lnTo>
                    <a:pt x="804929" y="792915"/>
                  </a:lnTo>
                  <a:lnTo>
                    <a:pt x="0" y="79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16" name="Freeform 116"/>
            <p:cNvSpPr/>
            <p:nvPr/>
          </p:nvSpPr>
          <p:spPr>
            <a:xfrm>
              <a:off x="852799" y="1187653"/>
              <a:ext cx="1203335" cy="460942"/>
            </a:xfrm>
            <a:custGeom>
              <a:avLst/>
              <a:gdLst/>
              <a:ahLst/>
              <a:cxnLst/>
              <a:rect l="l" t="t" r="r" b="b"/>
              <a:pathLst>
                <a:path w="1203335" h="460942">
                  <a:moveTo>
                    <a:pt x="0" y="0"/>
                  </a:moveTo>
                  <a:lnTo>
                    <a:pt x="1203335" y="0"/>
                  </a:lnTo>
                  <a:lnTo>
                    <a:pt x="1203335" y="460942"/>
                  </a:lnTo>
                  <a:lnTo>
                    <a:pt x="0" y="460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-44403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17" name="Freeform 117"/>
            <p:cNvSpPr/>
            <p:nvPr/>
          </p:nvSpPr>
          <p:spPr>
            <a:xfrm>
              <a:off x="3089602" y="693387"/>
              <a:ext cx="1055595" cy="453807"/>
            </a:xfrm>
            <a:custGeom>
              <a:avLst/>
              <a:gdLst/>
              <a:ahLst/>
              <a:cxnLst/>
              <a:rect l="l" t="t" r="r" b="b"/>
              <a:pathLst>
                <a:path w="1055595" h="453807">
                  <a:moveTo>
                    <a:pt x="0" y="0"/>
                  </a:moveTo>
                  <a:lnTo>
                    <a:pt x="1055595" y="0"/>
                  </a:lnTo>
                  <a:lnTo>
                    <a:pt x="1055595" y="453807"/>
                  </a:lnTo>
                  <a:lnTo>
                    <a:pt x="0" y="45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18" name="Freeform 118"/>
            <p:cNvSpPr/>
            <p:nvPr/>
          </p:nvSpPr>
          <p:spPr>
            <a:xfrm>
              <a:off x="3250558" y="1256647"/>
              <a:ext cx="741948" cy="708972"/>
            </a:xfrm>
            <a:custGeom>
              <a:avLst/>
              <a:gdLst/>
              <a:ahLst/>
              <a:cxnLst/>
              <a:rect l="l" t="t" r="r" b="b"/>
              <a:pathLst>
                <a:path w="741948" h="708972">
                  <a:moveTo>
                    <a:pt x="0" y="0"/>
                  </a:moveTo>
                  <a:lnTo>
                    <a:pt x="741948" y="0"/>
                  </a:lnTo>
                  <a:lnTo>
                    <a:pt x="741948" y="708972"/>
                  </a:lnTo>
                  <a:lnTo>
                    <a:pt x="0" y="708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869996" y="227526"/>
              <a:ext cx="2101195" cy="262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563"/>
                </a:lnSpc>
              </a:pPr>
              <a:r>
                <a:rPr lang="en-US" sz="1157" b="1">
                  <a:solidFill>
                    <a:srgbClr val="00BF63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Candado de caja fuerte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869996" y="697728"/>
              <a:ext cx="2219607" cy="384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83"/>
                </a:lnSpc>
              </a:pPr>
              <a:r>
                <a:rPr lang="en-US" sz="54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Se pueden elegir combinaciones de 3 números.</a:t>
              </a:r>
            </a:p>
            <a:p>
              <a:pPr marL="0" lvl="0" indent="0" algn="l">
                <a:lnSpc>
                  <a:spcPts val="783"/>
                </a:lnSpc>
              </a:pPr>
              <a:r>
                <a:rPr lang="en-US" sz="54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Cada casilla tiene 40 elementos.</a:t>
              </a:r>
            </a:p>
            <a:p>
              <a:pPr marL="0" lvl="0" indent="0" algn="l">
                <a:lnSpc>
                  <a:spcPts val="783"/>
                </a:lnSpc>
              </a:pPr>
              <a:r>
                <a:rPr lang="en-US" sz="540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Una combinación no puede tener elementos repetidos.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8189625" y="3869131"/>
            <a:ext cx="2375380" cy="966537"/>
            <a:chOff x="0" y="0"/>
            <a:chExt cx="3167173" cy="1288717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571184" cy="972306"/>
            </a:xfrm>
            <a:custGeom>
              <a:avLst/>
              <a:gdLst/>
              <a:ahLst/>
              <a:cxnLst/>
              <a:rect l="l" t="t" r="r" b="b"/>
              <a:pathLst>
                <a:path w="571184" h="972306">
                  <a:moveTo>
                    <a:pt x="0" y="0"/>
                  </a:moveTo>
                  <a:lnTo>
                    <a:pt x="571184" y="0"/>
                  </a:lnTo>
                  <a:lnTo>
                    <a:pt x="571184" y="972306"/>
                  </a:lnTo>
                  <a:lnTo>
                    <a:pt x="0" y="972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t="-8770" r="-99966" b="-8699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23" name="Freeform 123"/>
            <p:cNvSpPr/>
            <p:nvPr/>
          </p:nvSpPr>
          <p:spPr>
            <a:xfrm>
              <a:off x="778774" y="996817"/>
              <a:ext cx="2097838" cy="291900"/>
            </a:xfrm>
            <a:custGeom>
              <a:avLst/>
              <a:gdLst/>
              <a:ahLst/>
              <a:cxnLst/>
              <a:rect l="l" t="t" r="r" b="b"/>
              <a:pathLst>
                <a:path w="2097838" h="291900">
                  <a:moveTo>
                    <a:pt x="0" y="0"/>
                  </a:moveTo>
                  <a:lnTo>
                    <a:pt x="2097838" y="0"/>
                  </a:lnTo>
                  <a:lnTo>
                    <a:pt x="2097838" y="291900"/>
                  </a:lnTo>
                  <a:lnTo>
                    <a:pt x="0" y="29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-35907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26488" y="25934"/>
              <a:ext cx="2101195" cy="524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563"/>
                </a:lnSpc>
              </a:pPr>
              <a:r>
                <a:rPr lang="en-US" sz="1157" b="1">
                  <a:solidFill>
                    <a:srgbClr val="00BF63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Candado direccional (restricciones)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743684" y="518937"/>
              <a:ext cx="2423489" cy="4219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1"/>
                </a:lnSpc>
              </a:pPr>
              <a:r>
                <a:rPr lang="en-US" sz="58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Se pueden seleccionar combinaciones de 4 artículos ⬆️⬇️➡️⬅️</a:t>
              </a:r>
            </a:p>
            <a:p>
              <a:pPr marL="0" lvl="0" indent="0" algn="l">
                <a:lnSpc>
                  <a:spcPts val="841"/>
                </a:lnSpc>
              </a:pPr>
              <a:r>
                <a:rPr lang="en-US" sz="580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Una combinación no puede tener elementos repetidos.</a:t>
              </a:r>
            </a:p>
          </p:txBody>
        </p:sp>
      </p:grpSp>
      <p:sp>
        <p:nvSpPr>
          <p:cNvPr id="126" name="TextBox 126"/>
          <p:cNvSpPr txBox="1"/>
          <p:nvPr/>
        </p:nvSpPr>
        <p:spPr>
          <a:xfrm>
            <a:off x="3757150" y="1055766"/>
            <a:ext cx="1308816" cy="19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72"/>
              </a:lnSpc>
              <a:spcBef>
                <a:spcPct val="0"/>
              </a:spcBef>
            </a:pPr>
            <a:r>
              <a:rPr lang="en-US" sz="1123">
                <a:solidFill>
                  <a:srgbClr val="70797E"/>
                </a:solidFill>
                <a:latin typeface="Economica"/>
                <a:ea typeface="Economica"/>
                <a:cs typeface="Economica"/>
                <a:sym typeface="Economica"/>
              </a:rPr>
              <a:t>Nombre del modelo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685800" y="78867"/>
            <a:ext cx="10820400" cy="276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040"/>
              </a:lnSpc>
            </a:pP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Q₃: ¿Qué caracteriza a un modelo de candado? ¿Qué modelos existen? ¿Cómo les denominamos?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03064" y="0"/>
            <a:ext cx="4575048" cy="2953512"/>
          </a:xfrm>
          <a:custGeom>
            <a:avLst/>
            <a:gdLst/>
            <a:ahLst/>
            <a:cxnLst/>
            <a:rect l="l" t="t" r="r" b="b"/>
            <a:pathLst>
              <a:path w="4575048" h="2953512">
                <a:moveTo>
                  <a:pt x="0" y="0"/>
                </a:moveTo>
                <a:lnTo>
                  <a:pt x="4575048" y="0"/>
                </a:lnTo>
                <a:lnTo>
                  <a:pt x="4575048" y="2953512"/>
                </a:lnTo>
                <a:lnTo>
                  <a:pt x="0" y="2953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TextBox 13"/>
          <p:cNvSpPr txBox="1"/>
          <p:nvPr/>
        </p:nvSpPr>
        <p:spPr>
          <a:xfrm>
            <a:off x="1109960" y="657225"/>
            <a:ext cx="9972081" cy="550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69"/>
              </a:lnSpc>
            </a:pPr>
            <a:r>
              <a:rPr lang="en-US" sz="72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Q₄: ¿Funcionan estos </a:t>
            </a:r>
            <a:r>
              <a:rPr lang="en-US" sz="7224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modelos</a:t>
            </a:r>
            <a:r>
              <a:rPr lang="en-US" sz="72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para resolver más </a:t>
            </a:r>
            <a:r>
              <a:rPr lang="en-US" sz="7224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problemas</a:t>
            </a:r>
            <a:r>
              <a:rPr lang="en-US" sz="72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con contextos diferentes de candados?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TextBox 3"/>
          <p:cNvSpPr txBox="1"/>
          <p:nvPr/>
        </p:nvSpPr>
        <p:spPr>
          <a:xfrm>
            <a:off x="685800" y="2247184"/>
            <a:ext cx="10820400" cy="400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Cuántas formas diferentes hay de...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Elegir presidente, secretario y portavoz de un grupo de 12 personas si una persona no puede tener más de un cargo.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Elegir presidente, secretario y portavoz de un grupo de 12 personas si una persona puede tener más de un cargo.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Formar palabras de tres letras distintas con las letras de la palabra PERMUTACIÓN.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Colorear una bandera con 3 colores disponibles en disposición horizontal y debemos utilizar un mínimo de 2 y un máximo de 3 y no se pueden repetir los colores.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Elegir un helado si hay 6 sabores diferentes y nos permiten elegir 2 sabores distintos.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 4 botes de pintura de colores diferentes, cuántas mezclas de 2 colores diferentes podemos hacer.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Contestar a 4 preguntas de un listado de 5.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Asignar 2 hermanos gemelos de forma que no coincidan en la misma clase si la escuela tiene 4 clases de 3º de ESO.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Montar una pulsera de bolas si tenemos disponibles 10 bolas, todas de colores distintos.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Organizar los deberes de 3 asignaturas durante una tarde.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Combinar 10 camisetas durante una semana a fin de no repetir camiseta ningún día de la semana.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Combinar las camisetas del caso anterior con 3 pantalones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Realizar matrículas de vehículos que constan de 4 números y 3 letras del alfabeto, excluyendo las vocales.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638194"/>
            <a:ext cx="5613970" cy="785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37"/>
              </a:lnSpc>
            </a:pPr>
            <a:r>
              <a:rPr lang="en-US" sz="487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INFORME Q₄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8211" y="1666997"/>
            <a:ext cx="11293043" cy="340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65"/>
              </a:lnSpc>
            </a:pPr>
            <a:r>
              <a:rPr lang="en-US" sz="1975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Q₄: ¿Funcionan estos modelos para resolver más problemas con contextos diferentes de candados?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0681" y="93136"/>
            <a:ext cx="10685519" cy="276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040"/>
              </a:lnSpc>
            </a:pP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Q₄: ¿Funcionan estos modelos para resolver más problemas con contextos diferentes de candados?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1874</Words>
  <Application>Microsoft Office PowerPoint</Application>
  <PresentationFormat>Widescreen</PresentationFormat>
  <Paragraphs>206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40" baseType="lpstr">
      <vt:lpstr>Calibri (MS)</vt:lpstr>
      <vt:lpstr>Economica</vt:lpstr>
      <vt:lpstr>Lato Bold</vt:lpstr>
      <vt:lpstr>Roboto</vt:lpstr>
      <vt:lpstr>IBM Plex Sans Condensed</vt:lpstr>
      <vt:lpstr>Glacial Indifference Bold</vt:lpstr>
      <vt:lpstr>Glacial Indifference</vt:lpstr>
      <vt:lpstr>Arimo Bold</vt:lpstr>
      <vt:lpstr>Arial</vt:lpstr>
      <vt:lpstr>Arimo</vt:lpstr>
      <vt:lpstr>League Spartan</vt:lpstr>
      <vt:lpstr>Lato</vt:lpstr>
      <vt:lpstr>Roboto Bold</vt:lpstr>
      <vt:lpstr>IBM Plex Sans Condensed Bold</vt:lpstr>
      <vt:lpstr>Economica Bold</vt:lpstr>
      <vt:lpstr>Garet Bold</vt:lpstr>
      <vt:lpstr>Garet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 REI Cadenats (Castellano)</dc:title>
  <cp:lastModifiedBy>Susana Vasquez Elias</cp:lastModifiedBy>
  <cp:revision>1</cp:revision>
  <dcterms:created xsi:type="dcterms:W3CDTF">2006-08-16T00:00:00Z</dcterms:created>
  <dcterms:modified xsi:type="dcterms:W3CDTF">2025-10-16T17:30:24Z</dcterms:modified>
  <dc:identifier>DAGdGIyhDGU</dc:identifier>
</cp:coreProperties>
</file>