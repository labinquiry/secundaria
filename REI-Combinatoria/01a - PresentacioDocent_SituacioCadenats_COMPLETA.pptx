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7099300" cy="10234613"/>
  <p:embeddedFontLst>
    <p:embeddedFont>
      <p:font typeface="Century Gothic" panose="020B0502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836" y="10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76363" cy="511731"/>
          </a:xfrm>
          <a:prstGeom prst="rect">
            <a:avLst/>
          </a:prstGeom>
          <a:noFill/>
          <a:ln>
            <a:noFill/>
          </a:ln>
        </p:spPr>
        <p:txBody>
          <a:bodyPr spcFirstLastPara="1" wrap="square" lIns="94750" tIns="47375" rIns="94750" bIns="4737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295" y="0"/>
            <a:ext cx="3076363" cy="511731"/>
          </a:xfrm>
          <a:prstGeom prst="rect">
            <a:avLst/>
          </a:prstGeom>
          <a:noFill/>
          <a:ln>
            <a:noFill/>
          </a:ln>
        </p:spPr>
        <p:txBody>
          <a:bodyPr spcFirstLastPara="1" wrap="square" lIns="94750" tIns="47375" rIns="94750" bIns="473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721106"/>
            <a:ext cx="3076363" cy="511731"/>
          </a:xfrm>
          <a:prstGeom prst="rect">
            <a:avLst/>
          </a:prstGeom>
          <a:noFill/>
          <a:ln>
            <a:noFill/>
          </a:ln>
        </p:spPr>
        <p:txBody>
          <a:bodyPr spcFirstLastPara="1" wrap="square" lIns="94750" tIns="47375" rIns="94750" bIns="4737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79" name="Google Shape;79;p1: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La seguretat depèn de les “variants” de cada cadenat? Per exemple de si tenen lletres, símbols, números, dates,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Serà més segur el que tingui més codis?</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Dependrà de l’habilitat del “lladre”?</a:t>
            </a:r>
            <a:endParaRPr/>
          </a:p>
          <a:p>
            <a:pPr marL="0" lvl="0" indent="0" algn="l" rtl="0">
              <a:lnSpc>
                <a:spcPct val="100000"/>
              </a:lnSpc>
              <a:spcBef>
                <a:spcPts val="0"/>
              </a:spcBef>
              <a:spcAft>
                <a:spcPts val="0"/>
              </a:spcAft>
              <a:buSzPts val="1400"/>
              <a:buNone/>
            </a:pPr>
            <a:endParaRPr/>
          </a:p>
        </p:txBody>
      </p:sp>
      <p:sp>
        <p:nvSpPr>
          <p:cNvPr id="86" name="Google Shape;86;p2: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28721b6b2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e28721b6b2_0_0:notes"/>
          <p:cNvSpPr txBox="1">
            <a:spLocks noGrp="1"/>
          </p:cNvSpPr>
          <p:nvPr>
            <p:ph type="body" idx="1"/>
          </p:nvPr>
        </p:nvSpPr>
        <p:spPr>
          <a:xfrm>
            <a:off x="709931" y="4861442"/>
            <a:ext cx="5679300" cy="4605600"/>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99" name="Google Shape;99;g2e28721b6b2_0_0:notes"/>
          <p:cNvSpPr txBox="1">
            <a:spLocks noGrp="1"/>
          </p:cNvSpPr>
          <p:nvPr>
            <p:ph type="sldNum" idx="12"/>
          </p:nvPr>
        </p:nvSpPr>
        <p:spPr>
          <a:xfrm>
            <a:off x="4021295" y="9721106"/>
            <a:ext cx="3076500" cy="511800"/>
          </a:xfrm>
          <a:prstGeom prst="rect">
            <a:avLst/>
          </a:prstGeom>
        </p:spPr>
        <p:txBody>
          <a:bodyPr spcFirstLastPara="1" wrap="square" lIns="94750" tIns="47375" rIns="94750" bIns="47375"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ca-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La seguretat depèn de les “variants” de cada cadenat? Per exemple de si tenen lletres, símbols, números, dates,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Serà més segur el que tingui més codis?</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ca-ES" b="0">
                <a:solidFill>
                  <a:srgbClr val="7030A0"/>
                </a:solidFill>
                <a:latin typeface="Arial"/>
                <a:ea typeface="Arial"/>
                <a:cs typeface="Arial"/>
                <a:sym typeface="Arial"/>
              </a:rPr>
              <a:t>Dependrà de l’habilitat del “lladre”?</a:t>
            </a:r>
            <a:endParaRPr/>
          </a:p>
          <a:p>
            <a:pPr marL="0" lvl="0" indent="0" algn="l" rtl="0">
              <a:lnSpc>
                <a:spcPct val="100000"/>
              </a:lnSpc>
              <a:spcBef>
                <a:spcPts val="0"/>
              </a:spcBef>
              <a:spcAft>
                <a:spcPts val="0"/>
              </a:spcAft>
              <a:buSzPts val="1400"/>
              <a:buNone/>
            </a:pPr>
            <a:endParaRPr/>
          </a:p>
        </p:txBody>
      </p:sp>
      <p:sp>
        <p:nvSpPr>
          <p:cNvPr id="111" name="Google Shape;111;p3: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a:t>Alguns exemples de preguntes…</a:t>
            </a:r>
            <a:endParaRPr/>
          </a:p>
        </p:txBody>
      </p:sp>
      <p:sp>
        <p:nvSpPr>
          <p:cNvPr id="123" name="Google Shape;123;p4: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ff9b61dd67_1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1ff9b61dd67_1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a:t>Alguns exemples de preguntes…</a:t>
            </a:r>
            <a:endParaRPr/>
          </a:p>
        </p:txBody>
      </p:sp>
      <p:sp>
        <p:nvSpPr>
          <p:cNvPr id="132" name="Google Shape;132;g1ff9b61dd67_1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cfa7dab9e5_0_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41" name="Google Shape;141;g2cfa7dab9e5_0_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0" name="Google Shape;150;p6: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a7dab9e5_0_16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7" name="Google Shape;157;g2cfa7dab9e5_0_169: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75" name="Google Shape;175;p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83" name="Google Shape;183;p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93" name="Google Shape;193;p1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cfa7dab9e5_0_25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21" name="Google Shape;221;g2cfa7dab9e5_0_25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e1838c6fd1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2e1838c6fd1_0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0" name="Google Shape;230;g2e1838c6fd1_0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a7dab9e5_0_7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44" name="Google Shape;244;g2cfa7dab9e5_0_7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cfa7dab9e5_0_9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61" name="Google Shape;261;g2cfa7dab9e5_0_9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93" name="Google Shape;293;p1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20: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06" name="Google Shape;306;p20: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cfa7dab9e5_0_33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14" name="Google Shape;314;g2cfa7dab9e5_0_33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cfa7dab9e5_0_35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39" name="Google Shape;339;g2cfa7dab9e5_0_35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cfa7dab9e5_0_36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46" name="Google Shape;346;g2cfa7dab9e5_0_36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cfa7dab9e5_0_60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g2cfa7dab9e5_0_60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54" name="Google Shape;354;g2cfa7dab9e5_0_604: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cfa7dab9e5_0_61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2" name="Google Shape;362;g2cfa7dab9e5_0_61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cfa7dab9e5_0_61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8" name="Google Shape;368;g2cfa7dab9e5_0_61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cfa7dab9e5_0_62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76" name="Google Shape;376;g2cfa7dab9e5_0_62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cfa7dab9e5_0_63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2cfa7dab9e5_0_63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83" name="Google Shape;383;g2cfa7dab9e5_0_63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cfa7dab9e5_0_64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92" name="Google Shape;392;g2cfa7dab9e5_0_64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cfa7dab9e5_0_65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cfa7dab9e5_0_65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cfa7dab9e5_0_55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g2cfa7dab9e5_0_55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13" name="Google Shape;413;g2cfa7dab9e5_0_55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cfa7dab9e5_0_55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20" name="Google Shape;420;g2cfa7dab9e5_0_559: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cfa7dab9e5_0_57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a:t>Alternativa si es vol incloure el cas XTEC</a:t>
            </a:r>
            <a:endParaRPr/>
          </a:p>
        </p:txBody>
      </p:sp>
      <p:sp>
        <p:nvSpPr>
          <p:cNvPr id="432" name="Google Shape;432;g2cfa7dab9e5_0_57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cfa7dab9e5_0_58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45" name="Google Shape;445;g2cfa7dab9e5_0_58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cfa7dab9e5_0_58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2" name="Google Shape;452;g2cfa7dab9e5_0_58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cfa7dab9e5_0_593: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8" name="Google Shape;458;g2cfa7dab9e5_0_593: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ca-ES"/>
              <a:t>Dubtes si incloure aquest o un altre.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ca-ES"/>
              <a:t>Susana, tens algun mapa ben xulo que correspongui a la segona versió del REI? Sobre quin cadenat és més segur? Fixa’t que l’inclòs a la Part 2 parteix d’una altra Q generatriu.</a:t>
            </a:r>
            <a:endParaRPr/>
          </a:p>
        </p:txBody>
      </p:sp>
      <p:sp>
        <p:nvSpPr>
          <p:cNvPr id="471" name="Google Shape;471;p2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ca-ES"/>
              <a:t>Dubtes si incloure aquest o un altre.</a:t>
            </a:r>
            <a:endParaRPr/>
          </a:p>
          <a:p>
            <a:pPr marL="0" lvl="0" indent="0" algn="l" rtl="0">
              <a:lnSpc>
                <a:spcPct val="100000"/>
              </a:lnSpc>
              <a:spcBef>
                <a:spcPts val="0"/>
              </a:spcBef>
              <a:spcAft>
                <a:spcPts val="0"/>
              </a:spcAft>
              <a:buSzPts val="1400"/>
              <a:buNone/>
            </a:pPr>
            <a:endParaRPr/>
          </a:p>
        </p:txBody>
      </p:sp>
      <p:sp>
        <p:nvSpPr>
          <p:cNvPr id="478" name="Google Shape;478;p28: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2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ca-ES"/>
              <a:t>Dubtes si incloure aquest o un altre.</a:t>
            </a:r>
            <a:endParaRPr/>
          </a:p>
          <a:p>
            <a:pPr marL="0" lvl="0" indent="0" algn="l" rtl="0">
              <a:lnSpc>
                <a:spcPct val="100000"/>
              </a:lnSpc>
              <a:spcBef>
                <a:spcPts val="0"/>
              </a:spcBef>
              <a:spcAft>
                <a:spcPts val="0"/>
              </a:spcAft>
              <a:buSzPts val="1400"/>
              <a:buNone/>
            </a:pPr>
            <a:endParaRPr/>
          </a:p>
        </p:txBody>
      </p:sp>
      <p:sp>
        <p:nvSpPr>
          <p:cNvPr id="487" name="Google Shape;487;p29: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
          <p:cNvSpPr/>
          <p:nvPr/>
        </p:nvSpPr>
        <p:spPr>
          <a:xfrm>
            <a:off x="1795269" y="268288"/>
            <a:ext cx="7061395" cy="909694"/>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15" name="Google Shape;15;p2"/>
          <p:cNvSpPr txBox="1">
            <a:spLocks noGrp="1"/>
          </p:cNvSpPr>
          <p:nvPr>
            <p:ph type="ctrTitle"/>
          </p:nvPr>
        </p:nvSpPr>
        <p:spPr>
          <a:xfrm>
            <a:off x="1794838" y="1617740"/>
            <a:ext cx="7061395" cy="278320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7030A0"/>
              </a:buClr>
              <a:buSzPts val="3000"/>
              <a:buFont typeface="Avenir"/>
              <a:buNone/>
              <a:defRPr sz="3000">
                <a:solidFill>
                  <a:srgbClr val="7030A0"/>
                </a:solidFill>
                <a:latin typeface="Avenir"/>
                <a:ea typeface="Avenir"/>
                <a:cs typeface="Avenir"/>
                <a:sym typeface="Aveni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794838" y="4400950"/>
            <a:ext cx="7061397" cy="1955401"/>
          </a:xfrm>
          <a:prstGeom prst="rect">
            <a:avLst/>
          </a:prstGeom>
          <a:noFill/>
          <a:ln>
            <a:noFill/>
          </a:ln>
        </p:spPr>
        <p:txBody>
          <a:bodyPr spcFirstLastPara="1" wrap="square" lIns="91425" tIns="45700" rIns="91425" bIns="45700" anchor="t" anchorCtr="0">
            <a:normAutofit/>
          </a:bodyPr>
          <a:lstStyle>
            <a:lvl1pPr lvl="0" algn="ctr">
              <a:lnSpc>
                <a:spcPct val="130000"/>
              </a:lnSpc>
              <a:spcBef>
                <a:spcPts val="0"/>
              </a:spcBef>
              <a:spcAft>
                <a:spcPts val="0"/>
              </a:spcAft>
              <a:buClr>
                <a:schemeClr val="accent1"/>
              </a:buClr>
              <a:buSzPts val="2000"/>
              <a:buFont typeface="Noto Sans Symbols"/>
              <a:buNone/>
              <a:defRPr sz="2000" b="0">
                <a:solidFill>
                  <a:schemeClr val="dk2"/>
                </a:solidFill>
                <a:latin typeface="Avenir"/>
                <a:ea typeface="Avenir"/>
                <a:cs typeface="Avenir"/>
                <a:sym typeface="Avenir"/>
              </a:defRPr>
            </a:lvl1pPr>
            <a:lvl2pPr lvl="1" algn="ctr">
              <a:lnSpc>
                <a:spcPct val="130000"/>
              </a:lnSpc>
              <a:spcBef>
                <a:spcPts val="600"/>
              </a:spcBef>
              <a:spcAft>
                <a:spcPts val="0"/>
              </a:spcAft>
              <a:buSzPts val="1800"/>
              <a:buNone/>
              <a:defRPr>
                <a:solidFill>
                  <a:srgbClr val="888888"/>
                </a:solidFill>
              </a:defRPr>
            </a:lvl2pPr>
            <a:lvl3pPr lvl="2" algn="ctr">
              <a:lnSpc>
                <a:spcPct val="130000"/>
              </a:lnSpc>
              <a:spcBef>
                <a:spcPts val="600"/>
              </a:spcBef>
              <a:spcAft>
                <a:spcPts val="0"/>
              </a:spcAft>
              <a:buSzPts val="1600"/>
              <a:buNone/>
              <a:defRPr>
                <a:solidFill>
                  <a:srgbClr val="888888"/>
                </a:solidFill>
              </a:defRPr>
            </a:lvl3pPr>
            <a:lvl4pPr lvl="3" algn="ctr">
              <a:lnSpc>
                <a:spcPct val="130000"/>
              </a:lnSpc>
              <a:spcBef>
                <a:spcPts val="600"/>
              </a:spcBef>
              <a:spcAft>
                <a:spcPts val="0"/>
              </a:spcAft>
              <a:buSzPts val="1400"/>
              <a:buNone/>
              <a:defRPr>
                <a:solidFill>
                  <a:srgbClr val="888888"/>
                </a:solidFill>
              </a:defRPr>
            </a:lvl4pPr>
            <a:lvl5pPr lvl="4" algn="ctr">
              <a:lnSpc>
                <a:spcPct val="130000"/>
              </a:lnSpc>
              <a:spcBef>
                <a:spcPts val="600"/>
              </a:spcBef>
              <a:spcAft>
                <a:spcPts val="0"/>
              </a:spcAft>
              <a:buSzPts val="12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pic>
        <p:nvPicPr>
          <p:cNvPr id="17" name="Google Shape;17;p2"/>
          <p:cNvPicPr preferRelativeResize="0"/>
          <p:nvPr/>
        </p:nvPicPr>
        <p:blipFill rotWithShape="1">
          <a:blip r:embed="rId2">
            <a:alphaModFix amt="20000"/>
          </a:blip>
          <a:srcRect/>
          <a:stretch/>
        </p:blipFill>
        <p:spPr>
          <a:xfrm>
            <a:off x="387532" y="562359"/>
            <a:ext cx="588145" cy="588145"/>
          </a:xfrm>
          <a:prstGeom prst="rect">
            <a:avLst/>
          </a:prstGeom>
          <a:noFill/>
          <a:ln>
            <a:noFill/>
          </a:ln>
        </p:spPr>
      </p:pic>
      <p:pic>
        <p:nvPicPr>
          <p:cNvPr id="18" name="Google Shape;18;p2"/>
          <p:cNvPicPr preferRelativeResize="0"/>
          <p:nvPr/>
        </p:nvPicPr>
        <p:blipFill rotWithShape="1">
          <a:blip r:embed="rId3">
            <a:alphaModFix amt="20000"/>
          </a:blip>
          <a:srcRect/>
          <a:stretch/>
        </p:blipFill>
        <p:spPr>
          <a:xfrm rot="2700000">
            <a:off x="942910" y="354419"/>
            <a:ext cx="415881" cy="415881"/>
          </a:xfrm>
          <a:prstGeom prst="rect">
            <a:avLst/>
          </a:prstGeom>
          <a:noFill/>
          <a:ln>
            <a:noFill/>
          </a:ln>
        </p:spPr>
      </p:pic>
      <p:pic>
        <p:nvPicPr>
          <p:cNvPr id="19" name="Google Shape;19;p2"/>
          <p:cNvPicPr preferRelativeResize="0"/>
          <p:nvPr/>
        </p:nvPicPr>
        <p:blipFill rotWithShape="1">
          <a:blip r:embed="rId4">
            <a:alphaModFix amt="20000"/>
          </a:blip>
          <a:srcRect/>
          <a:stretch/>
        </p:blipFill>
        <p:spPr>
          <a:xfrm rot="8047801">
            <a:off x="1189032" y="715026"/>
            <a:ext cx="568525" cy="503756"/>
          </a:xfrm>
          <a:prstGeom prst="rect">
            <a:avLst/>
          </a:prstGeom>
          <a:noFill/>
          <a:ln>
            <a:noFill/>
          </a:ln>
        </p:spPr>
      </p:pic>
      <p:pic>
        <p:nvPicPr>
          <p:cNvPr id="20" name="Google Shape;20;p2" descr="Imatge que conté Font, Gràfics, logotip, blanc&#10;&#10;Descripció generada automàticament"/>
          <p:cNvPicPr preferRelativeResize="0"/>
          <p:nvPr/>
        </p:nvPicPr>
        <p:blipFill rotWithShape="1">
          <a:blip r:embed="rId5">
            <a:alphaModFix/>
          </a:blip>
          <a:srcRect/>
          <a:stretch/>
        </p:blipFill>
        <p:spPr>
          <a:xfrm>
            <a:off x="7341151" y="6539487"/>
            <a:ext cx="907100" cy="274950"/>
          </a:xfrm>
          <a:prstGeom prst="rect">
            <a:avLst/>
          </a:prstGeom>
          <a:noFill/>
          <a:ln>
            <a:noFill/>
          </a:ln>
        </p:spPr>
      </p:pic>
      <p:pic>
        <p:nvPicPr>
          <p:cNvPr id="21" name="Google Shape;21;p2"/>
          <p:cNvPicPr preferRelativeResize="0"/>
          <p:nvPr/>
        </p:nvPicPr>
        <p:blipFill rotWithShape="1">
          <a:blip r:embed="rId4">
            <a:alphaModFix amt="20000"/>
          </a:blip>
          <a:srcRect/>
          <a:stretch/>
        </p:blipFill>
        <p:spPr>
          <a:xfrm rot="8718243">
            <a:off x="7231658" y="6584561"/>
            <a:ext cx="218986" cy="19403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4" name="Google Shape;24;p3"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25" name="Google Shape;25;p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6" name="Google Shape;26;p3"/>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27" name="Google Shape;27;p3"/>
          <p:cNvPicPr preferRelativeResize="0"/>
          <p:nvPr/>
        </p:nvPicPr>
        <p:blipFill rotWithShape="1">
          <a:blip r:embed="rId4">
            <a:alphaModFix amt="20000"/>
          </a:blip>
          <a:srcRect/>
          <a:stretch/>
        </p:blipFill>
        <p:spPr>
          <a:xfrm rot="3366168">
            <a:off x="625062" y="4589345"/>
            <a:ext cx="2238710" cy="1102649"/>
          </a:xfrm>
          <a:prstGeom prst="rect">
            <a:avLst/>
          </a:prstGeom>
          <a:noFill/>
          <a:ln>
            <a:noFill/>
          </a:ln>
        </p:spPr>
      </p:pic>
      <p:pic>
        <p:nvPicPr>
          <p:cNvPr id="28" name="Google Shape;28;p3"/>
          <p:cNvPicPr preferRelativeResize="0"/>
          <p:nvPr/>
        </p:nvPicPr>
        <p:blipFill rotWithShape="1">
          <a:blip r:embed="rId5">
            <a:alphaModFix amt="20000"/>
          </a:blip>
          <a:srcRect/>
          <a:stretch/>
        </p:blipFill>
        <p:spPr>
          <a:xfrm>
            <a:off x="3290501" y="1020435"/>
            <a:ext cx="2986372" cy="2986372"/>
          </a:xfrm>
          <a:prstGeom prst="rect">
            <a:avLst/>
          </a:prstGeom>
          <a:noFill/>
          <a:ln>
            <a:noFill/>
          </a:ln>
        </p:spPr>
      </p:pic>
      <p:pic>
        <p:nvPicPr>
          <p:cNvPr id="29" name="Google Shape;29;p3"/>
          <p:cNvPicPr preferRelativeResize="0"/>
          <p:nvPr/>
        </p:nvPicPr>
        <p:blipFill rotWithShape="1">
          <a:blip r:embed="rId3">
            <a:alphaModFix amt="20000"/>
          </a:blip>
          <a:srcRect/>
          <a:stretch/>
        </p:blipFill>
        <p:spPr>
          <a:xfrm rot="8718243">
            <a:off x="6657026" y="4592831"/>
            <a:ext cx="2312471" cy="2049024"/>
          </a:xfrm>
          <a:prstGeom prst="rect">
            <a:avLst/>
          </a:prstGeom>
          <a:noFill/>
          <a:ln>
            <a:noFill/>
          </a:ln>
        </p:spPr>
      </p:pic>
      <p:pic>
        <p:nvPicPr>
          <p:cNvPr id="30" name="Google Shape;30;p3"/>
          <p:cNvPicPr preferRelativeResize="0"/>
          <p:nvPr/>
        </p:nvPicPr>
        <p:blipFill rotWithShape="1">
          <a:blip r:embed="rId6">
            <a:alphaModFix amt="20000"/>
          </a:blip>
          <a:srcRect/>
          <a:stretch/>
        </p:blipFill>
        <p:spPr>
          <a:xfrm rot="2700000">
            <a:off x="7042460" y="1506115"/>
            <a:ext cx="1617659" cy="1617659"/>
          </a:xfrm>
          <a:prstGeom prst="rect">
            <a:avLst/>
          </a:prstGeom>
          <a:noFill/>
          <a:ln>
            <a:noFill/>
          </a:ln>
        </p:spPr>
      </p:pic>
      <p:pic>
        <p:nvPicPr>
          <p:cNvPr id="31" name="Google Shape;31;p3"/>
          <p:cNvPicPr preferRelativeResize="0"/>
          <p:nvPr/>
        </p:nvPicPr>
        <p:blipFill rotWithShape="1">
          <a:blip r:embed="rId7">
            <a:alphaModFix amt="20000"/>
          </a:blip>
          <a:srcRect/>
          <a:stretch/>
        </p:blipFill>
        <p:spPr>
          <a:xfrm>
            <a:off x="3813489" y="4311578"/>
            <a:ext cx="2012976" cy="2227694"/>
          </a:xfrm>
          <a:prstGeom prst="rect">
            <a:avLst/>
          </a:prstGeom>
          <a:noFill/>
          <a:ln>
            <a:noFill/>
          </a:ln>
        </p:spPr>
      </p:pic>
      <p:pic>
        <p:nvPicPr>
          <p:cNvPr id="32" name="Google Shape;32;p3"/>
          <p:cNvPicPr preferRelativeResize="0"/>
          <p:nvPr/>
        </p:nvPicPr>
        <p:blipFill rotWithShape="1">
          <a:blip r:embed="rId8">
            <a:alphaModFix amt="20000"/>
          </a:blip>
          <a:srcRect/>
          <a:stretch/>
        </p:blipFill>
        <p:spPr>
          <a:xfrm rot="-1281876">
            <a:off x="-8279" y="1428163"/>
            <a:ext cx="2862791" cy="1431396"/>
          </a:xfrm>
          <a:prstGeom prst="rect">
            <a:avLst/>
          </a:prstGeom>
          <a:noFill/>
          <a:ln>
            <a:noFill/>
          </a:ln>
        </p:spPr>
      </p:pic>
      <p:sp>
        <p:nvSpPr>
          <p:cNvPr id="33" name="Google Shape;33;p3"/>
          <p:cNvSpPr txBox="1">
            <a:spLocks noGrp="1"/>
          </p:cNvSpPr>
          <p:nvPr>
            <p:ph type="body" idx="2"/>
          </p:nvPr>
        </p:nvSpPr>
        <p:spPr>
          <a:xfrm>
            <a:off x="455625" y="3568848"/>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34" name="Google Shape;34;p3"/>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35"/>
        <p:cNvGrpSpPr/>
        <p:nvPr/>
      </p:nvGrpSpPr>
      <p:grpSpPr>
        <a:xfrm>
          <a:off x="0" y="0"/>
          <a:ext cx="0" cy="0"/>
          <a:chOff x="0" y="0"/>
          <a:chExt cx="0" cy="0"/>
        </a:xfrm>
      </p:grpSpPr>
      <p:pic>
        <p:nvPicPr>
          <p:cNvPr id="36" name="Google Shape;36;p4"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37" name="Google Shape;37;p4"/>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8" name="Google Shape;38;p4"/>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39" name="Google Shape;39;p4"/>
          <p:cNvPicPr preferRelativeResize="0"/>
          <p:nvPr/>
        </p:nvPicPr>
        <p:blipFill rotWithShape="1">
          <a:blip r:embed="rId3">
            <a:alphaModFix amt="20000"/>
          </a:blip>
          <a:srcRect/>
          <a:stretch/>
        </p:blipFill>
        <p:spPr>
          <a:xfrm rot="8718243">
            <a:off x="6695053" y="4581109"/>
            <a:ext cx="2312471" cy="2049024"/>
          </a:xfrm>
          <a:prstGeom prst="rect">
            <a:avLst/>
          </a:prstGeom>
          <a:noFill/>
          <a:ln>
            <a:noFill/>
          </a:ln>
        </p:spPr>
      </p:pic>
      <p:sp>
        <p:nvSpPr>
          <p:cNvPr id="40" name="Google Shape;40;p4"/>
          <p:cNvSpPr txBox="1">
            <a:spLocks noGrp="1"/>
          </p:cNvSpPr>
          <p:nvPr>
            <p:ph type="body" idx="1"/>
          </p:nvPr>
        </p:nvSpPr>
        <p:spPr>
          <a:xfrm>
            <a:off x="4760847" y="122342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Clr>
                <a:srgbClr val="3DB087"/>
              </a:buClr>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41" name="Google Shape;41;p4"/>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pic>
        <p:nvPicPr>
          <p:cNvPr id="42" name="Google Shape;42;p4"/>
          <p:cNvPicPr preferRelativeResize="0"/>
          <p:nvPr/>
        </p:nvPicPr>
        <p:blipFill rotWithShape="1">
          <a:blip r:embed="rId4">
            <a:alphaModFix amt="20000"/>
          </a:blip>
          <a:srcRect/>
          <a:stretch/>
        </p:blipFill>
        <p:spPr>
          <a:xfrm rot="5400000">
            <a:off x="-469939" y="1858192"/>
            <a:ext cx="5582573" cy="3853698"/>
          </a:xfrm>
          <a:prstGeom prst="rect">
            <a:avLst/>
          </a:prstGeom>
          <a:noFill/>
          <a:ln>
            <a:noFill/>
          </a:ln>
        </p:spPr>
      </p:pic>
      <p:sp>
        <p:nvSpPr>
          <p:cNvPr id="43" name="Google Shape;43;p4"/>
          <p:cNvSpPr txBox="1">
            <a:spLocks noGrp="1"/>
          </p:cNvSpPr>
          <p:nvPr>
            <p:ph type="body" idx="2"/>
          </p:nvPr>
        </p:nvSpPr>
        <p:spPr>
          <a:xfrm>
            <a:off x="460395" y="120747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44"/>
        <p:cNvGrpSpPr/>
        <p:nvPr/>
      </p:nvGrpSpPr>
      <p:grpSpPr>
        <a:xfrm>
          <a:off x="0" y="0"/>
          <a:ext cx="0" cy="0"/>
          <a:chOff x="0" y="0"/>
          <a:chExt cx="0" cy="0"/>
        </a:xfrm>
      </p:grpSpPr>
      <p:sp>
        <p:nvSpPr>
          <p:cNvPr id="45" name="Google Shape;45;p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46" name="Google Shape;46;p5"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47" name="Google Shape;47;p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5"/>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49" name="Google Shape;49;p5"/>
          <p:cNvPicPr preferRelativeResize="0"/>
          <p:nvPr/>
        </p:nvPicPr>
        <p:blipFill rotWithShape="1">
          <a:blip r:embed="rId4">
            <a:alphaModFix amt="20000"/>
          </a:blip>
          <a:srcRect/>
          <a:stretch/>
        </p:blipFill>
        <p:spPr>
          <a:xfrm rot="8718243">
            <a:off x="5833867" y="2178551"/>
            <a:ext cx="3695700" cy="3631779"/>
          </a:xfrm>
          <a:prstGeom prst="rect">
            <a:avLst/>
          </a:prstGeom>
          <a:noFill/>
          <a:ln>
            <a:noFill/>
          </a:ln>
        </p:spPr>
      </p:pic>
      <p:sp>
        <p:nvSpPr>
          <p:cNvPr id="50" name="Google Shape;50;p5"/>
          <p:cNvSpPr txBox="1">
            <a:spLocks noGrp="1"/>
          </p:cNvSpPr>
          <p:nvPr>
            <p:ph type="body" idx="2"/>
          </p:nvPr>
        </p:nvSpPr>
        <p:spPr>
          <a:xfrm>
            <a:off x="460394" y="3679311"/>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51" name="Google Shape;51;p5"/>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2"/>
        <p:cNvGrpSpPr/>
        <p:nvPr/>
      </p:nvGrpSpPr>
      <p:grpSpPr>
        <a:xfrm>
          <a:off x="0" y="0"/>
          <a:ext cx="0" cy="0"/>
          <a:chOff x="0" y="0"/>
          <a:chExt cx="0" cy="0"/>
        </a:xfrm>
      </p:grpSpPr>
      <p:sp>
        <p:nvSpPr>
          <p:cNvPr id="53" name="Google Shape;53;p6"/>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54" name="Google Shape;54;p6"/>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5" name="Google Shape;55;p6"/>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56" name="Google Shape;56;p6"/>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sp>
        <p:nvSpPr>
          <p:cNvPr id="57" name="Google Shape;57;p6"/>
          <p:cNvSpPr txBox="1">
            <a:spLocks noGrp="1"/>
          </p:cNvSpPr>
          <p:nvPr>
            <p:ph type="title"/>
          </p:nvPr>
        </p:nvSpPr>
        <p:spPr>
          <a:xfrm>
            <a:off x="1090246" y="366717"/>
            <a:ext cx="7767779"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8" name="Google Shape;58;p6" descr="Imatge que conté Font, Gràfics, logotip, blanc&#10;&#10;Descripció generada automàticament"/>
          <p:cNvPicPr preferRelativeResize="0"/>
          <p:nvPr/>
        </p:nvPicPr>
        <p:blipFill rotWithShape="1">
          <a:blip r:embed="rId4">
            <a:alphaModFix/>
          </a:blip>
          <a:srcRect/>
          <a:stretch/>
        </p:blipFill>
        <p:spPr>
          <a:xfrm>
            <a:off x="7341151" y="6539487"/>
            <a:ext cx="907100" cy="274950"/>
          </a:xfrm>
          <a:prstGeom prst="rect">
            <a:avLst/>
          </a:prstGeom>
          <a:noFill/>
          <a:ln>
            <a:noFill/>
          </a:ln>
        </p:spPr>
      </p:pic>
      <p:pic>
        <p:nvPicPr>
          <p:cNvPr id="59" name="Google Shape;59;p6"/>
          <p:cNvPicPr preferRelativeResize="0"/>
          <p:nvPr/>
        </p:nvPicPr>
        <p:blipFill rotWithShape="1">
          <a:blip r:embed="rId5">
            <a:alphaModFix amt="20000"/>
          </a:blip>
          <a:srcRect/>
          <a:stretch/>
        </p:blipFill>
        <p:spPr>
          <a:xfrm rot="8718243">
            <a:off x="7231658" y="6584561"/>
            <a:ext cx="218986" cy="194038"/>
          </a:xfrm>
          <a:prstGeom prst="rect">
            <a:avLst/>
          </a:prstGeom>
          <a:noFill/>
          <a:ln>
            <a:noFill/>
          </a:ln>
        </p:spPr>
      </p:pic>
      <p:cxnSp>
        <p:nvCxnSpPr>
          <p:cNvPr id="60" name="Google Shape;60;p6"/>
          <p:cNvCxnSpPr/>
          <p:nvPr/>
        </p:nvCxnSpPr>
        <p:spPr>
          <a:xfrm>
            <a:off x="457200" y="6463030"/>
            <a:ext cx="8305800" cy="1588"/>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61"/>
        <p:cNvGrpSpPr/>
        <p:nvPr/>
      </p:nvGrpSpPr>
      <p:grpSpPr>
        <a:xfrm>
          <a:off x="0" y="0"/>
          <a:ext cx="0" cy="0"/>
          <a:chOff x="0" y="0"/>
          <a:chExt cx="0" cy="0"/>
        </a:xfrm>
      </p:grpSpPr>
      <p:sp>
        <p:nvSpPr>
          <p:cNvPr id="62" name="Google Shape;62;p7"/>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30000"/>
              </a:lnSpc>
              <a:spcBef>
                <a:spcPts val="1800"/>
              </a:spcBef>
              <a:spcAft>
                <a:spcPts val="0"/>
              </a:spcAft>
              <a:buSzPts val="1800"/>
              <a:buNone/>
              <a:defRPr sz="1800"/>
            </a:lvl1pPr>
            <a:lvl2pPr lvl="1" algn="ctr">
              <a:lnSpc>
                <a:spcPct val="130000"/>
              </a:lnSpc>
              <a:spcBef>
                <a:spcPts val="600"/>
              </a:spcBef>
              <a:spcAft>
                <a:spcPts val="0"/>
              </a:spcAft>
              <a:buSzPts val="1500"/>
              <a:buNone/>
              <a:defRPr sz="1500"/>
            </a:lvl2pPr>
            <a:lvl3pPr lvl="2" algn="ctr">
              <a:lnSpc>
                <a:spcPct val="130000"/>
              </a:lnSpc>
              <a:spcBef>
                <a:spcPts val="600"/>
              </a:spcBef>
              <a:spcAft>
                <a:spcPts val="0"/>
              </a:spcAft>
              <a:buSzPts val="1350"/>
              <a:buNone/>
              <a:defRPr sz="1350"/>
            </a:lvl3pPr>
            <a:lvl4pPr lvl="3" algn="ctr">
              <a:lnSpc>
                <a:spcPct val="130000"/>
              </a:lnSpc>
              <a:spcBef>
                <a:spcPts val="600"/>
              </a:spcBef>
              <a:spcAft>
                <a:spcPts val="0"/>
              </a:spcAft>
              <a:buSzPts val="1200"/>
              <a:buNone/>
              <a:defRPr sz="1200"/>
            </a:lvl4pPr>
            <a:lvl5pPr lvl="4" algn="ctr">
              <a:lnSpc>
                <a:spcPct val="130000"/>
              </a:lnSpc>
              <a:spcBef>
                <a:spcPts val="600"/>
              </a:spcBef>
              <a:spcAft>
                <a:spcPts val="0"/>
              </a:spcAft>
              <a:buSzPts val="1200"/>
              <a:buNone/>
              <a:defRPr sz="1200"/>
            </a:lvl5pPr>
            <a:lvl6pPr lvl="5" algn="ctr">
              <a:lnSpc>
                <a:spcPct val="100000"/>
              </a:lnSpc>
              <a:spcBef>
                <a:spcPts val="240"/>
              </a:spcBef>
              <a:spcAft>
                <a:spcPts val="0"/>
              </a:spcAft>
              <a:buClr>
                <a:schemeClr val="dk1"/>
              </a:buClr>
              <a:buSzPts val="1200"/>
              <a:buNone/>
              <a:defRPr sz="1200"/>
            </a:lvl6pPr>
            <a:lvl7pPr lvl="6" algn="ctr">
              <a:lnSpc>
                <a:spcPct val="100000"/>
              </a:lnSpc>
              <a:spcBef>
                <a:spcPts val="240"/>
              </a:spcBef>
              <a:spcAft>
                <a:spcPts val="0"/>
              </a:spcAft>
              <a:buClr>
                <a:schemeClr val="dk1"/>
              </a:buClr>
              <a:buSzPts val="1200"/>
              <a:buNone/>
              <a:defRPr sz="1200"/>
            </a:lvl7pPr>
            <a:lvl8pPr lvl="7" algn="ctr">
              <a:lnSpc>
                <a:spcPct val="100000"/>
              </a:lnSpc>
              <a:spcBef>
                <a:spcPts val="240"/>
              </a:spcBef>
              <a:spcAft>
                <a:spcPts val="0"/>
              </a:spcAft>
              <a:buClr>
                <a:schemeClr val="dk1"/>
              </a:buClr>
              <a:buSzPts val="1200"/>
              <a:buNone/>
              <a:defRPr sz="1200"/>
            </a:lvl8pPr>
            <a:lvl9pPr lvl="8" algn="ctr">
              <a:lnSpc>
                <a:spcPct val="100000"/>
              </a:lnSpc>
              <a:spcBef>
                <a:spcPts val="240"/>
              </a:spcBef>
              <a:spcAft>
                <a:spcPts val="0"/>
              </a:spcAft>
              <a:buClr>
                <a:schemeClr val="dk1"/>
              </a:buClr>
              <a:buSzPts val="1200"/>
              <a:buNone/>
              <a:defRPr sz="1200"/>
            </a:lvl9pPr>
          </a:lstStyle>
          <a:p>
            <a:endParaRPr/>
          </a:p>
        </p:txBody>
      </p:sp>
      <p:sp>
        <p:nvSpPr>
          <p:cNvPr id="64" name="Google Shape;64;p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5" name="Google Shape;65;p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6" name="Google Shape;66;p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7"/>
        <p:cNvGrpSpPr/>
        <p:nvPr/>
      </p:nvGrpSpPr>
      <p:grpSpPr>
        <a:xfrm>
          <a:off x="0" y="0"/>
          <a:ext cx="0" cy="0"/>
          <a:chOff x="0" y="0"/>
          <a:chExt cx="0" cy="0"/>
        </a:xfrm>
      </p:grpSpPr>
      <p:sp>
        <p:nvSpPr>
          <p:cNvPr id="68" name="Google Shape;68;p8"/>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69" name="Google Shape;69;p8"/>
          <p:cNvSpPr txBox="1">
            <a:spLocks noGrp="1"/>
          </p:cNvSpPr>
          <p:nvPr>
            <p:ph type="body" idx="1"/>
          </p:nvPr>
        </p:nvSpPr>
        <p:spPr>
          <a:xfrm>
            <a:off x="474595" y="1159921"/>
            <a:ext cx="8383431" cy="5210233"/>
          </a:xfrm>
          <a:prstGeom prst="rect">
            <a:avLst/>
          </a:prstGeom>
          <a:noFill/>
          <a:ln>
            <a:noFill/>
          </a:ln>
        </p:spPr>
        <p:txBody>
          <a:bodyPr spcFirstLastPara="1" wrap="square" lIns="91425" tIns="45700" rIns="91425" bIns="45700" anchor="ctr" anchorCtr="0">
            <a:noAutofit/>
          </a:bodyPr>
          <a:lstStyle>
            <a:lvl1pPr marL="457200" lvl="0" indent="-381000" algn="l">
              <a:lnSpc>
                <a:spcPct val="130000"/>
              </a:lnSpc>
              <a:spcBef>
                <a:spcPts val="600"/>
              </a:spcBef>
              <a:spcAft>
                <a:spcPts val="0"/>
              </a:spcAft>
              <a:buSzPts val="2400"/>
              <a:buFont typeface="Century Gothic"/>
              <a:buAutoNum type="romanUcPeriod"/>
              <a:defRPr sz="2400"/>
            </a:lvl1pPr>
            <a:lvl2pPr marL="914400" lvl="1" indent="-355600" algn="l">
              <a:lnSpc>
                <a:spcPct val="130000"/>
              </a:lnSpc>
              <a:spcBef>
                <a:spcPts val="600"/>
              </a:spcBef>
              <a:spcAft>
                <a:spcPts val="0"/>
              </a:spcAft>
              <a:buSzPts val="2000"/>
              <a:buFont typeface="Century Gothic"/>
              <a:buAutoNum type="romanUcPeriod"/>
              <a:defRPr sz="2000"/>
            </a:lvl2pPr>
            <a:lvl3pPr marL="1371600" lvl="2" indent="-342900" algn="l">
              <a:lnSpc>
                <a:spcPct val="130000"/>
              </a:lnSpc>
              <a:spcBef>
                <a:spcPts val="600"/>
              </a:spcBef>
              <a:spcAft>
                <a:spcPts val="0"/>
              </a:spcAft>
              <a:buSzPts val="1800"/>
              <a:buFont typeface="Century Gothic"/>
              <a:buAutoNum type="romanUcPeriod"/>
              <a:defRPr sz="1800"/>
            </a:lvl3pPr>
            <a:lvl4pPr marL="1828800" lvl="3" indent="-330200" algn="l">
              <a:lnSpc>
                <a:spcPct val="130000"/>
              </a:lnSpc>
              <a:spcBef>
                <a:spcPts val="600"/>
              </a:spcBef>
              <a:spcAft>
                <a:spcPts val="0"/>
              </a:spcAft>
              <a:buSzPts val="1600"/>
              <a:buFont typeface="Century Gothic"/>
              <a:buAutoNum type="romanUcPeriod"/>
              <a:defRPr sz="1600"/>
            </a:lvl4pPr>
            <a:lvl5pPr marL="2286000" lvl="4" indent="-317500" algn="l">
              <a:lnSpc>
                <a:spcPct val="130000"/>
              </a:lnSpc>
              <a:spcBef>
                <a:spcPts val="600"/>
              </a:spcBef>
              <a:spcAft>
                <a:spcPts val="0"/>
              </a:spcAft>
              <a:buSzPts val="1400"/>
              <a:buFont typeface="Century Gothic"/>
              <a:buAutoNum type="romanUcPeriod"/>
              <a:defRPr sz="14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0" name="Google Shape;70;p8"/>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71" name="Google Shape;71;p8"/>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pic>
        <p:nvPicPr>
          <p:cNvPr id="72" name="Google Shape;72;p8"/>
          <p:cNvPicPr preferRelativeResize="0"/>
          <p:nvPr/>
        </p:nvPicPr>
        <p:blipFill rotWithShape="1">
          <a:blip r:embed="rId4">
            <a:alphaModFix/>
          </a:blip>
          <a:srcRect/>
          <a:stretch/>
        </p:blipFill>
        <p:spPr>
          <a:xfrm>
            <a:off x="457201" y="6504318"/>
            <a:ext cx="967551" cy="308202"/>
          </a:xfrm>
          <a:prstGeom prst="rect">
            <a:avLst/>
          </a:prstGeom>
          <a:noFill/>
          <a:ln>
            <a:noFill/>
          </a:ln>
        </p:spPr>
      </p:pic>
      <p:pic>
        <p:nvPicPr>
          <p:cNvPr id="73" name="Google Shape;73;p8" descr="Imatge que conté Font, Gràfics, logotip, blanc&#10;&#10;Descripció generada automàticament"/>
          <p:cNvPicPr preferRelativeResize="0"/>
          <p:nvPr/>
        </p:nvPicPr>
        <p:blipFill rotWithShape="1">
          <a:blip r:embed="rId5">
            <a:alphaModFix/>
          </a:blip>
          <a:srcRect/>
          <a:stretch/>
        </p:blipFill>
        <p:spPr>
          <a:xfrm>
            <a:off x="7341151" y="6504318"/>
            <a:ext cx="907100" cy="274950"/>
          </a:xfrm>
          <a:prstGeom prst="rect">
            <a:avLst/>
          </a:prstGeom>
          <a:noFill/>
          <a:ln>
            <a:noFill/>
          </a:ln>
        </p:spPr>
      </p:pic>
      <p:sp>
        <p:nvSpPr>
          <p:cNvPr id="74" name="Google Shape;74;p8"/>
          <p:cNvSpPr txBox="1">
            <a:spLocks noGrp="1"/>
          </p:cNvSpPr>
          <p:nvPr>
            <p:ph type="title"/>
          </p:nvPr>
        </p:nvSpPr>
        <p:spPr>
          <a:xfrm>
            <a:off x="1097119" y="366717"/>
            <a:ext cx="7388352"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5" name="Google Shape;75;p8"/>
          <p:cNvPicPr preferRelativeResize="0"/>
          <p:nvPr/>
        </p:nvPicPr>
        <p:blipFill rotWithShape="1">
          <a:blip r:embed="rId6">
            <a:alphaModFix amt="20000"/>
          </a:blip>
          <a:srcRect/>
          <a:stretch/>
        </p:blipFill>
        <p:spPr>
          <a:xfrm rot="8718243">
            <a:off x="7231658" y="6549392"/>
            <a:ext cx="218986" cy="19403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914400"/>
            <a:ext cx="8305800" cy="11430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7030A0"/>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2209800"/>
            <a:ext cx="8305800" cy="4224338"/>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30000"/>
              </a:lnSpc>
              <a:spcBef>
                <a:spcPts val="1800"/>
              </a:spcBef>
              <a:spcAft>
                <a:spcPts val="0"/>
              </a:spcAft>
              <a:buClr>
                <a:srgbClr val="7030A0"/>
              </a:buClr>
              <a:buSzPts val="2000"/>
              <a:buFont typeface="Noto Sans Symbols"/>
              <a:buChar char="◼"/>
              <a:defRPr sz="2000" b="0" i="0" u="none" strike="noStrike" cap="none">
                <a:solidFill>
                  <a:schemeClr val="dk1"/>
                </a:solidFill>
                <a:latin typeface="Avenir"/>
                <a:ea typeface="Avenir"/>
                <a:cs typeface="Avenir"/>
                <a:sym typeface="Avenir"/>
              </a:defRPr>
            </a:lvl1pPr>
            <a:lvl2pPr marL="914400" marR="0" lvl="1" indent="-342900" algn="l" rtl="0">
              <a:lnSpc>
                <a:spcPct val="130000"/>
              </a:lnSpc>
              <a:spcBef>
                <a:spcPts val="600"/>
              </a:spcBef>
              <a:spcAft>
                <a:spcPts val="0"/>
              </a:spcAft>
              <a:buClr>
                <a:schemeClr val="accent6"/>
              </a:buClr>
              <a:buSzPts val="1800"/>
              <a:buFont typeface="Noto Sans Symbols"/>
              <a:buChar char="▪"/>
              <a:defRPr sz="1800" b="0" i="0" u="none" strike="noStrike" cap="none">
                <a:solidFill>
                  <a:schemeClr val="dk2"/>
                </a:solidFill>
                <a:latin typeface="Avenir"/>
                <a:ea typeface="Avenir"/>
                <a:cs typeface="Avenir"/>
                <a:sym typeface="Avenir"/>
              </a:defRPr>
            </a:lvl2pPr>
            <a:lvl3pPr marL="1371600" marR="0" lvl="2" indent="-330200" algn="l" rtl="0">
              <a:lnSpc>
                <a:spcPct val="130000"/>
              </a:lnSpc>
              <a:spcBef>
                <a:spcPts val="600"/>
              </a:spcBef>
              <a:spcAft>
                <a:spcPts val="0"/>
              </a:spcAft>
              <a:buClr>
                <a:srgbClr val="7030A0"/>
              </a:buClr>
              <a:buSzPts val="1600"/>
              <a:buFont typeface="Courier New"/>
              <a:buChar char="o"/>
              <a:defRPr sz="1600" b="0" i="0" u="none" strike="noStrike" cap="none">
                <a:solidFill>
                  <a:schemeClr val="dk2"/>
                </a:solidFill>
                <a:latin typeface="Avenir"/>
                <a:ea typeface="Avenir"/>
                <a:cs typeface="Avenir"/>
                <a:sym typeface="Avenir"/>
              </a:defRPr>
            </a:lvl3pPr>
            <a:lvl4pPr marL="1828800" marR="0" lvl="3" indent="-317500" algn="l" rtl="0">
              <a:lnSpc>
                <a:spcPct val="130000"/>
              </a:lnSpc>
              <a:spcBef>
                <a:spcPts val="600"/>
              </a:spcBef>
              <a:spcAft>
                <a:spcPts val="0"/>
              </a:spcAft>
              <a:buClr>
                <a:srgbClr val="4D0000"/>
              </a:buClr>
              <a:buSzPts val="1400"/>
              <a:buFont typeface="Noto Sans Symbols"/>
              <a:buChar char="◼"/>
              <a:defRPr sz="1400" b="0" i="0" u="none" strike="noStrike" cap="none">
                <a:solidFill>
                  <a:schemeClr val="dk2"/>
                </a:solidFill>
                <a:latin typeface="Avenir"/>
                <a:ea typeface="Avenir"/>
                <a:cs typeface="Avenir"/>
                <a:sym typeface="Avenir"/>
              </a:defRPr>
            </a:lvl4pPr>
            <a:lvl5pPr marL="2286000" marR="0" lvl="4" indent="-304800" algn="l" rtl="0">
              <a:lnSpc>
                <a:spcPct val="130000"/>
              </a:lnSpc>
              <a:spcBef>
                <a:spcPts val="600"/>
              </a:spcBef>
              <a:spcAft>
                <a:spcPts val="0"/>
              </a:spcAft>
              <a:buClr>
                <a:srgbClr val="7030A0"/>
              </a:buClr>
              <a:buSzPts val="1200"/>
              <a:buFont typeface="Noto Sans Symbols"/>
              <a:buChar char="▪"/>
              <a:defRPr sz="1200" b="0" i="0" u="none" strike="noStrike" cap="none">
                <a:solidFill>
                  <a:schemeClr val="dk2"/>
                </a:solidFill>
                <a:latin typeface="Avenir"/>
                <a:ea typeface="Avenir"/>
                <a:cs typeface="Avenir"/>
                <a:sym typeface="Aveni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p:nvPr/>
        </p:nvSpPr>
        <p:spPr>
          <a:xfrm>
            <a:off x="8061326" y="6531168"/>
            <a:ext cx="701675"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youtu.be/zSUG5iQniSc" TargetMode="External"/><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s://youtu.be/9IAfqFGM56w?t=153" TargetMode="Externa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9IAfqFGM56w?t=153"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4.jpg"/><Relationship Id="rId5" Type="http://schemas.openxmlformats.org/officeDocument/2006/relationships/image" Target="../media/image17.png"/><Relationship Id="rId4" Type="http://schemas.openxmlformats.org/officeDocument/2006/relationships/hyperlink" Target="https://youtu.be/ednwKwSu7dw"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0.jpg"/><Relationship Id="rId7"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3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39.jpg"/></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39.jp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0.jp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9"/>
          <p:cNvSpPr txBox="1">
            <a:spLocks noGrp="1"/>
          </p:cNvSpPr>
          <p:nvPr>
            <p:ph type="ctrTitle"/>
          </p:nvPr>
        </p:nvSpPr>
        <p:spPr>
          <a:xfrm>
            <a:off x="1794838" y="1287200"/>
            <a:ext cx="7061395" cy="2440412"/>
          </a:xfrm>
          <a:prstGeom prst="rect">
            <a:avLst/>
          </a:prstGeom>
          <a:noFill/>
          <a:ln>
            <a:noFill/>
          </a:ln>
        </p:spPr>
        <p:txBody>
          <a:bodyPr spcFirstLastPara="1" wrap="square" lIns="91425" tIns="45700" rIns="91425" bIns="45700" anchor="b" anchorCtr="0">
            <a:normAutofit/>
          </a:bodyPr>
          <a:lstStyle/>
          <a:p>
            <a:pPr marL="0" lvl="0" indent="0" algn="ctr" rtl="0">
              <a:lnSpc>
                <a:spcPct val="150000"/>
              </a:lnSpc>
              <a:spcBef>
                <a:spcPts val="0"/>
              </a:spcBef>
              <a:spcAft>
                <a:spcPts val="0"/>
              </a:spcAft>
              <a:buClr>
                <a:srgbClr val="595959"/>
              </a:buClr>
              <a:buSzPct val="100000"/>
              <a:buFont typeface="Avenir"/>
              <a:buNone/>
            </a:pPr>
            <a:r>
              <a:rPr lang="ca-ES" sz="2700">
                <a:solidFill>
                  <a:srgbClr val="595959"/>
                </a:solidFill>
              </a:rPr>
              <a:t>Experiència amb una situació d’aprenentatge</a:t>
            </a:r>
            <a:br>
              <a:rPr lang="ca-ES" sz="3600"/>
            </a:br>
            <a:r>
              <a:rPr lang="ca-ES" sz="3600"/>
              <a:t>Quin cadenat és més segur?</a:t>
            </a:r>
            <a:br>
              <a:rPr lang="ca-ES" sz="3600"/>
            </a:br>
            <a:r>
              <a:rPr lang="ca-ES" sz="2700">
                <a:solidFill>
                  <a:srgbClr val="595959"/>
                </a:solidFill>
              </a:rPr>
              <a:t>Curs 2023-24</a:t>
            </a:r>
            <a:endParaRPr sz="3600"/>
          </a:p>
        </p:txBody>
      </p:sp>
      <p:pic>
        <p:nvPicPr>
          <p:cNvPr id="82" name="Google Shape;82;p9"/>
          <p:cNvPicPr preferRelativeResize="0"/>
          <p:nvPr/>
        </p:nvPicPr>
        <p:blipFill rotWithShape="1">
          <a:blip r:embed="rId3">
            <a:alphaModFix/>
          </a:blip>
          <a:srcRect b="82560"/>
          <a:stretch/>
        </p:blipFill>
        <p:spPr>
          <a:xfrm>
            <a:off x="3543301" y="3914319"/>
            <a:ext cx="3786188" cy="2346861"/>
          </a:xfrm>
          <a:prstGeom prst="rect">
            <a:avLst/>
          </a:prstGeom>
          <a:noFill/>
          <a:ln>
            <a:noFill/>
          </a:ln>
        </p:spPr>
      </p:pic>
      <p:pic>
        <p:nvPicPr>
          <p:cNvPr id="1026" name="Picture 2">
            <a:extLst>
              <a:ext uri="{FF2B5EF4-FFF2-40B4-BE49-F238E27FC236}">
                <a16:creationId xmlns:a16="http://schemas.microsoft.com/office/drawing/2014/main" id="{574D2B0A-6319-A6BE-1A79-865D4B956A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5822636"/>
            <a:ext cx="3373412" cy="8770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0"/>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ca-ES" sz="2200" b="1">
                <a:solidFill>
                  <a:srgbClr val="262626"/>
                </a:solidFill>
              </a:rPr>
              <a:t>Qüestió de partida: </a:t>
            </a:r>
            <a:endParaRPr/>
          </a:p>
          <a:p>
            <a:pPr marL="0" lvl="0" indent="0" algn="l" rtl="0">
              <a:lnSpc>
                <a:spcPct val="130000"/>
              </a:lnSpc>
              <a:spcBef>
                <a:spcPts val="600"/>
              </a:spcBef>
              <a:spcAft>
                <a:spcPts val="0"/>
              </a:spcAft>
              <a:buSzPts val="2200"/>
              <a:buNone/>
            </a:pPr>
            <a:r>
              <a:rPr lang="ca-ES" sz="2200">
                <a:solidFill>
                  <a:srgbClr val="262626"/>
                </a:solidFill>
              </a:rPr>
              <a:t>De la següent col·lecció de cadenats, quin cadenat és més segur?</a:t>
            </a:r>
            <a:endParaRPr/>
          </a:p>
          <a:p>
            <a:pPr marL="228600" lvl="0" indent="-101600" algn="l" rtl="0">
              <a:lnSpc>
                <a:spcPct val="130000"/>
              </a:lnSpc>
              <a:spcBef>
                <a:spcPts val="600"/>
              </a:spcBef>
              <a:spcAft>
                <a:spcPts val="0"/>
              </a:spcAft>
              <a:buSzPts val="2000"/>
              <a:buNone/>
            </a:pPr>
            <a:endParaRPr/>
          </a:p>
        </p:txBody>
      </p:sp>
      <p:sp>
        <p:nvSpPr>
          <p:cNvPr id="89" name="Google Shape;89;p1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0. </a:t>
            </a:r>
            <a:r>
              <a:rPr lang="ca-ES"/>
              <a:t>Qüestió generatriu i primeres exploracions</a:t>
            </a:r>
            <a:endParaRPr/>
          </a:p>
        </p:txBody>
      </p:sp>
      <p:sp>
        <p:nvSpPr>
          <p:cNvPr id="90" name="Google Shape;90;p10"/>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1" name="Google Shape;91;p10"/>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2" name="Google Shape;92;p10"/>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3" name="Google Shape;93;p10"/>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4" name="Google Shape;94;p10"/>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95" name="Google Shape;95;p10"/>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1"/>
          <p:cNvSpPr txBox="1">
            <a:spLocks noGrp="1"/>
          </p:cNvSpPr>
          <p:nvPr>
            <p:ph type="title"/>
          </p:nvPr>
        </p:nvSpPr>
        <p:spPr>
          <a:xfrm>
            <a:off x="1097119" y="366717"/>
            <a:ext cx="7388400" cy="6402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02" name="Google Shape;102;p11"/>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3" name="Google Shape;103;p11"/>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4" name="Google Shape;104;p11"/>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5" name="Google Shape;105;p11"/>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6" name="Google Shape;106;p11"/>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07" name="Google Shape;107;p11"/>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0. </a:t>
            </a:r>
            <a:r>
              <a:rPr lang="ca-ES"/>
              <a:t>Qüestió generatriu i primeres exploracions</a:t>
            </a:r>
            <a:endParaRPr/>
          </a:p>
        </p:txBody>
      </p:sp>
      <p:sp>
        <p:nvSpPr>
          <p:cNvPr id="114" name="Google Shape;114;p12"/>
          <p:cNvSpPr txBox="1">
            <a:spLocks noGrp="1"/>
          </p:cNvSpPr>
          <p:nvPr>
            <p:ph type="body" idx="2"/>
          </p:nvPr>
        </p:nvSpPr>
        <p:spPr>
          <a:xfrm>
            <a:off x="460393" y="3684884"/>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t>Recollida de la primera pluja de preguntes dels estudiants...</a:t>
            </a:r>
            <a:endParaRPr/>
          </a:p>
          <a:p>
            <a:pPr marL="0" lvl="0" indent="0" algn="l" rtl="0">
              <a:lnSpc>
                <a:spcPct val="130000"/>
              </a:lnSpc>
              <a:spcBef>
                <a:spcPts val="600"/>
              </a:spcBef>
              <a:spcAft>
                <a:spcPts val="0"/>
              </a:spcAft>
              <a:buSzPts val="2000"/>
              <a:buNone/>
            </a:pPr>
            <a:endParaRPr/>
          </a:p>
        </p:txBody>
      </p:sp>
      <p:pic>
        <p:nvPicPr>
          <p:cNvPr id="115" name="Google Shape;115;p12" descr="Imagen que contiene tabla, interior, diferente, artículos&#10;&#10;Descripción generada automáticamente"/>
          <p:cNvPicPr preferRelativeResize="0"/>
          <p:nvPr/>
        </p:nvPicPr>
        <p:blipFill rotWithShape="1">
          <a:blip r:embed="rId3">
            <a:alphaModFix/>
          </a:blip>
          <a:srcRect b="21350"/>
          <a:stretch/>
        </p:blipFill>
        <p:spPr>
          <a:xfrm>
            <a:off x="1958168" y="2379867"/>
            <a:ext cx="5227664" cy="1114671"/>
          </a:xfrm>
          <a:prstGeom prst="rect">
            <a:avLst/>
          </a:prstGeom>
          <a:noFill/>
          <a:ln>
            <a:noFill/>
          </a:ln>
        </p:spPr>
      </p:pic>
      <p:grpSp>
        <p:nvGrpSpPr>
          <p:cNvPr id="116" name="Google Shape;116;p12"/>
          <p:cNvGrpSpPr/>
          <p:nvPr/>
        </p:nvGrpSpPr>
        <p:grpSpPr>
          <a:xfrm>
            <a:off x="3043237" y="4418863"/>
            <a:ext cx="3543301" cy="1890600"/>
            <a:chOff x="276050" y="2037969"/>
            <a:chExt cx="3908035" cy="2343443"/>
          </a:xfrm>
        </p:grpSpPr>
        <p:pic>
          <p:nvPicPr>
            <p:cNvPr id="117" name="Google Shape;117;p12" descr="Free Vectors | whiteboard frame"/>
            <p:cNvPicPr preferRelativeResize="0"/>
            <p:nvPr/>
          </p:nvPicPr>
          <p:blipFill rotWithShape="1">
            <a:blip r:embed="rId4">
              <a:alphaModFix/>
            </a:blip>
            <a:srcRect/>
            <a:stretch/>
          </p:blipFill>
          <p:spPr>
            <a:xfrm>
              <a:off x="276050" y="2037969"/>
              <a:ext cx="3908035" cy="2343443"/>
            </a:xfrm>
            <a:prstGeom prst="rect">
              <a:avLst/>
            </a:prstGeom>
            <a:noFill/>
            <a:ln>
              <a:noFill/>
            </a:ln>
          </p:spPr>
        </p:pic>
        <p:sp>
          <p:nvSpPr>
            <p:cNvPr id="118" name="Google Shape;118;p12"/>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19" name="Google Shape;119;p12"/>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ca-ES" sz="2200" b="1">
                <a:solidFill>
                  <a:srgbClr val="262626"/>
                </a:solidFill>
              </a:rPr>
              <a:t>Qüestió de partida: </a:t>
            </a:r>
            <a:endParaRPr/>
          </a:p>
          <a:p>
            <a:pPr marL="0" lvl="0" indent="0" algn="l" rtl="0">
              <a:lnSpc>
                <a:spcPct val="130000"/>
              </a:lnSpc>
              <a:spcBef>
                <a:spcPts val="600"/>
              </a:spcBef>
              <a:spcAft>
                <a:spcPts val="0"/>
              </a:spcAft>
              <a:buSzPts val="2200"/>
              <a:buNone/>
            </a:pPr>
            <a:r>
              <a:rPr lang="ca-ES" sz="2200">
                <a:solidFill>
                  <a:srgbClr val="262626"/>
                </a:solidFill>
              </a:rPr>
              <a:t>De la següent col·lecció de cadenats, quin cadenat és més segur?</a:t>
            </a:r>
            <a:endParaRPr/>
          </a:p>
          <a:p>
            <a:pPr marL="228600" lvl="0" indent="-101600" algn="l" rtl="0">
              <a:lnSpc>
                <a:spcPct val="130000"/>
              </a:lnSpc>
              <a:spcBef>
                <a:spcPts val="600"/>
              </a:spcBef>
              <a:spcAft>
                <a:spcPts val="0"/>
              </a:spcAft>
              <a:buSzPts val="20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0. </a:t>
            </a:r>
            <a:r>
              <a:rPr lang="ca-ES"/>
              <a:t>Qüestió generatriu i primeres exploracions</a:t>
            </a:r>
            <a:endParaRPr/>
          </a:p>
        </p:txBody>
      </p:sp>
      <p:grpSp>
        <p:nvGrpSpPr>
          <p:cNvPr id="126" name="Google Shape;126;p13"/>
          <p:cNvGrpSpPr/>
          <p:nvPr/>
        </p:nvGrpSpPr>
        <p:grpSpPr>
          <a:xfrm>
            <a:off x="240812" y="318759"/>
            <a:ext cx="8619953" cy="5989372"/>
            <a:chOff x="276050" y="2037969"/>
            <a:chExt cx="3908035" cy="2343443"/>
          </a:xfrm>
        </p:grpSpPr>
        <p:pic>
          <p:nvPicPr>
            <p:cNvPr id="127" name="Google Shape;127;p13"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28" name="Google Shape;128;p13"/>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0. </a:t>
            </a:r>
            <a:r>
              <a:rPr lang="ca-ES"/>
              <a:t>Qüestió generatriu i primeres exploracions</a:t>
            </a:r>
            <a:endParaRPr/>
          </a:p>
        </p:txBody>
      </p:sp>
      <p:grpSp>
        <p:nvGrpSpPr>
          <p:cNvPr id="135" name="Google Shape;135;p14"/>
          <p:cNvGrpSpPr/>
          <p:nvPr/>
        </p:nvGrpSpPr>
        <p:grpSpPr>
          <a:xfrm>
            <a:off x="714363" y="1300216"/>
            <a:ext cx="7767610" cy="5029263"/>
            <a:chOff x="276050" y="2037969"/>
            <a:chExt cx="3908035" cy="2343443"/>
          </a:xfrm>
        </p:grpSpPr>
        <p:pic>
          <p:nvPicPr>
            <p:cNvPr id="136" name="Google Shape;136;p14"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37" name="Google Shape;137;p14"/>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38" name="Google Shape;138;p14"/>
          <p:cNvSpPr txBox="1"/>
          <p:nvPr/>
        </p:nvSpPr>
        <p:spPr>
          <a:xfrm>
            <a:off x="1278696" y="1843950"/>
            <a:ext cx="6686700" cy="344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ca-ES" sz="1800" i="0" u="none" strike="noStrike" cap="none">
                <a:solidFill>
                  <a:srgbClr val="7030A0"/>
                </a:solidFill>
                <a:latin typeface="Avenir"/>
                <a:ea typeface="Avenir"/>
                <a:cs typeface="Avenir"/>
                <a:sym typeface="Avenir"/>
              </a:rPr>
              <a:t>La seguretat depèn de les “variants” de cada cadenat? Per exemple de si tenen lletres, símbols, números, dates, etc.?</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ca-ES" sz="1800" i="0" u="none" strike="noStrike" cap="none">
                <a:solidFill>
                  <a:srgbClr val="7030A0"/>
                </a:solidFill>
                <a:latin typeface="Avenir"/>
                <a:ea typeface="Avenir"/>
                <a:cs typeface="Avenir"/>
                <a:sym typeface="Avenir"/>
              </a:rPr>
              <a:t>Serà més segur el que tingui més codis?</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ca-ES" sz="1800" i="0" u="none" strike="noStrike" cap="none">
                <a:solidFill>
                  <a:srgbClr val="7030A0"/>
                </a:solidFill>
                <a:latin typeface="Avenir"/>
                <a:ea typeface="Avenir"/>
                <a:cs typeface="Avenir"/>
                <a:sym typeface="Avenir"/>
              </a:rPr>
              <a:t>Dependrà de l’habilitat del “lladre”?</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ca-ES" sz="1800" i="0" u="none" strike="noStrike" cap="none">
                <a:solidFill>
                  <a:srgbClr val="7030A0"/>
                </a:solidFill>
                <a:latin typeface="Avenir"/>
                <a:ea typeface="Avenir"/>
                <a:cs typeface="Avenir"/>
                <a:sym typeface="Avenir"/>
              </a:rPr>
              <a:t>Sembla que el cadenat més segur serà el que tingui </a:t>
            </a:r>
            <a:r>
              <a:rPr lang="ca-ES" sz="1800" b="1" i="0" u="none" strike="noStrike" cap="none">
                <a:solidFill>
                  <a:srgbClr val="7030A0"/>
                </a:solidFill>
                <a:latin typeface="Avenir"/>
                <a:ea typeface="Avenir"/>
                <a:cs typeface="Avenir"/>
                <a:sym typeface="Avenir"/>
              </a:rPr>
              <a:t>més codis</a:t>
            </a:r>
            <a:r>
              <a:rPr lang="ca-ES" sz="1800" i="0" u="none" strike="noStrike" cap="none">
                <a:solidFill>
                  <a:srgbClr val="7030A0"/>
                </a:solidFill>
                <a:latin typeface="Avenir"/>
                <a:ea typeface="Avenir"/>
                <a:cs typeface="Avenir"/>
                <a:sym typeface="Avenir"/>
              </a:rPr>
              <a:t>...</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2000"/>
              <a:buFont typeface="Arial"/>
              <a:buNone/>
            </a:pPr>
            <a:r>
              <a:rPr lang="ca-ES" sz="2000" b="1" i="0" u="none" strike="noStrike" cap="none">
                <a:solidFill>
                  <a:srgbClr val="7030A0"/>
                </a:solidFill>
                <a:latin typeface="Avenir"/>
                <a:ea typeface="Avenir"/>
                <a:cs typeface="Avenir"/>
                <a:sym typeface="Avenir"/>
              </a:rPr>
              <a:t>Q1: Quants codis admet cada cadenat?</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br>
              <a:rPr lang="ca-ES" sz="2200"/>
            </a:br>
            <a:r>
              <a:rPr lang="ca-ES" sz="2200"/>
              <a:t>Anem a fixar terminologia per a referir-nos als cadenats</a:t>
            </a:r>
            <a:br>
              <a:rPr lang="ca-ES" sz="2200"/>
            </a:br>
            <a:endParaRPr sz="2200"/>
          </a:p>
        </p:txBody>
      </p:sp>
      <p:sp>
        <p:nvSpPr>
          <p:cNvPr id="144" name="Google Shape;144;p15"/>
          <p:cNvSpPr txBox="1">
            <a:spLocks noGrp="1"/>
          </p:cNvSpPr>
          <p:nvPr>
            <p:ph type="body" idx="1"/>
          </p:nvPr>
        </p:nvSpPr>
        <p:spPr>
          <a:xfrm>
            <a:off x="5414775" y="1207487"/>
            <a:ext cx="3414600" cy="4548300"/>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None/>
            </a:pPr>
            <a:r>
              <a:rPr lang="ca-ES" b="1">
                <a:solidFill>
                  <a:srgbClr val="3DB087"/>
                </a:solidFill>
              </a:rPr>
              <a:t>Exemple</a:t>
            </a:r>
            <a:endParaRPr b="1">
              <a:solidFill>
                <a:srgbClr val="3DB087"/>
              </a:solidFill>
            </a:endParaRPr>
          </a:p>
          <a:p>
            <a:pPr marL="228600" lvl="0" indent="-231775" algn="l" rtl="0">
              <a:lnSpc>
                <a:spcPct val="130000"/>
              </a:lnSpc>
              <a:spcBef>
                <a:spcPts val="0"/>
              </a:spcBef>
              <a:spcAft>
                <a:spcPts val="0"/>
              </a:spcAft>
              <a:buClr>
                <a:srgbClr val="3DB087"/>
              </a:buClr>
              <a:buSzPts val="1700"/>
              <a:buChar char="◼"/>
            </a:pPr>
            <a:r>
              <a:rPr lang="ca-ES" sz="1700" b="1">
                <a:solidFill>
                  <a:srgbClr val="3DB087"/>
                </a:solidFill>
              </a:rPr>
              <a:t>Codi: </a:t>
            </a:r>
            <a:r>
              <a:rPr lang="ca-ES"/>
              <a:t>0000, 1</a:t>
            </a:r>
            <a:r>
              <a:rPr lang="ca-ES" sz="1700"/>
              <a:t>234, 2930, </a:t>
            </a:r>
            <a:r>
              <a:rPr lang="ca-ES"/>
              <a:t>9750</a:t>
            </a:r>
            <a:r>
              <a:rPr lang="ca-ES" sz="1700"/>
              <a:t>, ... entre d’altres possibilitats.</a:t>
            </a:r>
            <a:endParaRPr sz="1700"/>
          </a:p>
          <a:p>
            <a:pPr marL="0" lvl="0" indent="0" algn="l" rtl="0">
              <a:lnSpc>
                <a:spcPct val="130000"/>
              </a:lnSpc>
              <a:spcBef>
                <a:spcPts val="0"/>
              </a:spcBef>
              <a:spcAft>
                <a:spcPts val="0"/>
              </a:spcAft>
              <a:buNone/>
            </a:pPr>
            <a:endParaRPr/>
          </a:p>
          <a:p>
            <a:pPr marL="228600" lvl="0" indent="-231775" algn="l" rtl="0">
              <a:spcBef>
                <a:spcPts val="600"/>
              </a:spcBef>
              <a:spcAft>
                <a:spcPts val="0"/>
              </a:spcAft>
              <a:buSzPts val="1700"/>
              <a:buChar char="◼"/>
            </a:pPr>
            <a:r>
              <a:rPr lang="ca-ES" b="1">
                <a:solidFill>
                  <a:srgbClr val="3DB087"/>
                </a:solidFill>
              </a:rPr>
              <a:t>Contrasenya: </a:t>
            </a:r>
            <a:r>
              <a:rPr lang="ca-ES"/>
              <a:t>4921 (Perquè quan l’inserim, s’obre)</a:t>
            </a:r>
            <a:endParaRPr/>
          </a:p>
          <a:p>
            <a:pPr marL="0" lvl="0" indent="0" algn="l" rtl="0">
              <a:lnSpc>
                <a:spcPct val="200000"/>
              </a:lnSpc>
              <a:spcBef>
                <a:spcPts val="0"/>
              </a:spcBef>
              <a:spcAft>
                <a:spcPts val="0"/>
              </a:spcAft>
              <a:buNone/>
            </a:pPr>
            <a:endParaRPr/>
          </a:p>
          <a:p>
            <a:pPr marL="228600" lvl="0" indent="-231775" algn="l" rtl="0">
              <a:spcBef>
                <a:spcPts val="600"/>
              </a:spcBef>
              <a:spcAft>
                <a:spcPts val="0"/>
              </a:spcAft>
              <a:buSzPts val="1700"/>
              <a:buChar char="◼"/>
            </a:pPr>
            <a:r>
              <a:rPr lang="ca-ES">
                <a:solidFill>
                  <a:srgbClr val="3DB087"/>
                </a:solidFill>
              </a:rPr>
              <a:t>Casella: </a:t>
            </a:r>
            <a:r>
              <a:rPr lang="ca-ES"/>
              <a:t>Té 4 caselles. Cada espai on inserim un número entre 0 i 9.</a:t>
            </a:r>
            <a:endParaRPr/>
          </a:p>
          <a:p>
            <a:pPr marL="0" lvl="0" indent="0" algn="l" rtl="0">
              <a:lnSpc>
                <a:spcPct val="200000"/>
              </a:lnSpc>
              <a:spcBef>
                <a:spcPts val="0"/>
              </a:spcBef>
              <a:spcAft>
                <a:spcPts val="0"/>
              </a:spcAft>
              <a:buNone/>
            </a:pPr>
            <a:endParaRPr/>
          </a:p>
          <a:p>
            <a:pPr marL="228600" lvl="0" indent="-231775" algn="l" rtl="0">
              <a:lnSpc>
                <a:spcPct val="130000"/>
              </a:lnSpc>
              <a:spcBef>
                <a:spcPts val="0"/>
              </a:spcBef>
              <a:spcAft>
                <a:spcPts val="0"/>
              </a:spcAft>
              <a:buSzPts val="1700"/>
              <a:buChar char="◼"/>
            </a:pPr>
            <a:r>
              <a:rPr lang="ca-ES">
                <a:solidFill>
                  <a:srgbClr val="3DB087"/>
                </a:solidFill>
              </a:rPr>
              <a:t>Elements del codi</a:t>
            </a:r>
            <a:r>
              <a:rPr lang="ca-ES"/>
              <a:t>: el codi 1234 té 4 elements: 1, 2, 3 i 4.</a:t>
            </a:r>
            <a:endParaRPr/>
          </a:p>
          <a:p>
            <a:pPr marL="457200" lvl="0" indent="0" algn="l" rtl="0">
              <a:lnSpc>
                <a:spcPct val="130000"/>
              </a:lnSpc>
              <a:spcBef>
                <a:spcPts val="600"/>
              </a:spcBef>
              <a:spcAft>
                <a:spcPts val="0"/>
              </a:spcAft>
              <a:buNone/>
            </a:pPr>
            <a:endParaRPr b="1">
              <a:solidFill>
                <a:srgbClr val="3DB087"/>
              </a:solidFill>
            </a:endParaRPr>
          </a:p>
          <a:p>
            <a:pPr marL="457200" lvl="0" indent="0" algn="l" rtl="0">
              <a:lnSpc>
                <a:spcPct val="130000"/>
              </a:lnSpc>
              <a:spcBef>
                <a:spcPts val="600"/>
              </a:spcBef>
              <a:spcAft>
                <a:spcPts val="0"/>
              </a:spcAft>
              <a:buNone/>
            </a:pPr>
            <a:endParaRPr b="1">
              <a:solidFill>
                <a:srgbClr val="3DB087"/>
              </a:solidFill>
            </a:endParaRPr>
          </a:p>
          <a:p>
            <a:pPr marL="228600" lvl="0" indent="-231775" algn="l" rtl="0">
              <a:lnSpc>
                <a:spcPct val="130000"/>
              </a:lnSpc>
              <a:spcBef>
                <a:spcPts val="600"/>
              </a:spcBef>
              <a:spcAft>
                <a:spcPts val="0"/>
              </a:spcAft>
              <a:buClr>
                <a:srgbClr val="3DB087"/>
              </a:buClr>
              <a:buSzPts val="1700"/>
              <a:buChar char="◼"/>
            </a:pPr>
            <a:endParaRPr/>
          </a:p>
        </p:txBody>
      </p:sp>
      <p:sp>
        <p:nvSpPr>
          <p:cNvPr id="145" name="Google Shape;145;p15"/>
          <p:cNvSpPr txBox="1">
            <a:spLocks noGrp="1"/>
          </p:cNvSpPr>
          <p:nvPr>
            <p:ph type="body" idx="2"/>
          </p:nvPr>
        </p:nvSpPr>
        <p:spPr>
          <a:xfrm>
            <a:off x="384195" y="1207479"/>
            <a:ext cx="4111500" cy="4996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1700"/>
              <a:buNone/>
            </a:pPr>
            <a:r>
              <a:rPr lang="ca-ES" sz="1700" b="1"/>
              <a:t>Paraules per afegir al glossari</a:t>
            </a:r>
            <a:endParaRPr b="1"/>
          </a:p>
          <a:p>
            <a:pPr marL="450000" lvl="0" indent="-336550" algn="l" rtl="0">
              <a:lnSpc>
                <a:spcPct val="130000"/>
              </a:lnSpc>
              <a:spcBef>
                <a:spcPts val="1000"/>
              </a:spcBef>
              <a:spcAft>
                <a:spcPts val="0"/>
              </a:spcAft>
              <a:buSzPts val="1700"/>
              <a:buChar char="◼"/>
            </a:pPr>
            <a:r>
              <a:rPr lang="ca-ES" sz="1700" b="1">
                <a:solidFill>
                  <a:srgbClr val="7030A0"/>
                </a:solidFill>
              </a:rPr>
              <a:t>Codi: </a:t>
            </a:r>
            <a:r>
              <a:rPr lang="ca-ES" sz="1700"/>
              <a:t>Possible contrasenya que es pot introduir al cadenat. </a:t>
            </a:r>
            <a:endParaRPr sz="1700"/>
          </a:p>
          <a:p>
            <a:pPr marL="457200" lvl="0" indent="0" algn="l" rtl="0">
              <a:spcBef>
                <a:spcPts val="600"/>
              </a:spcBef>
              <a:spcAft>
                <a:spcPts val="0"/>
              </a:spcAft>
              <a:buNone/>
            </a:pPr>
            <a:endParaRPr/>
          </a:p>
          <a:p>
            <a:pPr marL="450000" lvl="0" indent="-336550" algn="l" rtl="0">
              <a:spcBef>
                <a:spcPts val="600"/>
              </a:spcBef>
              <a:spcAft>
                <a:spcPts val="0"/>
              </a:spcAft>
              <a:buSzPts val="1700"/>
              <a:buChar char="◼"/>
            </a:pPr>
            <a:r>
              <a:rPr lang="ca-ES" b="1">
                <a:solidFill>
                  <a:srgbClr val="7030A0"/>
                </a:solidFill>
              </a:rPr>
              <a:t>Contrasenya: </a:t>
            </a:r>
            <a:r>
              <a:rPr lang="ca-ES"/>
              <a:t>Codi correcte. Quan l’introduïm, el cadenat s’obre.</a:t>
            </a:r>
            <a:endParaRPr/>
          </a:p>
          <a:p>
            <a:pPr marL="0" lvl="0" indent="0" algn="l" rtl="0">
              <a:lnSpc>
                <a:spcPct val="130000"/>
              </a:lnSpc>
              <a:spcBef>
                <a:spcPts val="600"/>
              </a:spcBef>
              <a:spcAft>
                <a:spcPts val="0"/>
              </a:spcAft>
              <a:buNone/>
            </a:pPr>
            <a:endParaRPr/>
          </a:p>
          <a:p>
            <a:pPr marL="450000" lvl="0" indent="-336550" algn="l" rtl="0">
              <a:spcBef>
                <a:spcPts val="600"/>
              </a:spcBef>
              <a:spcAft>
                <a:spcPts val="0"/>
              </a:spcAft>
              <a:buSzPts val="1700"/>
              <a:buChar char="◼"/>
            </a:pPr>
            <a:r>
              <a:rPr lang="ca-ES" b="1">
                <a:solidFill>
                  <a:srgbClr val="7030A0"/>
                </a:solidFill>
              </a:rPr>
              <a:t>Casella: </a:t>
            </a:r>
            <a:r>
              <a:rPr lang="ca-ES"/>
              <a:t>Espai (físic o no)  del cadenat on s’introdueixen els elements del codi.</a:t>
            </a:r>
            <a:endParaRPr/>
          </a:p>
          <a:p>
            <a:pPr marL="0" lvl="0" indent="0" algn="l" rtl="0">
              <a:lnSpc>
                <a:spcPct val="130000"/>
              </a:lnSpc>
              <a:spcBef>
                <a:spcPts val="600"/>
              </a:spcBef>
              <a:spcAft>
                <a:spcPts val="0"/>
              </a:spcAft>
              <a:buNone/>
            </a:pPr>
            <a:endParaRPr/>
          </a:p>
          <a:p>
            <a:pPr marL="450000" lvl="0" indent="-336550" algn="l" rtl="0">
              <a:lnSpc>
                <a:spcPct val="130000"/>
              </a:lnSpc>
              <a:spcBef>
                <a:spcPts val="600"/>
              </a:spcBef>
              <a:spcAft>
                <a:spcPts val="0"/>
              </a:spcAft>
              <a:buSzPts val="1700"/>
              <a:buChar char="◼"/>
            </a:pPr>
            <a:r>
              <a:rPr lang="ca-ES">
                <a:solidFill>
                  <a:srgbClr val="7030A0"/>
                </a:solidFill>
              </a:rPr>
              <a:t>Elements del codi</a:t>
            </a:r>
            <a:r>
              <a:rPr lang="ca-ES"/>
              <a:t>: nombres lletres símbols,... que composen un codi.</a:t>
            </a:r>
            <a:endParaRPr/>
          </a:p>
          <a:p>
            <a:pPr marL="457200" lvl="0" indent="0" algn="l" rtl="0">
              <a:lnSpc>
                <a:spcPct val="130000"/>
              </a:lnSpc>
              <a:spcBef>
                <a:spcPts val="600"/>
              </a:spcBef>
              <a:spcAft>
                <a:spcPts val="0"/>
              </a:spcAft>
              <a:buNone/>
            </a:pPr>
            <a:endParaRPr/>
          </a:p>
          <a:p>
            <a:pPr marL="228600" lvl="0" indent="-120650" algn="l" rtl="0">
              <a:lnSpc>
                <a:spcPct val="130000"/>
              </a:lnSpc>
              <a:spcBef>
                <a:spcPts val="600"/>
              </a:spcBef>
              <a:spcAft>
                <a:spcPts val="0"/>
              </a:spcAft>
              <a:buSzPts val="1700"/>
              <a:buNone/>
            </a:pPr>
            <a:endParaRPr/>
          </a:p>
        </p:txBody>
      </p:sp>
      <p:sp>
        <p:nvSpPr>
          <p:cNvPr id="146" name="Google Shape;146;p15"/>
          <p:cNvSpPr/>
          <p:nvPr/>
        </p:nvSpPr>
        <p:spPr>
          <a:xfrm>
            <a:off x="4218707" y="3699083"/>
            <a:ext cx="1386409" cy="1275837"/>
          </a:xfrm>
          <a:custGeom>
            <a:avLst/>
            <a:gdLst/>
            <a:ahLst/>
            <a:cxnLst/>
            <a:rect l="l" t="t" r="r" b="b"/>
            <a:pathLst>
              <a:path w="3402231" h="3402231" extrusionOk="0">
                <a:moveTo>
                  <a:pt x="0" y="0"/>
                </a:moveTo>
                <a:lnTo>
                  <a:pt x="3402231" y="0"/>
                </a:lnTo>
                <a:lnTo>
                  <a:pt x="3402231" y="3402232"/>
                </a:lnTo>
                <a:lnTo>
                  <a:pt x="0" y="34022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body" idx="1"/>
          </p:nvPr>
        </p:nvSpPr>
        <p:spPr>
          <a:xfrm>
            <a:off x="373071" y="1932836"/>
            <a:ext cx="8397857"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ca-ES" sz="2800" b="1" i="1"/>
              <a:t>Q</a:t>
            </a:r>
            <a:r>
              <a:rPr lang="ca-ES" sz="2800" b="1" baseline="-25000"/>
              <a:t>1</a:t>
            </a:r>
            <a:r>
              <a:rPr lang="ca-ES" sz="2800" b="1"/>
              <a:t>: Quants codis diferents admet cada cadenat?</a:t>
            </a:r>
            <a:endParaRPr/>
          </a:p>
          <a:p>
            <a:pPr marL="228600" lvl="0" indent="-101600" algn="l" rtl="0">
              <a:lnSpc>
                <a:spcPct val="130000"/>
              </a:lnSpc>
              <a:spcBef>
                <a:spcPts val="600"/>
              </a:spcBef>
              <a:spcAft>
                <a:spcPts val="0"/>
              </a:spcAft>
              <a:buSzPts val="2000"/>
              <a:buNone/>
            </a:pPr>
            <a:endParaRPr/>
          </a:p>
        </p:txBody>
      </p:sp>
      <p:sp>
        <p:nvSpPr>
          <p:cNvPr id="153" name="Google Shape;153;p16"/>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pic>
        <p:nvPicPr>
          <p:cNvPr id="154" name="Google Shape;154;p16" descr="Imagen que contiene tabla, interior, diferente, artículos&#10;&#10;Descripción generada automáticamente"/>
          <p:cNvPicPr preferRelativeResize="0"/>
          <p:nvPr/>
        </p:nvPicPr>
        <p:blipFill rotWithShape="1">
          <a:blip r:embed="rId3">
            <a:alphaModFix/>
          </a:blip>
          <a:srcRect b="21350"/>
          <a:stretch/>
        </p:blipFill>
        <p:spPr>
          <a:xfrm>
            <a:off x="1465919" y="2933084"/>
            <a:ext cx="6212162" cy="13245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sz="2000" b="1"/>
              <a:t>Q1: </a:t>
            </a:r>
            <a:r>
              <a:rPr lang="ca-ES" sz="2000"/>
              <a:t>Quants codis diferents admet cada cadenat?</a:t>
            </a:r>
            <a:endParaRPr/>
          </a:p>
          <a:p>
            <a:pPr marL="457200" lvl="1" indent="-228600" algn="l" rtl="0">
              <a:lnSpc>
                <a:spcPct val="130000"/>
              </a:lnSpc>
              <a:spcBef>
                <a:spcPts val="600"/>
              </a:spcBef>
              <a:spcAft>
                <a:spcPts val="0"/>
              </a:spcAft>
              <a:buSzPts val="1800"/>
              <a:buFont typeface="Avenir"/>
              <a:buChar char="▪"/>
            </a:pPr>
            <a:r>
              <a:rPr lang="ca-ES" sz="1800">
                <a:solidFill>
                  <a:srgbClr val="000000"/>
                </a:solidFill>
              </a:rPr>
              <a:t>Cada grup de treball s'encarrega d’un dels cadenats</a:t>
            </a:r>
            <a:endParaRPr/>
          </a:p>
          <a:p>
            <a:pPr marL="457200" lvl="1" indent="-114300" algn="l" rtl="0">
              <a:lnSpc>
                <a:spcPct val="130000"/>
              </a:lnSpc>
              <a:spcBef>
                <a:spcPts val="600"/>
              </a:spcBef>
              <a:spcAft>
                <a:spcPts val="0"/>
              </a:spcAft>
              <a:buSzPts val="1800"/>
              <a:buNone/>
            </a:pPr>
            <a:endParaRPr/>
          </a:p>
        </p:txBody>
      </p:sp>
      <p:sp>
        <p:nvSpPr>
          <p:cNvPr id="160" name="Google Shape;160;p1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161" name="Google Shape;161;p17"/>
          <p:cNvSpPr txBox="1"/>
          <p:nvPr/>
        </p:nvSpPr>
        <p:spPr>
          <a:xfrm>
            <a:off x="788425" y="2391075"/>
            <a:ext cx="4376400" cy="338700"/>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1: </a:t>
            </a:r>
            <a:r>
              <a:rPr lang="ca-ES" sz="1600" i="0" u="none" strike="noStrike" cap="none">
                <a:solidFill>
                  <a:srgbClr val="000000"/>
                </a:solidFill>
                <a:latin typeface="Avenir"/>
                <a:ea typeface="Avenir"/>
                <a:cs typeface="Avenir"/>
                <a:sym typeface="Avenir"/>
              </a:rPr>
              <a:t>Cadenat </a:t>
            </a:r>
            <a:r>
              <a:rPr lang="ca-ES" sz="1600">
                <a:latin typeface="Avenir"/>
                <a:ea typeface="Avenir"/>
                <a:cs typeface="Avenir"/>
                <a:sym typeface="Avenir"/>
              </a:rPr>
              <a:t>amb codi numèric</a:t>
            </a:r>
            <a:endParaRPr sz="1400" i="0" u="none" strike="noStrike" cap="none">
              <a:solidFill>
                <a:srgbClr val="000000"/>
              </a:solidFill>
              <a:latin typeface="Avenir"/>
              <a:ea typeface="Avenir"/>
              <a:cs typeface="Avenir"/>
              <a:sym typeface="Avenir"/>
            </a:endParaRPr>
          </a:p>
        </p:txBody>
      </p:sp>
      <p:sp>
        <p:nvSpPr>
          <p:cNvPr id="162" name="Google Shape;162;p17"/>
          <p:cNvSpPr txBox="1"/>
          <p:nvPr/>
        </p:nvSpPr>
        <p:spPr>
          <a:xfrm>
            <a:off x="788346" y="2898824"/>
            <a:ext cx="4144500" cy="338700"/>
          </a:xfrm>
          <a:prstGeom prst="rect">
            <a:avLst/>
          </a:prstGeom>
          <a:solidFill>
            <a:srgbClr val="FFAAAA"/>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2: </a:t>
            </a:r>
            <a:r>
              <a:rPr lang="ca-ES" sz="1600" i="0" u="none" strike="noStrike" cap="none">
                <a:solidFill>
                  <a:srgbClr val="000000"/>
                </a:solidFill>
                <a:latin typeface="Avenir"/>
                <a:ea typeface="Avenir"/>
                <a:cs typeface="Avenir"/>
                <a:sym typeface="Avenir"/>
              </a:rPr>
              <a:t>Cadenat polsador</a:t>
            </a:r>
            <a:endParaRPr sz="1400" i="0" u="none" strike="noStrike" cap="none">
              <a:solidFill>
                <a:srgbClr val="000000"/>
              </a:solidFill>
              <a:latin typeface="Avenir"/>
              <a:ea typeface="Avenir"/>
              <a:cs typeface="Avenir"/>
              <a:sym typeface="Avenir"/>
            </a:endParaRPr>
          </a:p>
        </p:txBody>
      </p:sp>
      <p:sp>
        <p:nvSpPr>
          <p:cNvPr id="163" name="Google Shape;163;p17"/>
          <p:cNvSpPr txBox="1"/>
          <p:nvPr/>
        </p:nvSpPr>
        <p:spPr>
          <a:xfrm>
            <a:off x="788302" y="3487006"/>
            <a:ext cx="4144500" cy="338700"/>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4: </a:t>
            </a:r>
            <a:r>
              <a:rPr lang="ca-ES" sz="1600" i="0" u="none" strike="noStrike" cap="none">
                <a:solidFill>
                  <a:srgbClr val="000000"/>
                </a:solidFill>
                <a:latin typeface="Avenir"/>
                <a:ea typeface="Avenir"/>
                <a:cs typeface="Avenir"/>
                <a:sym typeface="Avenir"/>
              </a:rPr>
              <a:t>Cadenat de paraules</a:t>
            </a:r>
            <a:endParaRPr sz="1400" i="0" u="none" strike="noStrike" cap="none">
              <a:solidFill>
                <a:srgbClr val="000000"/>
              </a:solidFill>
              <a:latin typeface="Avenir"/>
              <a:ea typeface="Avenir"/>
              <a:cs typeface="Avenir"/>
              <a:sym typeface="Avenir"/>
            </a:endParaRPr>
          </a:p>
        </p:txBody>
      </p:sp>
      <p:sp>
        <p:nvSpPr>
          <p:cNvPr id="164" name="Google Shape;164;p17"/>
          <p:cNvSpPr txBox="1"/>
          <p:nvPr/>
        </p:nvSpPr>
        <p:spPr>
          <a:xfrm>
            <a:off x="778452" y="4056060"/>
            <a:ext cx="4164300" cy="338700"/>
          </a:xfrm>
          <a:prstGeom prst="rect">
            <a:avLst/>
          </a:prstGeom>
          <a:solidFill>
            <a:srgbClr val="FFAAAA">
              <a:alpha val="4824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5: </a:t>
            </a:r>
            <a:r>
              <a:rPr lang="ca-ES" sz="1600" i="0" u="none" strike="noStrike" cap="none">
                <a:solidFill>
                  <a:srgbClr val="000000"/>
                </a:solidFill>
                <a:latin typeface="Avenir"/>
                <a:ea typeface="Avenir"/>
                <a:cs typeface="Avenir"/>
                <a:sym typeface="Avenir"/>
              </a:rPr>
              <a:t>Cadenat direccional</a:t>
            </a:r>
            <a:endParaRPr sz="1400" i="0" u="none" strike="noStrike" cap="none">
              <a:solidFill>
                <a:srgbClr val="000000"/>
              </a:solidFill>
              <a:latin typeface="Avenir"/>
              <a:ea typeface="Avenir"/>
              <a:cs typeface="Avenir"/>
              <a:sym typeface="Avenir"/>
            </a:endParaRPr>
          </a:p>
        </p:txBody>
      </p:sp>
      <p:sp>
        <p:nvSpPr>
          <p:cNvPr id="165" name="Google Shape;165;p17"/>
          <p:cNvSpPr txBox="1"/>
          <p:nvPr/>
        </p:nvSpPr>
        <p:spPr>
          <a:xfrm>
            <a:off x="778442" y="4625088"/>
            <a:ext cx="4102500" cy="3387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6: </a:t>
            </a:r>
            <a:r>
              <a:rPr lang="ca-ES" sz="1600" i="0" u="none" strike="noStrike" cap="none">
                <a:solidFill>
                  <a:srgbClr val="000000"/>
                </a:solidFill>
                <a:latin typeface="Avenir"/>
                <a:ea typeface="Avenir"/>
                <a:cs typeface="Avenir"/>
                <a:sym typeface="Avenir"/>
              </a:rPr>
              <a:t>Cadenat de Caixa forta</a:t>
            </a:r>
            <a:endParaRPr sz="1400" i="0" u="none" strike="noStrike" cap="none">
              <a:solidFill>
                <a:srgbClr val="000000"/>
              </a:solidFill>
              <a:latin typeface="Avenir"/>
              <a:ea typeface="Avenir"/>
              <a:cs typeface="Avenir"/>
              <a:sym typeface="Avenir"/>
            </a:endParaRPr>
          </a:p>
        </p:txBody>
      </p:sp>
      <p:sp>
        <p:nvSpPr>
          <p:cNvPr id="166" name="Google Shape;166;p17"/>
          <p:cNvSpPr/>
          <p:nvPr/>
        </p:nvSpPr>
        <p:spPr>
          <a:xfrm>
            <a:off x="5628056" y="2226000"/>
            <a:ext cx="1161948" cy="1266181"/>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7" name="Google Shape;167;p17"/>
          <p:cNvSpPr/>
          <p:nvPr/>
        </p:nvSpPr>
        <p:spPr>
          <a:xfrm>
            <a:off x="7068075" y="2582215"/>
            <a:ext cx="1420646" cy="1375972"/>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8" name="Google Shape;168;p17"/>
          <p:cNvSpPr/>
          <p:nvPr/>
        </p:nvSpPr>
        <p:spPr>
          <a:xfrm>
            <a:off x="7068081" y="3880840"/>
            <a:ext cx="998243" cy="1056963"/>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9" name="Google Shape;169;p17"/>
          <p:cNvSpPr/>
          <p:nvPr/>
        </p:nvSpPr>
        <p:spPr>
          <a:xfrm rot="7204115">
            <a:off x="7825486" y="1242583"/>
            <a:ext cx="828991" cy="1456761"/>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70" name="Google Shape;170;p17"/>
          <p:cNvSpPr/>
          <p:nvPr/>
        </p:nvSpPr>
        <p:spPr>
          <a:xfrm>
            <a:off x="7203352" y="5098183"/>
            <a:ext cx="1423514" cy="1430668"/>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71" name="Google Shape;171;p17"/>
          <p:cNvPicPr preferRelativeResize="0"/>
          <p:nvPr/>
        </p:nvPicPr>
        <p:blipFill>
          <a:blip r:embed="rId8">
            <a:alphaModFix/>
          </a:blip>
          <a:stretch>
            <a:fillRect/>
          </a:stretch>
        </p:blipFill>
        <p:spPr>
          <a:xfrm>
            <a:off x="5583127" y="5099601"/>
            <a:ext cx="1251275" cy="1166450"/>
          </a:xfrm>
          <a:prstGeom prst="rect">
            <a:avLst/>
          </a:prstGeom>
          <a:noFill/>
          <a:ln>
            <a:noFill/>
          </a:ln>
        </p:spPr>
      </p:pic>
      <p:sp>
        <p:nvSpPr>
          <p:cNvPr id="172" name="Google Shape;172;p17"/>
          <p:cNvSpPr txBox="1"/>
          <p:nvPr/>
        </p:nvSpPr>
        <p:spPr>
          <a:xfrm>
            <a:off x="778442" y="5111238"/>
            <a:ext cx="4102500" cy="338700"/>
          </a:xfrm>
          <a:prstGeom prst="rect">
            <a:avLst/>
          </a:prstGeom>
          <a:solidFill>
            <a:srgbClr val="CFE2F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Cadenat </a:t>
            </a:r>
            <a:r>
              <a:rPr lang="ca-ES" sz="1600" b="1">
                <a:latin typeface="Avenir"/>
                <a:ea typeface="Avenir"/>
                <a:cs typeface="Avenir"/>
                <a:sym typeface="Avenir"/>
              </a:rPr>
              <a:t>7</a:t>
            </a:r>
            <a:r>
              <a:rPr lang="ca-ES" sz="1600" b="1" i="0" u="none" strike="noStrike" cap="none">
                <a:solidFill>
                  <a:srgbClr val="000000"/>
                </a:solidFill>
                <a:latin typeface="Avenir"/>
                <a:ea typeface="Avenir"/>
                <a:cs typeface="Avenir"/>
                <a:sym typeface="Avenir"/>
              </a:rPr>
              <a:t>: </a:t>
            </a:r>
            <a:r>
              <a:rPr lang="ca-ES" sz="1600" i="0" u="none" strike="noStrike" cap="none">
                <a:solidFill>
                  <a:srgbClr val="000000"/>
                </a:solidFill>
                <a:latin typeface="Avenir"/>
                <a:ea typeface="Avenir"/>
                <a:cs typeface="Avenir"/>
                <a:sym typeface="Avenir"/>
              </a:rPr>
              <a:t>Cadenat </a:t>
            </a:r>
            <a:r>
              <a:rPr lang="ca-ES" sz="1600">
                <a:latin typeface="Avenir"/>
                <a:ea typeface="Avenir"/>
                <a:cs typeface="Avenir"/>
                <a:sym typeface="Avenir"/>
              </a:rPr>
              <a:t>amb codi barrejat </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178" name="Google Shape;178;p18"/>
          <p:cNvSpPr txBox="1"/>
          <p:nvPr/>
        </p:nvSpPr>
        <p:spPr>
          <a:xfrm>
            <a:off x="528983" y="1290357"/>
            <a:ext cx="4757392" cy="369332"/>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rial"/>
                <a:ea typeface="Arial"/>
                <a:cs typeface="Arial"/>
                <a:sym typeface="Arial"/>
              </a:rPr>
              <a:t>Cadenat 1: </a:t>
            </a:r>
            <a:r>
              <a:rPr lang="ca-ES" sz="1800" b="0" i="0" u="none" strike="noStrike" cap="none">
                <a:solidFill>
                  <a:srgbClr val="000000"/>
                </a:solidFill>
                <a:latin typeface="Arial"/>
                <a:ea typeface="Arial"/>
                <a:cs typeface="Arial"/>
                <a:sym typeface="Arial"/>
              </a:rPr>
              <a:t>Cadenat de numeració de ruleta</a:t>
            </a:r>
            <a:endParaRPr sz="1400" b="0" i="0" u="none" strike="noStrike" cap="none">
              <a:solidFill>
                <a:srgbClr val="000000"/>
              </a:solidFill>
              <a:latin typeface="Arial"/>
              <a:ea typeface="Arial"/>
              <a:cs typeface="Arial"/>
              <a:sym typeface="Arial"/>
            </a:endParaRPr>
          </a:p>
        </p:txBody>
      </p:sp>
      <p:sp>
        <p:nvSpPr>
          <p:cNvPr id="179" name="Google Shape;179;p18"/>
          <p:cNvSpPr/>
          <p:nvPr/>
        </p:nvSpPr>
        <p:spPr>
          <a:xfrm>
            <a:off x="6672262" y="2329449"/>
            <a:ext cx="1671638" cy="2199102"/>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80" name="Google Shape;180;p18"/>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1800"/>
              <a:buChar char="◼"/>
            </a:pPr>
            <a:r>
              <a:rPr lang="ca-ES" sz="1800"/>
              <a:t>Es pot escollir qualsevol contrasenya de 4 nombres.</a:t>
            </a:r>
            <a:endParaRPr/>
          </a:p>
          <a:p>
            <a:pPr marL="228600" lvl="0" indent="-228600" algn="l" rtl="0">
              <a:lnSpc>
                <a:spcPct val="130000"/>
              </a:lnSpc>
              <a:spcBef>
                <a:spcPts val="600"/>
              </a:spcBef>
              <a:spcAft>
                <a:spcPts val="0"/>
              </a:spcAft>
              <a:buSzPts val="1800"/>
              <a:buChar char="◼"/>
            </a:pPr>
            <a:r>
              <a:rPr lang="ca-ES" sz="1800"/>
              <a:t>Les caselles són discos que giren, amb 10 nombres compresos del 0 al 9.</a:t>
            </a:r>
            <a:endParaRPr/>
          </a:p>
          <a:p>
            <a:pPr marL="228600" lvl="0" indent="-228600" algn="l" rtl="0">
              <a:lnSpc>
                <a:spcPct val="130000"/>
              </a:lnSpc>
              <a:spcBef>
                <a:spcPts val="600"/>
              </a:spcBef>
              <a:spcAft>
                <a:spcPts val="0"/>
              </a:spcAft>
              <a:buSzPts val="1800"/>
              <a:buChar char="◼"/>
            </a:pPr>
            <a:r>
              <a:rPr lang="ca-ES" sz="1800"/>
              <a:t>Els elements o nombres es poden repetir.</a:t>
            </a:r>
            <a:endParaRPr/>
          </a:p>
          <a:p>
            <a:pPr marL="228600" lvl="0" indent="-228600" algn="l" rtl="0">
              <a:lnSpc>
                <a:spcPct val="130000"/>
              </a:lnSpc>
              <a:spcBef>
                <a:spcPts val="600"/>
              </a:spcBef>
              <a:spcAft>
                <a:spcPts val="0"/>
              </a:spcAft>
              <a:buSzPts val="1800"/>
              <a:buChar char="◼"/>
            </a:pPr>
            <a:r>
              <a:rPr lang="ca-ES" sz="1800"/>
              <a:t>Per poder obrir el cadenat, cal que es moguin els discos de manera que la contrasenya aparegui correctament situada en cadascuna de les 4 caselles. </a:t>
            </a:r>
            <a:endParaRPr/>
          </a:p>
          <a:p>
            <a:pPr marL="228600" lvl="0" indent="-114300" algn="l" rtl="0">
              <a:lnSpc>
                <a:spcPct val="130000"/>
              </a:lnSpc>
              <a:spcBef>
                <a:spcPts val="600"/>
              </a:spcBef>
              <a:spcAft>
                <a:spcPts val="0"/>
              </a:spcAft>
              <a:buSzPts val="1800"/>
              <a:buNone/>
            </a:pP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186" name="Google Shape;186;p19"/>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ca-ES" sz="1800"/>
              <a:t>Es pot escollir una contrasenya de 3 xifres.</a:t>
            </a:r>
            <a:endParaRPr/>
          </a:p>
          <a:p>
            <a:pPr marL="228600" lvl="0" indent="-228600" algn="l" rtl="0">
              <a:lnSpc>
                <a:spcPct val="130000"/>
              </a:lnSpc>
              <a:spcBef>
                <a:spcPts val="600"/>
              </a:spcBef>
              <a:spcAft>
                <a:spcPts val="0"/>
              </a:spcAft>
              <a:buClr>
                <a:srgbClr val="595959"/>
              </a:buClr>
              <a:buSzPts val="1800"/>
              <a:buChar char="◼"/>
            </a:pPr>
            <a:r>
              <a:rPr lang="ca-ES" sz="1800"/>
              <a:t>El cadenat no detecta l’ordre amb el que polsem les xifres.</a:t>
            </a:r>
            <a:endParaRPr/>
          </a:p>
          <a:p>
            <a:pPr marL="228600" lvl="0" indent="-228600" algn="l" rtl="0">
              <a:lnSpc>
                <a:spcPct val="130000"/>
              </a:lnSpc>
              <a:spcBef>
                <a:spcPts val="600"/>
              </a:spcBef>
              <a:spcAft>
                <a:spcPts val="0"/>
              </a:spcAft>
              <a:buClr>
                <a:srgbClr val="595959"/>
              </a:buClr>
              <a:buSzPts val="1800"/>
              <a:buChar char="◼"/>
            </a:pPr>
            <a:r>
              <a:rPr lang="ca-ES" sz="1800"/>
              <a:t>Per obrir-lo s’ha de desplaçar la pestanya inferior.</a:t>
            </a:r>
            <a:endParaRPr/>
          </a:p>
          <a:p>
            <a:pPr marL="228600" lvl="0" indent="-114300" algn="l" rtl="0">
              <a:lnSpc>
                <a:spcPct val="130000"/>
              </a:lnSpc>
              <a:spcBef>
                <a:spcPts val="600"/>
              </a:spcBef>
              <a:spcAft>
                <a:spcPts val="0"/>
              </a:spcAft>
              <a:buSzPts val="1800"/>
              <a:buNone/>
            </a:pPr>
            <a:endParaRPr sz="1800"/>
          </a:p>
          <a:p>
            <a:pPr marL="228600" lvl="0" indent="-114300" algn="l" rtl="0">
              <a:lnSpc>
                <a:spcPct val="130000"/>
              </a:lnSpc>
              <a:spcBef>
                <a:spcPts val="600"/>
              </a:spcBef>
              <a:spcAft>
                <a:spcPts val="0"/>
              </a:spcAft>
              <a:buSzPts val="1800"/>
              <a:buNone/>
            </a:pPr>
            <a:endParaRPr sz="1800"/>
          </a:p>
        </p:txBody>
      </p:sp>
      <p:sp>
        <p:nvSpPr>
          <p:cNvPr id="187" name="Google Shape;187;p19"/>
          <p:cNvSpPr txBox="1"/>
          <p:nvPr/>
        </p:nvSpPr>
        <p:spPr>
          <a:xfrm>
            <a:off x="528983" y="1305698"/>
            <a:ext cx="4757392" cy="369332"/>
          </a:xfrm>
          <a:prstGeom prst="rect">
            <a:avLst/>
          </a:prstGeom>
          <a:solidFill>
            <a:srgbClr val="FFAAAA"/>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venir"/>
                <a:ea typeface="Avenir"/>
                <a:cs typeface="Avenir"/>
                <a:sym typeface="Avenir"/>
              </a:rPr>
              <a:t>Cadenat 2: </a:t>
            </a:r>
            <a:r>
              <a:rPr lang="ca-ES" sz="1800" i="0" u="none" strike="noStrike" cap="none">
                <a:solidFill>
                  <a:srgbClr val="000000"/>
                </a:solidFill>
                <a:latin typeface="Avenir"/>
                <a:ea typeface="Avenir"/>
                <a:cs typeface="Avenir"/>
                <a:sym typeface="Avenir"/>
              </a:rPr>
              <a:t>Cadenat polsador</a:t>
            </a:r>
            <a:endParaRPr sz="1400" i="0" u="none" strike="noStrike" cap="none">
              <a:solidFill>
                <a:srgbClr val="000000"/>
              </a:solidFill>
              <a:latin typeface="Avenir"/>
              <a:ea typeface="Avenir"/>
              <a:cs typeface="Avenir"/>
              <a:sym typeface="Avenir"/>
            </a:endParaRPr>
          </a:p>
        </p:txBody>
      </p:sp>
      <p:sp>
        <p:nvSpPr>
          <p:cNvPr id="188" name="Google Shape;188;p19"/>
          <p:cNvSpPr/>
          <p:nvPr/>
        </p:nvSpPr>
        <p:spPr>
          <a:xfrm>
            <a:off x="6308458" y="2338174"/>
            <a:ext cx="2187658" cy="2181651"/>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189" name="Google Shape;189;p19" title="Chinese Push Button Padlock decoded"/>
          <p:cNvPicPr preferRelativeResize="0"/>
          <p:nvPr/>
        </p:nvPicPr>
        <p:blipFill rotWithShape="1">
          <a:blip r:embed="rId4">
            <a:alphaModFix/>
          </a:blip>
          <a:srcRect/>
          <a:stretch/>
        </p:blipFill>
        <p:spPr>
          <a:xfrm>
            <a:off x="909244" y="4499412"/>
            <a:ext cx="3258782" cy="2026656"/>
          </a:xfrm>
          <a:prstGeom prst="rect">
            <a:avLst/>
          </a:prstGeom>
          <a:noFill/>
          <a:ln>
            <a:noFill/>
          </a:ln>
        </p:spPr>
      </p:pic>
      <p:sp>
        <p:nvSpPr>
          <p:cNvPr id="190" name="Google Shape;190;p19"/>
          <p:cNvSpPr txBox="1"/>
          <p:nvPr/>
        </p:nvSpPr>
        <p:spPr>
          <a:xfrm>
            <a:off x="4358474" y="6150175"/>
            <a:ext cx="34668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ca-ES" sz="1700" b="0" i="0" u="sng" strike="noStrike" cap="none">
                <a:solidFill>
                  <a:srgbClr val="CC4125"/>
                </a:solidFill>
                <a:latin typeface="Arial"/>
                <a:ea typeface="Arial"/>
                <a:cs typeface="Arial"/>
                <a:sym typeface="Arial"/>
                <a:hlinkClick r:id="rId5">
                  <a:extLst>
                    <a:ext uri="{A12FA001-AC4F-418D-AE19-62706E023703}">
                      <ahyp:hlinkClr xmlns:ahyp="http://schemas.microsoft.com/office/drawing/2018/hyperlinkcolor" val="tx"/>
                    </a:ext>
                  </a:extLst>
                </a:hlinkClick>
              </a:rPr>
              <a:t>https://youtu.be/zSUG5iQniSc</a:t>
            </a:r>
            <a:endParaRPr sz="1700" b="0" i="0" u="none" strike="noStrike" cap="none">
              <a:solidFill>
                <a:srgbClr val="CC412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196" name="Google Shape;196;p20"/>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ca-ES" sz="1800"/>
              <a:t>Es pot escollir qualsevol contrasenya amb paraules de 5 lletres.</a:t>
            </a:r>
            <a:endParaRPr/>
          </a:p>
          <a:p>
            <a:pPr marL="228600" lvl="0" indent="-228600" algn="l" rtl="0">
              <a:lnSpc>
                <a:spcPct val="130000"/>
              </a:lnSpc>
              <a:spcBef>
                <a:spcPts val="600"/>
              </a:spcBef>
              <a:spcAft>
                <a:spcPts val="0"/>
              </a:spcAft>
              <a:buClr>
                <a:srgbClr val="595959"/>
              </a:buClr>
              <a:buSzPts val="1800"/>
              <a:buChar char="◼"/>
            </a:pPr>
            <a:r>
              <a:rPr lang="ca-ES" sz="1800"/>
              <a:t>Només hi ha disponibles 10 lletres a cada disc.</a:t>
            </a:r>
            <a:endParaRPr/>
          </a:p>
          <a:p>
            <a:pPr marL="228600" lvl="0" indent="-228600" algn="l" rtl="0">
              <a:lnSpc>
                <a:spcPct val="130000"/>
              </a:lnSpc>
              <a:spcBef>
                <a:spcPts val="600"/>
              </a:spcBef>
              <a:spcAft>
                <a:spcPts val="0"/>
              </a:spcAft>
              <a:buClr>
                <a:srgbClr val="595959"/>
              </a:buClr>
              <a:buSzPts val="1800"/>
              <a:buChar char="◼"/>
            </a:pPr>
            <a:r>
              <a:rPr lang="ca-ES" sz="1800"/>
              <a:t>El cadenat no té manera de comprovar si la paraula introduïda té sentit o no. Per tant, la contrasenya pot ser una paraula sense sentit.</a:t>
            </a:r>
            <a:endParaRPr/>
          </a:p>
          <a:p>
            <a:pPr marL="228600" lvl="0" indent="-228600" algn="l" rtl="0">
              <a:lnSpc>
                <a:spcPct val="130000"/>
              </a:lnSpc>
              <a:spcBef>
                <a:spcPts val="600"/>
              </a:spcBef>
              <a:spcAft>
                <a:spcPts val="0"/>
              </a:spcAft>
              <a:buClr>
                <a:srgbClr val="595959"/>
              </a:buClr>
              <a:buSzPts val="1800"/>
              <a:buChar char="◼"/>
            </a:pPr>
            <a:r>
              <a:rPr lang="ca-ES" sz="1800"/>
              <a:t>Hi ha lletres repetides als diferents discos.</a:t>
            </a:r>
            <a:endParaRPr/>
          </a:p>
          <a:p>
            <a:pPr marL="228600" lvl="0" indent="-228600" algn="l" rtl="0">
              <a:lnSpc>
                <a:spcPct val="130000"/>
              </a:lnSpc>
              <a:spcBef>
                <a:spcPts val="600"/>
              </a:spcBef>
              <a:spcAft>
                <a:spcPts val="0"/>
              </a:spcAft>
              <a:buClr>
                <a:srgbClr val="595959"/>
              </a:buClr>
              <a:buSzPts val="1800"/>
              <a:buChar char="◼"/>
            </a:pPr>
            <a:r>
              <a:rPr lang="ca-ES" sz="1800"/>
              <a:t>Per obrir-lo cal que es moguin els discos de manera que la contrasenya aparegui en la posició contigua a la pestanya.</a:t>
            </a:r>
            <a:endParaRPr/>
          </a:p>
          <a:p>
            <a:pPr marL="228600" lvl="0" indent="-114300" algn="l" rtl="0">
              <a:lnSpc>
                <a:spcPct val="130000"/>
              </a:lnSpc>
              <a:spcBef>
                <a:spcPts val="600"/>
              </a:spcBef>
              <a:spcAft>
                <a:spcPts val="0"/>
              </a:spcAft>
              <a:buSzPts val="1800"/>
              <a:buNone/>
            </a:pPr>
            <a:endParaRPr sz="1800"/>
          </a:p>
        </p:txBody>
      </p:sp>
      <p:sp>
        <p:nvSpPr>
          <p:cNvPr id="197" name="Google Shape;197;p20"/>
          <p:cNvSpPr txBox="1"/>
          <p:nvPr/>
        </p:nvSpPr>
        <p:spPr>
          <a:xfrm>
            <a:off x="474595" y="1391300"/>
            <a:ext cx="4811780" cy="369332"/>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venir"/>
                <a:ea typeface="Avenir"/>
                <a:cs typeface="Avenir"/>
                <a:sym typeface="Avenir"/>
              </a:rPr>
              <a:t>Cadenat </a:t>
            </a:r>
            <a:r>
              <a:rPr lang="ca-ES" sz="1800" b="1">
                <a:latin typeface="Avenir"/>
                <a:ea typeface="Avenir"/>
                <a:cs typeface="Avenir"/>
                <a:sym typeface="Avenir"/>
              </a:rPr>
              <a:t>3</a:t>
            </a:r>
            <a:r>
              <a:rPr lang="ca-ES" sz="1800" b="1" i="0" u="none" strike="noStrike" cap="none">
                <a:solidFill>
                  <a:srgbClr val="000000"/>
                </a:solidFill>
                <a:latin typeface="Avenir"/>
                <a:ea typeface="Avenir"/>
                <a:cs typeface="Avenir"/>
                <a:sym typeface="Avenir"/>
              </a:rPr>
              <a:t>: </a:t>
            </a:r>
            <a:r>
              <a:rPr lang="ca-ES" sz="1800" i="0" u="none" strike="noStrike" cap="none">
                <a:solidFill>
                  <a:srgbClr val="000000"/>
                </a:solidFill>
                <a:latin typeface="Avenir"/>
                <a:ea typeface="Avenir"/>
                <a:cs typeface="Avenir"/>
                <a:sym typeface="Avenir"/>
              </a:rPr>
              <a:t>Cadenat de paraules</a:t>
            </a:r>
            <a:endParaRPr sz="1400" i="0" u="none" strike="noStrike" cap="none">
              <a:solidFill>
                <a:srgbClr val="000000"/>
              </a:solidFill>
              <a:latin typeface="Avenir"/>
              <a:ea typeface="Avenir"/>
              <a:cs typeface="Avenir"/>
              <a:sym typeface="Avenir"/>
            </a:endParaRPr>
          </a:p>
        </p:txBody>
      </p:sp>
      <p:sp>
        <p:nvSpPr>
          <p:cNvPr id="198" name="Google Shape;198;p20"/>
          <p:cNvSpPr/>
          <p:nvPr/>
        </p:nvSpPr>
        <p:spPr>
          <a:xfrm>
            <a:off x="6418738" y="2400192"/>
            <a:ext cx="2106586" cy="2444227"/>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204" name="Google Shape;204;p21"/>
          <p:cNvSpPr txBox="1">
            <a:spLocks noGrp="1"/>
          </p:cNvSpPr>
          <p:nvPr>
            <p:ph type="body" idx="1"/>
          </p:nvPr>
        </p:nvSpPr>
        <p:spPr>
          <a:xfrm>
            <a:off x="528983" y="1558507"/>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ca-ES" sz="1800"/>
              <a:t>Es pot escollir qualsevol contrasenya de 4 direccions (dalt, baix, dreta, esquerra)</a:t>
            </a:r>
            <a:endParaRPr/>
          </a:p>
          <a:p>
            <a:pPr marL="228600" lvl="0" indent="-228600" algn="l" rtl="0">
              <a:lnSpc>
                <a:spcPct val="130000"/>
              </a:lnSpc>
              <a:spcBef>
                <a:spcPts val="600"/>
              </a:spcBef>
              <a:spcAft>
                <a:spcPts val="0"/>
              </a:spcAft>
              <a:buClr>
                <a:srgbClr val="595959"/>
              </a:buClr>
              <a:buSzPts val="1800"/>
              <a:buChar char="◼"/>
            </a:pPr>
            <a:r>
              <a:rPr lang="ca-ES" sz="1800"/>
              <a:t>Una contrasenya pot tenir elements repetits.</a:t>
            </a:r>
            <a:endParaRPr/>
          </a:p>
          <a:p>
            <a:pPr marL="228600" lvl="0" indent="-228600" algn="l" rtl="0">
              <a:lnSpc>
                <a:spcPct val="130000"/>
              </a:lnSpc>
              <a:spcBef>
                <a:spcPts val="600"/>
              </a:spcBef>
              <a:spcAft>
                <a:spcPts val="0"/>
              </a:spcAft>
              <a:buClr>
                <a:srgbClr val="595959"/>
              </a:buClr>
              <a:buSzPts val="1800"/>
              <a:buChar char="◼"/>
            </a:pPr>
            <a:r>
              <a:rPr lang="ca-ES" sz="1800"/>
              <a:t>Per introduir una nova contrasenya s’ha de pressionar 2 vegades contra el cadenat.</a:t>
            </a:r>
            <a:endParaRPr/>
          </a:p>
          <a:p>
            <a:pPr marL="228600" lvl="0" indent="-228600" algn="l" rtl="0">
              <a:lnSpc>
                <a:spcPct val="130000"/>
              </a:lnSpc>
              <a:spcBef>
                <a:spcPts val="600"/>
              </a:spcBef>
              <a:spcAft>
                <a:spcPts val="0"/>
              </a:spcAft>
              <a:buClr>
                <a:srgbClr val="595959"/>
              </a:buClr>
              <a:buSzPts val="1800"/>
              <a:buChar char="◼"/>
            </a:pPr>
            <a:r>
              <a:rPr lang="ca-ES" sz="1800"/>
              <a:t>Quan el codi sigui correcte, el cadenat es podrà obrir. </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05" name="Google Shape;205;p21"/>
          <p:cNvSpPr txBox="1"/>
          <p:nvPr/>
        </p:nvSpPr>
        <p:spPr>
          <a:xfrm>
            <a:off x="474595" y="1127319"/>
            <a:ext cx="4757392" cy="369332"/>
          </a:xfrm>
          <a:prstGeom prst="rect">
            <a:avLst/>
          </a:prstGeom>
          <a:solidFill>
            <a:srgbClr val="FFAAAA">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venir"/>
                <a:ea typeface="Avenir"/>
                <a:cs typeface="Avenir"/>
                <a:sym typeface="Avenir"/>
              </a:rPr>
              <a:t>Cadenat </a:t>
            </a:r>
            <a:r>
              <a:rPr lang="ca-ES" sz="1800" b="1">
                <a:latin typeface="Avenir"/>
                <a:ea typeface="Avenir"/>
                <a:cs typeface="Avenir"/>
                <a:sym typeface="Avenir"/>
              </a:rPr>
              <a:t>4</a:t>
            </a:r>
            <a:r>
              <a:rPr lang="ca-ES" sz="1800" b="1" i="0" u="none" strike="noStrike" cap="none">
                <a:solidFill>
                  <a:srgbClr val="000000"/>
                </a:solidFill>
                <a:latin typeface="Avenir"/>
                <a:ea typeface="Avenir"/>
                <a:cs typeface="Avenir"/>
                <a:sym typeface="Avenir"/>
              </a:rPr>
              <a:t>: </a:t>
            </a:r>
            <a:r>
              <a:rPr lang="ca-ES" sz="1800" i="0" u="none" strike="noStrike" cap="none">
                <a:solidFill>
                  <a:srgbClr val="000000"/>
                </a:solidFill>
                <a:latin typeface="Avenir"/>
                <a:ea typeface="Avenir"/>
                <a:cs typeface="Avenir"/>
                <a:sym typeface="Avenir"/>
              </a:rPr>
              <a:t>Cadenat direccional</a:t>
            </a:r>
            <a:endParaRPr sz="1400" i="0" u="none" strike="noStrike" cap="none">
              <a:solidFill>
                <a:srgbClr val="000000"/>
              </a:solidFill>
              <a:latin typeface="Avenir"/>
              <a:ea typeface="Avenir"/>
              <a:cs typeface="Avenir"/>
              <a:sym typeface="Avenir"/>
            </a:endParaRPr>
          </a:p>
        </p:txBody>
      </p:sp>
      <p:sp>
        <p:nvSpPr>
          <p:cNvPr id="206" name="Google Shape;206;p21"/>
          <p:cNvSpPr/>
          <p:nvPr/>
        </p:nvSpPr>
        <p:spPr>
          <a:xfrm>
            <a:off x="6806074" y="2304871"/>
            <a:ext cx="1317119" cy="224825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3">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07" name="Google Shape;207;p21" title="How to Open and Reset Masterlock Speed Dial Padlock - Mediocre Coffee"/>
          <p:cNvPicPr preferRelativeResize="0"/>
          <p:nvPr/>
        </p:nvPicPr>
        <p:blipFill rotWithShape="1">
          <a:blip r:embed="rId4">
            <a:alphaModFix/>
          </a:blip>
          <a:srcRect/>
          <a:stretch/>
        </p:blipFill>
        <p:spPr>
          <a:xfrm>
            <a:off x="2436768" y="4553129"/>
            <a:ext cx="3464499" cy="2232404"/>
          </a:xfrm>
          <a:prstGeom prst="rect">
            <a:avLst/>
          </a:prstGeom>
          <a:noFill/>
          <a:ln>
            <a:noFill/>
          </a:ln>
        </p:spPr>
      </p:pic>
      <p:sp>
        <p:nvSpPr>
          <p:cNvPr id="208" name="Google Shape;208;p21">
            <a:hlinkClick r:id="rId5"/>
          </p:cNvPr>
          <p:cNvSpPr txBox="1"/>
          <p:nvPr/>
        </p:nvSpPr>
        <p:spPr>
          <a:xfrm>
            <a:off x="5901267" y="6231495"/>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ca-ES" sz="1400" b="0" i="0" u="sng" strike="noStrike" cap="none">
                <a:solidFill>
                  <a:schemeClr val="hlink"/>
                </a:solidFill>
                <a:latin typeface="Arial"/>
                <a:ea typeface="Arial"/>
                <a:cs typeface="Arial"/>
                <a:sym typeface="Arial"/>
                <a:hlinkClick r:id="rId5"/>
              </a:rPr>
              <a:t>https://youtu.be/9IAfqFGM56w?t=153</a:t>
            </a:r>
            <a:endParaRPr sz="1400" b="0" i="0" u="none" strike="noStrike" cap="none">
              <a:solidFill>
                <a:srgbClr val="59595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214" name="Google Shape;214;p22"/>
          <p:cNvSpPr txBox="1">
            <a:spLocks noGrp="1"/>
          </p:cNvSpPr>
          <p:nvPr>
            <p:ph type="body" idx="1"/>
          </p:nvPr>
        </p:nvSpPr>
        <p:spPr>
          <a:xfrm>
            <a:off x="528983" y="1685925"/>
            <a:ext cx="4757392" cy="4171945"/>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ca-ES" sz="1800"/>
              <a:t>Es pot escollir qualsevol contrasenya amb 3 nombres, entre 0 i 39.</a:t>
            </a:r>
            <a:endParaRPr/>
          </a:p>
          <a:p>
            <a:pPr marL="228600" lvl="0" indent="-228600" algn="l" rtl="0">
              <a:lnSpc>
                <a:spcPct val="130000"/>
              </a:lnSpc>
              <a:spcBef>
                <a:spcPts val="600"/>
              </a:spcBef>
              <a:spcAft>
                <a:spcPts val="0"/>
              </a:spcAft>
              <a:buClr>
                <a:srgbClr val="595959"/>
              </a:buClr>
              <a:buSzPts val="1800"/>
              <a:buChar char="◼"/>
            </a:pPr>
            <a:r>
              <a:rPr lang="ca-ES" sz="1800"/>
              <a:t>La contrasenya admet xifres repetides</a:t>
            </a:r>
            <a:endParaRPr/>
          </a:p>
          <a:p>
            <a:pPr marL="228600" lvl="0" indent="-228600" algn="l" rtl="0">
              <a:lnSpc>
                <a:spcPct val="130000"/>
              </a:lnSpc>
              <a:spcBef>
                <a:spcPts val="600"/>
              </a:spcBef>
              <a:spcAft>
                <a:spcPts val="0"/>
              </a:spcAft>
              <a:buClr>
                <a:srgbClr val="595959"/>
              </a:buClr>
              <a:buSzPts val="1800"/>
              <a:buChar char="◼"/>
            </a:pPr>
            <a:r>
              <a:rPr lang="ca-ES" sz="1800"/>
              <a:t>Per introduir la contrasenya: veure el vídeo</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15" name="Google Shape;215;p22">
            <a:hlinkClick r:id="rId3"/>
          </p:cNvPr>
          <p:cNvSpPr txBox="1"/>
          <p:nvPr/>
        </p:nvSpPr>
        <p:spPr>
          <a:xfrm>
            <a:off x="4968463" y="5985288"/>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ca-ES" sz="1400" b="0" i="0" u="sng" strike="noStrike" cap="none">
                <a:solidFill>
                  <a:schemeClr val="hlink"/>
                </a:solidFill>
                <a:latin typeface="Arial"/>
                <a:ea typeface="Arial"/>
                <a:cs typeface="Arial"/>
                <a:sym typeface="Arial"/>
                <a:hlinkClick r:id="rId4"/>
              </a:rPr>
              <a:t>https://youtu.be/ednwKwSu7dw</a:t>
            </a:r>
            <a:r>
              <a:rPr lang="ca-ES" sz="1400" b="0" i="0" u="none" strike="noStrike" cap="none">
                <a:solidFill>
                  <a:srgbClr val="595959"/>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6" name="Google Shape;216;p22"/>
          <p:cNvSpPr txBox="1"/>
          <p:nvPr/>
        </p:nvSpPr>
        <p:spPr>
          <a:xfrm>
            <a:off x="469563" y="1189175"/>
            <a:ext cx="4816812" cy="369332"/>
          </a:xfrm>
          <a:prstGeom prst="rect">
            <a:avLst/>
          </a:prstGeom>
          <a:solidFill>
            <a:srgbClr val="7030A0">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venir"/>
                <a:ea typeface="Avenir"/>
                <a:cs typeface="Avenir"/>
                <a:sym typeface="Avenir"/>
              </a:rPr>
              <a:t>Cadenat </a:t>
            </a:r>
            <a:r>
              <a:rPr lang="ca-ES" sz="1800" b="1">
                <a:latin typeface="Avenir"/>
                <a:ea typeface="Avenir"/>
                <a:cs typeface="Avenir"/>
                <a:sym typeface="Avenir"/>
              </a:rPr>
              <a:t>5</a:t>
            </a:r>
            <a:r>
              <a:rPr lang="ca-ES" sz="1800" b="1" i="0" u="none" strike="noStrike" cap="none">
                <a:solidFill>
                  <a:srgbClr val="000000"/>
                </a:solidFill>
                <a:latin typeface="Avenir"/>
                <a:ea typeface="Avenir"/>
                <a:cs typeface="Avenir"/>
                <a:sym typeface="Avenir"/>
              </a:rPr>
              <a:t>: </a:t>
            </a:r>
            <a:r>
              <a:rPr lang="ca-ES" sz="1800" i="0" u="none" strike="noStrike" cap="none">
                <a:solidFill>
                  <a:srgbClr val="000000"/>
                </a:solidFill>
                <a:latin typeface="Avenir"/>
                <a:ea typeface="Avenir"/>
                <a:cs typeface="Avenir"/>
                <a:sym typeface="Avenir"/>
              </a:rPr>
              <a:t>Cadenat de Caixa forta</a:t>
            </a:r>
            <a:endParaRPr sz="1400" i="0" u="none" strike="noStrike" cap="none">
              <a:solidFill>
                <a:srgbClr val="000000"/>
              </a:solidFill>
              <a:latin typeface="Avenir"/>
              <a:ea typeface="Avenir"/>
              <a:cs typeface="Avenir"/>
              <a:sym typeface="Avenir"/>
            </a:endParaRPr>
          </a:p>
        </p:txBody>
      </p:sp>
      <p:sp>
        <p:nvSpPr>
          <p:cNvPr id="217" name="Google Shape;217;p22"/>
          <p:cNvSpPr/>
          <p:nvPr/>
        </p:nvSpPr>
        <p:spPr>
          <a:xfrm>
            <a:off x="6543674" y="2357437"/>
            <a:ext cx="1953957" cy="204305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18" name="Google Shape;218;p22" title="Cómo usar candado Master Lock de combinación modelo 1500D"/>
          <p:cNvPicPr preferRelativeResize="0"/>
          <p:nvPr/>
        </p:nvPicPr>
        <p:blipFill rotWithShape="1">
          <a:blip r:embed="rId6">
            <a:alphaModFix/>
          </a:blip>
          <a:srcRect/>
          <a:stretch/>
        </p:blipFill>
        <p:spPr>
          <a:xfrm>
            <a:off x="539154" y="3771897"/>
            <a:ext cx="4419138" cy="24948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sp>
        <p:nvSpPr>
          <p:cNvPr id="224" name="Google Shape;224;p23"/>
          <p:cNvSpPr txBox="1">
            <a:spLocks noGrp="1"/>
          </p:cNvSpPr>
          <p:nvPr>
            <p:ph type="body" idx="1"/>
          </p:nvPr>
        </p:nvSpPr>
        <p:spPr>
          <a:xfrm>
            <a:off x="528983" y="1685925"/>
            <a:ext cx="4757400" cy="4171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ca-ES" sz="1800"/>
              <a:t>Es pot escollir qualsevol contrasenya amb 4 números, lletres i caràcters especials.</a:t>
            </a:r>
            <a:endParaRPr/>
          </a:p>
          <a:p>
            <a:pPr marL="228600" lvl="0" indent="-228600" algn="l" rtl="0">
              <a:lnSpc>
                <a:spcPct val="130000"/>
              </a:lnSpc>
              <a:spcBef>
                <a:spcPts val="600"/>
              </a:spcBef>
              <a:spcAft>
                <a:spcPts val="0"/>
              </a:spcAft>
              <a:buClr>
                <a:srgbClr val="595959"/>
              </a:buClr>
              <a:buSzPts val="1800"/>
              <a:buChar char="◼"/>
            </a:pPr>
            <a:r>
              <a:rPr lang="ca-ES" sz="1800"/>
              <a:t>La contrasenya admet elements repetits</a:t>
            </a:r>
            <a:endParaRPr sz="1800"/>
          </a:p>
          <a:p>
            <a:pPr marL="228600" lvl="0" indent="-228600" algn="l" rtl="0">
              <a:lnSpc>
                <a:spcPct val="130000"/>
              </a:lnSpc>
              <a:spcBef>
                <a:spcPts val="600"/>
              </a:spcBef>
              <a:spcAft>
                <a:spcPts val="0"/>
              </a:spcAft>
              <a:buClr>
                <a:srgbClr val="595959"/>
              </a:buClr>
              <a:buSzPts val="1800"/>
              <a:buChar char="◼"/>
            </a:pPr>
            <a:r>
              <a:rPr lang="ca-ES" sz="1800"/>
              <a:t>Només hi ha disponibles 10 elements a cada disc.</a:t>
            </a:r>
            <a:endParaRPr/>
          </a:p>
          <a:p>
            <a:pPr marL="228600" lvl="0" indent="-228600" algn="l" rtl="0">
              <a:lnSpc>
                <a:spcPct val="130000"/>
              </a:lnSpc>
              <a:spcBef>
                <a:spcPts val="600"/>
              </a:spcBef>
              <a:spcAft>
                <a:spcPts val="0"/>
              </a:spcAft>
              <a:buClr>
                <a:srgbClr val="595959"/>
              </a:buClr>
              <a:buSzPts val="1800"/>
              <a:buChar char="◼"/>
            </a:pPr>
            <a:r>
              <a:rPr lang="ca-ES" sz="1800"/>
              <a:t>Hi ha elements repetits als diferents discos.</a:t>
            </a:r>
            <a:endParaRPr/>
          </a:p>
          <a:p>
            <a:pPr marL="228600" lvl="0" indent="-228600" algn="l" rtl="0">
              <a:lnSpc>
                <a:spcPct val="130000"/>
              </a:lnSpc>
              <a:spcBef>
                <a:spcPts val="600"/>
              </a:spcBef>
              <a:spcAft>
                <a:spcPts val="0"/>
              </a:spcAft>
              <a:buClr>
                <a:srgbClr val="595959"/>
              </a:buClr>
              <a:buSzPts val="1800"/>
              <a:buChar char="◼"/>
            </a:pPr>
            <a:r>
              <a:rPr lang="ca-ES" sz="1800"/>
              <a:t>Per obrir-lo cal que es moguin els discos de manera que la contrasenya aparegui en la posició contigua a la pestanya.</a:t>
            </a:r>
            <a:endParaRPr sz="1800"/>
          </a:p>
          <a:p>
            <a:pPr marL="457200" lvl="0" indent="0" algn="l" rtl="0">
              <a:lnSpc>
                <a:spcPct val="130000"/>
              </a:lnSpc>
              <a:spcBef>
                <a:spcPts val="600"/>
              </a:spcBef>
              <a:spcAft>
                <a:spcPts val="0"/>
              </a:spcAft>
              <a:buNone/>
            </a:pP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25" name="Google Shape;225;p23"/>
          <p:cNvSpPr txBox="1"/>
          <p:nvPr/>
        </p:nvSpPr>
        <p:spPr>
          <a:xfrm>
            <a:off x="469582" y="1189175"/>
            <a:ext cx="7541400" cy="369300"/>
          </a:xfrm>
          <a:prstGeom prst="rect">
            <a:avLst/>
          </a:prstGeom>
          <a:solidFill>
            <a:srgbClr val="CF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ca-ES" sz="1800" b="1" i="0" u="none" strike="noStrike" cap="none">
                <a:solidFill>
                  <a:srgbClr val="000000"/>
                </a:solidFill>
                <a:latin typeface="Avenir"/>
                <a:ea typeface="Avenir"/>
                <a:cs typeface="Avenir"/>
                <a:sym typeface="Avenir"/>
              </a:rPr>
              <a:t>Cadenat </a:t>
            </a:r>
            <a:r>
              <a:rPr lang="ca-ES" sz="1800" b="1">
                <a:latin typeface="Avenir"/>
                <a:ea typeface="Avenir"/>
                <a:cs typeface="Avenir"/>
                <a:sym typeface="Avenir"/>
              </a:rPr>
              <a:t>6</a:t>
            </a:r>
            <a:r>
              <a:rPr lang="ca-ES" sz="1800" b="1" i="0" u="none" strike="noStrike" cap="none">
                <a:solidFill>
                  <a:srgbClr val="000000"/>
                </a:solidFill>
                <a:latin typeface="Avenir"/>
                <a:ea typeface="Avenir"/>
                <a:cs typeface="Avenir"/>
                <a:sym typeface="Avenir"/>
              </a:rPr>
              <a:t>: </a:t>
            </a:r>
            <a:r>
              <a:rPr lang="ca-ES" sz="1800" i="0" u="none" strike="noStrike" cap="none">
                <a:solidFill>
                  <a:srgbClr val="000000"/>
                </a:solidFill>
                <a:latin typeface="Avenir"/>
                <a:ea typeface="Avenir"/>
                <a:cs typeface="Avenir"/>
                <a:sym typeface="Avenir"/>
              </a:rPr>
              <a:t>Cadenat </a:t>
            </a:r>
            <a:r>
              <a:rPr lang="ca-ES" sz="1800">
                <a:latin typeface="Avenir"/>
                <a:ea typeface="Avenir"/>
                <a:cs typeface="Avenir"/>
                <a:sym typeface="Avenir"/>
              </a:rPr>
              <a:t>amb números, lletres i caràcters especials</a:t>
            </a:r>
            <a:endParaRPr sz="1400" i="0" u="none" strike="noStrike" cap="none">
              <a:solidFill>
                <a:srgbClr val="000000"/>
              </a:solidFill>
              <a:latin typeface="Avenir"/>
              <a:ea typeface="Avenir"/>
              <a:cs typeface="Avenir"/>
              <a:sym typeface="Avenir"/>
            </a:endParaRPr>
          </a:p>
        </p:txBody>
      </p:sp>
      <p:pic>
        <p:nvPicPr>
          <p:cNvPr id="226" name="Google Shape;226;p23"/>
          <p:cNvPicPr preferRelativeResize="0"/>
          <p:nvPr/>
        </p:nvPicPr>
        <p:blipFill>
          <a:blip r:embed="rId3">
            <a:alphaModFix/>
          </a:blip>
          <a:stretch>
            <a:fillRect/>
          </a:stretch>
        </p:blipFill>
        <p:spPr>
          <a:xfrm>
            <a:off x="6440033" y="2686303"/>
            <a:ext cx="1685925" cy="1571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ca-ES" sz="2800" b="1" i="1"/>
              <a:t>Q</a:t>
            </a:r>
            <a:r>
              <a:rPr lang="ca-ES" sz="2800" b="1" baseline="-25000"/>
              <a:t>1</a:t>
            </a:r>
            <a:r>
              <a:rPr lang="ca-ES" sz="2800" b="1"/>
              <a:t>: Quants codis diferents admet cada cadenat?</a:t>
            </a:r>
            <a:endParaRPr/>
          </a:p>
          <a:p>
            <a:pPr marL="228600" lvl="0" indent="-101600" algn="l" rtl="0">
              <a:lnSpc>
                <a:spcPct val="130000"/>
              </a:lnSpc>
              <a:spcBef>
                <a:spcPts val="600"/>
              </a:spcBef>
              <a:spcAft>
                <a:spcPts val="0"/>
              </a:spcAft>
              <a:buSzPts val="2000"/>
              <a:buNone/>
            </a:pPr>
            <a:endParaRPr/>
          </a:p>
        </p:txBody>
      </p:sp>
      <p:sp>
        <p:nvSpPr>
          <p:cNvPr id="233" name="Google Shape;233;p2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pic>
        <p:nvPicPr>
          <p:cNvPr id="234" name="Google Shape;234;p24" descr="Imagen que contiene tabla, interior, diferente, artículos&#10;&#10;Descripción generada automáticamente"/>
          <p:cNvPicPr preferRelativeResize="0"/>
          <p:nvPr/>
        </p:nvPicPr>
        <p:blipFill rotWithShape="1">
          <a:blip r:embed="rId3">
            <a:alphaModFix/>
          </a:blip>
          <a:srcRect b="21352"/>
          <a:stretch/>
        </p:blipFill>
        <p:spPr>
          <a:xfrm>
            <a:off x="1465919" y="2933084"/>
            <a:ext cx="6212161" cy="13245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Font typeface="Avenir"/>
              <a:buChar char="◼"/>
            </a:pPr>
            <a:r>
              <a:rPr lang="ca-ES"/>
              <a:t>Posada en comú de les respostes trobades a Q1</a:t>
            </a:r>
            <a:endParaRPr b="1">
              <a:solidFill>
                <a:srgbClr val="7030A0"/>
              </a:solidFill>
            </a:endParaRPr>
          </a:p>
        </p:txBody>
      </p:sp>
      <p:sp>
        <p:nvSpPr>
          <p:cNvPr id="240" name="Google Shape;240;p2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pic>
        <p:nvPicPr>
          <p:cNvPr id="241" name="Google Shape;241;p25" descr="Free Vectors | whiteboard frame"/>
          <p:cNvPicPr preferRelativeResize="0"/>
          <p:nvPr/>
        </p:nvPicPr>
        <p:blipFill rotWithShape="1">
          <a:blip r:embed="rId3">
            <a:alphaModFix/>
          </a:blip>
          <a:srcRect/>
          <a:stretch/>
        </p:blipFill>
        <p:spPr>
          <a:xfrm>
            <a:off x="575774" y="1814101"/>
            <a:ext cx="7540799" cy="4652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45"/>
        <p:cNvGrpSpPr/>
        <p:nvPr/>
      </p:nvGrpSpPr>
      <p:grpSpPr>
        <a:xfrm>
          <a:off x="0" y="0"/>
          <a:ext cx="0" cy="0"/>
          <a:chOff x="0" y="0"/>
          <a:chExt cx="0" cy="0"/>
        </a:xfrm>
      </p:grpSpPr>
      <p:sp>
        <p:nvSpPr>
          <p:cNvPr id="246" name="Google Shape;246;p26"/>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t>Posada en comú de les respostes trobades a Q1</a:t>
            </a:r>
            <a:endParaRPr b="1">
              <a:solidFill>
                <a:srgbClr val="7030A0"/>
              </a:solidFill>
            </a:endParaRPr>
          </a:p>
        </p:txBody>
      </p:sp>
      <p:sp>
        <p:nvSpPr>
          <p:cNvPr id="247" name="Google Shape;247;p2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grpSp>
        <p:nvGrpSpPr>
          <p:cNvPr id="248" name="Google Shape;248;p26"/>
          <p:cNvGrpSpPr/>
          <p:nvPr/>
        </p:nvGrpSpPr>
        <p:grpSpPr>
          <a:xfrm>
            <a:off x="1214079" y="2025589"/>
            <a:ext cx="6288810" cy="3880039"/>
            <a:chOff x="271837" y="2031639"/>
            <a:chExt cx="3908035" cy="2343443"/>
          </a:xfrm>
        </p:grpSpPr>
        <p:pic>
          <p:nvPicPr>
            <p:cNvPr id="249" name="Google Shape;249;p26" descr="Free Vectors | whiteboard frame"/>
            <p:cNvPicPr preferRelativeResize="0"/>
            <p:nvPr/>
          </p:nvPicPr>
          <p:blipFill rotWithShape="1">
            <a:blip r:embed="rId3">
              <a:alphaModFix/>
            </a:blip>
            <a:srcRect/>
            <a:stretch/>
          </p:blipFill>
          <p:spPr>
            <a:xfrm>
              <a:off x="271837" y="2031639"/>
              <a:ext cx="3908035" cy="2343443"/>
            </a:xfrm>
            <a:prstGeom prst="rect">
              <a:avLst/>
            </a:prstGeom>
            <a:noFill/>
            <a:ln>
              <a:noFill/>
            </a:ln>
          </p:spPr>
        </p:pic>
        <p:sp>
          <p:nvSpPr>
            <p:cNvPr id="250" name="Google Shape;250;p26"/>
            <p:cNvSpPr/>
            <p:nvPr/>
          </p:nvSpPr>
          <p:spPr>
            <a:xfrm>
              <a:off x="511528" y="2357032"/>
              <a:ext cx="3605035" cy="223068"/>
            </a:xfrm>
            <a:custGeom>
              <a:avLst/>
              <a:gdLst/>
              <a:ahLst/>
              <a:cxnLst/>
              <a:rect l="l" t="t" r="r" b="b"/>
              <a:pathLst>
                <a:path w="3605035" h="223068"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05054" y="46906"/>
                    <a:pt x="3583547" y="123447"/>
                    <a:pt x="3605035" y="223068"/>
                  </a:cubicBezTo>
                  <a:cubicBezTo>
                    <a:pt x="3461733" y="244143"/>
                    <a:pt x="3260523" y="217709"/>
                    <a:pt x="3090030" y="223068"/>
                  </a:cubicBezTo>
                  <a:cubicBezTo>
                    <a:pt x="2919538" y="228427"/>
                    <a:pt x="2779029" y="178225"/>
                    <a:pt x="2538975" y="223068"/>
                  </a:cubicBezTo>
                  <a:cubicBezTo>
                    <a:pt x="2298921" y="267911"/>
                    <a:pt x="2298725" y="174002"/>
                    <a:pt x="2096070" y="223068"/>
                  </a:cubicBezTo>
                  <a:cubicBezTo>
                    <a:pt x="1893415" y="272134"/>
                    <a:pt x="1732520" y="200127"/>
                    <a:pt x="1581065" y="223068"/>
                  </a:cubicBezTo>
                  <a:cubicBezTo>
                    <a:pt x="1429611" y="246009"/>
                    <a:pt x="1325803" y="179249"/>
                    <a:pt x="1138161" y="223068"/>
                  </a:cubicBezTo>
                  <a:cubicBezTo>
                    <a:pt x="950519" y="266887"/>
                    <a:pt x="832095" y="177396"/>
                    <a:pt x="731307" y="223068"/>
                  </a:cubicBezTo>
                  <a:cubicBezTo>
                    <a:pt x="630519" y="268740"/>
                    <a:pt x="359530" y="174378"/>
                    <a:pt x="0" y="223068"/>
                  </a:cubicBezTo>
                  <a:cubicBezTo>
                    <a:pt x="-3064" y="128565"/>
                    <a:pt x="24028" y="110757"/>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Hi ha cadenats equivalents</a:t>
              </a:r>
              <a:endParaRPr sz="1200" b="1" i="0" u="none" strike="noStrike" cap="none">
                <a:solidFill>
                  <a:srgbClr val="000000"/>
                </a:solidFill>
                <a:latin typeface="Avenir"/>
                <a:ea typeface="Avenir"/>
                <a:cs typeface="Avenir"/>
                <a:sym typeface="Avenir"/>
              </a:endParaRPr>
            </a:p>
          </p:txBody>
        </p:sp>
      </p:grpSp>
      <p:sp>
        <p:nvSpPr>
          <p:cNvPr id="251" name="Google Shape;251;p26"/>
          <p:cNvSpPr/>
          <p:nvPr/>
        </p:nvSpPr>
        <p:spPr>
          <a:xfrm>
            <a:off x="4751307" y="2179894"/>
            <a:ext cx="717487" cy="75136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4">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2" name="Google Shape;252;p26"/>
          <p:cNvSpPr/>
          <p:nvPr/>
        </p:nvSpPr>
        <p:spPr>
          <a:xfrm>
            <a:off x="5716939" y="2208058"/>
            <a:ext cx="719322" cy="756022"/>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3" name="Google Shape;253;p26"/>
          <p:cNvSpPr/>
          <p:nvPr/>
        </p:nvSpPr>
        <p:spPr>
          <a:xfrm>
            <a:off x="1599798" y="32461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Hi ha cadenats difícils d’introduir els codis </a:t>
            </a:r>
            <a:endParaRPr sz="1200" i="0" u="none" strike="noStrike" cap="none">
              <a:solidFill>
                <a:srgbClr val="000000"/>
              </a:solidFill>
              <a:latin typeface="Avenir"/>
              <a:ea typeface="Avenir"/>
              <a:cs typeface="Avenir"/>
              <a:sym typeface="Avenir"/>
            </a:endParaRPr>
          </a:p>
        </p:txBody>
      </p:sp>
      <p:sp>
        <p:nvSpPr>
          <p:cNvPr id="254" name="Google Shape;254;p26"/>
          <p:cNvSpPr/>
          <p:nvPr/>
        </p:nvSpPr>
        <p:spPr>
          <a:xfrm rot="-176140">
            <a:off x="5929255" y="2990514"/>
            <a:ext cx="421302" cy="717167"/>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5" name="Google Shape;255;p26"/>
          <p:cNvSpPr/>
          <p:nvPr/>
        </p:nvSpPr>
        <p:spPr>
          <a:xfrm>
            <a:off x="6460665" y="3015819"/>
            <a:ext cx="715334" cy="69387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6" name="Google Shape;256;p26"/>
          <p:cNvSpPr/>
          <p:nvPr/>
        </p:nvSpPr>
        <p:spPr>
          <a:xfrm>
            <a:off x="1670985" y="38256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Nombre de codis que admet:</a:t>
            </a:r>
            <a:endParaRPr sz="1200" i="0" u="none" strike="noStrike" cap="none">
              <a:solidFill>
                <a:srgbClr val="000000"/>
              </a:solidFill>
              <a:latin typeface="Avenir"/>
              <a:ea typeface="Avenir"/>
              <a:cs typeface="Avenir"/>
              <a:sym typeface="Avenir"/>
            </a:endParaRPr>
          </a:p>
        </p:txBody>
      </p:sp>
      <p:pic>
        <p:nvPicPr>
          <p:cNvPr id="257" name="Google Shape;257;p26" descr="Imagen que contiene tabla, interior, diferente, artículos&#10;&#10;Descripción generada automáticamente"/>
          <p:cNvPicPr preferRelativeResize="0"/>
          <p:nvPr/>
        </p:nvPicPr>
        <p:blipFill rotWithShape="1">
          <a:blip r:embed="rId8">
            <a:alphaModFix/>
          </a:blip>
          <a:srcRect b="21352"/>
          <a:stretch/>
        </p:blipFill>
        <p:spPr>
          <a:xfrm>
            <a:off x="2847163" y="4297519"/>
            <a:ext cx="3449673" cy="735559"/>
          </a:xfrm>
          <a:prstGeom prst="rect">
            <a:avLst/>
          </a:prstGeom>
          <a:noFill/>
          <a:ln>
            <a:noFill/>
          </a:ln>
        </p:spPr>
      </p:pic>
      <p:sp>
        <p:nvSpPr>
          <p:cNvPr id="258" name="Google Shape;258;p26"/>
          <p:cNvSpPr/>
          <p:nvPr/>
        </p:nvSpPr>
        <p:spPr>
          <a:xfrm>
            <a:off x="2740036" y="5191095"/>
            <a:ext cx="3838571" cy="276999"/>
          </a:xfrm>
          <a:custGeom>
            <a:avLst/>
            <a:gdLst/>
            <a:ahLst/>
            <a:cxnLst/>
            <a:rect l="l" t="t" r="r" b="b"/>
            <a:pathLst>
              <a:path w="3838571" h="276999" extrusionOk="0">
                <a:moveTo>
                  <a:pt x="0" y="0"/>
                </a:moveTo>
                <a:cubicBezTo>
                  <a:pt x="144258" y="-10195"/>
                  <a:pt x="347996" y="17332"/>
                  <a:pt x="586753" y="0"/>
                </a:cubicBezTo>
                <a:cubicBezTo>
                  <a:pt x="825510" y="-17332"/>
                  <a:pt x="1054837" y="50482"/>
                  <a:pt x="1173506" y="0"/>
                </a:cubicBezTo>
                <a:cubicBezTo>
                  <a:pt x="1292175" y="-50482"/>
                  <a:pt x="1559100" y="60570"/>
                  <a:pt x="1798645" y="0"/>
                </a:cubicBezTo>
                <a:cubicBezTo>
                  <a:pt x="2038190" y="-60570"/>
                  <a:pt x="2085100" y="27002"/>
                  <a:pt x="2231855" y="0"/>
                </a:cubicBezTo>
                <a:cubicBezTo>
                  <a:pt x="2378610" y="-27002"/>
                  <a:pt x="2463208" y="29949"/>
                  <a:pt x="2665065" y="0"/>
                </a:cubicBezTo>
                <a:cubicBezTo>
                  <a:pt x="2866922" y="-29949"/>
                  <a:pt x="2901677" y="32149"/>
                  <a:pt x="3136661" y="0"/>
                </a:cubicBezTo>
                <a:cubicBezTo>
                  <a:pt x="3371645" y="-32149"/>
                  <a:pt x="3562605" y="61535"/>
                  <a:pt x="3838571" y="0"/>
                </a:cubicBezTo>
                <a:cubicBezTo>
                  <a:pt x="3861458" y="88686"/>
                  <a:pt x="3824311" y="191244"/>
                  <a:pt x="3838571" y="276999"/>
                </a:cubicBezTo>
                <a:cubicBezTo>
                  <a:pt x="3605592" y="308159"/>
                  <a:pt x="3546857" y="226793"/>
                  <a:pt x="3290204" y="276999"/>
                </a:cubicBezTo>
                <a:cubicBezTo>
                  <a:pt x="3033551" y="327205"/>
                  <a:pt x="2875950" y="250969"/>
                  <a:pt x="2703451" y="276999"/>
                </a:cubicBezTo>
                <a:cubicBezTo>
                  <a:pt x="2530952" y="303029"/>
                  <a:pt x="2414064" y="259126"/>
                  <a:pt x="2231855" y="276999"/>
                </a:cubicBezTo>
                <a:cubicBezTo>
                  <a:pt x="2049646" y="294872"/>
                  <a:pt x="1893177" y="276810"/>
                  <a:pt x="1683488" y="276999"/>
                </a:cubicBezTo>
                <a:cubicBezTo>
                  <a:pt x="1473799" y="277188"/>
                  <a:pt x="1361072" y="252739"/>
                  <a:pt x="1211892" y="276999"/>
                </a:cubicBezTo>
                <a:cubicBezTo>
                  <a:pt x="1062712" y="301259"/>
                  <a:pt x="959054" y="226961"/>
                  <a:pt x="778682" y="276999"/>
                </a:cubicBezTo>
                <a:cubicBezTo>
                  <a:pt x="598310" y="327037"/>
                  <a:pt x="198207" y="228160"/>
                  <a:pt x="0" y="276999"/>
                </a:cubicBezTo>
                <a:cubicBezTo>
                  <a:pt x="-25570" y="175731"/>
                  <a:pt x="10904" y="87461"/>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ca-ES" sz="1200" i="0" u="none" strike="noStrike" cap="none">
                <a:solidFill>
                  <a:srgbClr val="7030A0"/>
                </a:solidFill>
                <a:latin typeface="Avenir"/>
                <a:ea typeface="Avenir"/>
                <a:cs typeface="Avenir"/>
                <a:sym typeface="Avenir"/>
              </a:rPr>
              <a:t>10.000 – 175 – 48.000 – </a:t>
            </a:r>
            <a:r>
              <a:rPr lang="ca-ES" sz="1200" b="1" i="0" u="none" strike="noStrike" cap="none">
                <a:solidFill>
                  <a:srgbClr val="FF0000"/>
                </a:solidFill>
                <a:latin typeface="Avenir"/>
                <a:ea typeface="Avenir"/>
                <a:cs typeface="Avenir"/>
                <a:sym typeface="Avenir"/>
              </a:rPr>
              <a:t>100.000</a:t>
            </a:r>
            <a:r>
              <a:rPr lang="ca-ES" sz="1200" i="0" u="none" strike="noStrike" cap="none">
                <a:solidFill>
                  <a:srgbClr val="218C97"/>
                </a:solidFill>
                <a:latin typeface="Avenir"/>
                <a:ea typeface="Avenir"/>
                <a:cs typeface="Avenir"/>
                <a:sym typeface="Avenir"/>
              </a:rPr>
              <a:t> </a:t>
            </a:r>
            <a:r>
              <a:rPr lang="ca-ES" sz="1200" i="0" u="none" strike="noStrike" cap="none">
                <a:solidFill>
                  <a:srgbClr val="7030A0"/>
                </a:solidFill>
                <a:latin typeface="Avenir"/>
                <a:ea typeface="Avenir"/>
                <a:cs typeface="Avenir"/>
                <a:sym typeface="Avenir"/>
              </a:rPr>
              <a:t>– 256 – 59.280</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62"/>
        <p:cNvGrpSpPr/>
        <p:nvPr/>
      </p:nvGrpSpPr>
      <p:grpSpPr>
        <a:xfrm>
          <a:off x="0" y="0"/>
          <a:ext cx="0" cy="0"/>
          <a:chOff x="0" y="0"/>
          <a:chExt cx="0" cy="0"/>
        </a:xfrm>
      </p:grpSpPr>
      <p:sp>
        <p:nvSpPr>
          <p:cNvPr id="263" name="Google Shape;263;p2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t>Posada en comú de les respostes trobades a Q1</a:t>
            </a:r>
            <a:endParaRPr b="1">
              <a:solidFill>
                <a:srgbClr val="7030A0"/>
              </a:solidFill>
            </a:endParaRPr>
          </a:p>
        </p:txBody>
      </p:sp>
      <p:sp>
        <p:nvSpPr>
          <p:cNvPr id="264" name="Google Shape;264;p2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1. </a:t>
            </a:r>
            <a:r>
              <a:rPr lang="ca-ES"/>
              <a:t>Comptem codis </a:t>
            </a:r>
            <a:endParaRPr/>
          </a:p>
        </p:txBody>
      </p:sp>
      <p:pic>
        <p:nvPicPr>
          <p:cNvPr id="265" name="Google Shape;265;p27" descr="Free Vectors | whiteboard frame"/>
          <p:cNvPicPr preferRelativeResize="0"/>
          <p:nvPr/>
        </p:nvPicPr>
        <p:blipFill rotWithShape="1">
          <a:blip r:embed="rId3">
            <a:alphaModFix/>
          </a:blip>
          <a:srcRect/>
          <a:stretch/>
        </p:blipFill>
        <p:spPr>
          <a:xfrm>
            <a:off x="1307132" y="2015242"/>
            <a:ext cx="6288657" cy="3880019"/>
          </a:xfrm>
          <a:prstGeom prst="rect">
            <a:avLst/>
          </a:prstGeom>
          <a:noFill/>
          <a:ln>
            <a:noFill/>
          </a:ln>
        </p:spPr>
      </p:pic>
      <p:sp>
        <p:nvSpPr>
          <p:cNvPr id="266" name="Google Shape;266;p27"/>
          <p:cNvSpPr/>
          <p:nvPr/>
        </p:nvSpPr>
        <p:spPr>
          <a:xfrm>
            <a:off x="1593802" y="2269300"/>
            <a:ext cx="5819823" cy="2862322"/>
          </a:xfrm>
          <a:custGeom>
            <a:avLst/>
            <a:gdLst/>
            <a:ahLst/>
            <a:cxnLst/>
            <a:rect l="l" t="t" r="r" b="b"/>
            <a:pathLst>
              <a:path w="5819823" h="2862322" extrusionOk="0">
                <a:moveTo>
                  <a:pt x="0" y="0"/>
                </a:moveTo>
                <a:cubicBezTo>
                  <a:pt x="279577" y="-5738"/>
                  <a:pt x="456592" y="66844"/>
                  <a:pt x="640181" y="0"/>
                </a:cubicBezTo>
                <a:cubicBezTo>
                  <a:pt x="823770" y="-66844"/>
                  <a:pt x="1118316" y="17943"/>
                  <a:pt x="1280361" y="0"/>
                </a:cubicBezTo>
                <a:cubicBezTo>
                  <a:pt x="1442406" y="-17943"/>
                  <a:pt x="1654336" y="53760"/>
                  <a:pt x="1978740" y="0"/>
                </a:cubicBezTo>
                <a:cubicBezTo>
                  <a:pt x="2303144" y="-53760"/>
                  <a:pt x="2206583" y="33795"/>
                  <a:pt x="2386127" y="0"/>
                </a:cubicBezTo>
                <a:cubicBezTo>
                  <a:pt x="2565671" y="-33795"/>
                  <a:pt x="2659227" y="18039"/>
                  <a:pt x="2793515" y="0"/>
                </a:cubicBezTo>
                <a:cubicBezTo>
                  <a:pt x="2927803" y="-18039"/>
                  <a:pt x="3029350" y="34181"/>
                  <a:pt x="3259101" y="0"/>
                </a:cubicBezTo>
                <a:cubicBezTo>
                  <a:pt x="3488852" y="-34181"/>
                  <a:pt x="3496163" y="27064"/>
                  <a:pt x="3724687" y="0"/>
                </a:cubicBezTo>
                <a:cubicBezTo>
                  <a:pt x="3953211" y="-27064"/>
                  <a:pt x="4128175" y="30854"/>
                  <a:pt x="4248471" y="0"/>
                </a:cubicBezTo>
                <a:cubicBezTo>
                  <a:pt x="4368767" y="-30854"/>
                  <a:pt x="4556665" y="48214"/>
                  <a:pt x="4772255" y="0"/>
                </a:cubicBezTo>
                <a:cubicBezTo>
                  <a:pt x="4987845" y="-48214"/>
                  <a:pt x="5116747" y="43897"/>
                  <a:pt x="5237841" y="0"/>
                </a:cubicBezTo>
                <a:cubicBezTo>
                  <a:pt x="5358935" y="-43897"/>
                  <a:pt x="5633826" y="8874"/>
                  <a:pt x="5819823" y="0"/>
                </a:cubicBezTo>
                <a:cubicBezTo>
                  <a:pt x="5869540" y="170385"/>
                  <a:pt x="5758711" y="407690"/>
                  <a:pt x="5819823" y="515218"/>
                </a:cubicBezTo>
                <a:cubicBezTo>
                  <a:pt x="5880935" y="622746"/>
                  <a:pt x="5769524" y="973364"/>
                  <a:pt x="5819823" y="1144929"/>
                </a:cubicBezTo>
                <a:cubicBezTo>
                  <a:pt x="5870122" y="1316494"/>
                  <a:pt x="5785265" y="1639818"/>
                  <a:pt x="5819823" y="1774640"/>
                </a:cubicBezTo>
                <a:cubicBezTo>
                  <a:pt x="5854381" y="1909462"/>
                  <a:pt x="5754645" y="2065284"/>
                  <a:pt x="5819823" y="2347104"/>
                </a:cubicBezTo>
                <a:cubicBezTo>
                  <a:pt x="5885001" y="2628924"/>
                  <a:pt x="5788076" y="2736476"/>
                  <a:pt x="5819823" y="2862322"/>
                </a:cubicBezTo>
                <a:cubicBezTo>
                  <a:pt x="5621668" y="2908523"/>
                  <a:pt x="5449538" y="2828405"/>
                  <a:pt x="5121444" y="2862322"/>
                </a:cubicBezTo>
                <a:cubicBezTo>
                  <a:pt x="4793350" y="2896239"/>
                  <a:pt x="4600524" y="2785754"/>
                  <a:pt x="4423065" y="2862322"/>
                </a:cubicBezTo>
                <a:cubicBezTo>
                  <a:pt x="4245606" y="2938890"/>
                  <a:pt x="4044022" y="2802707"/>
                  <a:pt x="3782885" y="2862322"/>
                </a:cubicBezTo>
                <a:cubicBezTo>
                  <a:pt x="3521748" y="2921937"/>
                  <a:pt x="3445636" y="2850265"/>
                  <a:pt x="3259101" y="2862322"/>
                </a:cubicBezTo>
                <a:cubicBezTo>
                  <a:pt x="3072566" y="2874379"/>
                  <a:pt x="3040860" y="2838280"/>
                  <a:pt x="2851713" y="2862322"/>
                </a:cubicBezTo>
                <a:cubicBezTo>
                  <a:pt x="2662566" y="2886364"/>
                  <a:pt x="2404022" y="2793588"/>
                  <a:pt x="2153335" y="2862322"/>
                </a:cubicBezTo>
                <a:cubicBezTo>
                  <a:pt x="1902648" y="2931056"/>
                  <a:pt x="1692027" y="2796983"/>
                  <a:pt x="1571352" y="2862322"/>
                </a:cubicBezTo>
                <a:cubicBezTo>
                  <a:pt x="1450677" y="2927661"/>
                  <a:pt x="1219631" y="2801192"/>
                  <a:pt x="989370" y="2862322"/>
                </a:cubicBezTo>
                <a:cubicBezTo>
                  <a:pt x="759109" y="2923452"/>
                  <a:pt x="758212" y="2818596"/>
                  <a:pt x="581982" y="2862322"/>
                </a:cubicBezTo>
                <a:cubicBezTo>
                  <a:pt x="405752" y="2906048"/>
                  <a:pt x="169224" y="2856016"/>
                  <a:pt x="0" y="2862322"/>
                </a:cubicBezTo>
                <a:cubicBezTo>
                  <a:pt x="-58119" y="2652143"/>
                  <a:pt x="40244" y="2478783"/>
                  <a:pt x="0" y="2375727"/>
                </a:cubicBezTo>
                <a:cubicBezTo>
                  <a:pt x="-40244" y="2272671"/>
                  <a:pt x="1496" y="2029896"/>
                  <a:pt x="0" y="1774640"/>
                </a:cubicBezTo>
                <a:cubicBezTo>
                  <a:pt x="-1496" y="1519384"/>
                  <a:pt x="30100" y="1386345"/>
                  <a:pt x="0" y="1144929"/>
                </a:cubicBezTo>
                <a:cubicBezTo>
                  <a:pt x="-30100" y="903513"/>
                  <a:pt x="59716" y="756524"/>
                  <a:pt x="0" y="543841"/>
                </a:cubicBezTo>
                <a:cubicBezTo>
                  <a:pt x="-59716" y="331158"/>
                  <a:pt x="35375" y="2488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Q1.1. Quin temps màxim trigaríem en obrir cada cadenat?</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Q1.2. La seguretat només depèn del nombre de codis?</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ca-ES" sz="1600" b="1" i="0" u="none" strike="noStrike" cap="none">
                <a:solidFill>
                  <a:srgbClr val="7030A0"/>
                </a:solidFill>
                <a:latin typeface="Avenir"/>
                <a:ea typeface="Avenir"/>
                <a:cs typeface="Avenir"/>
                <a:sym typeface="Avenir"/>
              </a:rPr>
              <a:t>Q1.3. Quina petita modificació podríem fer a cada cadenat perquè sigui més segur?</a:t>
            </a:r>
            <a:endParaRPr sz="1200" i="0" u="none" strike="noStrike" cap="none">
              <a:solidFill>
                <a:srgbClr val="000000"/>
              </a:solidFill>
              <a:latin typeface="Avenir"/>
              <a:ea typeface="Avenir"/>
              <a:cs typeface="Avenir"/>
              <a:sym typeface="Avenir"/>
            </a:endParaRPr>
          </a:p>
        </p:txBody>
      </p:sp>
      <p:pic>
        <p:nvPicPr>
          <p:cNvPr id="267" name="Google Shape;267;p27" descr="Imagen que contiene tabla, interior, diferente, artículos&#10;&#10;Descripción generada automáticamente"/>
          <p:cNvPicPr preferRelativeResize="0"/>
          <p:nvPr/>
        </p:nvPicPr>
        <p:blipFill rotWithShape="1">
          <a:blip r:embed="rId4">
            <a:alphaModFix/>
          </a:blip>
          <a:srcRect b="21352"/>
          <a:stretch/>
        </p:blipFill>
        <p:spPr>
          <a:xfrm>
            <a:off x="2836094" y="2758892"/>
            <a:ext cx="3142718" cy="670108"/>
          </a:xfrm>
          <a:prstGeom prst="rect">
            <a:avLst/>
          </a:prstGeom>
          <a:noFill/>
          <a:ln>
            <a:noFill/>
          </a:ln>
        </p:spPr>
      </p:pic>
      <p:sp>
        <p:nvSpPr>
          <p:cNvPr id="268" name="Google Shape;268;p27"/>
          <p:cNvSpPr/>
          <p:nvPr/>
        </p:nvSpPr>
        <p:spPr>
          <a:xfrm>
            <a:off x="2802953" y="3407727"/>
            <a:ext cx="3416118" cy="276999"/>
          </a:xfrm>
          <a:custGeom>
            <a:avLst/>
            <a:gdLst/>
            <a:ahLst/>
            <a:cxnLst/>
            <a:rect l="l" t="t" r="r" b="b"/>
            <a:pathLst>
              <a:path w="3416118" h="276999" extrusionOk="0">
                <a:moveTo>
                  <a:pt x="0" y="0"/>
                </a:moveTo>
                <a:cubicBezTo>
                  <a:pt x="184732" y="-29968"/>
                  <a:pt x="466282" y="5087"/>
                  <a:pt x="603514" y="0"/>
                </a:cubicBezTo>
                <a:cubicBezTo>
                  <a:pt x="740746" y="-5087"/>
                  <a:pt x="1045753" y="9036"/>
                  <a:pt x="1207028" y="0"/>
                </a:cubicBezTo>
                <a:cubicBezTo>
                  <a:pt x="1368303" y="-9036"/>
                  <a:pt x="1552761" y="69788"/>
                  <a:pt x="1844704" y="0"/>
                </a:cubicBezTo>
                <a:cubicBezTo>
                  <a:pt x="2136647" y="-69788"/>
                  <a:pt x="2211342" y="2549"/>
                  <a:pt x="2311573" y="0"/>
                </a:cubicBezTo>
                <a:cubicBezTo>
                  <a:pt x="2411804" y="-2549"/>
                  <a:pt x="2592200" y="50199"/>
                  <a:pt x="2778443" y="0"/>
                </a:cubicBezTo>
                <a:cubicBezTo>
                  <a:pt x="2964686" y="-50199"/>
                  <a:pt x="3217853" y="3909"/>
                  <a:pt x="3416118" y="0"/>
                </a:cubicBezTo>
                <a:cubicBezTo>
                  <a:pt x="3437335" y="84690"/>
                  <a:pt x="3413343" y="161569"/>
                  <a:pt x="3416118" y="276999"/>
                </a:cubicBezTo>
                <a:cubicBezTo>
                  <a:pt x="3240218" y="299021"/>
                  <a:pt x="3044784" y="224718"/>
                  <a:pt x="2949249" y="276999"/>
                </a:cubicBezTo>
                <a:cubicBezTo>
                  <a:pt x="2853714" y="329280"/>
                  <a:pt x="2655921" y="227063"/>
                  <a:pt x="2379896" y="276999"/>
                </a:cubicBezTo>
                <a:cubicBezTo>
                  <a:pt x="2103871" y="326935"/>
                  <a:pt x="1906624" y="236211"/>
                  <a:pt x="1776381" y="276999"/>
                </a:cubicBezTo>
                <a:cubicBezTo>
                  <a:pt x="1646138" y="317787"/>
                  <a:pt x="1458371" y="232824"/>
                  <a:pt x="1275351" y="276999"/>
                </a:cubicBezTo>
                <a:cubicBezTo>
                  <a:pt x="1092331" y="321174"/>
                  <a:pt x="853542" y="210214"/>
                  <a:pt x="705998" y="276999"/>
                </a:cubicBezTo>
                <a:cubicBezTo>
                  <a:pt x="558454" y="343784"/>
                  <a:pt x="268649" y="261545"/>
                  <a:pt x="0" y="276999"/>
                </a:cubicBezTo>
                <a:cubicBezTo>
                  <a:pt x="-31803" y="208186"/>
                  <a:pt x="7929" y="8289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ca-ES" sz="1200" b="0" i="0" u="none" strike="noStrike" cap="none">
                <a:solidFill>
                  <a:srgbClr val="7030A0"/>
                </a:solidFill>
                <a:latin typeface="Arial"/>
                <a:ea typeface="Arial"/>
                <a:cs typeface="Arial"/>
                <a:sym typeface="Arial"/>
              </a:rPr>
              <a:t>10h  –  8min  –  30h  –  50h  –  42min  – </a:t>
            </a:r>
            <a:r>
              <a:rPr lang="ca-ES" sz="1200" b="1" i="0" u="none" strike="noStrike" cap="none">
                <a:solidFill>
                  <a:srgbClr val="FF0000"/>
                </a:solidFill>
                <a:latin typeface="Arial"/>
                <a:ea typeface="Arial"/>
                <a:cs typeface="Arial"/>
                <a:sym typeface="Arial"/>
              </a:rPr>
              <a:t>80h</a:t>
            </a:r>
            <a:r>
              <a:rPr lang="ca-ES" sz="1200" b="0" i="0" u="none" strike="noStrike" cap="none">
                <a:solidFill>
                  <a:srgbClr val="218C97"/>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8"/>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ca-ES" sz="2800"/>
              <a:t>Quines respostes i noves qüestions hem recollits amb l’estudi elaborat pels diferents grups sobre...</a:t>
            </a:r>
            <a:endParaRPr/>
          </a:p>
          <a:p>
            <a:pPr marL="0" lvl="0" indent="0" algn="ctr" rtl="0">
              <a:lnSpc>
                <a:spcPct val="130000"/>
              </a:lnSpc>
              <a:spcBef>
                <a:spcPts val="600"/>
              </a:spcBef>
              <a:spcAft>
                <a:spcPts val="0"/>
              </a:spcAft>
              <a:buSzPts val="2800"/>
              <a:buNone/>
            </a:pPr>
            <a:r>
              <a:rPr lang="ca-ES" sz="2800" b="1" i="1"/>
              <a:t>Q</a:t>
            </a:r>
            <a:r>
              <a:rPr lang="ca-ES" sz="2800" b="1" baseline="-25000"/>
              <a:t>1</a:t>
            </a:r>
            <a:r>
              <a:rPr lang="ca-ES" sz="2800" b="1"/>
              <a:t>: Quants codis diferents admet cada cadenat?</a:t>
            </a:r>
            <a:endParaRPr/>
          </a:p>
        </p:txBody>
      </p:sp>
      <p:sp>
        <p:nvSpPr>
          <p:cNvPr id="275" name="Google Shape;275;p28"/>
          <p:cNvSpPr txBox="1">
            <a:spLocks noGrp="1"/>
          </p:cNvSpPr>
          <p:nvPr>
            <p:ph type="title"/>
          </p:nvPr>
        </p:nvSpPr>
        <p:spPr>
          <a:xfrm>
            <a:off x="474595" y="318728"/>
            <a:ext cx="7640705"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a:p>
        </p:txBody>
      </p:sp>
      <p:pic>
        <p:nvPicPr>
          <p:cNvPr id="276" name="Google Shape;276;p28" descr="Imagen que contiene tabla, interior, diferente, artículos&#10;&#10;Descripción generada automáticamente"/>
          <p:cNvPicPr preferRelativeResize="0"/>
          <p:nvPr/>
        </p:nvPicPr>
        <p:blipFill rotWithShape="1">
          <a:blip r:embed="rId3">
            <a:alphaModFix/>
          </a:blip>
          <a:srcRect b="21350"/>
          <a:stretch/>
        </p:blipFill>
        <p:spPr>
          <a:xfrm>
            <a:off x="996993" y="4547571"/>
            <a:ext cx="6212161" cy="1324591"/>
          </a:xfrm>
          <a:prstGeom prst="rect">
            <a:avLst/>
          </a:prstGeom>
          <a:noFill/>
          <a:ln>
            <a:noFill/>
          </a:ln>
        </p:spPr>
      </p:pic>
      <p:pic>
        <p:nvPicPr>
          <p:cNvPr id="277" name="Google Shape;277;p28"/>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solidFill>
                  <a:srgbClr val="000000"/>
                </a:solidFill>
              </a:rPr>
              <a:t>Donem nom a les diferents tècniques </a:t>
            </a:r>
            <a:r>
              <a:rPr lang="ca-ES" b="1">
                <a:solidFill>
                  <a:srgbClr val="000000"/>
                </a:solidFill>
              </a:rPr>
              <a:t>per descriure l’espai a comptar</a:t>
            </a:r>
            <a:endParaRPr/>
          </a:p>
          <a:p>
            <a:pPr marL="457200" lvl="1" indent="-114300" algn="l" rtl="0">
              <a:lnSpc>
                <a:spcPct val="130000"/>
              </a:lnSpc>
              <a:spcBef>
                <a:spcPts val="600"/>
              </a:spcBef>
              <a:spcAft>
                <a:spcPts val="0"/>
              </a:spcAft>
              <a:buSzPts val="1800"/>
              <a:buNone/>
            </a:pPr>
            <a:endParaRPr/>
          </a:p>
        </p:txBody>
      </p:sp>
      <p:sp>
        <p:nvSpPr>
          <p:cNvPr id="283" name="Google Shape;283;p2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pic>
        <p:nvPicPr>
          <p:cNvPr id="284" name="Google Shape;284;p29" descr="Tabla&#10;&#10;Descripción generada automáticamente"/>
          <p:cNvPicPr preferRelativeResize="0"/>
          <p:nvPr/>
        </p:nvPicPr>
        <p:blipFill rotWithShape="1">
          <a:blip r:embed="rId3">
            <a:alphaModFix/>
          </a:blip>
          <a:srcRect/>
          <a:stretch/>
        </p:blipFill>
        <p:spPr>
          <a:xfrm>
            <a:off x="709684" y="2325876"/>
            <a:ext cx="3598198" cy="1230351"/>
          </a:xfrm>
          <a:prstGeom prst="rect">
            <a:avLst/>
          </a:prstGeom>
          <a:noFill/>
          <a:ln>
            <a:noFill/>
          </a:ln>
        </p:spPr>
      </p:pic>
      <p:pic>
        <p:nvPicPr>
          <p:cNvPr id="285" name="Google Shape;285;p29"/>
          <p:cNvPicPr preferRelativeResize="0"/>
          <p:nvPr/>
        </p:nvPicPr>
        <p:blipFill rotWithShape="1">
          <a:blip r:embed="rId4">
            <a:alphaModFix/>
          </a:blip>
          <a:srcRect/>
          <a:stretch/>
        </p:blipFill>
        <p:spPr>
          <a:xfrm>
            <a:off x="917564" y="3919663"/>
            <a:ext cx="2870202" cy="2128660"/>
          </a:xfrm>
          <a:prstGeom prst="rect">
            <a:avLst/>
          </a:prstGeom>
          <a:noFill/>
          <a:ln>
            <a:noFill/>
          </a:ln>
        </p:spPr>
      </p:pic>
      <p:pic>
        <p:nvPicPr>
          <p:cNvPr id="286" name="Google Shape;286;p29" descr="Imagen que contiene Diagrama&#10;&#10;Descripción generada automáticamente"/>
          <p:cNvPicPr preferRelativeResize="0"/>
          <p:nvPr/>
        </p:nvPicPr>
        <p:blipFill rotWithShape="1">
          <a:blip r:embed="rId5">
            <a:alphaModFix/>
          </a:blip>
          <a:srcRect r="33617" b="31674"/>
          <a:stretch/>
        </p:blipFill>
        <p:spPr>
          <a:xfrm>
            <a:off x="4414298" y="4159809"/>
            <a:ext cx="2360665" cy="1945295"/>
          </a:xfrm>
          <a:prstGeom prst="rect">
            <a:avLst/>
          </a:prstGeom>
          <a:noFill/>
          <a:ln>
            <a:noFill/>
          </a:ln>
        </p:spPr>
      </p:pic>
      <p:pic>
        <p:nvPicPr>
          <p:cNvPr id="287" name="Google Shape;287;p29"/>
          <p:cNvPicPr preferRelativeResize="0"/>
          <p:nvPr/>
        </p:nvPicPr>
        <p:blipFill rotWithShape="1">
          <a:blip r:embed="rId6">
            <a:alphaModFix/>
          </a:blip>
          <a:srcRect/>
          <a:stretch/>
        </p:blipFill>
        <p:spPr>
          <a:xfrm>
            <a:off x="5141760" y="2255637"/>
            <a:ext cx="3021850" cy="1768770"/>
          </a:xfrm>
          <a:prstGeom prst="rect">
            <a:avLst/>
          </a:prstGeom>
          <a:noFill/>
          <a:ln>
            <a:noFill/>
          </a:ln>
        </p:spPr>
      </p:pic>
      <p:pic>
        <p:nvPicPr>
          <p:cNvPr id="288" name="Google Shape;288;p29"/>
          <p:cNvPicPr preferRelativeResize="0"/>
          <p:nvPr/>
        </p:nvPicPr>
        <p:blipFill rotWithShape="1">
          <a:blip r:embed="rId7">
            <a:alphaModFix/>
          </a:blip>
          <a:srcRect/>
          <a:stretch/>
        </p:blipFill>
        <p:spPr>
          <a:xfrm>
            <a:off x="7066022" y="4249318"/>
            <a:ext cx="1617584" cy="1980067"/>
          </a:xfrm>
          <a:prstGeom prst="rect">
            <a:avLst/>
          </a:prstGeom>
          <a:noFill/>
          <a:ln>
            <a:noFill/>
          </a:ln>
        </p:spPr>
      </p:pic>
      <p:sp>
        <p:nvSpPr>
          <p:cNvPr id="289" name="Google Shape;289;p29"/>
          <p:cNvSpPr txBox="1"/>
          <p:nvPr/>
        </p:nvSpPr>
        <p:spPr>
          <a:xfrm>
            <a:off x="1146714" y="1860302"/>
            <a:ext cx="6322336"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Llistes</a:t>
            </a:r>
            <a:r>
              <a:rPr lang="ca-ES" sz="1600" b="0" i="0" u="none" strike="noStrike" cap="none">
                <a:solidFill>
                  <a:srgbClr val="000000"/>
                </a:solidFill>
                <a:latin typeface="Avenir"/>
                <a:ea typeface="Avenir"/>
                <a:cs typeface="Avenir"/>
                <a:sym typeface="Avenir"/>
              </a:rPr>
              <a:t> més o menys </a:t>
            </a:r>
            <a:r>
              <a:rPr lang="ca-ES" sz="1600" b="1" i="0" u="none" strike="noStrike" cap="none">
                <a:solidFill>
                  <a:srgbClr val="000000"/>
                </a:solidFill>
                <a:latin typeface="Avenir"/>
                <a:ea typeface="Avenir"/>
                <a:cs typeface="Avenir"/>
                <a:sym typeface="Avenir"/>
              </a:rPr>
              <a:t>estructurades de codis</a:t>
            </a:r>
            <a:endParaRPr sz="1400" b="0" i="0" u="none" strike="noStrike" cap="none">
              <a:solidFill>
                <a:srgbClr val="000000"/>
              </a:solidFill>
              <a:latin typeface="Arial"/>
              <a:ea typeface="Arial"/>
              <a:cs typeface="Arial"/>
              <a:sym typeface="Arial"/>
            </a:endParaRPr>
          </a:p>
        </p:txBody>
      </p:sp>
      <p:sp>
        <p:nvSpPr>
          <p:cNvPr id="290" name="Google Shape;290;p29"/>
          <p:cNvSpPr txBox="1"/>
          <p:nvPr/>
        </p:nvSpPr>
        <p:spPr>
          <a:xfrm>
            <a:off x="917564" y="6242482"/>
            <a:ext cx="3078082"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ca-ES" sz="1600" b="1" i="0" u="none" strike="noStrike" cap="none">
                <a:solidFill>
                  <a:srgbClr val="000000"/>
                </a:solidFill>
                <a:latin typeface="Avenir"/>
                <a:ea typeface="Avenir"/>
                <a:cs typeface="Avenir"/>
                <a:sym typeface="Avenir"/>
              </a:rPr>
              <a:t>Diagrama d’arbre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solidFill>
                  <a:srgbClr val="000000"/>
                </a:solidFill>
              </a:rPr>
              <a:t>Donem nom a les diferents tècniques </a:t>
            </a:r>
            <a:r>
              <a:rPr lang="ca-ES" b="1">
                <a:solidFill>
                  <a:srgbClr val="000000"/>
                </a:solidFill>
              </a:rPr>
              <a:t>per fer el recompte de codis</a:t>
            </a:r>
            <a:endParaRPr/>
          </a:p>
        </p:txBody>
      </p:sp>
      <p:pic>
        <p:nvPicPr>
          <p:cNvPr id="296" name="Google Shape;296;p30" descr="Imagen que contiene Diagrama&#10;&#10;Descripción generada automáticamente"/>
          <p:cNvPicPr preferRelativeResize="0"/>
          <p:nvPr/>
        </p:nvPicPr>
        <p:blipFill rotWithShape="1">
          <a:blip r:embed="rId3">
            <a:alphaModFix/>
          </a:blip>
          <a:srcRect/>
          <a:stretch/>
        </p:blipFill>
        <p:spPr>
          <a:xfrm>
            <a:off x="3953579" y="2215505"/>
            <a:ext cx="3914447" cy="3133996"/>
          </a:xfrm>
          <a:prstGeom prst="rect">
            <a:avLst/>
          </a:prstGeom>
          <a:noFill/>
          <a:ln>
            <a:noFill/>
          </a:ln>
        </p:spPr>
      </p:pic>
      <p:pic>
        <p:nvPicPr>
          <p:cNvPr id="297" name="Google Shape;297;p30"/>
          <p:cNvPicPr preferRelativeResize="0"/>
          <p:nvPr/>
        </p:nvPicPr>
        <p:blipFill rotWithShape="1">
          <a:blip r:embed="rId4">
            <a:alphaModFix/>
          </a:blip>
          <a:srcRect/>
          <a:stretch/>
        </p:blipFill>
        <p:spPr>
          <a:xfrm>
            <a:off x="655694" y="4827241"/>
            <a:ext cx="3353530" cy="1712031"/>
          </a:xfrm>
          <a:prstGeom prst="rect">
            <a:avLst/>
          </a:prstGeom>
          <a:noFill/>
          <a:ln>
            <a:noFill/>
          </a:ln>
        </p:spPr>
      </p:pic>
      <p:pic>
        <p:nvPicPr>
          <p:cNvPr id="298" name="Google Shape;298;p30"/>
          <p:cNvPicPr preferRelativeResize="0"/>
          <p:nvPr/>
        </p:nvPicPr>
        <p:blipFill rotWithShape="1">
          <a:blip r:embed="rId5">
            <a:alphaModFix/>
          </a:blip>
          <a:srcRect/>
          <a:stretch/>
        </p:blipFill>
        <p:spPr>
          <a:xfrm>
            <a:off x="753747" y="2378321"/>
            <a:ext cx="3056925" cy="1834155"/>
          </a:xfrm>
          <a:prstGeom prst="rect">
            <a:avLst/>
          </a:prstGeom>
          <a:noFill/>
          <a:ln>
            <a:noFill/>
          </a:ln>
        </p:spPr>
      </p:pic>
      <p:sp>
        <p:nvSpPr>
          <p:cNvPr id="299" name="Google Shape;299;p30"/>
          <p:cNvSpPr txBox="1"/>
          <p:nvPr/>
        </p:nvSpPr>
        <p:spPr>
          <a:xfrm>
            <a:off x="753747" y="1921066"/>
            <a:ext cx="3057000" cy="3387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ca-ES" sz="1600" i="0" u="none" strike="noStrike" cap="none">
                <a:solidFill>
                  <a:srgbClr val="000000"/>
                </a:solidFill>
                <a:latin typeface="Avenir"/>
                <a:ea typeface="Avenir"/>
                <a:cs typeface="Avenir"/>
                <a:sym typeface="Avenir"/>
              </a:rPr>
              <a:t>Producte d’opcions</a:t>
            </a:r>
            <a:endParaRPr sz="1400" i="0" u="none" strike="noStrike" cap="none">
              <a:solidFill>
                <a:srgbClr val="000000"/>
              </a:solidFill>
              <a:latin typeface="Avenir"/>
              <a:ea typeface="Avenir"/>
              <a:cs typeface="Avenir"/>
              <a:sym typeface="Avenir"/>
            </a:endParaRPr>
          </a:p>
        </p:txBody>
      </p:sp>
      <p:sp>
        <p:nvSpPr>
          <p:cNvPr id="300" name="Google Shape;300;p30"/>
          <p:cNvSpPr txBox="1"/>
          <p:nvPr/>
        </p:nvSpPr>
        <p:spPr>
          <a:xfrm>
            <a:off x="6430381" y="3627701"/>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ca-ES" sz="1600" i="0" u="none" strike="noStrike" cap="none">
                <a:solidFill>
                  <a:srgbClr val="000000"/>
                </a:solidFill>
                <a:latin typeface="Avenir"/>
                <a:ea typeface="Avenir"/>
                <a:cs typeface="Avenir"/>
                <a:sym typeface="Avenir"/>
              </a:rPr>
              <a:t>Agrupament </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600"/>
              <a:buFont typeface="Arial"/>
              <a:buNone/>
            </a:pPr>
            <a:r>
              <a:rPr lang="ca-ES" sz="1600" i="0" u="none" strike="noStrike" cap="none">
                <a:solidFill>
                  <a:srgbClr val="000000"/>
                </a:solidFill>
                <a:latin typeface="Avenir"/>
                <a:ea typeface="Avenir"/>
                <a:cs typeface="Avenir"/>
                <a:sym typeface="Avenir"/>
              </a:rPr>
              <a:t>de codis repetits</a:t>
            </a:r>
            <a:endParaRPr sz="1400" i="0" u="none" strike="noStrike" cap="none">
              <a:solidFill>
                <a:srgbClr val="000000"/>
              </a:solidFill>
              <a:latin typeface="Avenir"/>
              <a:ea typeface="Avenir"/>
              <a:cs typeface="Avenir"/>
              <a:sym typeface="Avenir"/>
            </a:endParaRPr>
          </a:p>
        </p:txBody>
      </p:sp>
      <p:sp>
        <p:nvSpPr>
          <p:cNvPr id="301" name="Google Shape;301;p30"/>
          <p:cNvSpPr txBox="1"/>
          <p:nvPr/>
        </p:nvSpPr>
        <p:spPr>
          <a:xfrm>
            <a:off x="4154842" y="5954497"/>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ca-ES" sz="1600" i="0" u="none" strike="noStrike" cap="none">
                <a:solidFill>
                  <a:srgbClr val="000000"/>
                </a:solidFill>
                <a:latin typeface="Avenir"/>
                <a:ea typeface="Avenir"/>
                <a:cs typeface="Avenir"/>
                <a:sym typeface="Avenir"/>
              </a:rPr>
              <a:t>Cerca i ús de fórmula</a:t>
            </a:r>
            <a:endParaRPr sz="1400" i="0" u="none" strike="noStrike" cap="none">
              <a:solidFill>
                <a:srgbClr val="000000"/>
              </a:solidFill>
              <a:latin typeface="Avenir"/>
              <a:ea typeface="Avenir"/>
              <a:cs typeface="Avenir"/>
              <a:sym typeface="Avenir"/>
            </a:endParaRPr>
          </a:p>
        </p:txBody>
      </p:sp>
      <p:sp>
        <p:nvSpPr>
          <p:cNvPr id="302" name="Google Shape;302;p3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1"/>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ca-ES" sz="2800"/>
              <a:t>Ens han donat més informació sobre la contrasenya...</a:t>
            </a:r>
            <a:endParaRPr/>
          </a:p>
          <a:p>
            <a:pPr marL="0" lvl="0" indent="0" algn="ctr" rtl="0">
              <a:lnSpc>
                <a:spcPct val="130000"/>
              </a:lnSpc>
              <a:spcBef>
                <a:spcPts val="600"/>
              </a:spcBef>
              <a:spcAft>
                <a:spcPts val="0"/>
              </a:spcAft>
              <a:buSzPts val="2800"/>
              <a:buNone/>
            </a:pPr>
            <a:r>
              <a:rPr lang="ca-ES" sz="2800" b="1" i="1"/>
              <a:t>Q</a:t>
            </a:r>
            <a:r>
              <a:rPr lang="ca-ES" sz="2800" b="1" baseline="-25000"/>
              <a:t>2</a:t>
            </a:r>
            <a:r>
              <a:rPr lang="ca-ES" sz="2800" b="1"/>
              <a:t>: Podem trobar el nombre de codis que tenen ara els cadenats amb la nova informació? </a:t>
            </a:r>
            <a:endParaRPr b="1"/>
          </a:p>
        </p:txBody>
      </p:sp>
      <p:pic>
        <p:nvPicPr>
          <p:cNvPr id="309" name="Google Shape;309;p31" descr="Imagen que contiene tabla, interior, diferente, artículos&#10;&#10;Descripción generada automáticamente"/>
          <p:cNvPicPr preferRelativeResize="0"/>
          <p:nvPr/>
        </p:nvPicPr>
        <p:blipFill rotWithShape="1">
          <a:blip r:embed="rId3">
            <a:alphaModFix/>
          </a:blip>
          <a:srcRect b="21350"/>
          <a:stretch/>
        </p:blipFill>
        <p:spPr>
          <a:xfrm>
            <a:off x="1001043" y="4547571"/>
            <a:ext cx="6212161" cy="1324591"/>
          </a:xfrm>
          <a:prstGeom prst="rect">
            <a:avLst/>
          </a:prstGeom>
          <a:noFill/>
          <a:ln>
            <a:noFill/>
          </a:ln>
        </p:spPr>
      </p:pic>
      <p:sp>
        <p:nvSpPr>
          <p:cNvPr id="310" name="Google Shape;310;p3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pic>
        <p:nvPicPr>
          <p:cNvPr id="311" name="Google Shape;311;p31"/>
          <p:cNvPicPr preferRelativeResize="0"/>
          <p:nvPr/>
        </p:nvPicPr>
        <p:blipFill>
          <a:blip r:embed="rId4">
            <a:alphaModFix/>
          </a:blip>
          <a:stretch>
            <a:fillRect/>
          </a:stretch>
        </p:blipFill>
        <p:spPr>
          <a:xfrm>
            <a:off x="7060796" y="4547575"/>
            <a:ext cx="1420904" cy="1324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2"/>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sp>
        <p:nvSpPr>
          <p:cNvPr id="317" name="Google Shape;317;p32"/>
          <p:cNvSpPr/>
          <p:nvPr/>
        </p:nvSpPr>
        <p:spPr>
          <a:xfrm rot="5400000">
            <a:off x="42832" y="151652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18" name="Google Shape;318;p32"/>
          <p:cNvSpPr txBox="1"/>
          <p:nvPr/>
        </p:nvSpPr>
        <p:spPr>
          <a:xfrm>
            <a:off x="1382581" y="2067056"/>
            <a:ext cx="3090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0" i="0" u="none" strike="noStrike" cap="none">
                <a:solidFill>
                  <a:schemeClr val="dk1"/>
                </a:solidFill>
                <a:latin typeface="Avenir"/>
                <a:ea typeface="Avenir"/>
                <a:cs typeface="Avenir"/>
                <a:sym typeface="Avenir"/>
              </a:rPr>
              <a:t>Sabem que la contrasenya no conté xifres repetides</a:t>
            </a:r>
            <a:endParaRPr sz="1400" b="0" i="0" u="none" strike="noStrike" cap="none">
              <a:solidFill>
                <a:srgbClr val="000000"/>
              </a:solidFill>
              <a:latin typeface="Arial"/>
              <a:ea typeface="Arial"/>
              <a:cs typeface="Arial"/>
              <a:sym typeface="Arial"/>
            </a:endParaRPr>
          </a:p>
        </p:txBody>
      </p:sp>
      <p:sp>
        <p:nvSpPr>
          <p:cNvPr id="319" name="Google Shape;319;p32"/>
          <p:cNvSpPr txBox="1"/>
          <p:nvPr/>
        </p:nvSpPr>
        <p:spPr>
          <a:xfrm>
            <a:off x="1429017" y="1435293"/>
            <a:ext cx="34338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chemeClr val="dk1"/>
                </a:solidFill>
                <a:latin typeface="Avenir"/>
                <a:ea typeface="Avenir"/>
                <a:cs typeface="Avenir"/>
                <a:sym typeface="Avenir"/>
              </a:rPr>
              <a:t>Cadenat 7: </a:t>
            </a:r>
            <a:r>
              <a:rPr lang="ca-ES" sz="1600" b="0" i="0" u="none" strike="noStrike" cap="none">
                <a:solidFill>
                  <a:schemeClr val="dk1"/>
                </a:solidFill>
                <a:latin typeface="Avenir"/>
                <a:ea typeface="Avenir"/>
                <a:cs typeface="Avenir"/>
                <a:sym typeface="Avenir"/>
              </a:rPr>
              <a:t>Cadenat de numeració de ruleta (sense repeticions)</a:t>
            </a:r>
            <a:endParaRPr sz="1600" b="1" i="0" u="none" strike="noStrike" cap="none">
              <a:solidFill>
                <a:schemeClr val="dk1"/>
              </a:solidFill>
              <a:latin typeface="Avenir"/>
              <a:ea typeface="Avenir"/>
              <a:cs typeface="Avenir"/>
              <a:sym typeface="Avenir"/>
            </a:endParaRPr>
          </a:p>
        </p:txBody>
      </p:sp>
      <p:sp>
        <p:nvSpPr>
          <p:cNvPr id="320" name="Google Shape;320;p32"/>
          <p:cNvSpPr/>
          <p:nvPr/>
        </p:nvSpPr>
        <p:spPr>
          <a:xfrm>
            <a:off x="258010" y="1495439"/>
            <a:ext cx="1015910" cy="1224439"/>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21" name="Google Shape;321;p32"/>
          <p:cNvSpPr txBox="1"/>
          <p:nvPr/>
        </p:nvSpPr>
        <p:spPr>
          <a:xfrm>
            <a:off x="1429017" y="3861761"/>
            <a:ext cx="3035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0" i="0" u="none" strike="noStrike" cap="none">
                <a:solidFill>
                  <a:schemeClr val="dk1"/>
                </a:solidFill>
                <a:latin typeface="Avenir"/>
                <a:ea typeface="Avenir"/>
                <a:cs typeface="Avenir"/>
                <a:sym typeface="Avenir"/>
              </a:rPr>
              <a:t>Sabem amb seguretat que la contrasenya té </a:t>
            </a:r>
            <a:r>
              <a:rPr lang="ca-ES" sz="1600">
                <a:solidFill>
                  <a:schemeClr val="dk1"/>
                </a:solidFill>
                <a:latin typeface="Avenir"/>
                <a:ea typeface="Avenir"/>
                <a:cs typeface="Avenir"/>
                <a:sym typeface="Avenir"/>
              </a:rPr>
              <a:t>4</a:t>
            </a:r>
            <a:r>
              <a:rPr lang="ca-ES" sz="1600" b="0" i="0" u="none" strike="noStrike" cap="none">
                <a:solidFill>
                  <a:schemeClr val="dk1"/>
                </a:solidFill>
                <a:latin typeface="Avenir"/>
                <a:ea typeface="Avenir"/>
                <a:cs typeface="Avenir"/>
                <a:sym typeface="Avenir"/>
              </a:rPr>
              <a:t> xifres.</a:t>
            </a:r>
            <a:endParaRPr sz="1600" b="0" i="0" u="none" strike="noStrike" cap="none">
              <a:solidFill>
                <a:schemeClr val="dk1"/>
              </a:solidFill>
              <a:latin typeface="Avenir"/>
              <a:ea typeface="Avenir"/>
              <a:cs typeface="Avenir"/>
              <a:sym typeface="Avenir"/>
            </a:endParaRPr>
          </a:p>
        </p:txBody>
      </p:sp>
      <p:sp>
        <p:nvSpPr>
          <p:cNvPr id="322" name="Google Shape;322;p32"/>
          <p:cNvSpPr txBox="1"/>
          <p:nvPr/>
        </p:nvSpPr>
        <p:spPr>
          <a:xfrm>
            <a:off x="1429017" y="3189342"/>
            <a:ext cx="32751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chemeClr val="dk1"/>
                </a:solidFill>
                <a:latin typeface="Avenir"/>
                <a:ea typeface="Avenir"/>
                <a:cs typeface="Avenir"/>
                <a:sym typeface="Avenir"/>
              </a:rPr>
              <a:t>Cadenat 8: </a:t>
            </a:r>
            <a:r>
              <a:rPr lang="ca-ES" sz="1600" b="0" i="0" u="none" strike="noStrike" cap="none">
                <a:solidFill>
                  <a:schemeClr val="dk1"/>
                </a:solidFill>
                <a:latin typeface="Avenir"/>
                <a:ea typeface="Avenir"/>
                <a:cs typeface="Avenir"/>
                <a:sym typeface="Avenir"/>
              </a:rPr>
              <a:t>Cadenat polsador (ampliat)</a:t>
            </a:r>
            <a:endParaRPr sz="1600" b="1" i="0" u="none" strike="noStrike" cap="none">
              <a:solidFill>
                <a:schemeClr val="dk1"/>
              </a:solidFill>
              <a:latin typeface="Avenir"/>
              <a:ea typeface="Avenir"/>
              <a:cs typeface="Avenir"/>
              <a:sym typeface="Avenir"/>
            </a:endParaRPr>
          </a:p>
        </p:txBody>
      </p:sp>
      <p:sp>
        <p:nvSpPr>
          <p:cNvPr id="323" name="Google Shape;323;p32"/>
          <p:cNvSpPr txBox="1"/>
          <p:nvPr/>
        </p:nvSpPr>
        <p:spPr>
          <a:xfrm>
            <a:off x="1416314" y="5423484"/>
            <a:ext cx="38349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0" i="0" u="none" strike="noStrike" cap="none">
                <a:solidFill>
                  <a:schemeClr val="dk1"/>
                </a:solidFill>
                <a:latin typeface="Avenir"/>
                <a:ea typeface="Avenir"/>
                <a:cs typeface="Avenir"/>
                <a:sym typeface="Avenir"/>
              </a:rPr>
              <a:t>Sabem que ni els dies ni els anys contenen xifres repetides.</a:t>
            </a:r>
            <a:endParaRPr sz="1600" b="0" i="0" u="none" strike="noStrike" cap="none">
              <a:solidFill>
                <a:schemeClr val="dk1"/>
              </a:solidFill>
              <a:latin typeface="Avenir"/>
              <a:ea typeface="Avenir"/>
              <a:cs typeface="Avenir"/>
              <a:sym typeface="Avenir"/>
            </a:endParaRPr>
          </a:p>
        </p:txBody>
      </p:sp>
      <p:sp>
        <p:nvSpPr>
          <p:cNvPr id="324" name="Google Shape;324;p32"/>
          <p:cNvSpPr txBox="1"/>
          <p:nvPr/>
        </p:nvSpPr>
        <p:spPr>
          <a:xfrm>
            <a:off x="1429017" y="4734960"/>
            <a:ext cx="32946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chemeClr val="dk1"/>
                </a:solidFill>
                <a:latin typeface="Avenir"/>
                <a:ea typeface="Avenir"/>
                <a:cs typeface="Avenir"/>
                <a:sym typeface="Avenir"/>
              </a:rPr>
              <a:t>Cadenat 9: </a:t>
            </a:r>
            <a:r>
              <a:rPr lang="ca-ES" sz="1600" b="0" i="0" u="none" strike="noStrike" cap="none">
                <a:solidFill>
                  <a:schemeClr val="dk1"/>
                </a:solidFill>
                <a:latin typeface="Avenir"/>
                <a:ea typeface="Avenir"/>
                <a:cs typeface="Avenir"/>
                <a:sym typeface="Avenir"/>
              </a:rPr>
              <a:t>Cadenat de dates (sense repeticions)</a:t>
            </a:r>
            <a:endParaRPr sz="1600" b="1" i="0" u="none" strike="noStrike" cap="none">
              <a:solidFill>
                <a:schemeClr val="dk1"/>
              </a:solidFill>
              <a:latin typeface="Avenir"/>
              <a:ea typeface="Avenir"/>
              <a:cs typeface="Avenir"/>
              <a:sym typeface="Avenir"/>
            </a:endParaRPr>
          </a:p>
        </p:txBody>
      </p:sp>
      <p:sp>
        <p:nvSpPr>
          <p:cNvPr id="325" name="Google Shape;325;p32"/>
          <p:cNvSpPr txBox="1"/>
          <p:nvPr/>
        </p:nvSpPr>
        <p:spPr>
          <a:xfrm>
            <a:off x="6191699" y="2853175"/>
            <a:ext cx="3028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0" i="0" u="none" strike="noStrike" cap="none">
                <a:solidFill>
                  <a:schemeClr val="dk1"/>
                </a:solidFill>
                <a:latin typeface="Avenir"/>
                <a:ea typeface="Avenir"/>
                <a:cs typeface="Avenir"/>
                <a:sym typeface="Avenir"/>
              </a:rPr>
              <a:t>Sabem ara que la contrasenya no conté direccions repetides</a:t>
            </a:r>
            <a:endParaRPr sz="1600" b="0" i="0" u="none" strike="noStrike" cap="none">
              <a:solidFill>
                <a:schemeClr val="dk1"/>
              </a:solidFill>
              <a:latin typeface="Avenir"/>
              <a:ea typeface="Avenir"/>
              <a:cs typeface="Avenir"/>
              <a:sym typeface="Avenir"/>
            </a:endParaRPr>
          </a:p>
        </p:txBody>
      </p:sp>
      <p:sp>
        <p:nvSpPr>
          <p:cNvPr id="326" name="Google Shape;326;p32"/>
          <p:cNvSpPr txBox="1"/>
          <p:nvPr/>
        </p:nvSpPr>
        <p:spPr>
          <a:xfrm>
            <a:off x="6253484" y="1960161"/>
            <a:ext cx="2748300" cy="831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chemeClr val="dk1"/>
                </a:solidFill>
                <a:latin typeface="Avenir"/>
                <a:ea typeface="Avenir"/>
                <a:cs typeface="Avenir"/>
                <a:sym typeface="Avenir"/>
              </a:rPr>
              <a:t>Cadenat 10: </a:t>
            </a:r>
            <a:r>
              <a:rPr lang="ca-ES" sz="1600" b="0" i="0" u="none" strike="noStrike" cap="none">
                <a:solidFill>
                  <a:schemeClr val="dk1"/>
                </a:solidFill>
                <a:latin typeface="Avenir"/>
                <a:ea typeface="Avenir"/>
                <a:cs typeface="Avenir"/>
                <a:sym typeface="Avenir"/>
              </a:rPr>
              <a:t>Cadenat direccional (sense repeticions)</a:t>
            </a:r>
            <a:endParaRPr sz="1600" b="1" i="0" u="none" strike="noStrike" cap="none">
              <a:solidFill>
                <a:schemeClr val="dk1"/>
              </a:solidFill>
              <a:latin typeface="Avenir"/>
              <a:ea typeface="Avenir"/>
              <a:cs typeface="Avenir"/>
              <a:sym typeface="Avenir"/>
            </a:endParaRPr>
          </a:p>
        </p:txBody>
      </p:sp>
      <p:sp>
        <p:nvSpPr>
          <p:cNvPr id="327" name="Google Shape;327;p32"/>
          <p:cNvSpPr/>
          <p:nvPr/>
        </p:nvSpPr>
        <p:spPr>
          <a:xfrm rot="5400000">
            <a:off x="48131" y="312730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8" name="Google Shape;328;p32"/>
          <p:cNvSpPr/>
          <p:nvPr/>
        </p:nvSpPr>
        <p:spPr>
          <a:xfrm rot="5400000">
            <a:off x="44965" y="475237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9" name="Google Shape;329;p32"/>
          <p:cNvSpPr/>
          <p:nvPr/>
        </p:nvSpPr>
        <p:spPr>
          <a:xfrm>
            <a:off x="241826" y="2945497"/>
            <a:ext cx="1072186" cy="1572539"/>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0" name="Google Shape;330;p32"/>
          <p:cNvSpPr/>
          <p:nvPr/>
        </p:nvSpPr>
        <p:spPr>
          <a:xfrm>
            <a:off x="180841" y="4780096"/>
            <a:ext cx="1222386" cy="1061239"/>
          </a:xfrm>
          <a:custGeom>
            <a:avLst/>
            <a:gdLst/>
            <a:ahLst/>
            <a:cxnLst/>
            <a:rect l="l" t="t" r="r" b="b"/>
            <a:pathLst>
              <a:path w="2469466" h="2703794" extrusionOk="0">
                <a:moveTo>
                  <a:pt x="0" y="0"/>
                </a:moveTo>
                <a:lnTo>
                  <a:pt x="2469465" y="0"/>
                </a:lnTo>
                <a:lnTo>
                  <a:pt x="2469465" y="2703795"/>
                </a:lnTo>
                <a:lnTo>
                  <a:pt x="0" y="2703795"/>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1" name="Google Shape;331;p32"/>
          <p:cNvSpPr/>
          <p:nvPr/>
        </p:nvSpPr>
        <p:spPr>
          <a:xfrm rot="5400000">
            <a:off x="4825172" y="205946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2" name="Google Shape;332;p32"/>
          <p:cNvSpPr/>
          <p:nvPr/>
        </p:nvSpPr>
        <p:spPr>
          <a:xfrm>
            <a:off x="5190450" y="1940675"/>
            <a:ext cx="733614" cy="114779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3" name="Google Shape;333;p32"/>
          <p:cNvSpPr txBox="1"/>
          <p:nvPr/>
        </p:nvSpPr>
        <p:spPr>
          <a:xfrm>
            <a:off x="6253484" y="4656956"/>
            <a:ext cx="2859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0" i="0" u="none" strike="noStrike" cap="none">
                <a:solidFill>
                  <a:schemeClr val="dk1"/>
                </a:solidFill>
                <a:latin typeface="Avenir"/>
                <a:ea typeface="Avenir"/>
                <a:cs typeface="Avenir"/>
                <a:sym typeface="Avenir"/>
              </a:rPr>
              <a:t>Sabem que la contrasenya té dues xifres repetides</a:t>
            </a:r>
            <a:endParaRPr sz="1600" b="0" i="0" u="none" strike="noStrike" cap="none">
              <a:solidFill>
                <a:schemeClr val="dk1"/>
              </a:solidFill>
              <a:latin typeface="Avenir"/>
              <a:ea typeface="Avenir"/>
              <a:cs typeface="Avenir"/>
              <a:sym typeface="Avenir"/>
            </a:endParaRPr>
          </a:p>
        </p:txBody>
      </p:sp>
      <p:sp>
        <p:nvSpPr>
          <p:cNvPr id="334" name="Google Shape;334;p32"/>
          <p:cNvSpPr txBox="1"/>
          <p:nvPr/>
        </p:nvSpPr>
        <p:spPr>
          <a:xfrm>
            <a:off x="6253484" y="4033972"/>
            <a:ext cx="27423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1600" b="1" i="0" u="none" strike="noStrike" cap="none">
                <a:solidFill>
                  <a:schemeClr val="dk1"/>
                </a:solidFill>
                <a:latin typeface="Avenir"/>
                <a:ea typeface="Avenir"/>
                <a:cs typeface="Avenir"/>
                <a:sym typeface="Avenir"/>
              </a:rPr>
              <a:t>Cadenat 11: </a:t>
            </a:r>
            <a:r>
              <a:rPr lang="ca-ES" sz="1600" b="0" i="0" u="none" strike="noStrike" cap="none">
                <a:solidFill>
                  <a:schemeClr val="dk1"/>
                </a:solidFill>
                <a:latin typeface="Avenir"/>
                <a:ea typeface="Avenir"/>
                <a:cs typeface="Avenir"/>
                <a:sym typeface="Avenir"/>
              </a:rPr>
              <a:t>Cadenat de caixa forta (amb repeticions)</a:t>
            </a:r>
            <a:endParaRPr sz="1600" b="1" i="0" u="none" strike="noStrike" cap="none">
              <a:solidFill>
                <a:schemeClr val="dk1"/>
              </a:solidFill>
              <a:latin typeface="Avenir"/>
              <a:ea typeface="Avenir"/>
              <a:cs typeface="Avenir"/>
              <a:sym typeface="Avenir"/>
            </a:endParaRPr>
          </a:p>
        </p:txBody>
      </p:sp>
      <p:sp>
        <p:nvSpPr>
          <p:cNvPr id="335" name="Google Shape;335;p32"/>
          <p:cNvSpPr/>
          <p:nvPr/>
        </p:nvSpPr>
        <p:spPr>
          <a:xfrm rot="5400000">
            <a:off x="4846882" y="3997988"/>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6" name="Google Shape;336;p32"/>
          <p:cNvSpPr/>
          <p:nvPr/>
        </p:nvSpPr>
        <p:spPr>
          <a:xfrm>
            <a:off x="5040438" y="4033571"/>
            <a:ext cx="1151687" cy="115168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pic>
        <p:nvPicPr>
          <p:cNvPr id="342" name="Google Shape;342;p33"/>
          <p:cNvPicPr preferRelativeResize="0"/>
          <p:nvPr/>
        </p:nvPicPr>
        <p:blipFill>
          <a:blip r:embed="rId3">
            <a:alphaModFix/>
          </a:blip>
          <a:stretch>
            <a:fillRect/>
          </a:stretch>
        </p:blipFill>
        <p:spPr>
          <a:xfrm>
            <a:off x="1995800" y="2735600"/>
            <a:ext cx="5557049" cy="2977775"/>
          </a:xfrm>
          <a:prstGeom prst="rect">
            <a:avLst/>
          </a:prstGeom>
          <a:noFill/>
          <a:ln>
            <a:noFill/>
          </a:ln>
        </p:spPr>
      </p:pic>
      <p:sp>
        <p:nvSpPr>
          <p:cNvPr id="343" name="Google Shape;343;p33"/>
          <p:cNvSpPr txBox="1"/>
          <p:nvPr/>
        </p:nvSpPr>
        <p:spPr>
          <a:xfrm>
            <a:off x="671640" y="1549625"/>
            <a:ext cx="8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PART 1. TREBALL EN GRUP</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Sabreu calcular el nombre de contrasenyes de cada cadenat?</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Si no, feu preguntes per als grups responsables de cada tipus.</a:t>
            </a:r>
            <a:endParaRPr sz="2000" b="1">
              <a:solidFill>
                <a:srgbClr val="218C97"/>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ca-ES" sz="2000" b="1"/>
              <a:t>FASE 2. </a:t>
            </a:r>
            <a:r>
              <a:rPr lang="ca-ES" sz="2000"/>
              <a:t>Validació amb la col·lecció cadenats amb restriccions </a:t>
            </a:r>
            <a:endParaRPr sz="2000"/>
          </a:p>
        </p:txBody>
      </p:sp>
      <p:sp>
        <p:nvSpPr>
          <p:cNvPr id="349" name="Google Shape;349;p34"/>
          <p:cNvSpPr txBox="1"/>
          <p:nvPr/>
        </p:nvSpPr>
        <p:spPr>
          <a:xfrm>
            <a:off x="671640" y="1549625"/>
            <a:ext cx="8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PART 2. TREBALL INDIVIDUAL</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Indiqueu el nombre de contrasenyes de cada nou tipus de cadenat i justifiqueu la resposta</a:t>
            </a:r>
            <a:endParaRPr sz="2000" b="1">
              <a:solidFill>
                <a:srgbClr val="218C97"/>
              </a:solidFill>
              <a:latin typeface="Avenir"/>
              <a:ea typeface="Avenir"/>
              <a:cs typeface="Avenir"/>
              <a:sym typeface="Avenir"/>
            </a:endParaRPr>
          </a:p>
        </p:txBody>
      </p:sp>
      <p:pic>
        <p:nvPicPr>
          <p:cNvPr id="350" name="Google Shape;350;p34"/>
          <p:cNvPicPr preferRelativeResize="0"/>
          <p:nvPr/>
        </p:nvPicPr>
        <p:blipFill>
          <a:blip r:embed="rId3">
            <a:alphaModFix/>
          </a:blip>
          <a:stretch>
            <a:fillRect/>
          </a:stretch>
        </p:blipFill>
        <p:spPr>
          <a:xfrm>
            <a:off x="2176275" y="2653375"/>
            <a:ext cx="4025600" cy="35984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5"/>
          <p:cNvSpPr txBox="1">
            <a:spLocks noGrp="1"/>
          </p:cNvSpPr>
          <p:nvPr>
            <p:ph type="body" idx="1"/>
          </p:nvPr>
        </p:nvSpPr>
        <p:spPr>
          <a:xfrm>
            <a:off x="329409" y="1681628"/>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ca-ES" sz="2800" b="1" i="1"/>
              <a:t>Q</a:t>
            </a:r>
            <a:r>
              <a:rPr lang="ca-ES" sz="2800" b="1" baseline="-25000"/>
              <a:t>3</a:t>
            </a:r>
            <a:r>
              <a:rPr lang="ca-ES" sz="2800" b="1"/>
              <a:t>: Què caracteritza un model de cadenat?</a:t>
            </a:r>
            <a:endParaRPr sz="2800" b="1"/>
          </a:p>
          <a:p>
            <a:pPr marL="0" lvl="0" indent="0" algn="ctr" rtl="0">
              <a:lnSpc>
                <a:spcPct val="130000"/>
              </a:lnSpc>
              <a:spcBef>
                <a:spcPts val="600"/>
              </a:spcBef>
              <a:spcAft>
                <a:spcPts val="0"/>
              </a:spcAft>
              <a:buSzPts val="2800"/>
              <a:buNone/>
            </a:pPr>
            <a:r>
              <a:rPr lang="ca-ES" sz="2800" b="1"/>
              <a:t>Quins models hi ha?</a:t>
            </a:r>
            <a:endParaRPr sz="2800" b="1"/>
          </a:p>
          <a:p>
            <a:pPr marL="0" lvl="0" indent="0" algn="ctr" rtl="0">
              <a:lnSpc>
                <a:spcPct val="130000"/>
              </a:lnSpc>
              <a:spcBef>
                <a:spcPts val="600"/>
              </a:spcBef>
              <a:spcAft>
                <a:spcPts val="0"/>
              </a:spcAft>
              <a:buSzPts val="2800"/>
              <a:buNone/>
            </a:pPr>
            <a:r>
              <a:rPr lang="ca-ES" sz="2800" b="1"/>
              <a:t>Com els caracteritzem i anomenem?</a:t>
            </a:r>
            <a:endParaRPr sz="2800" b="1"/>
          </a:p>
        </p:txBody>
      </p:sp>
      <p:sp>
        <p:nvSpPr>
          <p:cNvPr id="357" name="Google Shape;357;p35"/>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3. </a:t>
            </a:r>
            <a:r>
              <a:rPr lang="ca-ES" sz="2000"/>
              <a:t>Classificació dels cadenats i tècniques generals</a:t>
            </a:r>
            <a:endParaRPr/>
          </a:p>
        </p:txBody>
      </p:sp>
      <p:pic>
        <p:nvPicPr>
          <p:cNvPr id="358" name="Google Shape;358;p35" descr="Imagen que contiene tabla, interior, diferente, artículos&#10;&#10;Descripción generada automáticamente"/>
          <p:cNvPicPr preferRelativeResize="0"/>
          <p:nvPr/>
        </p:nvPicPr>
        <p:blipFill rotWithShape="1">
          <a:blip r:embed="rId3">
            <a:alphaModFix/>
          </a:blip>
          <a:srcRect b="21352"/>
          <a:stretch/>
        </p:blipFill>
        <p:spPr>
          <a:xfrm>
            <a:off x="996993" y="4547571"/>
            <a:ext cx="6212161" cy="1324591"/>
          </a:xfrm>
          <a:prstGeom prst="rect">
            <a:avLst/>
          </a:prstGeom>
          <a:noFill/>
          <a:ln>
            <a:noFill/>
          </a:ln>
        </p:spPr>
      </p:pic>
      <p:pic>
        <p:nvPicPr>
          <p:cNvPr id="359" name="Google Shape;359;p35"/>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6"/>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ca-ES" sz="2000" b="1"/>
              <a:t>FASE 3. </a:t>
            </a:r>
            <a:r>
              <a:rPr lang="ca-ES" sz="2000"/>
              <a:t>Classificació dels cadenats i tècniques generals</a:t>
            </a:r>
            <a:endParaRPr sz="2000" b="1"/>
          </a:p>
        </p:txBody>
      </p:sp>
      <p:sp>
        <p:nvSpPr>
          <p:cNvPr id="365" name="Google Shape;365;p36"/>
          <p:cNvSpPr txBox="1"/>
          <p:nvPr/>
        </p:nvSpPr>
        <p:spPr>
          <a:xfrm>
            <a:off x="671640" y="1549625"/>
            <a:ext cx="8016900" cy="384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PART 1. TREBALL EN GRUP</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Treballeu amb el vostre grup per a proposar possibles classificacions de cadenats explicant:</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ca-ES" sz="2000">
                <a:latin typeface="Avenir"/>
                <a:ea typeface="Avenir"/>
                <a:cs typeface="Avenir"/>
                <a:sym typeface="Avenir"/>
              </a:rPr>
              <a:t>Què caracteritza un model o tipus o classe de cadenat? </a:t>
            </a:r>
            <a:endParaRPr sz="200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ca-ES" sz="2000">
                <a:latin typeface="Avenir"/>
                <a:ea typeface="Avenir"/>
                <a:cs typeface="Avenir"/>
                <a:sym typeface="Avenir"/>
              </a:rPr>
              <a:t>Per què decidiu agrupar-los en un mateix tipus? </a:t>
            </a:r>
            <a:endParaRPr sz="200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ca-ES" sz="2000">
                <a:latin typeface="Avenir"/>
                <a:ea typeface="Avenir"/>
                <a:cs typeface="Avenir"/>
                <a:sym typeface="Avenir"/>
              </a:rPr>
              <a:t>Com caracteritzar un mateix tipus o model de cadenat? </a:t>
            </a:r>
            <a:br>
              <a:rPr lang="ca-ES" sz="2000">
                <a:latin typeface="Avenir"/>
                <a:ea typeface="Avenir"/>
                <a:cs typeface="Avenir"/>
                <a:sym typeface="Avenir"/>
              </a:rPr>
            </a:br>
            <a:r>
              <a:rPr lang="ca-ES" sz="2000">
                <a:latin typeface="Avenir"/>
                <a:ea typeface="Avenir"/>
                <a:cs typeface="Avenir"/>
                <a:sym typeface="Avenir"/>
              </a:rPr>
              <a:t>Com els podem anomenar?</a:t>
            </a:r>
            <a:r>
              <a:rPr lang="ca-ES" sz="2000" b="1">
                <a:solidFill>
                  <a:srgbClr val="218C97"/>
                </a:solidFill>
                <a:latin typeface="Avenir"/>
                <a:ea typeface="Avenir"/>
                <a:cs typeface="Avenir"/>
                <a:sym typeface="Avenir"/>
              </a:rPr>
              <a:t> </a:t>
            </a:r>
            <a:endParaRPr sz="2800" b="1">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37"/>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ca-ES" sz="2000" b="1"/>
              <a:t>FASE 3. </a:t>
            </a:r>
            <a:r>
              <a:rPr lang="ca-ES" sz="2000"/>
              <a:t>Classificació dels cadenats i tècniques generals</a:t>
            </a:r>
            <a:endParaRPr sz="2000" b="1"/>
          </a:p>
        </p:txBody>
      </p:sp>
      <p:sp>
        <p:nvSpPr>
          <p:cNvPr id="371" name="Google Shape;371;p37"/>
          <p:cNvSpPr txBox="1"/>
          <p:nvPr/>
        </p:nvSpPr>
        <p:spPr>
          <a:xfrm>
            <a:off x="671640" y="1549625"/>
            <a:ext cx="8016900" cy="2807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ca-ES" sz="2000" b="1">
                <a:solidFill>
                  <a:srgbClr val="218C97"/>
                </a:solidFill>
                <a:latin typeface="Avenir"/>
                <a:ea typeface="Avenir"/>
                <a:cs typeface="Avenir"/>
                <a:sym typeface="Avenir"/>
              </a:rPr>
              <a:t>PART 2. POSADA EN COMÚ</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ca-ES" sz="2000" b="1">
                <a:solidFill>
                  <a:srgbClr val="595959"/>
                </a:solidFill>
                <a:latin typeface="Avenir"/>
                <a:ea typeface="Avenir"/>
                <a:cs typeface="Avenir"/>
                <a:sym typeface="Avenir"/>
              </a:rPr>
              <a:t>Els docents guien la posada en comú dels diferents grups amb propostes sobre Q3. Veure exemples a continuació:</a:t>
            </a:r>
            <a:endParaRPr sz="2000" b="1">
              <a:solidFill>
                <a:srgbClr val="595959"/>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30000"/>
              </a:lnSpc>
              <a:spcBef>
                <a:spcPts val="0"/>
              </a:spcBef>
              <a:spcAft>
                <a:spcPts val="0"/>
              </a:spcAft>
              <a:buNone/>
            </a:pPr>
            <a:endParaRPr sz="2800" b="1">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p:txBody>
      </p:sp>
      <p:pic>
        <p:nvPicPr>
          <p:cNvPr id="372" name="Google Shape;372;p37"/>
          <p:cNvPicPr preferRelativeResize="0"/>
          <p:nvPr/>
        </p:nvPicPr>
        <p:blipFill>
          <a:blip r:embed="rId3">
            <a:alphaModFix/>
          </a:blip>
          <a:stretch>
            <a:fillRect/>
          </a:stretch>
        </p:blipFill>
        <p:spPr>
          <a:xfrm>
            <a:off x="413925" y="2990338"/>
            <a:ext cx="4010025" cy="3038425"/>
          </a:xfrm>
          <a:prstGeom prst="rect">
            <a:avLst/>
          </a:prstGeom>
          <a:noFill/>
          <a:ln>
            <a:noFill/>
          </a:ln>
        </p:spPr>
      </p:pic>
      <p:pic>
        <p:nvPicPr>
          <p:cNvPr id="373" name="Google Shape;373;p37"/>
          <p:cNvPicPr preferRelativeResize="0"/>
          <p:nvPr/>
        </p:nvPicPr>
        <p:blipFill>
          <a:blip r:embed="rId4">
            <a:alphaModFix/>
          </a:blip>
          <a:stretch>
            <a:fillRect/>
          </a:stretch>
        </p:blipFill>
        <p:spPr>
          <a:xfrm>
            <a:off x="4470550" y="3559950"/>
            <a:ext cx="4474875" cy="1818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8"/>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ca-ES" sz="2000" b="1"/>
              <a:t>FASE 3. </a:t>
            </a:r>
            <a:r>
              <a:rPr lang="ca-ES" sz="2000"/>
              <a:t>Classificació dels cadenats i tècniques generals</a:t>
            </a:r>
            <a:endParaRPr sz="2000" b="1"/>
          </a:p>
        </p:txBody>
      </p:sp>
      <p:pic>
        <p:nvPicPr>
          <p:cNvPr id="379" name="Google Shape;379;p38"/>
          <p:cNvPicPr preferRelativeResize="0"/>
          <p:nvPr/>
        </p:nvPicPr>
        <p:blipFill>
          <a:blip r:embed="rId3">
            <a:alphaModFix/>
          </a:blip>
          <a:stretch>
            <a:fillRect/>
          </a:stretch>
        </p:blipFill>
        <p:spPr>
          <a:xfrm>
            <a:off x="197475" y="1327753"/>
            <a:ext cx="8839199" cy="49925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9"/>
          <p:cNvSpPr txBox="1">
            <a:spLocks noGrp="1"/>
          </p:cNvSpPr>
          <p:nvPr>
            <p:ph type="body" idx="1"/>
          </p:nvPr>
        </p:nvSpPr>
        <p:spPr>
          <a:xfrm>
            <a:off x="266284" y="2042353"/>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ca-ES" sz="2800" b="1" i="1"/>
              <a:t>Q</a:t>
            </a:r>
            <a:r>
              <a:rPr lang="ca-ES" sz="2800" b="1" baseline="-25000"/>
              <a:t>4</a:t>
            </a:r>
            <a:r>
              <a:rPr lang="ca-ES" sz="2800" b="1"/>
              <a:t>: Funcionen aquests models per resoldre més problemes de comptar </a:t>
            </a:r>
            <a:endParaRPr sz="2800" b="1"/>
          </a:p>
          <a:p>
            <a:pPr marL="0" lvl="0" indent="0" algn="ctr" rtl="0">
              <a:lnSpc>
                <a:spcPct val="130000"/>
              </a:lnSpc>
              <a:spcBef>
                <a:spcPts val="600"/>
              </a:spcBef>
              <a:spcAft>
                <a:spcPts val="0"/>
              </a:spcAft>
              <a:buSzPts val="2800"/>
              <a:buNone/>
            </a:pPr>
            <a:r>
              <a:rPr lang="ca-ES" sz="2800" b="1"/>
              <a:t>en contextos diferents el dels cadenats?</a:t>
            </a:r>
            <a:endParaRPr sz="2800" b="1"/>
          </a:p>
        </p:txBody>
      </p:sp>
      <p:sp>
        <p:nvSpPr>
          <p:cNvPr id="386" name="Google Shape;386;p39"/>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sz="2000" b="1"/>
              <a:t>FASE 4. </a:t>
            </a:r>
            <a:r>
              <a:rPr lang="ca-ES" sz="2000"/>
              <a:t>Més enllà dels cadenats</a:t>
            </a:r>
            <a:endParaRPr/>
          </a:p>
        </p:txBody>
      </p:sp>
      <p:pic>
        <p:nvPicPr>
          <p:cNvPr id="387" name="Google Shape;387;p39" descr="A screenshot of a phone number&#10;&#10;Description automatically generated"/>
          <p:cNvPicPr preferRelativeResize="0"/>
          <p:nvPr/>
        </p:nvPicPr>
        <p:blipFill rotWithShape="1">
          <a:blip r:embed="rId3">
            <a:alphaModFix/>
          </a:blip>
          <a:srcRect/>
          <a:stretch/>
        </p:blipFill>
        <p:spPr>
          <a:xfrm rot="974582">
            <a:off x="1662352" y="4016858"/>
            <a:ext cx="926996" cy="1648012"/>
          </a:xfrm>
          <a:prstGeom prst="rect">
            <a:avLst/>
          </a:prstGeom>
          <a:noFill/>
          <a:ln>
            <a:noFill/>
          </a:ln>
          <a:effectLst>
            <a:outerShdw blurRad="190500" algn="tl" rotWithShape="0">
              <a:srgbClr val="000000">
                <a:alpha val="69410"/>
              </a:srgbClr>
            </a:outerShdw>
          </a:effectLst>
        </p:spPr>
      </p:pic>
      <p:pic>
        <p:nvPicPr>
          <p:cNvPr id="388" name="Google Shape;388;p39" descr="A screenshot of a video game&#10;&#10;Description automatically generated"/>
          <p:cNvPicPr preferRelativeResize="0"/>
          <p:nvPr/>
        </p:nvPicPr>
        <p:blipFill rotWithShape="1">
          <a:blip r:embed="rId4">
            <a:alphaModFix/>
          </a:blip>
          <a:srcRect/>
          <a:stretch/>
        </p:blipFill>
        <p:spPr>
          <a:xfrm>
            <a:off x="2934068" y="4352384"/>
            <a:ext cx="2541414" cy="1429866"/>
          </a:xfrm>
          <a:prstGeom prst="rect">
            <a:avLst/>
          </a:prstGeom>
          <a:noFill/>
          <a:ln>
            <a:noFill/>
          </a:ln>
          <a:effectLst>
            <a:outerShdw blurRad="190500" algn="tl" rotWithShape="0">
              <a:srgbClr val="000000">
                <a:alpha val="69410"/>
              </a:srgbClr>
            </a:outerShdw>
          </a:effectLst>
        </p:spPr>
      </p:pic>
      <p:pic>
        <p:nvPicPr>
          <p:cNvPr id="389" name="Google Shape;389;p39" descr="A tray of sandwiches on a table&#10;&#10;Description automatically generated"/>
          <p:cNvPicPr preferRelativeResize="0"/>
          <p:nvPr/>
        </p:nvPicPr>
        <p:blipFill rotWithShape="1">
          <a:blip r:embed="rId5">
            <a:alphaModFix/>
          </a:blip>
          <a:srcRect/>
          <a:stretch/>
        </p:blipFill>
        <p:spPr>
          <a:xfrm>
            <a:off x="5794628" y="4185849"/>
            <a:ext cx="2207832" cy="1569259"/>
          </a:xfrm>
          <a:prstGeom prst="rect">
            <a:avLst/>
          </a:prstGeom>
          <a:noFill/>
          <a:ln>
            <a:noFill/>
          </a:ln>
          <a:effectLst>
            <a:outerShdw blurRad="190500" algn="tl" rotWithShape="0">
              <a:srgbClr val="000000">
                <a:alpha val="6941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0"/>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ca-ES" sz="2000" b="1"/>
              <a:t>FASE 4. </a:t>
            </a:r>
            <a:r>
              <a:rPr lang="ca-ES" sz="2000"/>
              <a:t>Més enllà dels cadenats</a:t>
            </a:r>
            <a:endParaRPr sz="2000" b="1"/>
          </a:p>
        </p:txBody>
      </p:sp>
      <p:pic>
        <p:nvPicPr>
          <p:cNvPr id="395" name="Google Shape;395;p40" descr="Free Vectors | whiteboard frame"/>
          <p:cNvPicPr preferRelativeResize="0"/>
          <p:nvPr/>
        </p:nvPicPr>
        <p:blipFill rotWithShape="1">
          <a:blip r:embed="rId3">
            <a:alphaModFix/>
          </a:blip>
          <a:srcRect/>
          <a:stretch/>
        </p:blipFill>
        <p:spPr>
          <a:xfrm>
            <a:off x="829314" y="1951052"/>
            <a:ext cx="7370819" cy="4547700"/>
          </a:xfrm>
          <a:prstGeom prst="rect">
            <a:avLst/>
          </a:prstGeom>
          <a:noFill/>
          <a:ln>
            <a:noFill/>
          </a:ln>
        </p:spPr>
      </p:pic>
      <p:sp>
        <p:nvSpPr>
          <p:cNvPr id="396" name="Google Shape;396;p40"/>
          <p:cNvSpPr/>
          <p:nvPr/>
        </p:nvSpPr>
        <p:spPr>
          <a:xfrm>
            <a:off x="1303500" y="2571634"/>
            <a:ext cx="3413711" cy="2862322"/>
          </a:xfrm>
          <a:custGeom>
            <a:avLst/>
            <a:gdLst/>
            <a:ahLst/>
            <a:cxnLst/>
            <a:rect l="l" t="t" r="r" b="b"/>
            <a:pathLst>
              <a:path w="3413711" h="2862322"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73814" y="242874"/>
                  <a:pt x="3398244" y="370313"/>
                  <a:pt x="3413711" y="515218"/>
                </a:cubicBezTo>
                <a:cubicBezTo>
                  <a:pt x="3429178" y="660123"/>
                  <a:pt x="3396918" y="841915"/>
                  <a:pt x="3413711" y="1001813"/>
                </a:cubicBezTo>
                <a:cubicBezTo>
                  <a:pt x="3430504" y="1161711"/>
                  <a:pt x="3390539" y="1360379"/>
                  <a:pt x="3413711" y="1574277"/>
                </a:cubicBezTo>
                <a:cubicBezTo>
                  <a:pt x="3436883" y="1788175"/>
                  <a:pt x="3352309" y="1967553"/>
                  <a:pt x="3413711" y="2146742"/>
                </a:cubicBezTo>
                <a:cubicBezTo>
                  <a:pt x="3475113" y="2325931"/>
                  <a:pt x="3402509" y="2542249"/>
                  <a:pt x="3413711" y="2862322"/>
                </a:cubicBezTo>
                <a:cubicBezTo>
                  <a:pt x="3110585" y="2918538"/>
                  <a:pt x="2905285" y="2804638"/>
                  <a:pt x="2776485" y="2862322"/>
                </a:cubicBezTo>
                <a:cubicBezTo>
                  <a:pt x="2647685" y="2920006"/>
                  <a:pt x="2502438" y="2811163"/>
                  <a:pt x="2275807" y="2862322"/>
                </a:cubicBezTo>
                <a:cubicBezTo>
                  <a:pt x="2049176" y="2913481"/>
                  <a:pt x="1953739" y="2853287"/>
                  <a:pt x="1809267" y="2862322"/>
                </a:cubicBezTo>
                <a:cubicBezTo>
                  <a:pt x="1664795" y="2871357"/>
                  <a:pt x="1348055" y="2817252"/>
                  <a:pt x="1206178" y="2862322"/>
                </a:cubicBezTo>
                <a:cubicBezTo>
                  <a:pt x="1064301" y="2907392"/>
                  <a:pt x="857246" y="2827634"/>
                  <a:pt x="568952" y="2862322"/>
                </a:cubicBezTo>
                <a:cubicBezTo>
                  <a:pt x="280658" y="2897010"/>
                  <a:pt x="188402" y="2805162"/>
                  <a:pt x="0" y="2862322"/>
                </a:cubicBezTo>
                <a:cubicBezTo>
                  <a:pt x="-70351" y="2574628"/>
                  <a:pt x="66825" y="2369775"/>
                  <a:pt x="0" y="2232611"/>
                </a:cubicBezTo>
                <a:cubicBezTo>
                  <a:pt x="-66825" y="2095447"/>
                  <a:pt x="20045" y="1826206"/>
                  <a:pt x="0" y="1631524"/>
                </a:cubicBezTo>
                <a:cubicBezTo>
                  <a:pt x="-20045" y="1436842"/>
                  <a:pt x="684" y="1255787"/>
                  <a:pt x="0" y="1059059"/>
                </a:cubicBezTo>
                <a:cubicBezTo>
                  <a:pt x="-684" y="862332"/>
                  <a:pt x="49780" y="694048"/>
                  <a:pt x="0" y="572464"/>
                </a:cubicBezTo>
                <a:cubicBezTo>
                  <a:pt x="-49780" y="450880"/>
                  <a:pt x="22387" y="1494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ca-ES" sz="2000" b="1" i="0" u="none" strike="noStrike" cap="none">
                <a:solidFill>
                  <a:srgbClr val="7030A0"/>
                </a:solidFill>
                <a:latin typeface="Avenir"/>
                <a:ea typeface="Avenir"/>
                <a:cs typeface="Avenir"/>
                <a:sym typeface="Avenir"/>
              </a:rPr>
              <a:t>Triar el nombre pin d'un telèfon mòbil format per 4 dígits?</a:t>
            </a:r>
            <a:endParaRPr sz="1400" b="1"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ca-ES" sz="2000" b="1" i="0" u="none" strike="noStrike" cap="none">
                <a:solidFill>
                  <a:srgbClr val="7030A0"/>
                </a:solidFill>
                <a:latin typeface="Avenir"/>
                <a:ea typeface="Avenir"/>
                <a:cs typeface="Avenir"/>
                <a:sym typeface="Avenir"/>
              </a:rPr>
              <a:t>Fer creus de partits de futbol si hi ha 20 equips i tots han de jugar contra tots a l'anada i a la tornada?</a:t>
            </a:r>
            <a:endParaRPr sz="1400" b="1" i="0" u="none" strike="noStrike" cap="none">
              <a:solidFill>
                <a:srgbClr val="000000"/>
              </a:solidFill>
              <a:latin typeface="Avenir"/>
              <a:ea typeface="Avenir"/>
              <a:cs typeface="Avenir"/>
              <a:sym typeface="Avenir"/>
            </a:endParaRPr>
          </a:p>
        </p:txBody>
      </p:sp>
      <p:pic>
        <p:nvPicPr>
          <p:cNvPr id="397" name="Google Shape;397;p40" descr="A screenshot of a phone number&#10;&#10;Description automatically generated"/>
          <p:cNvPicPr preferRelativeResize="0"/>
          <p:nvPr/>
        </p:nvPicPr>
        <p:blipFill rotWithShape="1">
          <a:blip r:embed="rId4">
            <a:alphaModFix/>
          </a:blip>
          <a:srcRect/>
          <a:stretch/>
        </p:blipFill>
        <p:spPr>
          <a:xfrm rot="974568">
            <a:off x="5630193" y="2324497"/>
            <a:ext cx="769715" cy="1368383"/>
          </a:xfrm>
          <a:prstGeom prst="rect">
            <a:avLst/>
          </a:prstGeom>
          <a:noFill/>
          <a:ln>
            <a:noFill/>
          </a:ln>
          <a:effectLst>
            <a:outerShdw blurRad="190500" algn="tl" rotWithShape="0">
              <a:srgbClr val="000000">
                <a:alpha val="69410"/>
              </a:srgbClr>
            </a:outerShdw>
          </a:effectLst>
        </p:spPr>
      </p:pic>
      <p:pic>
        <p:nvPicPr>
          <p:cNvPr id="398" name="Google Shape;398;p40" descr="A screenshot of a video game&#10;&#10;Description automatically generated"/>
          <p:cNvPicPr preferRelativeResize="0"/>
          <p:nvPr/>
        </p:nvPicPr>
        <p:blipFill rotWithShape="1">
          <a:blip r:embed="rId5">
            <a:alphaModFix/>
          </a:blip>
          <a:srcRect/>
          <a:stretch/>
        </p:blipFill>
        <p:spPr>
          <a:xfrm>
            <a:off x="5025405" y="4197334"/>
            <a:ext cx="2541414" cy="1429866"/>
          </a:xfrm>
          <a:prstGeom prst="rect">
            <a:avLst/>
          </a:prstGeom>
          <a:noFill/>
          <a:ln>
            <a:noFill/>
          </a:ln>
          <a:effectLst>
            <a:outerShdw blurRad="190500" algn="tl" rotWithShape="0">
              <a:srgbClr val="000000">
                <a:alpha val="69410"/>
              </a:srgbClr>
            </a:outerShdw>
          </a:effectLst>
        </p:spPr>
      </p:pic>
      <p:sp>
        <p:nvSpPr>
          <p:cNvPr id="399" name="Google Shape;399;p40"/>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sz="2000" b="1"/>
              <a:t>Q</a:t>
            </a:r>
            <a:r>
              <a:rPr lang="ca-ES" b="1"/>
              <a:t>4</a:t>
            </a:r>
            <a:r>
              <a:rPr lang="ca-ES" sz="2000" b="1"/>
              <a:t>: </a:t>
            </a:r>
            <a:r>
              <a:rPr lang="ca-ES" b="1"/>
              <a:t>Funcionen aquests models per resoldre més problemes de comptar en contextos diferents el dels cadenats?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1"/>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ca-ES" sz="2000" b="1"/>
              <a:t>FASE 4. </a:t>
            </a:r>
            <a:r>
              <a:rPr lang="ca-ES" sz="2000"/>
              <a:t>Més enllà dels cadenats</a:t>
            </a:r>
            <a:endParaRPr sz="2000" b="1"/>
          </a:p>
        </p:txBody>
      </p:sp>
      <p:pic>
        <p:nvPicPr>
          <p:cNvPr id="405" name="Google Shape;405;p41" descr="Free Vectors | whiteboard frame"/>
          <p:cNvPicPr preferRelativeResize="0"/>
          <p:nvPr/>
        </p:nvPicPr>
        <p:blipFill rotWithShape="1">
          <a:blip r:embed="rId3">
            <a:alphaModFix/>
          </a:blip>
          <a:srcRect/>
          <a:stretch/>
        </p:blipFill>
        <p:spPr>
          <a:xfrm>
            <a:off x="753089" y="1864952"/>
            <a:ext cx="7370819" cy="4547700"/>
          </a:xfrm>
          <a:prstGeom prst="rect">
            <a:avLst/>
          </a:prstGeom>
          <a:noFill/>
          <a:ln>
            <a:noFill/>
          </a:ln>
        </p:spPr>
      </p:pic>
      <p:sp>
        <p:nvSpPr>
          <p:cNvPr id="406" name="Google Shape;406;p41"/>
          <p:cNvSpPr/>
          <p:nvPr/>
        </p:nvSpPr>
        <p:spPr>
          <a:xfrm>
            <a:off x="1245325" y="2620784"/>
            <a:ext cx="3413711" cy="2246769"/>
          </a:xfrm>
          <a:custGeom>
            <a:avLst/>
            <a:gdLst/>
            <a:ahLst/>
            <a:cxnLst/>
            <a:rect l="l" t="t" r="r" b="b"/>
            <a:pathLst>
              <a:path w="3413711" h="2246769"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46506" y="210791"/>
                  <a:pt x="3393346" y="301379"/>
                  <a:pt x="3413711" y="516757"/>
                </a:cubicBezTo>
                <a:cubicBezTo>
                  <a:pt x="3434076" y="732135"/>
                  <a:pt x="3372360" y="801077"/>
                  <a:pt x="3413711" y="1011046"/>
                </a:cubicBezTo>
                <a:cubicBezTo>
                  <a:pt x="3455062" y="1221015"/>
                  <a:pt x="3389144" y="1319738"/>
                  <a:pt x="3413711" y="1572738"/>
                </a:cubicBezTo>
                <a:cubicBezTo>
                  <a:pt x="3438278" y="1825738"/>
                  <a:pt x="3391041" y="1960458"/>
                  <a:pt x="3413711" y="2246769"/>
                </a:cubicBezTo>
                <a:cubicBezTo>
                  <a:pt x="3188820" y="2293142"/>
                  <a:pt x="3111127" y="2231480"/>
                  <a:pt x="2947170" y="2246769"/>
                </a:cubicBezTo>
                <a:cubicBezTo>
                  <a:pt x="2783213" y="2262058"/>
                  <a:pt x="2648706" y="2246164"/>
                  <a:pt x="2378219" y="2246769"/>
                </a:cubicBezTo>
                <a:cubicBezTo>
                  <a:pt x="2107732" y="2247374"/>
                  <a:pt x="2104172" y="2195610"/>
                  <a:pt x="1877541" y="2246769"/>
                </a:cubicBezTo>
                <a:cubicBezTo>
                  <a:pt x="1650910" y="2297928"/>
                  <a:pt x="1555473" y="2237734"/>
                  <a:pt x="1411001" y="2246769"/>
                </a:cubicBezTo>
                <a:cubicBezTo>
                  <a:pt x="1266529" y="2255804"/>
                  <a:pt x="949789" y="2201699"/>
                  <a:pt x="807912" y="2246769"/>
                </a:cubicBezTo>
                <a:cubicBezTo>
                  <a:pt x="666035" y="2291839"/>
                  <a:pt x="389055" y="2200483"/>
                  <a:pt x="0" y="2246769"/>
                </a:cubicBezTo>
                <a:cubicBezTo>
                  <a:pt x="-30562" y="2063364"/>
                  <a:pt x="10697" y="1800222"/>
                  <a:pt x="0" y="1685077"/>
                </a:cubicBezTo>
                <a:cubicBezTo>
                  <a:pt x="-10697" y="1569932"/>
                  <a:pt x="47524" y="1290874"/>
                  <a:pt x="0" y="1078449"/>
                </a:cubicBezTo>
                <a:cubicBezTo>
                  <a:pt x="-47524" y="866024"/>
                  <a:pt x="11897" y="714190"/>
                  <a:pt x="0" y="494289"/>
                </a:cubicBezTo>
                <a:cubicBezTo>
                  <a:pt x="-11897" y="274388"/>
                  <a:pt x="51914" y="1793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ca-ES" sz="2000" b="1" i="0" u="none" strike="noStrike" cap="none">
                <a:solidFill>
                  <a:srgbClr val="7030A0"/>
                </a:solidFill>
                <a:latin typeface="Avenir"/>
                <a:ea typeface="Avenir"/>
                <a:cs typeface="Avenir"/>
                <a:sym typeface="Avenir"/>
              </a:rPr>
              <a:t>Fer seure 5 amics en un cotxe si n'hi ha 2 amb carnet?</a:t>
            </a:r>
            <a:endParaRPr sz="14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ca-ES" sz="2000" b="1" i="0" u="none" strike="noStrike" cap="none">
                <a:solidFill>
                  <a:srgbClr val="7030A0"/>
                </a:solidFill>
                <a:latin typeface="Avenir"/>
                <a:ea typeface="Avenir"/>
                <a:cs typeface="Avenir"/>
                <a:sym typeface="Avenir"/>
              </a:rPr>
              <a:t>Maneres d'escollir 3 entrepans diferents d'un total de 6 tipus d'entrepans?</a:t>
            </a:r>
            <a:endParaRPr sz="1400" i="0" u="none" strike="noStrike" cap="none">
              <a:solidFill>
                <a:srgbClr val="000000"/>
              </a:solidFill>
              <a:latin typeface="Avenir"/>
              <a:ea typeface="Avenir"/>
              <a:cs typeface="Avenir"/>
              <a:sym typeface="Avenir"/>
            </a:endParaRPr>
          </a:p>
        </p:txBody>
      </p:sp>
      <p:pic>
        <p:nvPicPr>
          <p:cNvPr id="407" name="Google Shape;407;p41" descr="The top view of a car&#10;&#10;Description automatically generated"/>
          <p:cNvPicPr preferRelativeResize="0"/>
          <p:nvPr/>
        </p:nvPicPr>
        <p:blipFill rotWithShape="1">
          <a:blip r:embed="rId4">
            <a:alphaModFix/>
          </a:blip>
          <a:srcRect/>
          <a:stretch/>
        </p:blipFill>
        <p:spPr>
          <a:xfrm>
            <a:off x="4930517" y="2506839"/>
            <a:ext cx="2626995" cy="1360789"/>
          </a:xfrm>
          <a:prstGeom prst="rect">
            <a:avLst/>
          </a:prstGeom>
          <a:noFill/>
          <a:ln>
            <a:noFill/>
          </a:ln>
        </p:spPr>
      </p:pic>
      <p:pic>
        <p:nvPicPr>
          <p:cNvPr id="408" name="Google Shape;408;p41" descr="A tray of sandwiches on a table&#10;&#10;Description automatically generated"/>
          <p:cNvPicPr preferRelativeResize="0"/>
          <p:nvPr/>
        </p:nvPicPr>
        <p:blipFill rotWithShape="1">
          <a:blip r:embed="rId5">
            <a:alphaModFix/>
          </a:blip>
          <a:srcRect/>
          <a:stretch/>
        </p:blipFill>
        <p:spPr>
          <a:xfrm>
            <a:off x="5190453" y="4084349"/>
            <a:ext cx="2207832" cy="1569259"/>
          </a:xfrm>
          <a:prstGeom prst="rect">
            <a:avLst/>
          </a:prstGeom>
          <a:noFill/>
          <a:ln>
            <a:noFill/>
          </a:ln>
          <a:effectLst>
            <a:outerShdw blurRad="190500" algn="tl" rotWithShape="0">
              <a:srgbClr val="000000">
                <a:alpha val="69410"/>
              </a:srgbClr>
            </a:outerShdw>
          </a:effectLst>
        </p:spPr>
      </p:pic>
      <p:sp>
        <p:nvSpPr>
          <p:cNvPr id="409" name="Google Shape;409;p41"/>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sz="2000" b="1"/>
              <a:t>Q</a:t>
            </a:r>
            <a:r>
              <a:rPr lang="ca-ES" b="1"/>
              <a:t>4</a:t>
            </a:r>
            <a:r>
              <a:rPr lang="ca-ES" sz="2000" b="1"/>
              <a:t>: </a:t>
            </a:r>
            <a:r>
              <a:rPr lang="ca-ES" b="1"/>
              <a:t>Funcionen aquests models per resoldre més problemes de comptar en contextos diferents el dels cadenats?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14"/>
        <p:cNvGrpSpPr/>
        <p:nvPr/>
      </p:nvGrpSpPr>
      <p:grpSpPr>
        <a:xfrm>
          <a:off x="0" y="0"/>
          <a:ext cx="0" cy="0"/>
          <a:chOff x="0" y="0"/>
          <a:chExt cx="0" cy="0"/>
        </a:xfrm>
      </p:grpSpPr>
      <p:sp>
        <p:nvSpPr>
          <p:cNvPr id="415" name="Google Shape;415;p42"/>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ca-ES" sz="2800" b="1" i="1"/>
              <a:t>Q</a:t>
            </a:r>
            <a:r>
              <a:rPr lang="ca-ES" sz="2800" b="1" baseline="-25000"/>
              <a:t>3</a:t>
            </a:r>
            <a:r>
              <a:rPr lang="ca-ES" sz="2800" b="1"/>
              <a:t>: Com crear contrasenyes segures?</a:t>
            </a:r>
            <a:endParaRPr/>
          </a:p>
          <a:p>
            <a:pPr marL="228600" lvl="0" indent="-101600" algn="l" rtl="0">
              <a:lnSpc>
                <a:spcPct val="130000"/>
              </a:lnSpc>
              <a:spcBef>
                <a:spcPts val="600"/>
              </a:spcBef>
              <a:spcAft>
                <a:spcPts val="0"/>
              </a:spcAft>
              <a:buSzPts val="2000"/>
              <a:buNone/>
            </a:pPr>
            <a:endParaRPr/>
          </a:p>
        </p:txBody>
      </p:sp>
      <p:sp>
        <p:nvSpPr>
          <p:cNvPr id="416" name="Google Shape;416;p42"/>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ca-ES" b="1"/>
              <a:t>FASE Opcional. </a:t>
            </a:r>
            <a:r>
              <a:rPr lang="ca-ES"/>
              <a:t>Fem de hackers!</a:t>
            </a:r>
            <a:endParaRPr b="1"/>
          </a:p>
        </p:txBody>
      </p:sp>
      <p:pic>
        <p:nvPicPr>
          <p:cNvPr id="417" name="Google Shape;417;p42"/>
          <p:cNvPicPr preferRelativeResize="0"/>
          <p:nvPr/>
        </p:nvPicPr>
        <p:blipFill>
          <a:blip r:embed="rId3">
            <a:alphaModFix/>
          </a:blip>
          <a:stretch>
            <a:fillRect/>
          </a:stretch>
        </p:blipFill>
        <p:spPr>
          <a:xfrm>
            <a:off x="2131963" y="2753786"/>
            <a:ext cx="4880066" cy="2476864"/>
          </a:xfrm>
          <a:prstGeom prst="rect">
            <a:avLst/>
          </a:prstGeom>
          <a:noFill/>
          <a:ln w="9525" cap="flat" cmpd="sng">
            <a:solidFill>
              <a:srgbClr val="CC0000"/>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421"/>
        <p:cNvGrpSpPr/>
        <p:nvPr/>
      </p:nvGrpSpPr>
      <p:grpSpPr>
        <a:xfrm>
          <a:off x="0" y="0"/>
          <a:ext cx="0" cy="0"/>
          <a:chOff x="0" y="0"/>
          <a:chExt cx="0" cy="0"/>
        </a:xfrm>
      </p:grpSpPr>
      <p:sp>
        <p:nvSpPr>
          <p:cNvPr id="422" name="Google Shape;422;p43"/>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ca-ES" b="1">
                <a:solidFill>
                  <a:srgbClr val="000000"/>
                </a:solidFill>
              </a:rPr>
              <a:t>Comparem contrasenyes</a:t>
            </a:r>
            <a:endParaRPr sz="2000" b="1">
              <a:solidFill>
                <a:srgbClr val="000000"/>
              </a:solidFill>
            </a:endParaRPr>
          </a:p>
          <a:p>
            <a:pPr marL="457200" marR="0" lvl="0" indent="0" algn="l" rtl="0">
              <a:lnSpc>
                <a:spcPct val="130000"/>
              </a:lnSpc>
              <a:spcBef>
                <a:spcPts val="0"/>
              </a:spcBef>
              <a:spcAft>
                <a:spcPts val="0"/>
              </a:spcAft>
              <a:buNone/>
            </a:pPr>
            <a:endParaRPr sz="700">
              <a:solidFill>
                <a:srgbClr val="000000"/>
              </a:solidFill>
            </a:endParaRPr>
          </a:p>
          <a:p>
            <a:pPr marL="457200" marR="0" lvl="0" indent="0" algn="l" rtl="0">
              <a:lnSpc>
                <a:spcPct val="130000"/>
              </a:lnSpc>
              <a:spcBef>
                <a:spcPts val="0"/>
              </a:spcBef>
              <a:spcAft>
                <a:spcPts val="0"/>
              </a:spcAft>
              <a:buNone/>
            </a:pPr>
            <a:r>
              <a:rPr lang="ca-ES" sz="2000">
                <a:solidFill>
                  <a:srgbClr val="000000"/>
                </a:solidFill>
              </a:rPr>
              <a:t>Quan hem de crear contrasenyes, ens trobem amb diferents indicacions segons l’aplicació o la web. </a:t>
            </a:r>
            <a:endParaRPr sz="2000">
              <a:solidFill>
                <a:srgbClr val="000000"/>
              </a:solidFill>
            </a:endParaRPr>
          </a:p>
          <a:p>
            <a:pPr marL="914400" marR="0" lvl="1" indent="-342900" algn="l" rtl="0">
              <a:lnSpc>
                <a:spcPct val="130000"/>
              </a:lnSpc>
              <a:spcBef>
                <a:spcPts val="0"/>
              </a:spcBef>
              <a:spcAft>
                <a:spcPts val="0"/>
              </a:spcAft>
              <a:buSzPts val="1800"/>
              <a:buChar char="▪"/>
            </a:pPr>
            <a:r>
              <a:rPr lang="ca-ES" sz="2000">
                <a:solidFill>
                  <a:srgbClr val="000000"/>
                </a:solidFill>
              </a:rPr>
              <a:t>Quines us semblen més segures? Per què?</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23" name="Google Shape;423;p4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ca-ES" b="1"/>
              <a:t>FASE Opcional. </a:t>
            </a:r>
            <a:r>
              <a:rPr lang="ca-ES"/>
              <a:t>Fem de hackers!</a:t>
            </a:r>
            <a:endParaRPr sz="2000" b="1"/>
          </a:p>
        </p:txBody>
      </p:sp>
      <p:sp>
        <p:nvSpPr>
          <p:cNvPr id="424" name="Google Shape;424;p43"/>
          <p:cNvSpPr txBox="1"/>
          <p:nvPr/>
        </p:nvSpPr>
        <p:spPr>
          <a:xfrm>
            <a:off x="700700" y="3429000"/>
            <a:ext cx="1830300" cy="714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PUK MÒBIL</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 8 números</a:t>
            </a:r>
            <a:endParaRPr sz="1600">
              <a:solidFill>
                <a:schemeClr val="dk1"/>
              </a:solidFill>
              <a:latin typeface="Avenir"/>
              <a:ea typeface="Avenir"/>
              <a:cs typeface="Avenir"/>
              <a:sym typeface="Avenir"/>
            </a:endParaRPr>
          </a:p>
        </p:txBody>
      </p:sp>
      <p:sp>
        <p:nvSpPr>
          <p:cNvPr id="425" name="Google Shape;425;p43"/>
          <p:cNvSpPr txBox="1"/>
          <p:nvPr/>
        </p:nvSpPr>
        <p:spPr>
          <a:xfrm>
            <a:off x="6449800" y="3601225"/>
            <a:ext cx="2325600" cy="15639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CORREU INSTITUT</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 8 elements mínim, alfanumèrics, mínim una majúscula i un caràcter especial</a:t>
            </a:r>
            <a:endParaRPr sz="1600">
              <a:solidFill>
                <a:schemeClr val="dk1"/>
              </a:solidFill>
              <a:latin typeface="Avenir"/>
              <a:ea typeface="Avenir"/>
              <a:cs typeface="Avenir"/>
              <a:sym typeface="Avenir"/>
            </a:endParaRPr>
          </a:p>
        </p:txBody>
      </p:sp>
      <p:sp>
        <p:nvSpPr>
          <p:cNvPr id="426" name="Google Shape;426;p43"/>
          <p:cNvSpPr txBox="1"/>
          <p:nvPr/>
        </p:nvSpPr>
        <p:spPr>
          <a:xfrm>
            <a:off x="3402838" y="3601225"/>
            <a:ext cx="2650800" cy="19509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700">
                <a:solidFill>
                  <a:schemeClr val="dk1"/>
                </a:solidFill>
                <a:latin typeface="Avenir"/>
                <a:ea typeface="Avenir"/>
                <a:cs typeface="Avenir"/>
                <a:sym typeface="Avenir"/>
              </a:rPr>
              <a:t>GMAIL                            8 elements mínim amb lletres majúscules, minúscules, números i  caràcters especials (com es vulgui)</a:t>
            </a:r>
            <a:endParaRPr sz="1700">
              <a:solidFill>
                <a:schemeClr val="dk1"/>
              </a:solidFill>
              <a:latin typeface="Avenir"/>
              <a:ea typeface="Avenir"/>
              <a:cs typeface="Avenir"/>
              <a:sym typeface="Avenir"/>
            </a:endParaRPr>
          </a:p>
        </p:txBody>
      </p:sp>
      <p:sp>
        <p:nvSpPr>
          <p:cNvPr id="427" name="Google Shape;427;p43"/>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ES" sz="2000" b="1">
                <a:solidFill>
                  <a:srgbClr val="218C97"/>
                </a:solidFill>
                <a:latin typeface="Avenir"/>
                <a:ea typeface="Avenir"/>
                <a:cs typeface="Avenir"/>
                <a:sym typeface="Avenir"/>
              </a:rPr>
              <a:t>DISCUTIU-HO EN EL GRUP I PREPAREM UNA POSADA EN COMÚ</a:t>
            </a:r>
            <a:endParaRPr sz="2000" b="1">
              <a:solidFill>
                <a:srgbClr val="218C97"/>
              </a:solidFill>
              <a:latin typeface="Avenir"/>
              <a:ea typeface="Avenir"/>
              <a:cs typeface="Avenir"/>
              <a:sym typeface="Avenir"/>
            </a:endParaRPr>
          </a:p>
        </p:txBody>
      </p:sp>
      <p:sp>
        <p:nvSpPr>
          <p:cNvPr id="428" name="Google Shape;428;p43"/>
          <p:cNvSpPr txBox="1"/>
          <p:nvPr/>
        </p:nvSpPr>
        <p:spPr>
          <a:xfrm>
            <a:off x="700700" y="4345750"/>
            <a:ext cx="2268300" cy="12807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CORREU INFANTIL    8 elements, 4 lletres majúscules seguides de 4 números</a:t>
            </a:r>
            <a:endParaRPr sz="1600">
              <a:solidFill>
                <a:schemeClr val="dk1"/>
              </a:solidFill>
              <a:latin typeface="Avenir"/>
              <a:ea typeface="Avenir"/>
              <a:cs typeface="Avenir"/>
              <a:sym typeface="Avenir"/>
            </a:endParaRPr>
          </a:p>
        </p:txBody>
      </p:sp>
      <p:sp>
        <p:nvSpPr>
          <p:cNvPr id="429" name="Google Shape;429;p43"/>
          <p:cNvSpPr txBox="1"/>
          <p:nvPr/>
        </p:nvSpPr>
        <p:spPr>
          <a:xfrm>
            <a:off x="6487500" y="5304000"/>
            <a:ext cx="2268300" cy="7143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PIN BANC</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8 lletres minúscules</a:t>
            </a:r>
            <a:endParaRPr sz="1600">
              <a:solidFill>
                <a:schemeClr val="dk1"/>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33"/>
        <p:cNvGrpSpPr/>
        <p:nvPr/>
      </p:nvGrpSpPr>
      <p:grpSpPr>
        <a:xfrm>
          <a:off x="0" y="0"/>
          <a:ext cx="0" cy="0"/>
          <a:chOff x="0" y="0"/>
          <a:chExt cx="0" cy="0"/>
        </a:xfrm>
      </p:grpSpPr>
      <p:sp>
        <p:nvSpPr>
          <p:cNvPr id="434" name="Google Shape;434;p44"/>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ca-ES" sz="2000" b="1">
                <a:solidFill>
                  <a:srgbClr val="000000"/>
                </a:solidFill>
              </a:rPr>
              <a:t>Com crear una contrasenya segura?</a:t>
            </a:r>
            <a:endParaRPr sz="2000" b="1">
              <a:solidFill>
                <a:srgbClr val="000000"/>
              </a:solidFill>
            </a:endParaRPr>
          </a:p>
          <a:p>
            <a:pPr marL="457200" marR="0" lvl="0" indent="0" algn="l" rtl="0">
              <a:lnSpc>
                <a:spcPct val="130000"/>
              </a:lnSpc>
              <a:spcBef>
                <a:spcPts val="0"/>
              </a:spcBef>
              <a:spcAft>
                <a:spcPts val="0"/>
              </a:spcAft>
              <a:buNone/>
            </a:pPr>
            <a:endParaRPr>
              <a:solidFill>
                <a:srgbClr val="000000"/>
              </a:solidFill>
            </a:endParaRPr>
          </a:p>
          <a:p>
            <a:pPr marL="457200" marR="0" lvl="0" indent="0" algn="l" rtl="0">
              <a:lnSpc>
                <a:spcPct val="130000"/>
              </a:lnSpc>
              <a:spcBef>
                <a:spcPts val="0"/>
              </a:spcBef>
              <a:spcAft>
                <a:spcPts val="0"/>
              </a:spcAft>
              <a:buNone/>
            </a:pPr>
            <a:r>
              <a:rPr lang="ca-ES" sz="2000">
                <a:solidFill>
                  <a:srgbClr val="000000"/>
                </a:solidFill>
              </a:rPr>
              <a:t>Quan hem de crear contrasenyes, ens trobem amb diferents indicacions segons l’aplicació o la web. </a:t>
            </a:r>
            <a:endParaRPr sz="2000">
              <a:solidFill>
                <a:srgbClr val="000000"/>
              </a:solidFill>
            </a:endParaRPr>
          </a:p>
          <a:p>
            <a:pPr marL="914400" marR="0" lvl="1" indent="-342900" algn="l" rtl="0">
              <a:lnSpc>
                <a:spcPct val="130000"/>
              </a:lnSpc>
              <a:spcBef>
                <a:spcPts val="0"/>
              </a:spcBef>
              <a:spcAft>
                <a:spcPts val="0"/>
              </a:spcAft>
              <a:buSzPts val="1800"/>
              <a:buChar char="▪"/>
            </a:pPr>
            <a:r>
              <a:rPr lang="ca-ES" sz="2000">
                <a:solidFill>
                  <a:srgbClr val="000000"/>
                </a:solidFill>
              </a:rPr>
              <a:t>Quines us semblen més segures? Per què?</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35" name="Google Shape;435;p4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ca-ES" b="1"/>
              <a:t>FASE Opcional. </a:t>
            </a:r>
            <a:r>
              <a:rPr lang="ca-ES"/>
              <a:t>Fem de hackers!</a:t>
            </a:r>
            <a:endParaRPr sz="2000" b="1"/>
          </a:p>
        </p:txBody>
      </p:sp>
      <p:sp>
        <p:nvSpPr>
          <p:cNvPr id="436" name="Google Shape;436;p44"/>
          <p:cNvSpPr txBox="1"/>
          <p:nvPr/>
        </p:nvSpPr>
        <p:spPr>
          <a:xfrm>
            <a:off x="700700" y="3429000"/>
            <a:ext cx="1830300" cy="6480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a:solidFill>
                  <a:schemeClr val="dk1"/>
                </a:solidFill>
                <a:latin typeface="Avenir"/>
                <a:ea typeface="Avenir"/>
                <a:cs typeface="Avenir"/>
                <a:sym typeface="Avenir"/>
              </a:rPr>
              <a:t>PUK MÒBIL</a:t>
            </a:r>
            <a:br>
              <a:rPr lang="ca-ES">
                <a:solidFill>
                  <a:schemeClr val="dk1"/>
                </a:solidFill>
                <a:latin typeface="Avenir"/>
                <a:ea typeface="Avenir"/>
                <a:cs typeface="Avenir"/>
                <a:sym typeface="Avenir"/>
              </a:rPr>
            </a:br>
            <a:r>
              <a:rPr lang="ca-ES">
                <a:solidFill>
                  <a:schemeClr val="dk1"/>
                </a:solidFill>
                <a:latin typeface="Avenir"/>
                <a:ea typeface="Avenir"/>
                <a:cs typeface="Avenir"/>
                <a:sym typeface="Avenir"/>
              </a:rPr>
              <a:t> 8 números</a:t>
            </a:r>
            <a:endParaRPr>
              <a:solidFill>
                <a:schemeClr val="dk1"/>
              </a:solidFill>
              <a:latin typeface="Avenir"/>
              <a:ea typeface="Avenir"/>
              <a:cs typeface="Avenir"/>
              <a:sym typeface="Avenir"/>
            </a:endParaRPr>
          </a:p>
        </p:txBody>
      </p:sp>
      <p:sp>
        <p:nvSpPr>
          <p:cNvPr id="437" name="Google Shape;437;p44"/>
          <p:cNvSpPr txBox="1"/>
          <p:nvPr/>
        </p:nvSpPr>
        <p:spPr>
          <a:xfrm>
            <a:off x="700700" y="4365625"/>
            <a:ext cx="2325600" cy="13914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a:solidFill>
                  <a:schemeClr val="dk1"/>
                </a:solidFill>
                <a:latin typeface="Avenir"/>
                <a:ea typeface="Avenir"/>
                <a:cs typeface="Avenir"/>
                <a:sym typeface="Avenir"/>
              </a:rPr>
              <a:t>CORREU INSTITUT</a:t>
            </a:r>
            <a:br>
              <a:rPr lang="ca-ES">
                <a:solidFill>
                  <a:schemeClr val="dk1"/>
                </a:solidFill>
                <a:latin typeface="Avenir"/>
                <a:ea typeface="Avenir"/>
                <a:cs typeface="Avenir"/>
                <a:sym typeface="Avenir"/>
              </a:rPr>
            </a:br>
            <a:r>
              <a:rPr lang="ca-ES">
                <a:solidFill>
                  <a:schemeClr val="dk1"/>
                </a:solidFill>
                <a:latin typeface="Avenir"/>
                <a:ea typeface="Avenir"/>
                <a:cs typeface="Avenir"/>
                <a:sym typeface="Avenir"/>
              </a:rPr>
              <a:t> 8 elements mínim, alfanumèric, mínim una majúscula o un caràcter especial</a:t>
            </a:r>
            <a:endParaRPr>
              <a:solidFill>
                <a:schemeClr val="dk1"/>
              </a:solidFill>
              <a:latin typeface="Avenir"/>
              <a:ea typeface="Avenir"/>
              <a:cs typeface="Avenir"/>
              <a:sym typeface="Avenir"/>
            </a:endParaRPr>
          </a:p>
        </p:txBody>
      </p:sp>
      <p:sp>
        <p:nvSpPr>
          <p:cNvPr id="438" name="Google Shape;438;p44"/>
          <p:cNvSpPr txBox="1"/>
          <p:nvPr/>
        </p:nvSpPr>
        <p:spPr>
          <a:xfrm>
            <a:off x="6047700" y="4866650"/>
            <a:ext cx="2268300" cy="1391400"/>
          </a:xfrm>
          <a:prstGeom prst="rect">
            <a:avLst/>
          </a:prstGeom>
          <a:solidFill>
            <a:srgbClr val="E0E0E0"/>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a:solidFill>
                  <a:schemeClr val="dk1"/>
                </a:solidFill>
                <a:latin typeface="Avenir"/>
                <a:ea typeface="Avenir"/>
                <a:cs typeface="Avenir"/>
                <a:sym typeface="Avenir"/>
              </a:rPr>
              <a:t>CORREU PROFES                   8 elements mínim, alfanumèric, 2 números, 2 minúscules, 1 majúscula, caràcter especial si es vol</a:t>
            </a:r>
            <a:endParaRPr>
              <a:solidFill>
                <a:schemeClr val="dk1"/>
              </a:solidFill>
              <a:latin typeface="Avenir"/>
              <a:ea typeface="Avenir"/>
              <a:cs typeface="Avenir"/>
              <a:sym typeface="Avenir"/>
            </a:endParaRPr>
          </a:p>
        </p:txBody>
      </p:sp>
      <p:sp>
        <p:nvSpPr>
          <p:cNvPr id="439" name="Google Shape;439;p44"/>
          <p:cNvSpPr txBox="1"/>
          <p:nvPr/>
        </p:nvSpPr>
        <p:spPr>
          <a:xfrm>
            <a:off x="3402848" y="3601225"/>
            <a:ext cx="2268300" cy="16392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a:solidFill>
                  <a:schemeClr val="dk1"/>
                </a:solidFill>
                <a:latin typeface="Avenir"/>
                <a:ea typeface="Avenir"/>
                <a:cs typeface="Avenir"/>
                <a:sym typeface="Avenir"/>
              </a:rPr>
              <a:t>GMAIL                             8 elements mínim amb lletres majúscules, minúscules, números i  caràcters especials (com es vulgui)</a:t>
            </a:r>
            <a:endParaRPr>
              <a:solidFill>
                <a:schemeClr val="dk1"/>
              </a:solidFill>
              <a:latin typeface="Avenir"/>
              <a:ea typeface="Avenir"/>
              <a:cs typeface="Avenir"/>
              <a:sym typeface="Avenir"/>
            </a:endParaRPr>
          </a:p>
        </p:txBody>
      </p:sp>
      <p:sp>
        <p:nvSpPr>
          <p:cNvPr id="440" name="Google Shape;440;p44"/>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ES" sz="2000" b="1">
                <a:solidFill>
                  <a:srgbClr val="218C97"/>
                </a:solidFill>
                <a:latin typeface="Avenir"/>
                <a:ea typeface="Avenir"/>
                <a:cs typeface="Avenir"/>
                <a:sym typeface="Avenir"/>
              </a:rPr>
              <a:t>DISCUTIU-HO EN EL GRUP I PREPAREM UNA POSADA EN COMÚ</a:t>
            </a:r>
            <a:endParaRPr sz="2000" b="1">
              <a:solidFill>
                <a:srgbClr val="218C97"/>
              </a:solidFill>
              <a:latin typeface="Avenir"/>
              <a:ea typeface="Avenir"/>
              <a:cs typeface="Avenir"/>
              <a:sym typeface="Avenir"/>
            </a:endParaRPr>
          </a:p>
        </p:txBody>
      </p:sp>
      <p:sp>
        <p:nvSpPr>
          <p:cNvPr id="441" name="Google Shape;441;p44"/>
          <p:cNvSpPr txBox="1"/>
          <p:nvPr/>
        </p:nvSpPr>
        <p:spPr>
          <a:xfrm>
            <a:off x="6281075" y="3601225"/>
            <a:ext cx="1902300" cy="11436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a:solidFill>
                  <a:schemeClr val="dk1"/>
                </a:solidFill>
                <a:latin typeface="Avenir"/>
                <a:ea typeface="Avenir"/>
                <a:cs typeface="Avenir"/>
                <a:sym typeface="Avenir"/>
              </a:rPr>
              <a:t>CORREU INFANTIL    8 elements, 4 lletres majúscules seguides de 4 números</a:t>
            </a:r>
            <a:endParaRPr>
              <a:solidFill>
                <a:schemeClr val="dk1"/>
              </a:solidFill>
              <a:latin typeface="Avenir"/>
              <a:ea typeface="Avenir"/>
              <a:cs typeface="Avenir"/>
              <a:sym typeface="Avenir"/>
            </a:endParaRPr>
          </a:p>
        </p:txBody>
      </p:sp>
      <p:sp>
        <p:nvSpPr>
          <p:cNvPr id="442" name="Google Shape;442;p44"/>
          <p:cNvSpPr txBox="1"/>
          <p:nvPr/>
        </p:nvSpPr>
        <p:spPr>
          <a:xfrm>
            <a:off x="3402850" y="5541150"/>
            <a:ext cx="2268300" cy="6810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500">
                <a:solidFill>
                  <a:schemeClr val="dk1"/>
                </a:solidFill>
                <a:latin typeface="Avenir"/>
                <a:ea typeface="Avenir"/>
                <a:cs typeface="Avenir"/>
                <a:sym typeface="Avenir"/>
              </a:rPr>
              <a:t>PIN BANC</a:t>
            </a:r>
            <a:br>
              <a:rPr lang="ca-ES" sz="1500">
                <a:solidFill>
                  <a:schemeClr val="dk1"/>
                </a:solidFill>
                <a:latin typeface="Avenir"/>
                <a:ea typeface="Avenir"/>
                <a:cs typeface="Avenir"/>
                <a:sym typeface="Avenir"/>
              </a:rPr>
            </a:br>
            <a:r>
              <a:rPr lang="ca-ES" sz="1500">
                <a:solidFill>
                  <a:schemeClr val="dk1"/>
                </a:solidFill>
                <a:latin typeface="Avenir"/>
                <a:ea typeface="Avenir"/>
                <a:cs typeface="Avenir"/>
                <a:sym typeface="Avenir"/>
              </a:rPr>
              <a:t>8 lletres minúscules</a:t>
            </a:r>
            <a:endParaRPr sz="1500">
              <a:solidFill>
                <a:schemeClr val="dk1"/>
              </a:solidFill>
              <a:latin typeface="Avenir"/>
              <a:ea typeface="Avenir"/>
              <a:cs typeface="Avenir"/>
              <a:sym typeface="Aveni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446"/>
        <p:cNvGrpSpPr/>
        <p:nvPr/>
      </p:nvGrpSpPr>
      <p:grpSpPr>
        <a:xfrm>
          <a:off x="0" y="0"/>
          <a:ext cx="0" cy="0"/>
          <a:chOff x="0" y="0"/>
          <a:chExt cx="0" cy="0"/>
        </a:xfrm>
      </p:grpSpPr>
      <p:sp>
        <p:nvSpPr>
          <p:cNvPr id="447" name="Google Shape;447;p45"/>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latin typeface="Arial"/>
                <a:ea typeface="Arial"/>
                <a:cs typeface="Arial"/>
                <a:sym typeface="Arial"/>
              </a:rPr>
              <a:t>Posada en comú de les primeres idees sobre Q3</a:t>
            </a:r>
            <a:endParaRPr b="1">
              <a:solidFill>
                <a:srgbClr val="7030A0"/>
              </a:solidFill>
              <a:latin typeface="Arial"/>
              <a:ea typeface="Arial"/>
              <a:cs typeface="Arial"/>
              <a:sym typeface="Arial"/>
            </a:endParaRPr>
          </a:p>
        </p:txBody>
      </p:sp>
      <p:sp>
        <p:nvSpPr>
          <p:cNvPr id="448" name="Google Shape;448;p4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ca-ES" b="1"/>
              <a:t>FASE Opcional. </a:t>
            </a:r>
            <a:r>
              <a:rPr lang="ca-ES"/>
              <a:t>Fem de hackers!</a:t>
            </a:r>
            <a:endParaRPr b="1"/>
          </a:p>
        </p:txBody>
      </p:sp>
      <p:pic>
        <p:nvPicPr>
          <p:cNvPr id="449" name="Google Shape;449;p45" descr="Free Vectors | whiteboard frame"/>
          <p:cNvPicPr preferRelativeResize="0"/>
          <p:nvPr/>
        </p:nvPicPr>
        <p:blipFill rotWithShape="1">
          <a:blip r:embed="rId3">
            <a:alphaModFix/>
          </a:blip>
          <a:srcRect/>
          <a:stretch/>
        </p:blipFill>
        <p:spPr>
          <a:xfrm>
            <a:off x="568199" y="1882250"/>
            <a:ext cx="7143401" cy="4407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53"/>
        <p:cNvGrpSpPr/>
        <p:nvPr/>
      </p:nvGrpSpPr>
      <p:grpSpPr>
        <a:xfrm>
          <a:off x="0" y="0"/>
          <a:ext cx="0" cy="0"/>
          <a:chOff x="0" y="0"/>
          <a:chExt cx="0" cy="0"/>
        </a:xfrm>
      </p:grpSpPr>
      <p:sp>
        <p:nvSpPr>
          <p:cNvPr id="454" name="Google Shape;454;p46"/>
          <p:cNvSpPr txBox="1">
            <a:spLocks noGrp="1"/>
          </p:cNvSpPr>
          <p:nvPr>
            <p:ph type="body" idx="1"/>
          </p:nvPr>
        </p:nvSpPr>
        <p:spPr>
          <a:xfrm>
            <a:off x="460400" y="1247008"/>
            <a:ext cx="8397900" cy="54840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latin typeface="Arial"/>
                <a:ea typeface="Arial"/>
                <a:cs typeface="Arial"/>
                <a:sym typeface="Arial"/>
              </a:rPr>
              <a:t>Idees per gestionar el final de la posada en comú:</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ca-ES">
                <a:latin typeface="Arial"/>
                <a:ea typeface="Arial"/>
                <a:cs typeface="Arial"/>
                <a:sym typeface="Arial"/>
              </a:rPr>
              <a:t>Limitar-se a contrasenyes de 8 elements (perquè sigui més fàcil). </a:t>
            </a:r>
            <a:br>
              <a:rPr lang="ca-ES">
                <a:latin typeface="Arial"/>
                <a:ea typeface="Arial"/>
                <a:cs typeface="Arial"/>
                <a:sym typeface="Arial"/>
              </a:rPr>
            </a:br>
            <a:r>
              <a:rPr lang="ca-ES">
                <a:latin typeface="Arial"/>
                <a:ea typeface="Arial"/>
                <a:cs typeface="Arial"/>
                <a:sym typeface="Arial"/>
              </a:rPr>
              <a:t>Més endavant es pot veure com varia la seguretat quan augmentem el nombre d’elements.</a:t>
            </a:r>
            <a:endParaRPr>
              <a:latin typeface="Arial"/>
              <a:ea typeface="Arial"/>
              <a:cs typeface="Arial"/>
              <a:sym typeface="Arial"/>
            </a:endParaRPr>
          </a:p>
          <a:p>
            <a:pPr marL="914400" lvl="1" indent="-342900" algn="l" rtl="0">
              <a:spcBef>
                <a:spcPts val="0"/>
              </a:spcBef>
              <a:spcAft>
                <a:spcPts val="0"/>
              </a:spcAft>
              <a:buSzPts val="1800"/>
              <a:buFont typeface="Arial"/>
              <a:buChar char="▪"/>
            </a:pPr>
            <a:r>
              <a:rPr lang="ca-ES">
                <a:latin typeface="Arial"/>
                <a:ea typeface="Arial"/>
                <a:cs typeface="Arial"/>
                <a:sym typeface="Arial"/>
              </a:rPr>
              <a:t>És fàcil calcular els casos més senzills: PUK, INFANTIL i PIN Banc. </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ca-ES">
                <a:latin typeface="Arial"/>
                <a:ea typeface="Arial"/>
                <a:cs typeface="Arial"/>
                <a:sym typeface="Arial"/>
              </a:rPr>
              <a:t>Calcular el total dels altres és massa difícil. Es pot fer algun exemple amb CORREU INSTITUT on cal distingir l’ordre dels números i les lletres: 1234ABCD no és el mateix que ABCD1234.</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ca-ES">
                <a:latin typeface="Arial"/>
                <a:ea typeface="Arial"/>
                <a:cs typeface="Arial"/>
                <a:sym typeface="Arial"/>
              </a:rPr>
              <a:t>Busquem altres estratègies per comparar:</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ca-ES">
                <a:latin typeface="Arial"/>
                <a:ea typeface="Arial"/>
                <a:cs typeface="Arial"/>
                <a:sym typeface="Arial"/>
              </a:rPr>
              <a:t>Si amb un cas podem fer totes les contrasenyes d’un altre, ens quedem amb aquell. Si no es pot, mirem si se’n poden fer més (per exemple, perquè hi ha més lletres que números).</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ca-ES">
                <a:latin typeface="Arial"/>
                <a:ea typeface="Arial"/>
                <a:cs typeface="Arial"/>
                <a:sym typeface="Arial"/>
              </a:rPr>
              <a:t>PROPOSTA DE TREBALL EN GRUP: comparar els 5 casos.</a:t>
            </a:r>
            <a:endParaRPr>
              <a:latin typeface="Arial"/>
              <a:ea typeface="Arial"/>
              <a:cs typeface="Arial"/>
              <a:sym typeface="Arial"/>
            </a:endParaRPr>
          </a:p>
        </p:txBody>
      </p:sp>
      <p:sp>
        <p:nvSpPr>
          <p:cNvPr id="455" name="Google Shape;455;p4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ca-ES" b="1"/>
              <a:t>FASE Opcional. </a:t>
            </a:r>
            <a:r>
              <a:rPr lang="ca-ES"/>
              <a:t>Fem de hackers!</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459"/>
        <p:cNvGrpSpPr/>
        <p:nvPr/>
      </p:nvGrpSpPr>
      <p:grpSpPr>
        <a:xfrm>
          <a:off x="0" y="0"/>
          <a:ext cx="0" cy="0"/>
          <a:chOff x="0" y="0"/>
          <a:chExt cx="0" cy="0"/>
        </a:xfrm>
      </p:grpSpPr>
      <p:sp>
        <p:nvSpPr>
          <p:cNvPr id="460" name="Google Shape;460;p47"/>
          <p:cNvSpPr txBox="1">
            <a:spLocks noGrp="1"/>
          </p:cNvSpPr>
          <p:nvPr>
            <p:ph type="body" idx="1"/>
          </p:nvPr>
        </p:nvSpPr>
        <p:spPr>
          <a:xfrm>
            <a:off x="474594" y="12083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ca-ES">
                <a:latin typeface="Arial"/>
                <a:ea typeface="Arial"/>
                <a:cs typeface="Arial"/>
                <a:sym typeface="Arial"/>
              </a:rPr>
              <a:t>Posada en comú de la comparació entre contrasenyes</a:t>
            </a:r>
            <a:endParaRPr>
              <a:latin typeface="Arial"/>
              <a:ea typeface="Arial"/>
              <a:cs typeface="Arial"/>
              <a:sym typeface="Arial"/>
            </a:endParaRPr>
          </a:p>
          <a:p>
            <a:pPr marL="0" lvl="0" indent="0" algn="l" rtl="0">
              <a:lnSpc>
                <a:spcPct val="130000"/>
              </a:lnSpc>
              <a:spcBef>
                <a:spcPts val="0"/>
              </a:spcBef>
              <a:spcAft>
                <a:spcPts val="0"/>
              </a:spcAft>
              <a:buNone/>
            </a:pPr>
            <a:endParaRPr>
              <a:latin typeface="Arial"/>
              <a:ea typeface="Arial"/>
              <a:cs typeface="Arial"/>
              <a:sym typeface="Arial"/>
            </a:endParaRPr>
          </a:p>
          <a:p>
            <a:pPr marL="0" lvl="0" indent="0" algn="l" rtl="0">
              <a:lnSpc>
                <a:spcPct val="130000"/>
              </a:lnSpc>
              <a:spcBef>
                <a:spcPts val="0"/>
              </a:spcBef>
              <a:spcAft>
                <a:spcPts val="0"/>
              </a:spcAft>
              <a:buNone/>
            </a:pPr>
            <a:r>
              <a:rPr lang="ca-ES">
                <a:latin typeface="Arial"/>
                <a:ea typeface="Arial"/>
                <a:cs typeface="Arial"/>
                <a:sym typeface="Arial"/>
              </a:rPr>
              <a:t>ORDENEU LES CONTRASENYES DE LA MENYS A LA MÉS SEGURA</a:t>
            </a:r>
            <a:endParaRPr>
              <a:latin typeface="Arial"/>
              <a:ea typeface="Arial"/>
              <a:cs typeface="Arial"/>
              <a:sym typeface="Arial"/>
            </a:endParaRPr>
          </a:p>
        </p:txBody>
      </p:sp>
      <p:sp>
        <p:nvSpPr>
          <p:cNvPr id="461" name="Google Shape;461;p4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ca-ES" b="1"/>
              <a:t>FASE Opcional. </a:t>
            </a:r>
            <a:r>
              <a:rPr lang="ca-ES"/>
              <a:t>Fem de hackers!</a:t>
            </a:r>
            <a:endParaRPr/>
          </a:p>
        </p:txBody>
      </p:sp>
      <p:sp>
        <p:nvSpPr>
          <p:cNvPr id="462" name="Google Shape;462;p47"/>
          <p:cNvSpPr txBox="1"/>
          <p:nvPr/>
        </p:nvSpPr>
        <p:spPr>
          <a:xfrm>
            <a:off x="700700" y="2886925"/>
            <a:ext cx="1830300" cy="714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PUK MÒBIL</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 8 números</a:t>
            </a:r>
            <a:endParaRPr sz="1600">
              <a:solidFill>
                <a:schemeClr val="dk1"/>
              </a:solidFill>
              <a:latin typeface="Avenir"/>
              <a:ea typeface="Avenir"/>
              <a:cs typeface="Avenir"/>
              <a:sym typeface="Avenir"/>
            </a:endParaRPr>
          </a:p>
        </p:txBody>
      </p:sp>
      <p:sp>
        <p:nvSpPr>
          <p:cNvPr id="463" name="Google Shape;463;p47"/>
          <p:cNvSpPr txBox="1"/>
          <p:nvPr/>
        </p:nvSpPr>
        <p:spPr>
          <a:xfrm>
            <a:off x="6546900" y="2750700"/>
            <a:ext cx="2325600" cy="15639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CORREU INSTITUT</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 8 elements mínim, alfanumèrics, mínim una majúscula o un caràcter especial</a:t>
            </a:r>
            <a:endParaRPr sz="1600">
              <a:solidFill>
                <a:schemeClr val="dk1"/>
              </a:solidFill>
              <a:latin typeface="Avenir"/>
              <a:ea typeface="Avenir"/>
              <a:cs typeface="Avenir"/>
              <a:sym typeface="Avenir"/>
            </a:endParaRPr>
          </a:p>
        </p:txBody>
      </p:sp>
      <p:sp>
        <p:nvSpPr>
          <p:cNvPr id="464" name="Google Shape;464;p47"/>
          <p:cNvSpPr txBox="1"/>
          <p:nvPr/>
        </p:nvSpPr>
        <p:spPr>
          <a:xfrm>
            <a:off x="3246588" y="2944475"/>
            <a:ext cx="2650800" cy="19509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700">
                <a:solidFill>
                  <a:schemeClr val="dk1"/>
                </a:solidFill>
                <a:latin typeface="Avenir"/>
                <a:ea typeface="Avenir"/>
                <a:cs typeface="Avenir"/>
                <a:sym typeface="Avenir"/>
              </a:rPr>
              <a:t>GMAIL                            8 elements mínim amb lletres majúscules, minúscules, números i  caràcters especials (com es vulgui)</a:t>
            </a:r>
            <a:endParaRPr sz="1700">
              <a:solidFill>
                <a:schemeClr val="dk1"/>
              </a:solidFill>
              <a:latin typeface="Avenir"/>
              <a:ea typeface="Avenir"/>
              <a:cs typeface="Avenir"/>
              <a:sym typeface="Avenir"/>
            </a:endParaRPr>
          </a:p>
        </p:txBody>
      </p:sp>
      <p:sp>
        <p:nvSpPr>
          <p:cNvPr id="465" name="Google Shape;465;p47"/>
          <p:cNvSpPr txBox="1"/>
          <p:nvPr/>
        </p:nvSpPr>
        <p:spPr>
          <a:xfrm>
            <a:off x="765300" y="4077750"/>
            <a:ext cx="2268300" cy="12807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CORREU INFANTIL    8 elements, 4 lletres majúscules seguides de 4 números</a:t>
            </a:r>
            <a:endParaRPr sz="1600">
              <a:solidFill>
                <a:schemeClr val="dk1"/>
              </a:solidFill>
              <a:latin typeface="Avenir"/>
              <a:ea typeface="Avenir"/>
              <a:cs typeface="Avenir"/>
              <a:sym typeface="Avenir"/>
            </a:endParaRPr>
          </a:p>
        </p:txBody>
      </p:sp>
      <p:sp>
        <p:nvSpPr>
          <p:cNvPr id="466" name="Google Shape;466;p47"/>
          <p:cNvSpPr txBox="1"/>
          <p:nvPr/>
        </p:nvSpPr>
        <p:spPr>
          <a:xfrm>
            <a:off x="6338800" y="4644150"/>
            <a:ext cx="2268300" cy="7143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ca-ES" sz="1600">
                <a:solidFill>
                  <a:schemeClr val="dk1"/>
                </a:solidFill>
                <a:latin typeface="Avenir"/>
                <a:ea typeface="Avenir"/>
                <a:cs typeface="Avenir"/>
                <a:sym typeface="Avenir"/>
              </a:rPr>
              <a:t>PIN BANC</a:t>
            </a:r>
            <a:br>
              <a:rPr lang="ca-ES" sz="1600">
                <a:solidFill>
                  <a:schemeClr val="dk1"/>
                </a:solidFill>
                <a:latin typeface="Avenir"/>
                <a:ea typeface="Avenir"/>
                <a:cs typeface="Avenir"/>
                <a:sym typeface="Avenir"/>
              </a:rPr>
            </a:br>
            <a:r>
              <a:rPr lang="ca-ES" sz="1600">
                <a:solidFill>
                  <a:schemeClr val="dk1"/>
                </a:solidFill>
                <a:latin typeface="Avenir"/>
                <a:ea typeface="Avenir"/>
                <a:cs typeface="Avenir"/>
                <a:sym typeface="Avenir"/>
              </a:rPr>
              <a:t>8 lletres minúscules</a:t>
            </a:r>
            <a:endParaRPr sz="1600">
              <a:solidFill>
                <a:schemeClr val="dk1"/>
              </a:solidFill>
              <a:latin typeface="Avenir"/>
              <a:ea typeface="Avenir"/>
              <a:cs typeface="Avenir"/>
              <a:sym typeface="Avenir"/>
            </a:endParaRPr>
          </a:p>
        </p:txBody>
      </p:sp>
      <p:sp>
        <p:nvSpPr>
          <p:cNvPr id="467" name="Google Shape;467;p47"/>
          <p:cNvSpPr txBox="1"/>
          <p:nvPr/>
        </p:nvSpPr>
        <p:spPr>
          <a:xfrm>
            <a:off x="720600" y="5529225"/>
            <a:ext cx="7905900" cy="10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ES" sz="1900" b="1">
                <a:solidFill>
                  <a:srgbClr val="218C97"/>
                </a:solidFill>
                <a:latin typeface="Avenir"/>
                <a:ea typeface="Avenir"/>
                <a:cs typeface="Avenir"/>
                <a:sym typeface="Avenir"/>
              </a:rPr>
              <a:t>PREPAREU UNA PRESENTACIÓ AMB PROPOSTES SOBRE LA CONTRASENYA DEL CORREU DE L’INSTITUT: ÉS PROU SEGURA? ES POT MILLORAR?</a:t>
            </a:r>
            <a:endParaRPr sz="1900" b="1">
              <a:solidFill>
                <a:srgbClr val="218C97"/>
              </a:solidFill>
              <a:latin typeface="Avenir"/>
              <a:ea typeface="Avenir"/>
              <a:cs typeface="Avenir"/>
              <a:sym typeface="Aveni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8"/>
          <p:cNvSpPr txBox="1"/>
          <p:nvPr/>
        </p:nvSpPr>
        <p:spPr>
          <a:xfrm>
            <a:off x="1430458" y="267446"/>
            <a:ext cx="70277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ca-ES" sz="2000" b="0" i="0" u="none" strike="noStrike" cap="none">
                <a:solidFill>
                  <a:schemeClr val="dk1"/>
                </a:solidFill>
                <a:latin typeface="Arial"/>
                <a:ea typeface="Arial"/>
                <a:cs typeface="Arial"/>
                <a:sym typeface="Arial"/>
              </a:rPr>
              <a:t>Mapa </a:t>
            </a:r>
            <a:r>
              <a:rPr lang="ca-ES" sz="2000" b="0" i="1" u="none" strike="noStrike" cap="none">
                <a:solidFill>
                  <a:schemeClr val="dk1"/>
                </a:solidFill>
                <a:latin typeface="Arial"/>
                <a:ea typeface="Arial"/>
                <a:cs typeface="Arial"/>
                <a:sym typeface="Arial"/>
              </a:rPr>
              <a:t>a priori </a:t>
            </a:r>
            <a:r>
              <a:rPr lang="ca-ES" sz="2000" b="0" i="0" u="none" strike="noStrike" cap="none">
                <a:solidFill>
                  <a:schemeClr val="dk1"/>
                </a:solidFill>
                <a:latin typeface="Arial"/>
                <a:ea typeface="Arial"/>
                <a:cs typeface="Arial"/>
                <a:sym typeface="Arial"/>
              </a:rPr>
              <a:t>de possibles desenvolupaments de la situació</a:t>
            </a:r>
            <a:endParaRPr sz="1400" b="0" i="0" u="none" strike="noStrike" cap="none">
              <a:solidFill>
                <a:srgbClr val="000000"/>
              </a:solidFill>
              <a:latin typeface="Arial"/>
              <a:ea typeface="Arial"/>
              <a:cs typeface="Arial"/>
              <a:sym typeface="Arial"/>
            </a:endParaRPr>
          </a:p>
        </p:txBody>
      </p:sp>
      <p:pic>
        <p:nvPicPr>
          <p:cNvPr id="474" name="Google Shape;474;p48" descr="A diagram of text and symbols&#10;&#10;Description automatically generated"/>
          <p:cNvPicPr preferRelativeResize="0"/>
          <p:nvPr/>
        </p:nvPicPr>
        <p:blipFill rotWithShape="1">
          <a:blip r:embed="rId3">
            <a:alphaModFix/>
          </a:blip>
          <a:srcRect l="7500" t="3777" r="7499" b="4369"/>
          <a:stretch/>
        </p:blipFill>
        <p:spPr>
          <a:xfrm>
            <a:off x="289560" y="1224279"/>
            <a:ext cx="8569960" cy="520919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479"/>
        <p:cNvGrpSpPr/>
        <p:nvPr/>
      </p:nvGrpSpPr>
      <p:grpSpPr>
        <a:xfrm>
          <a:off x="0" y="0"/>
          <a:ext cx="0" cy="0"/>
          <a:chOff x="0" y="0"/>
          <a:chExt cx="0" cy="0"/>
        </a:xfrm>
      </p:grpSpPr>
      <p:sp>
        <p:nvSpPr>
          <p:cNvPr id="480" name="Google Shape;480;p49"/>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81" name="Google Shape;481;p49"/>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82" name="Google Shape;482;p49"/>
          <p:cNvPicPr preferRelativeResize="0"/>
          <p:nvPr/>
        </p:nvPicPr>
        <p:blipFill rotWithShape="1">
          <a:blip r:embed="rId3">
            <a:alphaModFix/>
          </a:blip>
          <a:srcRect/>
          <a:stretch/>
        </p:blipFill>
        <p:spPr>
          <a:xfrm rot="-5400000">
            <a:off x="1933983" y="-2362250"/>
            <a:ext cx="9719850" cy="13749100"/>
          </a:xfrm>
          <a:prstGeom prst="rect">
            <a:avLst/>
          </a:prstGeom>
          <a:noFill/>
          <a:ln>
            <a:noFill/>
          </a:ln>
        </p:spPr>
      </p:pic>
      <p:sp>
        <p:nvSpPr>
          <p:cNvPr id="483" name="Google Shape;483;p49"/>
          <p:cNvSpPr txBox="1"/>
          <p:nvPr/>
        </p:nvSpPr>
        <p:spPr>
          <a:xfrm>
            <a:off x="2279176" y="267446"/>
            <a:ext cx="4073145"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ca-ES" sz="2000" b="0" i="0" u="none" strike="noStrike" cap="none">
                <a:solidFill>
                  <a:schemeClr val="dk1"/>
                </a:solidFill>
                <a:latin typeface="Arial"/>
                <a:ea typeface="Arial"/>
                <a:cs typeface="Arial"/>
                <a:sym typeface="Arial"/>
              </a:rPr>
              <a:t>Part esquerra del mapa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488"/>
        <p:cNvGrpSpPr/>
        <p:nvPr/>
      </p:nvGrpSpPr>
      <p:grpSpPr>
        <a:xfrm>
          <a:off x="0" y="0"/>
          <a:ext cx="0" cy="0"/>
          <a:chOff x="0" y="0"/>
          <a:chExt cx="0" cy="0"/>
        </a:xfrm>
      </p:grpSpPr>
      <p:sp>
        <p:nvSpPr>
          <p:cNvPr id="489" name="Google Shape;489;p50"/>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90" name="Google Shape;490;p50"/>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91" name="Google Shape;491;p50"/>
          <p:cNvPicPr preferRelativeResize="0"/>
          <p:nvPr/>
        </p:nvPicPr>
        <p:blipFill rotWithShape="1">
          <a:blip r:embed="rId3">
            <a:alphaModFix/>
          </a:blip>
          <a:srcRect/>
          <a:stretch/>
        </p:blipFill>
        <p:spPr>
          <a:xfrm rot="-5400000">
            <a:off x="-2668602" y="-3126661"/>
            <a:ext cx="10374275" cy="14674809"/>
          </a:xfrm>
          <a:prstGeom prst="rect">
            <a:avLst/>
          </a:prstGeom>
          <a:noFill/>
          <a:ln>
            <a:noFill/>
          </a:ln>
        </p:spPr>
      </p:pic>
      <p:sp>
        <p:nvSpPr>
          <p:cNvPr id="492" name="Google Shape;492;p50"/>
          <p:cNvSpPr txBox="1"/>
          <p:nvPr/>
        </p:nvSpPr>
        <p:spPr>
          <a:xfrm>
            <a:off x="2885988" y="267446"/>
            <a:ext cx="35606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ca-ES" sz="2000" b="0" i="0" u="none" strike="noStrike" cap="none">
                <a:solidFill>
                  <a:schemeClr val="dk1"/>
                </a:solidFill>
                <a:latin typeface="Arial"/>
                <a:ea typeface="Arial"/>
                <a:cs typeface="Arial"/>
                <a:sym typeface="Arial"/>
              </a:rPr>
              <a:t>Part dreta del mapa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laza">
  <a:themeElements>
    <a:clrScheme name="Plaza">
      <a:dk1>
        <a:srgbClr val="000000"/>
      </a:dk1>
      <a:lt1>
        <a:srgbClr val="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2225</Words>
  <Application>Microsoft Office PowerPoint</Application>
  <PresentationFormat>On-screen Show (4:3)</PresentationFormat>
  <Paragraphs>261</Paragraphs>
  <Slides>42</Slides>
  <Notes>42</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Century Gothic</vt:lpstr>
      <vt:lpstr>Arial</vt:lpstr>
      <vt:lpstr>Calibri</vt:lpstr>
      <vt:lpstr>Noto Sans Symbols</vt:lpstr>
      <vt:lpstr>Avenir</vt:lpstr>
      <vt:lpstr>Plaza</vt:lpstr>
      <vt:lpstr>Experiència amb una situació d’aprenentatge Quin cadenat és més segur? Curs 2023-24</vt:lpstr>
      <vt:lpstr>FASE 0. Qüestió generatriu i primeres exploracions</vt:lpstr>
      <vt:lpstr>PowerPoint Presentation</vt:lpstr>
      <vt:lpstr>FASE 0. Qüestió generatriu i primeres exploracions</vt:lpstr>
      <vt:lpstr>FASE 0. Qüestió generatriu i primeres exploracions</vt:lpstr>
      <vt:lpstr>FASE 0. Qüestió generatriu i primeres exploracions</vt:lpstr>
      <vt:lpstr> Anem a fixar terminologia per a referir-nos als cadenats </vt:lpstr>
      <vt:lpstr>FASE 1. Comptem codis </vt:lpstr>
      <vt:lpstr>FASE 1. Comptem codis </vt:lpstr>
      <vt:lpstr>FASE 1. Comptem codis </vt:lpstr>
      <vt:lpstr>FASE 1. Comptem codis </vt:lpstr>
      <vt:lpstr>FASE 1. Comptem codis </vt:lpstr>
      <vt:lpstr>FASE 1. Comptem codis </vt:lpstr>
      <vt:lpstr>FASE 1. Comptem codis </vt:lpstr>
      <vt:lpstr>FASE 1. Comptem codis </vt:lpstr>
      <vt:lpstr>FASE 1. Comptem codis </vt:lpstr>
      <vt:lpstr>FASE 1. Comptem codis </vt:lpstr>
      <vt:lpstr>FASE 1. Comptem codis </vt:lpstr>
      <vt:lpstr>FASE 1. Comptem codis </vt:lpstr>
      <vt:lpstr>FASE 2. Validació amb la col·lecció cadenats amb restriccions </vt:lpstr>
      <vt:lpstr>FASE 2. Validació amb la col·lecció cadenats amb restriccions </vt:lpstr>
      <vt:lpstr>FASE 2. Validació amb la col·lecció cadenats amb restriccions </vt:lpstr>
      <vt:lpstr>FASE 2. Validació amb la col·lecció cadenats amb restriccions </vt:lpstr>
      <vt:lpstr>FASE 2. Validació amb la col·lecció cadenats amb restriccions </vt:lpstr>
      <vt:lpstr>FASE 2. Validació amb la col·lecció cadenats amb restriccions </vt:lpstr>
      <vt:lpstr>FASE 2. Validació amb la col·lecció cadenats amb restriccions </vt:lpstr>
      <vt:lpstr>FASE 3. Classificació dels cadenats i tècniques generals</vt:lpstr>
      <vt:lpstr>FASE 3. Classificació dels cadenats i tècniques generals</vt:lpstr>
      <vt:lpstr>FASE 3. Classificació dels cadenats i tècniques generals</vt:lpstr>
      <vt:lpstr>FASE 3. Classificació dels cadenats i tècniques generals</vt:lpstr>
      <vt:lpstr>FASE 4. Més enllà dels cadenats</vt:lpstr>
      <vt:lpstr>FASE 4. Més enllà dels cadenats</vt:lpstr>
      <vt:lpstr>FASE 4. Més enllà dels cadenats</vt:lpstr>
      <vt:lpstr>FASE Opcional. Fem de hackers!</vt:lpstr>
      <vt:lpstr>FASE Opcional. Fem de hackers!</vt:lpstr>
      <vt:lpstr>FASE Opcional. Fem de hackers!</vt:lpstr>
      <vt:lpstr>FASE Opcional. Fem de hackers!</vt:lpstr>
      <vt:lpstr>FASE Opcional. Fem de hackers!</vt:lpstr>
      <vt:lpstr>FASE Opcional. Fem de hackers!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Susana Vasquez Elias</cp:lastModifiedBy>
  <cp:revision>1</cp:revision>
  <dcterms:modified xsi:type="dcterms:W3CDTF">2025-10-16T17:00:15Z</dcterms:modified>
</cp:coreProperties>
</file>