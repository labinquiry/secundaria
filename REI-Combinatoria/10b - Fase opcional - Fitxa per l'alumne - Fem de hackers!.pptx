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61" r:id="rId5"/>
    <p:sldId id="276" r:id="rId6"/>
    <p:sldId id="277" r:id="rId7"/>
  </p:sldIdLst>
  <p:sldSz cx="7556500" cy="10693400"/>
  <p:notesSz cx="6858000" cy="9144000"/>
  <p:embeddedFontLst>
    <p:embeddedFont>
      <p:font typeface="Buffalo" panose="020B0604020202020204" charset="0"/>
      <p:regular r:id="rId8"/>
    </p:embeddedFont>
    <p:embeddedFont>
      <p:font typeface="Cocomat Pro" panose="020B0604020202020204" charset="0"/>
      <p:regular r:id="rId9"/>
    </p:embeddedFont>
    <p:embeddedFont>
      <p:font typeface="Garet Light" panose="020B0604020202020204" charset="0"/>
      <p:regular r:id="rId10"/>
    </p:embeddedFont>
    <p:embeddedFont>
      <p:font typeface="White Star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3E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F92F47-B000-47E5-B703-9A1D89C179A8}" v="1" dt="2025-10-16T17:27:36.8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558" autoAdjust="0"/>
  </p:normalViewPr>
  <p:slideViewPr>
    <p:cSldViewPr>
      <p:cViewPr varScale="1">
        <p:scale>
          <a:sx n="65" d="100"/>
          <a:sy n="65" d="100"/>
        </p:scale>
        <p:origin x="318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a Vasquez Elias" userId="e776416f-e583-4d77-b224-146689d50a03" providerId="ADAL" clId="{3C100498-C411-419B-B5E6-C2EF21CD595F}"/>
    <pc:docChg chg="modSld">
      <pc:chgData name="Susana Vasquez Elias" userId="e776416f-e583-4d77-b224-146689d50a03" providerId="ADAL" clId="{3C100498-C411-419B-B5E6-C2EF21CD595F}" dt="2025-10-16T17:27:39.915" v="1" actId="1076"/>
      <pc:docMkLst>
        <pc:docMk/>
      </pc:docMkLst>
      <pc:sldChg chg="addSp modSp mod">
        <pc:chgData name="Susana Vasquez Elias" userId="e776416f-e583-4d77-b224-146689d50a03" providerId="ADAL" clId="{3C100498-C411-419B-B5E6-C2EF21CD595F}" dt="2025-10-16T17:27:39.915" v="1" actId="1076"/>
        <pc:sldMkLst>
          <pc:docMk/>
          <pc:sldMk cId="0" sldId="256"/>
        </pc:sldMkLst>
        <pc:picChg chg="add mod">
          <ac:chgData name="Susana Vasquez Elias" userId="e776416f-e583-4d77-b224-146689d50a03" providerId="ADAL" clId="{3C100498-C411-419B-B5E6-C2EF21CD595F}" dt="2025-10-16T17:27:39.915" v="1" actId="1076"/>
          <ac:picMkLst>
            <pc:docMk/>
            <pc:sldMk cId="0" sldId="256"/>
            <ac:picMk id="12" creationId="{2ADF4236-C311-988C-1EAF-F33444BF8989}"/>
          </ac:picMkLst>
        </pc:picChg>
      </pc:sldChg>
    </pc:docChg>
  </pc:docChgLst>
  <pc:docChgLst>
    <pc:chgData name="Susana Vásquez" userId="dffc548e-2323-4ffc-a8aa-757e426c1faa" providerId="ADAL" clId="{184B16D3-0583-4B86-B9E2-32A8C8837C3C}"/>
    <pc:docChg chg="undo redo custSel modSld">
      <pc:chgData name="Susana Vásquez" userId="dffc548e-2323-4ffc-a8aa-757e426c1faa" providerId="ADAL" clId="{184B16D3-0583-4B86-B9E2-32A8C8837C3C}" dt="2025-03-03T11:29:33.254" v="1128" actId="1035"/>
      <pc:docMkLst>
        <pc:docMk/>
      </pc:docMkLst>
      <pc:sldChg chg="modSp mod">
        <pc:chgData name="Susana Vásquez" userId="dffc548e-2323-4ffc-a8aa-757e426c1faa" providerId="ADAL" clId="{184B16D3-0583-4B86-B9E2-32A8C8837C3C}" dt="2025-03-03T11:23:45.408" v="1002" actId="790"/>
        <pc:sldMkLst>
          <pc:docMk/>
          <pc:sldMk cId="0" sldId="256"/>
        </pc:sldMkLst>
      </pc:sldChg>
      <pc:sldChg chg="addSp delSp modSp mod">
        <pc:chgData name="Susana Vásquez" userId="dffc548e-2323-4ffc-a8aa-757e426c1faa" providerId="ADAL" clId="{184B16D3-0583-4B86-B9E2-32A8C8837C3C}" dt="2025-03-03T11:29:33.254" v="1128" actId="1035"/>
        <pc:sldMkLst>
          <pc:docMk/>
          <pc:sldMk cId="0" sldId="257"/>
        </pc:sldMkLst>
      </pc:sldChg>
      <pc:sldChg chg="addSp modSp mod">
        <pc:chgData name="Susana Vásquez" userId="dffc548e-2323-4ffc-a8aa-757e426c1faa" providerId="ADAL" clId="{184B16D3-0583-4B86-B9E2-32A8C8837C3C}" dt="2025-03-03T11:28:08.158" v="1068" actId="1076"/>
        <pc:sldMkLst>
          <pc:docMk/>
          <pc:sldMk cId="0" sldId="261"/>
        </pc:sldMkLst>
      </pc:sldChg>
      <pc:sldChg chg="addSp delSp modSp mod">
        <pc:chgData name="Susana Vásquez" userId="dffc548e-2323-4ffc-a8aa-757e426c1faa" providerId="ADAL" clId="{184B16D3-0583-4B86-B9E2-32A8C8837C3C}" dt="2025-03-03T11:27:49.542" v="1066"/>
        <pc:sldMkLst>
          <pc:docMk/>
          <pc:sldMk cId="4076031532" sldId="275"/>
        </pc:sldMkLst>
      </pc:sldChg>
      <pc:sldChg chg="addSp modSp mod">
        <pc:chgData name="Susana Vásquez" userId="dffc548e-2323-4ffc-a8aa-757e426c1faa" providerId="ADAL" clId="{184B16D3-0583-4B86-B9E2-32A8C8837C3C}" dt="2025-03-03T11:28:13.747" v="1070" actId="1076"/>
        <pc:sldMkLst>
          <pc:docMk/>
          <pc:sldMk cId="75129213" sldId="276"/>
        </pc:sldMkLst>
      </pc:sldChg>
      <pc:sldChg chg="modSp mod">
        <pc:chgData name="Susana Vásquez" userId="dffc548e-2323-4ffc-a8aa-757e426c1faa" providerId="ADAL" clId="{184B16D3-0583-4B86-B9E2-32A8C8837C3C}" dt="2025-03-03T11:24:07.047" v="1005" actId="12"/>
        <pc:sldMkLst>
          <pc:docMk/>
          <pc:sldMk cId="823424723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7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4647696" y="9496183"/>
            <a:ext cx="1443679" cy="278454"/>
          </a:xfrm>
          <a:custGeom>
            <a:avLst/>
            <a:gdLst/>
            <a:ahLst/>
            <a:cxnLst/>
            <a:rect l="l" t="t" r="r" b="b"/>
            <a:pathLst>
              <a:path w="1443679" h="278454">
                <a:moveTo>
                  <a:pt x="0" y="0"/>
                </a:moveTo>
                <a:lnTo>
                  <a:pt x="1443678" y="0"/>
                </a:lnTo>
                <a:lnTo>
                  <a:pt x="1443678" y="278454"/>
                </a:lnTo>
                <a:lnTo>
                  <a:pt x="0" y="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282533" y="2466187"/>
            <a:ext cx="6883423" cy="2834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</a:pPr>
            <a:r>
              <a:rPr lang="ca-ES" sz="103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Fem de hackers!</a:t>
            </a:r>
          </a:p>
          <a:p>
            <a:pPr algn="ctr"/>
            <a:r>
              <a:rPr lang="ca-ES" sz="4000" noProof="0" dirty="0">
                <a:solidFill>
                  <a:srgbClr val="000000"/>
                </a:solidFill>
                <a:latin typeface="Garet Light"/>
                <a:sym typeface="Buffalo"/>
              </a:rPr>
              <a:t>Com crear una contrasenya segura?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000" y="675827"/>
            <a:ext cx="4860464" cy="1347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lang="ca-ES" sz="30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Alumne:</a:t>
            </a:r>
          </a:p>
          <a:p>
            <a:pPr marL="96520" lvl="1" algn="l">
              <a:lnSpc>
                <a:spcPts val="2700"/>
              </a:lnSpc>
            </a:pPr>
            <a:r>
              <a:rPr lang="ca-ES" sz="1500" noProof="0" dirty="0">
                <a:solidFill>
                  <a:srgbClr val="F87354"/>
                </a:solidFill>
                <a:latin typeface="White Star"/>
                <a:ea typeface="White Star"/>
                <a:cs typeface="White Star"/>
                <a:sym typeface="White Star"/>
              </a:rPr>
              <a:t>___ _ _ _ _ _ _ _ _ _ _ _ _ _ _ _ _ _ _ _ _ _ _ _ _ _ _ _ _ _ _ _ _ _ _ _ _ _ _ _ _ _ _ _____ _ __ _ _ _ _ </a:t>
            </a:r>
          </a:p>
          <a:p>
            <a:pPr marL="96520" lvl="1" algn="l">
              <a:lnSpc>
                <a:spcPts val="2700"/>
              </a:lnSpc>
            </a:pPr>
            <a:endParaRPr lang="ca-ES" sz="1500" noProof="0" dirty="0">
              <a:solidFill>
                <a:srgbClr val="F87354"/>
              </a:solidFill>
              <a:latin typeface="White Star"/>
              <a:ea typeface="White Star"/>
              <a:cs typeface="White Star"/>
              <a:sym typeface="White Star"/>
            </a:endParaRPr>
          </a:p>
        </p:txBody>
      </p:sp>
      <p:pic>
        <p:nvPicPr>
          <p:cNvPr id="1026" name="Picture 2" descr="escriba una contraseña incorrecta muchas veces ya que olvida su contraseña  para iniciar sesión 7742204 Vector en Vecteezy">
            <a:extLst>
              <a:ext uri="{FF2B5EF4-FFF2-40B4-BE49-F238E27FC236}">
                <a16:creationId xmlns:a16="http://schemas.microsoft.com/office/drawing/2014/main" id="{908B8665-5707-FE55-6AD8-1CEE3E69C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E6E7E9"/>
              </a:clrFrom>
              <a:clrTo>
                <a:srgbClr val="E6E7E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396" y="5007850"/>
            <a:ext cx="4647696" cy="371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A grey square with white text&#10;&#10;AI-generated content may be incorrect.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171" b="16231"/>
          <a:stretch>
            <a:fillRect/>
          </a:stretch>
        </p:blipFill>
        <p:spPr bwMode="auto">
          <a:xfrm>
            <a:off x="815845" y="9356962"/>
            <a:ext cx="2092960" cy="55689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0" y="-132891"/>
            <a:ext cx="7560000" cy="12775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 lang="ca-ES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756000" y="1602445"/>
            <a:ext cx="6226600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ca-ES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Quan hem de crear contrasenyes, ens trobem amb diferents indicacions segons l’aplicació o el web.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478083" y="7151874"/>
            <a:ext cx="6782434" cy="3013953"/>
            <a:chOff x="0" y="0"/>
            <a:chExt cx="2430671" cy="10801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0671" cy="1080133"/>
            </a:xfrm>
            <a:custGeom>
              <a:avLst/>
              <a:gdLst/>
              <a:ahLst/>
              <a:cxnLst/>
              <a:rect l="l" t="t" r="r" b="b"/>
              <a:pathLst>
                <a:path w="2430671" h="1080133">
                  <a:moveTo>
                    <a:pt x="22829" y="0"/>
                  </a:moveTo>
                  <a:lnTo>
                    <a:pt x="2407842" y="0"/>
                  </a:lnTo>
                  <a:cubicBezTo>
                    <a:pt x="2420450" y="0"/>
                    <a:pt x="2430671" y="10221"/>
                    <a:pt x="2430671" y="22829"/>
                  </a:cubicBezTo>
                  <a:lnTo>
                    <a:pt x="2430671" y="1057303"/>
                  </a:lnTo>
                  <a:cubicBezTo>
                    <a:pt x="2430671" y="1069912"/>
                    <a:pt x="2420450" y="1080133"/>
                    <a:pt x="2407842" y="1080133"/>
                  </a:cubicBezTo>
                  <a:lnTo>
                    <a:pt x="22829" y="1080133"/>
                  </a:lnTo>
                  <a:cubicBezTo>
                    <a:pt x="10221" y="1080133"/>
                    <a:pt x="0" y="1069912"/>
                    <a:pt x="0" y="1057303"/>
                  </a:cubicBezTo>
                  <a:lnTo>
                    <a:pt x="0" y="22829"/>
                  </a:lnTo>
                  <a:cubicBezTo>
                    <a:pt x="0" y="10221"/>
                    <a:pt x="10221" y="0"/>
                    <a:pt x="22829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30671" cy="10801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21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115141"/>
              </p:ext>
            </p:extLst>
          </p:nvPr>
        </p:nvGraphicFramePr>
        <p:xfrm>
          <a:off x="806981" y="7365843"/>
          <a:ext cx="6182858" cy="2687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2" name="TextBox 22"/>
          <p:cNvSpPr txBox="1"/>
          <p:nvPr/>
        </p:nvSpPr>
        <p:spPr>
          <a:xfrm>
            <a:off x="570160" y="6462898"/>
            <a:ext cx="6419679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ca-ES" sz="4000" noProof="0" dirty="0">
                <a:solidFill>
                  <a:srgbClr val="000000"/>
                </a:solidFill>
                <a:latin typeface="Buffalo"/>
                <a:ea typeface="Buffalo"/>
                <a:cs typeface="Buffalo"/>
                <a:sym typeface="Buffalo"/>
              </a:rPr>
              <a:t>Quines us semblen més segures? Perquè?</a:t>
            </a:r>
          </a:p>
        </p:txBody>
      </p:sp>
      <p:sp>
        <p:nvSpPr>
          <p:cNvPr id="23" name="Google Shape;436;p44">
            <a:extLst>
              <a:ext uri="{FF2B5EF4-FFF2-40B4-BE49-F238E27FC236}">
                <a16:creationId xmlns:a16="http://schemas.microsoft.com/office/drawing/2014/main" id="{AAB3E5E1-62BA-DA63-3BDB-0ACFFFFD7FA6}"/>
              </a:ext>
            </a:extLst>
          </p:cNvPr>
          <p:cNvSpPr txBox="1"/>
          <p:nvPr/>
        </p:nvSpPr>
        <p:spPr>
          <a:xfrm>
            <a:off x="381321" y="2457747"/>
            <a:ext cx="1224746" cy="1288784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-ES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PUK MÒBIL</a:t>
            </a:r>
            <a:b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</a:br>
            <a: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 8 números</a:t>
            </a:r>
          </a:p>
        </p:txBody>
      </p:sp>
      <p:sp>
        <p:nvSpPr>
          <p:cNvPr id="24" name="Google Shape;437;p44">
            <a:extLst>
              <a:ext uri="{FF2B5EF4-FFF2-40B4-BE49-F238E27FC236}">
                <a16:creationId xmlns:a16="http://schemas.microsoft.com/office/drawing/2014/main" id="{A684A2A2-3C93-5F0E-72A8-AAF7B89AA4A1}"/>
              </a:ext>
            </a:extLst>
          </p:cNvPr>
          <p:cNvSpPr txBox="1"/>
          <p:nvPr/>
        </p:nvSpPr>
        <p:spPr>
          <a:xfrm>
            <a:off x="345838" y="3933276"/>
            <a:ext cx="1953368" cy="2085156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-ES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CORREU INSTITUT</a:t>
            </a:r>
            <a: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 mínim, alfanumèric, mínim una majúscula o un caràcter especial</a:t>
            </a:r>
          </a:p>
        </p:txBody>
      </p:sp>
      <p:sp>
        <p:nvSpPr>
          <p:cNvPr id="25" name="Google Shape;438;p44">
            <a:extLst>
              <a:ext uri="{FF2B5EF4-FFF2-40B4-BE49-F238E27FC236}">
                <a16:creationId xmlns:a16="http://schemas.microsoft.com/office/drawing/2014/main" id="{CE3EA57C-A5B9-14A8-D529-64B22CC3A16C}"/>
              </a:ext>
            </a:extLst>
          </p:cNvPr>
          <p:cNvSpPr txBox="1"/>
          <p:nvPr/>
        </p:nvSpPr>
        <p:spPr>
          <a:xfrm>
            <a:off x="5676379" y="2451100"/>
            <a:ext cx="1588402" cy="288152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-ES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CORREU PROFES</a:t>
            </a:r>
            <a: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 mínim, alfanumèric, mínim una majúscula, una minúscula i un número</a:t>
            </a:r>
          </a:p>
        </p:txBody>
      </p:sp>
      <p:sp>
        <p:nvSpPr>
          <p:cNvPr id="26" name="Google Shape;439;p44">
            <a:extLst>
              <a:ext uri="{FF2B5EF4-FFF2-40B4-BE49-F238E27FC236}">
                <a16:creationId xmlns:a16="http://schemas.microsoft.com/office/drawing/2014/main" id="{E59A3058-7D71-D6C6-EF1A-4FE1569C3818}"/>
              </a:ext>
            </a:extLst>
          </p:cNvPr>
          <p:cNvSpPr txBox="1"/>
          <p:nvPr/>
        </p:nvSpPr>
        <p:spPr>
          <a:xfrm>
            <a:off x="1727824" y="2452337"/>
            <a:ext cx="3543770" cy="1288784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-ES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GMAIL</a:t>
            </a:r>
            <a: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 mínim amb lletres majúscules, minúscules, números i  caràcters especials (com es vulgui)</a:t>
            </a:r>
          </a:p>
        </p:txBody>
      </p:sp>
      <p:sp>
        <p:nvSpPr>
          <p:cNvPr id="27" name="Google Shape;441;p44">
            <a:extLst>
              <a:ext uri="{FF2B5EF4-FFF2-40B4-BE49-F238E27FC236}">
                <a16:creationId xmlns:a16="http://schemas.microsoft.com/office/drawing/2014/main" id="{6E62626F-E9C1-B45D-4F3C-480904DC9404}"/>
              </a:ext>
            </a:extLst>
          </p:cNvPr>
          <p:cNvSpPr txBox="1"/>
          <p:nvPr/>
        </p:nvSpPr>
        <p:spPr>
          <a:xfrm>
            <a:off x="3763149" y="3971056"/>
            <a:ext cx="1721260" cy="2350613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-ES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CORREU INFANTIL</a:t>
            </a:r>
            <a: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elements, 4 lletres majúscules seguides de 4 números</a:t>
            </a:r>
          </a:p>
        </p:txBody>
      </p:sp>
      <p:sp>
        <p:nvSpPr>
          <p:cNvPr id="28" name="Google Shape;442;p44">
            <a:extLst>
              <a:ext uri="{FF2B5EF4-FFF2-40B4-BE49-F238E27FC236}">
                <a16:creationId xmlns:a16="http://schemas.microsoft.com/office/drawing/2014/main" id="{B3C556D5-62EF-1CBB-B17D-8B9A1E32325A}"/>
              </a:ext>
            </a:extLst>
          </p:cNvPr>
          <p:cNvSpPr txBox="1"/>
          <p:nvPr/>
        </p:nvSpPr>
        <p:spPr>
          <a:xfrm>
            <a:off x="2460881" y="3928459"/>
            <a:ext cx="1164969" cy="1554241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-ES" sz="1500" b="1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PIN BANC</a:t>
            </a:r>
            <a:r>
              <a:rPr lang="ca-ES" sz="1500" noProof="0" dirty="0">
                <a:solidFill>
                  <a:schemeClr val="dk1"/>
                </a:solidFill>
                <a:latin typeface="Cocomat Pro" panose="020B0604020202020204" charset="0"/>
                <a:ea typeface="Avenir"/>
                <a:cs typeface="Avenir"/>
                <a:sym typeface="Avenir"/>
              </a:rPr>
              <a:t>: 8 lletres minúscules</a:t>
            </a:r>
          </a:p>
        </p:txBody>
      </p:sp>
      <p:grpSp>
        <p:nvGrpSpPr>
          <p:cNvPr id="32" name="Group 12">
            <a:extLst>
              <a:ext uri="{FF2B5EF4-FFF2-40B4-BE49-F238E27FC236}">
                <a16:creationId xmlns:a16="http://schemas.microsoft.com/office/drawing/2014/main" id="{1975CA51-EF1D-03A7-D7CD-47E654EAEA04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B776ADD1-60B7-198F-3505-D95F4DC7D832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4" name="TextBox 14">
              <a:extLst>
                <a:ext uri="{FF2B5EF4-FFF2-40B4-BE49-F238E27FC236}">
                  <a16:creationId xmlns:a16="http://schemas.microsoft.com/office/drawing/2014/main" id="{725260EB-0900-5B24-DFFC-EB9B39311B61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35" name="TextBox 18">
            <a:extLst>
              <a:ext uri="{FF2B5EF4-FFF2-40B4-BE49-F238E27FC236}">
                <a16:creationId xmlns:a16="http://schemas.microsoft.com/office/drawing/2014/main" id="{A3694D6D-CA9F-89A1-C8DD-B58D742C2EC7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Comparació de contrasenyes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9E46-7C5D-88F1-92BB-BD776B36E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2D3A9B4-2B1A-2E13-99B4-89B6ACF024B4}"/>
              </a:ext>
            </a:extLst>
          </p:cNvPr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9FA59C-C289-9543-5201-E1F1B46C2BEA}"/>
                </a:ext>
              </a:extLst>
            </p:cNvPr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388603DB-6EE6-CDED-C222-834D8D8B7369}"/>
                </a:ext>
              </a:extLst>
            </p:cNvPr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BEFA780B-8C25-53ED-20E7-289D54104D70}"/>
                </a:ext>
              </a:extLst>
            </p:cNvPr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523BCA3-F1CB-73A3-230B-F5CDC3772441}"/>
                </a:ext>
              </a:extLst>
            </p:cNvPr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37433B4-9A07-820B-91A9-AF33A0BF4BA7}"/>
                </a:ext>
              </a:extLst>
            </p:cNvPr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597E2AF-29D0-90DF-2B6E-E91172FD51D7}"/>
                </a:ext>
              </a:extLst>
            </p:cNvPr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F883F80D-6230-CCF7-D5CF-17502D260CDD}"/>
              </a:ext>
            </a:extLst>
          </p:cNvPr>
          <p:cNvSpPr txBox="1"/>
          <p:nvPr/>
        </p:nvSpPr>
        <p:spPr>
          <a:xfrm>
            <a:off x="0" y="-132891"/>
            <a:ext cx="7560000" cy="127758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 lang="ca-ES" noProof="0" dirty="0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C9D3D7C-B91A-D9ED-9DA8-D0DEA3875568}"/>
              </a:ext>
            </a:extLst>
          </p:cNvPr>
          <p:cNvSpPr txBox="1"/>
          <p:nvPr/>
        </p:nvSpPr>
        <p:spPr>
          <a:xfrm>
            <a:off x="456094" y="1347139"/>
            <a:ext cx="6644311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ca-ES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Espai de treball (apunts, càlculs, esquemes,...)</a:t>
            </a:r>
          </a:p>
        </p:txBody>
      </p:sp>
      <p:grpSp>
        <p:nvGrpSpPr>
          <p:cNvPr id="12" name="Group 15">
            <a:extLst>
              <a:ext uri="{FF2B5EF4-FFF2-40B4-BE49-F238E27FC236}">
                <a16:creationId xmlns:a16="http://schemas.microsoft.com/office/drawing/2014/main" id="{E545D9D1-089E-ECB7-130F-F3CC9E71D21F}"/>
              </a:ext>
            </a:extLst>
          </p:cNvPr>
          <p:cNvGrpSpPr/>
          <p:nvPr/>
        </p:nvGrpSpPr>
        <p:grpSpPr>
          <a:xfrm>
            <a:off x="396586" y="1796914"/>
            <a:ext cx="6766828" cy="8400086"/>
            <a:chOff x="0" y="0"/>
            <a:chExt cx="2425078" cy="3148563"/>
          </a:xfrm>
        </p:grpSpPr>
        <p:sp>
          <p:nvSpPr>
            <p:cNvPr id="29" name="Freeform 16">
              <a:extLst>
                <a:ext uri="{FF2B5EF4-FFF2-40B4-BE49-F238E27FC236}">
                  <a16:creationId xmlns:a16="http://schemas.microsoft.com/office/drawing/2014/main" id="{A74710B7-8D4B-5FCF-C98C-03751F622F15}"/>
                </a:ext>
              </a:extLst>
            </p:cNvPr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33EF6"/>
              </a:solidFill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30" name="TextBox 17">
              <a:extLst>
                <a:ext uri="{FF2B5EF4-FFF2-40B4-BE49-F238E27FC236}">
                  <a16:creationId xmlns:a16="http://schemas.microsoft.com/office/drawing/2014/main" id="{96EC8075-DFE8-8870-E444-7D868A5B9A8B}"/>
                </a:ext>
              </a:extLst>
            </p:cNvPr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graphicFrame>
        <p:nvGraphicFramePr>
          <p:cNvPr id="18" name="Table 21">
            <a:extLst>
              <a:ext uri="{FF2B5EF4-FFF2-40B4-BE49-F238E27FC236}">
                <a16:creationId xmlns:a16="http://schemas.microsoft.com/office/drawing/2014/main" id="{3E71AAC4-AD1E-D668-6004-BACBC4D53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67742"/>
              </p:ext>
            </p:extLst>
          </p:nvPr>
        </p:nvGraphicFramePr>
        <p:xfrm>
          <a:off x="672104" y="2012268"/>
          <a:ext cx="6182858" cy="7856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1549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258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3644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6715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1686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144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373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345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225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262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3046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120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8328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82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057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5081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8044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259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9125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77189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01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73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027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966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53808"/>
                  </a:ext>
                </a:extLst>
              </a:tr>
            </a:tbl>
          </a:graphicData>
        </a:graphic>
      </p:graphicFrame>
      <p:grpSp>
        <p:nvGrpSpPr>
          <p:cNvPr id="19" name="Group 12">
            <a:extLst>
              <a:ext uri="{FF2B5EF4-FFF2-40B4-BE49-F238E27FC236}">
                <a16:creationId xmlns:a16="http://schemas.microsoft.com/office/drawing/2014/main" id="{95633102-63E3-2386-94EC-777E92D87123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587E4C34-10B4-A5F2-0A8A-FA9EE4696BC4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8A7D686F-F5E6-CB3A-D1F4-E0A2A4282BC0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22" name="TextBox 18">
            <a:extLst>
              <a:ext uri="{FF2B5EF4-FFF2-40B4-BE49-F238E27FC236}">
                <a16:creationId xmlns:a16="http://schemas.microsoft.com/office/drawing/2014/main" id="{5A222DCC-0637-1EB4-1A99-A7C543670384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Comparació de contrasenyes</a:t>
            </a:r>
          </a:p>
        </p:txBody>
      </p:sp>
    </p:spTree>
    <p:extLst>
      <p:ext uri="{BB962C8B-B14F-4D97-AF65-F5344CB8AC3E}">
        <p14:creationId xmlns:p14="http://schemas.microsoft.com/office/powerpoint/2010/main" val="407603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/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/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/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/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80907" y="2069710"/>
            <a:ext cx="6766828" cy="8073299"/>
            <a:chOff x="0" y="0"/>
            <a:chExt cx="2425078" cy="314856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Comparació de contrasenyes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4873AF9D-5F3B-74AE-EFB1-E907E9FBBAB9}"/>
              </a:ext>
            </a:extLst>
          </p:cNvPr>
          <p:cNvSpPr txBox="1"/>
          <p:nvPr/>
        </p:nvSpPr>
        <p:spPr>
          <a:xfrm>
            <a:off x="746326" y="1261514"/>
            <a:ext cx="62266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ca-ES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Ordeneu les contrasenyes de menys a més segures.</a:t>
            </a:r>
          </a:p>
          <a:p>
            <a:pPr algn="ctr"/>
            <a:r>
              <a:rPr lang="ca-ES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Justifiqueu les vostres respostes.</a:t>
            </a:r>
          </a:p>
          <a:p>
            <a:pPr algn="ctr"/>
            <a:endParaRPr lang="ca-ES" sz="2000" noProof="0" dirty="0">
              <a:solidFill>
                <a:srgbClr val="000000"/>
              </a:solidFill>
              <a:latin typeface="Cocomat Pro"/>
              <a:ea typeface="Cocomat Pro"/>
              <a:cs typeface="Cocomat Pro"/>
              <a:sym typeface="Cocomat Pro"/>
            </a:endParaRPr>
          </a:p>
        </p:txBody>
      </p:sp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FE62FC96-8B65-76F3-5513-CC1BE6CFE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79008"/>
              </p:ext>
            </p:extLst>
          </p:nvPr>
        </p:nvGraphicFramePr>
        <p:xfrm>
          <a:off x="615205" y="2217340"/>
          <a:ext cx="6182858" cy="7856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1549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258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3644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6715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1686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144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373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345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225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262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3046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120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8328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82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057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5081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8044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259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9125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77189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01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73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027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966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538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5DA1-774F-A77F-599D-600472AE7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F9936E7-5AE9-3630-B2B3-C533AFDBF4D7}"/>
              </a:ext>
            </a:extLst>
          </p:cNvPr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2AFFB44-F5C2-A7A4-B2E9-C7EFDCEA7E31}"/>
                </a:ext>
              </a:extLst>
            </p:cNvPr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53A5A7C-93D6-7520-E043-EC0626AEA699}"/>
                </a:ext>
              </a:extLst>
            </p:cNvPr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2BF5E2B-1BB5-0D60-357E-5755578FCFA6}"/>
                </a:ext>
              </a:extLst>
            </p:cNvPr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864F741-07CE-4A96-FC51-DFE42E9241FF}"/>
                </a:ext>
              </a:extLst>
            </p:cNvPr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388A215-4C8E-71AC-7004-573F245D3D04}"/>
                </a:ext>
              </a:extLst>
            </p:cNvPr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2B70CCF-F59D-F7DD-C590-8A1C93FE72E1}"/>
                </a:ext>
              </a:extLst>
            </p:cNvPr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25B5E1C-B734-474A-1DC9-68E0D470B0ED}"/>
              </a:ext>
            </a:extLst>
          </p:cNvPr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0F5B85D-4EC8-9D13-D1D5-99D719D125BF}"/>
                </a:ext>
              </a:extLst>
            </p:cNvPr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290A7D6-706C-61C7-F91D-E568B9983EF7}"/>
                </a:ext>
              </a:extLst>
            </p:cNvPr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89135DF-DD85-93BA-945B-13D819E2BAF2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F4120BF-9BB6-4F26-50A1-B63C68F5C816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DD67EE6-D22D-99D7-8482-C4D804F5571E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8148C7A1-1DAB-8773-1BE6-E3202C97A440}"/>
              </a:ext>
            </a:extLst>
          </p:cNvPr>
          <p:cNvGrpSpPr/>
          <p:nvPr/>
        </p:nvGrpSpPr>
        <p:grpSpPr>
          <a:xfrm>
            <a:off x="380907" y="2069710"/>
            <a:ext cx="6766828" cy="8073299"/>
            <a:chOff x="0" y="0"/>
            <a:chExt cx="2425078" cy="314856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C4380638-D142-5E3E-E148-FB95A0940DAC}"/>
                </a:ext>
              </a:extLst>
            </p:cNvPr>
            <p:cNvSpPr/>
            <p:nvPr/>
          </p:nvSpPr>
          <p:spPr>
            <a:xfrm>
              <a:off x="0" y="0"/>
              <a:ext cx="2425079" cy="3148563"/>
            </a:xfrm>
            <a:custGeom>
              <a:avLst/>
              <a:gdLst/>
              <a:ahLst/>
              <a:cxnLst/>
              <a:rect l="l" t="t" r="r" b="b"/>
              <a:pathLst>
                <a:path w="2425079" h="3148563">
                  <a:moveTo>
                    <a:pt x="22882" y="0"/>
                  </a:moveTo>
                  <a:lnTo>
                    <a:pt x="2402197" y="0"/>
                  </a:lnTo>
                  <a:cubicBezTo>
                    <a:pt x="2414834" y="0"/>
                    <a:pt x="2425079" y="10245"/>
                    <a:pt x="2425079" y="22882"/>
                  </a:cubicBezTo>
                  <a:lnTo>
                    <a:pt x="2425079" y="3125681"/>
                  </a:lnTo>
                  <a:cubicBezTo>
                    <a:pt x="2425079" y="3138318"/>
                    <a:pt x="2414834" y="3148563"/>
                    <a:pt x="2402197" y="3148563"/>
                  </a:cubicBezTo>
                  <a:lnTo>
                    <a:pt x="22882" y="3148563"/>
                  </a:lnTo>
                  <a:cubicBezTo>
                    <a:pt x="10245" y="3148563"/>
                    <a:pt x="0" y="3138318"/>
                    <a:pt x="0" y="3125681"/>
                  </a:cubicBezTo>
                  <a:lnTo>
                    <a:pt x="0" y="22882"/>
                  </a:lnTo>
                  <a:cubicBezTo>
                    <a:pt x="0" y="10245"/>
                    <a:pt x="10245" y="0"/>
                    <a:pt x="2288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733EF6"/>
              </a:solidFill>
              <a:prstDash val="dash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C38C61D7-3ECB-FF7E-1E26-48C6AB006CE9}"/>
                </a:ext>
              </a:extLst>
            </p:cNvPr>
            <p:cNvSpPr txBox="1"/>
            <p:nvPr/>
          </p:nvSpPr>
          <p:spPr>
            <a:xfrm>
              <a:off x="0" y="0"/>
              <a:ext cx="2425078" cy="3148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25"/>
                </a:lnSpc>
              </a:pPr>
              <a:endParaRPr lang="ca-ES" noProof="0" dirty="0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6D117164-8C04-E197-D2C5-89B9760F4271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Creació de contrasenyes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801AEE38-CEC5-7ED8-3342-E42F5140A57F}"/>
              </a:ext>
            </a:extLst>
          </p:cNvPr>
          <p:cNvSpPr txBox="1"/>
          <p:nvPr/>
        </p:nvSpPr>
        <p:spPr>
          <a:xfrm>
            <a:off x="380907" y="1261514"/>
            <a:ext cx="6766828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ca-ES" sz="2000" noProof="0" dirty="0">
                <a:solidFill>
                  <a:srgbClr val="000000"/>
                </a:solidFill>
                <a:latin typeface="Cocomat Pro"/>
                <a:ea typeface="Cocomat Pro"/>
                <a:cs typeface="Cocomat Pro"/>
                <a:sym typeface="Cocomat Pro"/>
              </a:rPr>
              <a:t>Feu una proposta de creació de contrasenya pel correu de l’institut i justifiqueu per què és prou segura </a:t>
            </a:r>
          </a:p>
        </p:txBody>
      </p:sp>
      <p:graphicFrame>
        <p:nvGraphicFramePr>
          <p:cNvPr id="19" name="Table 21">
            <a:extLst>
              <a:ext uri="{FF2B5EF4-FFF2-40B4-BE49-F238E27FC236}">
                <a16:creationId xmlns:a16="http://schemas.microsoft.com/office/drawing/2014/main" id="{5533EBFC-C8DD-826F-E8D6-6F47B7619B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010469"/>
              </p:ext>
            </p:extLst>
          </p:nvPr>
        </p:nvGraphicFramePr>
        <p:xfrm>
          <a:off x="672892" y="2177919"/>
          <a:ext cx="6182858" cy="7856880"/>
        </p:xfrm>
        <a:graphic>
          <a:graphicData uri="http://schemas.openxmlformats.org/drawingml/2006/table">
            <a:tbl>
              <a:tblPr/>
              <a:tblGrid>
                <a:gridCol w="61828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1549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7258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63644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66715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931686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1442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19373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2345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13225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51262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503046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120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568328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982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5057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25081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118044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259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91258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77189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310196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275735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1440270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96612"/>
                  </a:ext>
                </a:extLst>
              </a:tr>
              <a:tr h="206760">
                <a:tc>
                  <a:txBody>
                    <a:bodyPr/>
                    <a:lstStyle/>
                    <a:p>
                      <a:pPr algn="l">
                        <a:lnSpc>
                          <a:spcPts val="323"/>
                        </a:lnSpc>
                        <a:defRPr/>
                      </a:pPr>
                      <a:endParaRPr lang="ca-ES" sz="1100" noProof="0" dirty="0"/>
                    </a:p>
                  </a:txBody>
                  <a:tcPr marL="0" marR="0" marT="0" marB="0" anchor="ctr">
                    <a:lnL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44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448" cap="flat" cmpd="sng" algn="ctr">
                      <a:solidFill>
                        <a:srgbClr val="2A72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053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12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CA00A-6488-B81D-B914-12C68BFCD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1DC8039-6689-6E47-8690-06B860DF0B63}"/>
              </a:ext>
            </a:extLst>
          </p:cNvPr>
          <p:cNvGrpSpPr/>
          <p:nvPr/>
        </p:nvGrpSpPr>
        <p:grpSpPr>
          <a:xfrm>
            <a:off x="-1110319" y="0"/>
            <a:ext cx="9683327" cy="11177178"/>
            <a:chOff x="0" y="0"/>
            <a:chExt cx="12911103" cy="149029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3E8C6CC-D0C8-6B00-E41E-A00D909FFA93}"/>
                </a:ext>
              </a:extLst>
            </p:cNvPr>
            <p:cNvSpPr/>
            <p:nvPr/>
          </p:nvSpPr>
          <p:spPr>
            <a:xfrm>
              <a:off x="1480425" y="0"/>
              <a:ext cx="5175226" cy="5182126"/>
            </a:xfrm>
            <a:custGeom>
              <a:avLst/>
              <a:gdLst/>
              <a:ahLst/>
              <a:cxnLst/>
              <a:rect l="l" t="t" r="r" b="b"/>
              <a:pathLst>
                <a:path w="5175226" h="5182126">
                  <a:moveTo>
                    <a:pt x="0" y="0"/>
                  </a:moveTo>
                  <a:lnTo>
                    <a:pt x="5175226" y="0"/>
                  </a:lnTo>
                  <a:lnTo>
                    <a:pt x="5175226" y="5182126"/>
                  </a:lnTo>
                  <a:lnTo>
                    <a:pt x="0" y="51821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B2833E9-4B14-C5D3-01D9-2897BC082310}"/>
                </a:ext>
              </a:extLst>
            </p:cNvPr>
            <p:cNvSpPr/>
            <p:nvPr/>
          </p:nvSpPr>
          <p:spPr>
            <a:xfrm>
              <a:off x="4246938" y="4905421"/>
              <a:ext cx="4265747" cy="4731101"/>
            </a:xfrm>
            <a:custGeom>
              <a:avLst/>
              <a:gdLst/>
              <a:ahLst/>
              <a:cxnLst/>
              <a:rect l="l" t="t" r="r" b="b"/>
              <a:pathLst>
                <a:path w="4265747" h="4731101">
                  <a:moveTo>
                    <a:pt x="0" y="0"/>
                  </a:moveTo>
                  <a:lnTo>
                    <a:pt x="4265747" y="0"/>
                  </a:lnTo>
                  <a:lnTo>
                    <a:pt x="4265747" y="4731101"/>
                  </a:lnTo>
                  <a:lnTo>
                    <a:pt x="0" y="4731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91E1CD9-124E-5DC1-EB03-E524220BCBB0}"/>
                </a:ext>
              </a:extLst>
            </p:cNvPr>
            <p:cNvSpPr/>
            <p:nvPr/>
          </p:nvSpPr>
          <p:spPr>
            <a:xfrm>
              <a:off x="0" y="8194373"/>
              <a:ext cx="4976850" cy="4918495"/>
            </a:xfrm>
            <a:custGeom>
              <a:avLst/>
              <a:gdLst/>
              <a:ahLst/>
              <a:cxnLst/>
              <a:rect l="l" t="t" r="r" b="b"/>
              <a:pathLst>
                <a:path w="4976850" h="4918495">
                  <a:moveTo>
                    <a:pt x="0" y="0"/>
                  </a:moveTo>
                  <a:lnTo>
                    <a:pt x="4976850" y="0"/>
                  </a:lnTo>
                  <a:lnTo>
                    <a:pt x="4976850" y="4918495"/>
                  </a:lnTo>
                  <a:lnTo>
                    <a:pt x="0" y="49184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B4D39DE-A450-6EBF-6C9A-FC31116D04AB}"/>
                </a:ext>
              </a:extLst>
            </p:cNvPr>
            <p:cNvSpPr/>
            <p:nvPr/>
          </p:nvSpPr>
          <p:spPr>
            <a:xfrm>
              <a:off x="5268750" y="10177577"/>
              <a:ext cx="6742115" cy="4725326"/>
            </a:xfrm>
            <a:custGeom>
              <a:avLst/>
              <a:gdLst/>
              <a:ahLst/>
              <a:cxnLst/>
              <a:rect l="l" t="t" r="r" b="b"/>
              <a:pathLst>
                <a:path w="6742115" h="4725326">
                  <a:moveTo>
                    <a:pt x="0" y="0"/>
                  </a:moveTo>
                  <a:lnTo>
                    <a:pt x="6742115" y="0"/>
                  </a:lnTo>
                  <a:lnTo>
                    <a:pt x="6742115" y="4725327"/>
                  </a:lnTo>
                  <a:lnTo>
                    <a:pt x="0" y="4725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D6B038-8C96-6681-3E28-E130722E4652}"/>
                </a:ext>
              </a:extLst>
            </p:cNvPr>
            <p:cNvSpPr/>
            <p:nvPr/>
          </p:nvSpPr>
          <p:spPr>
            <a:xfrm>
              <a:off x="7731285" y="7270971"/>
              <a:ext cx="5179818" cy="5186697"/>
            </a:xfrm>
            <a:custGeom>
              <a:avLst/>
              <a:gdLst/>
              <a:ahLst/>
              <a:cxnLst/>
              <a:rect l="l" t="t" r="r" b="b"/>
              <a:pathLst>
                <a:path w="5179818" h="5186697">
                  <a:moveTo>
                    <a:pt x="0" y="0"/>
                  </a:moveTo>
                  <a:lnTo>
                    <a:pt x="5179818" y="0"/>
                  </a:lnTo>
                  <a:lnTo>
                    <a:pt x="5179818" y="5186697"/>
                  </a:lnTo>
                  <a:lnTo>
                    <a:pt x="0" y="5186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CFDB6C7-C02E-D9A9-E446-3DAC3D24797D}"/>
                </a:ext>
              </a:extLst>
            </p:cNvPr>
            <p:cNvSpPr/>
            <p:nvPr/>
          </p:nvSpPr>
          <p:spPr>
            <a:xfrm>
              <a:off x="6880871" y="733854"/>
              <a:ext cx="4448272" cy="4448272"/>
            </a:xfrm>
            <a:custGeom>
              <a:avLst/>
              <a:gdLst/>
              <a:ahLst/>
              <a:cxnLst/>
              <a:rect l="l" t="t" r="r" b="b"/>
              <a:pathLst>
                <a:path w="4448272" h="4448272">
                  <a:moveTo>
                    <a:pt x="0" y="0"/>
                  </a:moveTo>
                  <a:lnTo>
                    <a:pt x="4448271" y="0"/>
                  </a:lnTo>
                  <a:lnTo>
                    <a:pt x="4448271" y="4448272"/>
                  </a:lnTo>
                  <a:lnTo>
                    <a:pt x="0" y="4448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6999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ca-ES" noProof="0" dirty="0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075A31B-495C-D23D-845B-F54272A8806F}"/>
              </a:ext>
            </a:extLst>
          </p:cNvPr>
          <p:cNvGrpSpPr/>
          <p:nvPr/>
        </p:nvGrpSpPr>
        <p:grpSpPr>
          <a:xfrm>
            <a:off x="0" y="0"/>
            <a:ext cx="7560000" cy="1144694"/>
            <a:chOff x="0" y="0"/>
            <a:chExt cx="2709333" cy="410232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EDC66A8-5F5D-25BB-E6DE-4B3760DA9B9F}"/>
                </a:ext>
              </a:extLst>
            </p:cNvPr>
            <p:cNvSpPr/>
            <p:nvPr/>
          </p:nvSpPr>
          <p:spPr>
            <a:xfrm>
              <a:off x="0" y="0"/>
              <a:ext cx="2709333" cy="410232"/>
            </a:xfrm>
            <a:custGeom>
              <a:avLst/>
              <a:gdLst/>
              <a:ahLst/>
              <a:cxnLst/>
              <a:rect l="l" t="t" r="r" b="b"/>
              <a:pathLst>
                <a:path w="2709333" h="410232">
                  <a:moveTo>
                    <a:pt x="0" y="0"/>
                  </a:moveTo>
                  <a:lnTo>
                    <a:pt x="2709333" y="0"/>
                  </a:lnTo>
                  <a:lnTo>
                    <a:pt x="2709333" y="410232"/>
                  </a:lnTo>
                  <a:lnTo>
                    <a:pt x="0" y="410232"/>
                  </a:lnTo>
                  <a:close/>
                </a:path>
              </a:pathLst>
            </a:custGeom>
            <a:solidFill>
              <a:srgbClr val="FFFFFF">
                <a:alpha val="1764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5379536-8E4E-49AE-87DD-CFA5A44A4901}"/>
                </a:ext>
              </a:extLst>
            </p:cNvPr>
            <p:cNvSpPr txBox="1"/>
            <p:nvPr/>
          </p:nvSpPr>
          <p:spPr>
            <a:xfrm>
              <a:off x="0" y="-47625"/>
              <a:ext cx="2709333" cy="457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36A775DA-E197-4BDE-92F8-604A9F9A220C}"/>
              </a:ext>
            </a:extLst>
          </p:cNvPr>
          <p:cNvGrpSpPr/>
          <p:nvPr/>
        </p:nvGrpSpPr>
        <p:grpSpPr>
          <a:xfrm>
            <a:off x="0" y="1092857"/>
            <a:ext cx="7560000" cy="47625"/>
            <a:chOff x="0" y="0"/>
            <a:chExt cx="2709333" cy="1706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A669FD6-086D-42FC-54FF-47A3E8326214}"/>
                </a:ext>
              </a:extLst>
            </p:cNvPr>
            <p:cNvSpPr/>
            <p:nvPr/>
          </p:nvSpPr>
          <p:spPr>
            <a:xfrm>
              <a:off x="0" y="0"/>
              <a:ext cx="2709333" cy="17068"/>
            </a:xfrm>
            <a:custGeom>
              <a:avLst/>
              <a:gdLst/>
              <a:ahLst/>
              <a:cxnLst/>
              <a:rect l="l" t="t" r="r" b="b"/>
              <a:pathLst>
                <a:path w="2709333" h="17068">
                  <a:moveTo>
                    <a:pt x="0" y="0"/>
                  </a:moveTo>
                  <a:lnTo>
                    <a:pt x="2709333" y="0"/>
                  </a:lnTo>
                  <a:lnTo>
                    <a:pt x="2709333" y="17068"/>
                  </a:lnTo>
                  <a:lnTo>
                    <a:pt x="0" y="17068"/>
                  </a:lnTo>
                  <a:close/>
                </a:path>
              </a:pathLst>
            </a:custGeom>
            <a:solidFill>
              <a:srgbClr val="733EF6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ca-ES" noProof="0" dirty="0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72AE04F-30B1-5A2F-9ED8-6AA7FE5ABE75}"/>
                </a:ext>
              </a:extLst>
            </p:cNvPr>
            <p:cNvSpPr txBox="1"/>
            <p:nvPr/>
          </p:nvSpPr>
          <p:spPr>
            <a:xfrm>
              <a:off x="0" y="-47625"/>
              <a:ext cx="2709333" cy="646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 lang="ca-ES" noProof="0" dirty="0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36FCF92C-63DB-93ED-CD06-7D33E5FB3897}"/>
              </a:ext>
            </a:extLst>
          </p:cNvPr>
          <p:cNvSpPr txBox="1"/>
          <p:nvPr/>
        </p:nvSpPr>
        <p:spPr>
          <a:xfrm>
            <a:off x="338289" y="221392"/>
            <a:ext cx="6883423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ca-ES" sz="5499" noProof="0" dirty="0">
                <a:solidFill>
                  <a:srgbClr val="733EF6"/>
                </a:solidFill>
                <a:latin typeface="Buffalo"/>
                <a:ea typeface="Buffalo"/>
                <a:cs typeface="Buffalo"/>
                <a:sym typeface="Buffalo"/>
              </a:rPr>
              <a:t>Rúbrica d avaluació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79CE0C-3FF6-0250-D3F9-70ADD509C8AE}"/>
              </a:ext>
            </a:extLst>
          </p:cNvPr>
          <p:cNvSpPr txBox="1"/>
          <p:nvPr/>
        </p:nvSpPr>
        <p:spPr>
          <a:xfrm>
            <a:off x="3702050" y="88900"/>
            <a:ext cx="68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sz="4000" noProof="0" dirty="0">
                <a:solidFill>
                  <a:srgbClr val="733EF6"/>
                </a:solidFill>
              </a:rPr>
              <a:t>‘</a:t>
            </a:r>
            <a:endParaRPr lang="ca-ES" noProof="0" dirty="0">
              <a:solidFill>
                <a:srgbClr val="733EF6"/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22C398A-54E7-C8D0-A32D-61CC4F3C67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172340"/>
              </p:ext>
            </p:extLst>
          </p:nvPr>
        </p:nvGraphicFramePr>
        <p:xfrm>
          <a:off x="679756" y="1456476"/>
          <a:ext cx="6375094" cy="8538423"/>
        </p:xfrm>
        <a:graphic>
          <a:graphicData uri="http://schemas.openxmlformats.org/drawingml/2006/table">
            <a:tbl>
              <a:tblPr/>
              <a:tblGrid>
                <a:gridCol w="1026225">
                  <a:extLst>
                    <a:ext uri="{9D8B030D-6E8A-4147-A177-3AD203B41FA5}">
                      <a16:colId xmlns:a16="http://schemas.microsoft.com/office/drawing/2014/main" val="3680232699"/>
                    </a:ext>
                  </a:extLst>
                </a:gridCol>
                <a:gridCol w="5348869">
                  <a:extLst>
                    <a:ext uri="{9D8B030D-6E8A-4147-A177-3AD203B41FA5}">
                      <a16:colId xmlns:a16="http://schemas.microsoft.com/office/drawing/2014/main" val="2589697955"/>
                    </a:ext>
                  </a:extLst>
                </a:gridCol>
              </a:tblGrid>
              <a:tr h="606899">
                <a:tc>
                  <a:txBody>
                    <a:bodyPr/>
                    <a:lstStyle/>
                    <a:p>
                      <a:pPr algn="ctr"/>
                      <a:r>
                        <a:rPr lang="ca-ES" sz="1500" b="1" noProof="0" dirty="0"/>
                        <a:t>Aspecte a revisar</a:t>
                      </a:r>
                      <a:endParaRPr lang="ca-ES" sz="1500" noProof="0" dirty="0"/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ca-ES" sz="1500" b="1" noProof="0" dirty="0"/>
                        <a:t>Què he fet?</a:t>
                      </a:r>
                      <a:endParaRPr lang="ca-ES" sz="1500" noProof="0" dirty="0"/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0959512"/>
                  </a:ext>
                </a:extLst>
              </a:tr>
              <a:tr h="1615800">
                <a:tc>
                  <a:txBody>
                    <a:bodyPr/>
                    <a:lstStyle/>
                    <a:p>
                      <a:pPr algn="ctr"/>
                      <a:r>
                        <a:rPr lang="ca-ES" sz="1500" b="1" noProof="0" dirty="0"/>
                        <a:t>1. Anàlisi i interpretació de dades</a:t>
                      </a:r>
                      <a:endParaRPr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Considero exemples concrets de contrasenyes de cada tipus.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Utilitzo llistes, taules o diagrames per organitzar les dades i estar segur/a que estic comptant tots els casos.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1489592"/>
                  </a:ext>
                </a:extLst>
              </a:tr>
              <a:tr h="2001878">
                <a:tc>
                  <a:txBody>
                    <a:bodyPr/>
                    <a:lstStyle/>
                    <a:p>
                      <a:pPr algn="ctr"/>
                      <a:r>
                        <a:rPr lang="ca-ES" sz="1500" b="1" noProof="0" dirty="0"/>
                        <a:t>2. Pensament computacional</a:t>
                      </a:r>
                      <a:endParaRPr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Associo cada contrasenya amb: un tipus de cadenat, un càlcul general o una fórmula.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Considero uns passos concrets per organitzar els càlculs.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Calculo el nombre total de contrasenyes de cada tipus.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203825"/>
                  </a:ext>
                </a:extLst>
              </a:tr>
              <a:tr h="2016012">
                <a:tc>
                  <a:txBody>
                    <a:bodyPr/>
                    <a:lstStyle/>
                    <a:p>
                      <a:pPr algn="ctr"/>
                      <a:r>
                        <a:rPr lang="ca-ES" sz="1500" b="1" noProof="0" dirty="0"/>
                        <a:t>3. Argumentació i verificació</a:t>
                      </a:r>
                      <a:endParaRPr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Explico per què una contrasenya és més segura que una altra, utilitzant arguments generals o càlculs.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Reviso els resultats per assegurar-me que no hi ha errors.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Busco altres formes de resoldre el problema per confirmar la resposta.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2975313"/>
                  </a:ext>
                </a:extLst>
              </a:tr>
              <a:tr h="2297834">
                <a:tc>
                  <a:txBody>
                    <a:bodyPr/>
                    <a:lstStyle/>
                    <a:p>
                      <a:pPr algn="ctr"/>
                      <a:r>
                        <a:rPr lang="ca-ES" sz="1500" b="1" noProof="0" dirty="0"/>
                        <a:t>4. Comunicació matemàtica</a:t>
                      </a:r>
                      <a:endParaRPr lang="ca-ES" sz="1500" noProof="0" dirty="0"/>
                    </a:p>
                  </a:txBody>
                  <a:tcPr marL="35085" marR="35085" marT="17542" marB="17542" vert="vert27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Explico amb claredat els passos que segueixo.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Utilitzo un llenguatge matemàtic adequat.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Utilitzo esquemes, taules o diagrames per explicar millor el procés.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ca-ES" sz="1800" noProof="0" dirty="0"/>
                        <a:t>Reviso si les meves explicacions són coherents amb els càlculs que he fet.</a:t>
                      </a:r>
                    </a:p>
                  </a:txBody>
                  <a:tcPr marL="35085" marR="35085" marT="17542" marB="1754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24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424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399</Words>
  <Application>Microsoft Office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Buffalo</vt:lpstr>
      <vt:lpstr>Garet Light</vt:lpstr>
      <vt:lpstr>Cocomat Pro</vt:lpstr>
      <vt:lpstr>White Star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treball - Santa Anna</dc:title>
  <dc:creator>Susana Vásquez</dc:creator>
  <cp:lastModifiedBy>Susana Vasquez Elias</cp:lastModifiedBy>
  <cp:revision>4</cp:revision>
  <dcterms:created xsi:type="dcterms:W3CDTF">2006-08-16T00:00:00Z</dcterms:created>
  <dcterms:modified xsi:type="dcterms:W3CDTF">2025-10-16T17:27:41Z</dcterms:modified>
  <dc:identifier>DAGDoTuXk8E</dc:identifier>
</cp:coreProperties>
</file>